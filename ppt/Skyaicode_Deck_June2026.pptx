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4.xml" ContentType="application/vnd.openxmlformats-officedocument.presentationml.tags+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95" r:id="rId2"/>
    <p:sldId id="262" r:id="rId3"/>
    <p:sldId id="269" r:id="rId4"/>
    <p:sldId id="276" r:id="rId5"/>
    <p:sldId id="278" r:id="rId6"/>
    <p:sldId id="287" r:id="rId7"/>
    <p:sldId id="290" r:id="rId8"/>
    <p:sldId id="306" r:id="rId9"/>
    <p:sldId id="307" r:id="rId10"/>
    <p:sldId id="308" r:id="rId11"/>
    <p:sldId id="309" r:id="rId12"/>
    <p:sldId id="310" r:id="rId13"/>
    <p:sldId id="279" r:id="rId14"/>
    <p:sldId id="289" r:id="rId15"/>
    <p:sldId id="299" r:id="rId16"/>
    <p:sldId id="297" r:id="rId17"/>
    <p:sldId id="300" r:id="rId18"/>
    <p:sldId id="301" r:id="rId19"/>
    <p:sldId id="302" r:id="rId20"/>
    <p:sldId id="304" r:id="rId21"/>
    <p:sldId id="271" r:id="rId22"/>
    <p:sldId id="273" r:id="rId23"/>
    <p:sldId id="294" r:id="rId24"/>
    <p:sldId id="266" r:id="rId25"/>
    <p:sldId id="29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FF42"/>
    <a:srgbClr val="3795FE"/>
    <a:srgbClr val="2B7BCB"/>
    <a:srgbClr val="192B4D"/>
    <a:srgbClr val="254071"/>
    <a:srgbClr val="A3D1FF"/>
    <a:srgbClr val="399AFF"/>
    <a:srgbClr val="81C0FF"/>
    <a:srgbClr val="CCFF66"/>
    <a:srgbClr val="1F36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902" autoAdjust="0"/>
  </p:normalViewPr>
  <p:slideViewPr>
    <p:cSldViewPr snapToGrid="0">
      <p:cViewPr varScale="1">
        <p:scale>
          <a:sx n="75" d="100"/>
          <a:sy n="75" d="100"/>
        </p:scale>
        <p:origin x="902"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_rels/data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5" Type="http://schemas.openxmlformats.org/officeDocument/2006/relationships/image" Target="../media/image17.svg"/><Relationship Id="rId4" Type="http://schemas.openxmlformats.org/officeDocument/2006/relationships/image" Target="../media/image16.svg"/></Relationships>
</file>

<file path=ppt/diagrams/_rels/data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 Id="rId5" Type="http://schemas.openxmlformats.org/officeDocument/2006/relationships/image" Target="../media/image22.svg"/><Relationship Id="rId4" Type="http://schemas.openxmlformats.org/officeDocument/2006/relationships/image" Target="../media/image21.svg"/></Relationships>
</file>

<file path=ppt/diagrams/_rels/data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 Id="rId5" Type="http://schemas.openxmlformats.org/officeDocument/2006/relationships/image" Target="../media/image28.sv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5" Type="http://schemas.openxmlformats.org/officeDocument/2006/relationships/image" Target="../media/image17.svg"/><Relationship Id="rId4" Type="http://schemas.openxmlformats.org/officeDocument/2006/relationships/image" Target="../media/image1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 Id="rId5" Type="http://schemas.openxmlformats.org/officeDocument/2006/relationships/image" Target="../media/image22.svg"/><Relationship Id="rId4" Type="http://schemas.openxmlformats.org/officeDocument/2006/relationships/image" Target="../media/image2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 Id="rId5" Type="http://schemas.openxmlformats.org/officeDocument/2006/relationships/image" Target="../media/image28.sv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E82F5E-2A0E-431E-A0AA-6F9FD27F57EB}"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n-IN"/>
        </a:p>
      </dgm:t>
    </dgm:pt>
    <dgm:pt modelId="{1104C8E4-C603-4A2D-BC57-21D424A33786}">
      <dgm:prSet phldrT="[Text]" custT="1"/>
      <dgm:spPr/>
      <dgm:t>
        <a:bodyPr/>
        <a:lstStyle/>
        <a:p>
          <a:r>
            <a:rPr lang="en-IN" sz="2400" dirty="0">
              <a:solidFill>
                <a:srgbClr val="B6FF42"/>
              </a:solidFill>
            </a:rPr>
            <a:t>Manufacturing </a:t>
          </a:r>
        </a:p>
      </dgm:t>
    </dgm:pt>
    <dgm:pt modelId="{0E6A787A-E320-4D7C-88ED-2C391B5F4350}" type="parTrans" cxnId="{76020179-7684-4B3F-993F-99282862C1A1}">
      <dgm:prSet/>
      <dgm:spPr/>
      <dgm:t>
        <a:bodyPr/>
        <a:lstStyle/>
        <a:p>
          <a:endParaRPr lang="en-IN"/>
        </a:p>
      </dgm:t>
    </dgm:pt>
    <dgm:pt modelId="{95F14E12-A6D9-49D4-8B63-13FAC0854567}" type="sibTrans" cxnId="{76020179-7684-4B3F-993F-99282862C1A1}">
      <dgm:prSet/>
      <dgm:spPr/>
      <dgm:t>
        <a:bodyPr/>
        <a:lstStyle/>
        <a:p>
          <a:endParaRPr lang="en-IN"/>
        </a:p>
      </dgm:t>
    </dgm:pt>
    <dgm:pt modelId="{BB2FFD05-5870-4E0E-8379-F5DE637C3EE7}">
      <dgm:prSet custT="1"/>
      <dgm:spPr>
        <a:solidFill>
          <a:srgbClr val="1F3660"/>
        </a:solidFill>
        <a:ln>
          <a:noFill/>
        </a:ln>
      </dgm:spPr>
      <dgm:t>
        <a:bodyPr/>
        <a:lstStyle/>
        <a:p>
          <a:pPr marL="173038" indent="-173038">
            <a:spcBef>
              <a:spcPts val="600"/>
            </a:spcBef>
          </a:pPr>
          <a:r>
            <a:rPr lang="en-IN" sz="1600" dirty="0"/>
            <a:t>Sale Order Automation</a:t>
          </a:r>
        </a:p>
      </dgm:t>
    </dgm:pt>
    <dgm:pt modelId="{08748E89-4104-4C2F-98AF-B810EC9F85F4}" type="parTrans" cxnId="{CED1C663-676C-47FE-B001-8505813D7DEC}">
      <dgm:prSet/>
      <dgm:spPr/>
      <dgm:t>
        <a:bodyPr/>
        <a:lstStyle/>
        <a:p>
          <a:endParaRPr lang="en-IN"/>
        </a:p>
      </dgm:t>
    </dgm:pt>
    <dgm:pt modelId="{7607E5DC-C9AE-4FA4-BBA8-374304A28AF3}" type="sibTrans" cxnId="{CED1C663-676C-47FE-B001-8505813D7DEC}">
      <dgm:prSet/>
      <dgm:spPr/>
      <dgm:t>
        <a:bodyPr/>
        <a:lstStyle/>
        <a:p>
          <a:endParaRPr lang="en-IN"/>
        </a:p>
      </dgm:t>
    </dgm:pt>
    <dgm:pt modelId="{E03918C9-8316-4517-8B61-52C208592378}">
      <dgm:prSet custT="1"/>
      <dgm:spPr>
        <a:solidFill>
          <a:srgbClr val="1F3660"/>
        </a:solidFill>
        <a:ln>
          <a:noFill/>
        </a:ln>
      </dgm:spPr>
      <dgm:t>
        <a:bodyPr/>
        <a:lstStyle/>
        <a:p>
          <a:pPr marL="173038" indent="-173038">
            <a:spcBef>
              <a:spcPts val="600"/>
            </a:spcBef>
          </a:pPr>
          <a:r>
            <a:rPr lang="en-IN" sz="1600" dirty="0"/>
            <a:t>Vendor  flow Automation</a:t>
          </a:r>
        </a:p>
      </dgm:t>
    </dgm:pt>
    <dgm:pt modelId="{E2F56B05-DE08-4E83-BB31-967AA9F99270}" type="parTrans" cxnId="{499929AC-76EA-4919-83FD-6C2781D0E75F}">
      <dgm:prSet/>
      <dgm:spPr/>
      <dgm:t>
        <a:bodyPr/>
        <a:lstStyle/>
        <a:p>
          <a:endParaRPr lang="en-IN"/>
        </a:p>
      </dgm:t>
    </dgm:pt>
    <dgm:pt modelId="{9B8E8DDC-5738-4DA9-99D6-EE4AB9823673}" type="sibTrans" cxnId="{499929AC-76EA-4919-83FD-6C2781D0E75F}">
      <dgm:prSet/>
      <dgm:spPr/>
      <dgm:t>
        <a:bodyPr/>
        <a:lstStyle/>
        <a:p>
          <a:endParaRPr lang="en-IN"/>
        </a:p>
      </dgm:t>
    </dgm:pt>
    <dgm:pt modelId="{4BA9052E-68D2-43C2-A99E-0D90C9BAA25A}">
      <dgm:prSet custT="1"/>
      <dgm:spPr>
        <a:solidFill>
          <a:srgbClr val="1F3660"/>
        </a:solidFill>
        <a:ln>
          <a:noFill/>
        </a:ln>
      </dgm:spPr>
      <dgm:t>
        <a:bodyPr/>
        <a:lstStyle/>
        <a:p>
          <a:pPr marL="173038" indent="-173038">
            <a:spcBef>
              <a:spcPts val="600"/>
            </a:spcBef>
          </a:pPr>
          <a:r>
            <a:rPr lang="en-IN" sz="1600" dirty="0"/>
            <a:t>Supply Chain Management</a:t>
          </a:r>
        </a:p>
      </dgm:t>
    </dgm:pt>
    <dgm:pt modelId="{2E524408-5A17-4350-8B48-B7B2040374F1}" type="parTrans" cxnId="{0F99667D-21AC-44E2-8BDA-2FA75ABB654A}">
      <dgm:prSet/>
      <dgm:spPr/>
      <dgm:t>
        <a:bodyPr/>
        <a:lstStyle/>
        <a:p>
          <a:endParaRPr lang="en-IN"/>
        </a:p>
      </dgm:t>
    </dgm:pt>
    <dgm:pt modelId="{C89DB9D2-034A-46D3-83C0-1B0E21F27247}" type="sibTrans" cxnId="{0F99667D-21AC-44E2-8BDA-2FA75ABB654A}">
      <dgm:prSet/>
      <dgm:spPr/>
      <dgm:t>
        <a:bodyPr/>
        <a:lstStyle/>
        <a:p>
          <a:endParaRPr lang="en-IN"/>
        </a:p>
      </dgm:t>
    </dgm:pt>
    <dgm:pt modelId="{7589F134-CA8F-4B42-AA5D-12DC2BFCCC31}">
      <dgm:prSet custT="1"/>
      <dgm:spPr>
        <a:solidFill>
          <a:srgbClr val="1F3660"/>
        </a:solidFill>
        <a:ln>
          <a:noFill/>
        </a:ln>
      </dgm:spPr>
      <dgm:t>
        <a:bodyPr/>
        <a:lstStyle/>
        <a:p>
          <a:pPr marL="173038" indent="-173038">
            <a:spcBef>
              <a:spcPts val="600"/>
            </a:spcBef>
          </a:pPr>
          <a:r>
            <a:rPr lang="en-IN" sz="1600" dirty="0"/>
            <a:t>Production line Flow Automation</a:t>
          </a:r>
        </a:p>
      </dgm:t>
    </dgm:pt>
    <dgm:pt modelId="{1474ED62-5385-4D5E-B4EB-A50558CB8581}" type="parTrans" cxnId="{E2FD87CC-A08C-4101-AE86-CCEBA2F22938}">
      <dgm:prSet/>
      <dgm:spPr/>
      <dgm:t>
        <a:bodyPr/>
        <a:lstStyle/>
        <a:p>
          <a:endParaRPr lang="en-IN"/>
        </a:p>
      </dgm:t>
    </dgm:pt>
    <dgm:pt modelId="{A107E042-FF27-48FE-8315-669DA1EBFBF1}" type="sibTrans" cxnId="{E2FD87CC-A08C-4101-AE86-CCEBA2F22938}">
      <dgm:prSet/>
      <dgm:spPr/>
      <dgm:t>
        <a:bodyPr/>
        <a:lstStyle/>
        <a:p>
          <a:endParaRPr lang="en-IN"/>
        </a:p>
      </dgm:t>
    </dgm:pt>
    <dgm:pt modelId="{01810A92-B4EB-4E55-8AA9-18C579D202E0}">
      <dgm:prSet custT="1"/>
      <dgm:spPr>
        <a:solidFill>
          <a:srgbClr val="1F3660"/>
        </a:solidFill>
        <a:ln>
          <a:noFill/>
        </a:ln>
      </dgm:spPr>
      <dgm:t>
        <a:bodyPr/>
        <a:lstStyle/>
        <a:p>
          <a:pPr marL="173038" indent="-173038">
            <a:spcBef>
              <a:spcPts val="600"/>
            </a:spcBef>
          </a:pPr>
          <a:r>
            <a:rPr lang="en-IN" sz="1600" dirty="0"/>
            <a:t>Manufacturing Project Management</a:t>
          </a:r>
        </a:p>
      </dgm:t>
    </dgm:pt>
    <dgm:pt modelId="{F420DE06-97EC-4782-A897-512B9C9D9B21}" type="parTrans" cxnId="{18647534-F692-428E-9475-B69ED0A3F6FE}">
      <dgm:prSet/>
      <dgm:spPr/>
      <dgm:t>
        <a:bodyPr/>
        <a:lstStyle/>
        <a:p>
          <a:endParaRPr lang="en-IN"/>
        </a:p>
      </dgm:t>
    </dgm:pt>
    <dgm:pt modelId="{D2FF5CA3-42A9-4AB1-AB61-8344A8F37223}" type="sibTrans" cxnId="{18647534-F692-428E-9475-B69ED0A3F6FE}">
      <dgm:prSet/>
      <dgm:spPr/>
      <dgm:t>
        <a:bodyPr/>
        <a:lstStyle/>
        <a:p>
          <a:endParaRPr lang="en-IN"/>
        </a:p>
      </dgm:t>
    </dgm:pt>
    <dgm:pt modelId="{20DD24F4-23A2-4087-8C2F-743B9A5CEBA3}">
      <dgm:prSet custT="1"/>
      <dgm:spPr>
        <a:solidFill>
          <a:srgbClr val="1F3660"/>
        </a:solidFill>
        <a:ln>
          <a:noFill/>
        </a:ln>
      </dgm:spPr>
      <dgm:t>
        <a:bodyPr/>
        <a:lstStyle/>
        <a:p>
          <a:pPr marL="173038" indent="-173038">
            <a:spcBef>
              <a:spcPts val="600"/>
            </a:spcBef>
          </a:pPr>
          <a:r>
            <a:rPr lang="en-IN" sz="1600" dirty="0"/>
            <a:t>Safety and Risk Management</a:t>
          </a:r>
        </a:p>
      </dgm:t>
    </dgm:pt>
    <dgm:pt modelId="{6A77AA7A-E63F-4803-A23B-62E4DC40FD34}" type="parTrans" cxnId="{ECFD1276-39AE-4BA1-884D-F861B295DA73}">
      <dgm:prSet/>
      <dgm:spPr/>
      <dgm:t>
        <a:bodyPr/>
        <a:lstStyle/>
        <a:p>
          <a:endParaRPr lang="en-IN"/>
        </a:p>
      </dgm:t>
    </dgm:pt>
    <dgm:pt modelId="{B5E35FF7-0639-4738-BA5C-DE2587BC50BC}" type="sibTrans" cxnId="{ECFD1276-39AE-4BA1-884D-F861B295DA73}">
      <dgm:prSet/>
      <dgm:spPr/>
      <dgm:t>
        <a:bodyPr/>
        <a:lstStyle/>
        <a:p>
          <a:endParaRPr lang="en-IN"/>
        </a:p>
      </dgm:t>
    </dgm:pt>
    <dgm:pt modelId="{7299E487-4745-4A78-B3C3-456979B4D823}">
      <dgm:prSet/>
      <dgm:spPr/>
      <dgm:t>
        <a:bodyPr/>
        <a:lstStyle/>
        <a:p>
          <a:r>
            <a:rPr lang="en-IN" dirty="0">
              <a:solidFill>
                <a:srgbClr val="B6FF42"/>
              </a:solidFill>
            </a:rPr>
            <a:t>Healthcare</a:t>
          </a:r>
        </a:p>
      </dgm:t>
    </dgm:pt>
    <dgm:pt modelId="{0D66B060-E737-4E2D-95D5-800BA3C36B97}" type="parTrans" cxnId="{1D0F5374-DF2D-4AB1-9E61-D1DD2313C244}">
      <dgm:prSet/>
      <dgm:spPr/>
      <dgm:t>
        <a:bodyPr/>
        <a:lstStyle/>
        <a:p>
          <a:endParaRPr lang="en-IN"/>
        </a:p>
      </dgm:t>
    </dgm:pt>
    <dgm:pt modelId="{2EB6DCBA-899C-4BF1-8957-7E3FA56FD206}" type="sibTrans" cxnId="{1D0F5374-DF2D-4AB1-9E61-D1DD2313C244}">
      <dgm:prSet/>
      <dgm:spPr/>
      <dgm:t>
        <a:bodyPr/>
        <a:lstStyle/>
        <a:p>
          <a:endParaRPr lang="en-IN"/>
        </a:p>
      </dgm:t>
    </dgm:pt>
    <dgm:pt modelId="{92B0BD75-C971-4716-B515-703C67E6D852}">
      <dgm:prSet custT="1"/>
      <dgm:spPr>
        <a:solidFill>
          <a:srgbClr val="1F3660"/>
        </a:solidFill>
        <a:ln>
          <a:noFill/>
        </a:ln>
      </dgm:spPr>
      <dgm:t>
        <a:bodyPr/>
        <a:lstStyle/>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Clinical Trials Flow Automation</a:t>
          </a:r>
        </a:p>
      </dgm:t>
    </dgm:pt>
    <dgm:pt modelId="{1611F4A7-D235-4AF2-97E9-B186D0A782CD}" type="parTrans" cxnId="{E0AB4398-A747-4403-848A-DC1DF3DBA91C}">
      <dgm:prSet/>
      <dgm:spPr/>
      <dgm:t>
        <a:bodyPr/>
        <a:lstStyle/>
        <a:p>
          <a:endParaRPr lang="en-IN"/>
        </a:p>
      </dgm:t>
    </dgm:pt>
    <dgm:pt modelId="{50417DA8-DC61-43B3-83F7-C8EE0CA6F5CD}" type="sibTrans" cxnId="{E0AB4398-A747-4403-848A-DC1DF3DBA91C}">
      <dgm:prSet/>
      <dgm:spPr/>
      <dgm:t>
        <a:bodyPr/>
        <a:lstStyle/>
        <a:p>
          <a:endParaRPr lang="en-IN"/>
        </a:p>
      </dgm:t>
    </dgm:pt>
    <dgm:pt modelId="{E68476EE-5D94-47EB-92ED-F001B4466D20}">
      <dgm:prSet custT="1"/>
      <dgm:spPr>
        <a:solidFill>
          <a:srgbClr val="1F3660"/>
        </a:solidFill>
        <a:ln>
          <a:noFill/>
        </a:ln>
      </dgm:spPr>
      <dgm:t>
        <a:bodyPr/>
        <a:lstStyle/>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Medical Transcription Automation</a:t>
          </a:r>
        </a:p>
      </dgm:t>
    </dgm:pt>
    <dgm:pt modelId="{B5112B1F-3218-4488-B32A-4745E1B747D6}" type="parTrans" cxnId="{B0F1E4F6-641D-41C5-B797-4130F5C060F4}">
      <dgm:prSet/>
      <dgm:spPr/>
      <dgm:t>
        <a:bodyPr/>
        <a:lstStyle/>
        <a:p>
          <a:endParaRPr lang="en-IN"/>
        </a:p>
      </dgm:t>
    </dgm:pt>
    <dgm:pt modelId="{C21321AD-0398-4A74-837F-F51D98EEBF52}" type="sibTrans" cxnId="{B0F1E4F6-641D-41C5-B797-4130F5C060F4}">
      <dgm:prSet/>
      <dgm:spPr/>
      <dgm:t>
        <a:bodyPr/>
        <a:lstStyle/>
        <a:p>
          <a:endParaRPr lang="en-IN"/>
        </a:p>
      </dgm:t>
    </dgm:pt>
    <dgm:pt modelId="{34AA3DD6-63B0-493E-8892-136B08505471}">
      <dgm:prSet custT="1"/>
      <dgm:spPr>
        <a:noFill/>
        <a:ln>
          <a:noFill/>
        </a:ln>
        <a:effectLst/>
      </dgm:spPr>
      <dgm:t>
        <a:bodyPr spcFirstLastPara="0" vert="horz" wrap="square" lIns="0" tIns="0" rIns="337757" bIns="0" numCol="1" spcCol="1270" anchor="t" anchorCtr="0"/>
        <a:lstStyle/>
        <a:p>
          <a:r>
            <a:rPr lang="en-IN" sz="2700" kern="1200" dirty="0">
              <a:solidFill>
                <a:srgbClr val="B6FF42"/>
              </a:solidFill>
              <a:latin typeface="Aptos" panose="02110004020202020204"/>
              <a:ea typeface="+mn-ea"/>
              <a:cs typeface="+mn-cs"/>
            </a:rPr>
            <a:t>Legal</a:t>
          </a:r>
          <a:r>
            <a:rPr lang="en-IN" sz="2700" kern="1200" dirty="0">
              <a:solidFill>
                <a:srgbClr val="B6FF42"/>
              </a:solidFill>
            </a:rPr>
            <a:t> &amp; Government</a:t>
          </a:r>
        </a:p>
      </dgm:t>
    </dgm:pt>
    <dgm:pt modelId="{BBEF8BA4-3805-405A-8E0A-4A5DD8D38B09}" type="parTrans" cxnId="{076DBDB2-1E76-44E1-8974-344B595AAC61}">
      <dgm:prSet/>
      <dgm:spPr/>
      <dgm:t>
        <a:bodyPr/>
        <a:lstStyle/>
        <a:p>
          <a:endParaRPr lang="en-IN"/>
        </a:p>
      </dgm:t>
    </dgm:pt>
    <dgm:pt modelId="{A3E37F27-D084-4EE7-827A-E1728589FAE1}" type="sibTrans" cxnId="{076DBDB2-1E76-44E1-8974-344B595AAC61}">
      <dgm:prSet/>
      <dgm:spPr/>
      <dgm:t>
        <a:bodyPr/>
        <a:lstStyle/>
        <a:p>
          <a:endParaRPr lang="en-IN"/>
        </a:p>
      </dgm:t>
    </dgm:pt>
    <dgm:pt modelId="{8E590CA2-6C6D-48DB-B009-CAC43892DA3B}">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Bank statement Reconciliations</a:t>
          </a:r>
        </a:p>
      </dgm:t>
    </dgm:pt>
    <dgm:pt modelId="{698B006A-F627-43E1-B2C0-3E73252994A0}" type="parTrans" cxnId="{D0F2A26C-98D5-42D7-ABF8-8F6FBF2B8554}">
      <dgm:prSet/>
      <dgm:spPr/>
      <dgm:t>
        <a:bodyPr/>
        <a:lstStyle/>
        <a:p>
          <a:endParaRPr lang="en-IN"/>
        </a:p>
      </dgm:t>
    </dgm:pt>
    <dgm:pt modelId="{66CF98C1-7C61-4D32-9F3E-8333CAFF3A52}" type="sibTrans" cxnId="{D0F2A26C-98D5-42D7-ABF8-8F6FBF2B8554}">
      <dgm:prSet/>
      <dgm:spPr/>
      <dgm:t>
        <a:bodyPr/>
        <a:lstStyle/>
        <a:p>
          <a:endParaRPr lang="en-IN"/>
        </a:p>
      </dgm:t>
    </dgm:pt>
    <dgm:pt modelId="{6E2DCA0B-B61D-4195-A6EF-B3CFB8CC375E}">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Federal/ Government Grant flow </a:t>
          </a:r>
        </a:p>
      </dgm:t>
    </dgm:pt>
    <dgm:pt modelId="{AEDC5EA6-E959-4F18-95C3-CE22229F26D2}" type="parTrans" cxnId="{D551AD6E-E4A5-4DD3-8A14-79224641EA4B}">
      <dgm:prSet/>
      <dgm:spPr/>
      <dgm:t>
        <a:bodyPr/>
        <a:lstStyle/>
        <a:p>
          <a:endParaRPr lang="en-IN"/>
        </a:p>
      </dgm:t>
    </dgm:pt>
    <dgm:pt modelId="{73ED8262-5442-44C2-AA95-E6B37B0A3F5D}" type="sibTrans" cxnId="{D551AD6E-E4A5-4DD3-8A14-79224641EA4B}">
      <dgm:prSet/>
      <dgm:spPr/>
      <dgm:t>
        <a:bodyPr/>
        <a:lstStyle/>
        <a:p>
          <a:endParaRPr lang="en-IN"/>
        </a:p>
      </dgm:t>
    </dgm:pt>
    <dgm:pt modelId="{B38B2D38-9726-4721-AE63-40F075AF9C78}">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Invoice entry Automation</a:t>
          </a:r>
        </a:p>
      </dgm:t>
    </dgm:pt>
    <dgm:pt modelId="{2696C49D-FFD7-46FA-B3EB-64DFFBEDDA07}" type="parTrans" cxnId="{DD3E6BAB-89A2-43E0-AB41-45BF6B11B4C2}">
      <dgm:prSet/>
      <dgm:spPr/>
      <dgm:t>
        <a:bodyPr/>
        <a:lstStyle/>
        <a:p>
          <a:endParaRPr lang="en-IN"/>
        </a:p>
      </dgm:t>
    </dgm:pt>
    <dgm:pt modelId="{57F67630-AB39-4708-8E26-809CB562A155}" type="sibTrans" cxnId="{DD3E6BAB-89A2-43E0-AB41-45BF6B11B4C2}">
      <dgm:prSet/>
      <dgm:spPr/>
      <dgm:t>
        <a:bodyPr/>
        <a:lstStyle/>
        <a:p>
          <a:endParaRPr lang="en-IN"/>
        </a:p>
      </dgm:t>
    </dgm:pt>
    <dgm:pt modelId="{59AB3D63-19CB-4292-B8B9-D696FE94A04C}">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fr-FR" sz="1500" kern="1200" dirty="0">
              <a:solidFill>
                <a:prstClr val="white"/>
              </a:solidFill>
              <a:latin typeface="Aptos" panose="02110004020202020204"/>
              <a:ea typeface="+mn-ea"/>
              <a:cs typeface="+mn-cs"/>
            </a:rPr>
            <a:t>Bulk Mortgage document information extraction</a:t>
          </a:r>
          <a:endParaRPr lang="en-IN" sz="1500" kern="1200" dirty="0">
            <a:solidFill>
              <a:prstClr val="white"/>
            </a:solidFill>
            <a:latin typeface="Aptos" panose="02110004020202020204"/>
            <a:ea typeface="+mn-ea"/>
            <a:cs typeface="+mn-cs"/>
          </a:endParaRPr>
        </a:p>
      </dgm:t>
    </dgm:pt>
    <dgm:pt modelId="{A5ACEDE6-FF5E-48B8-82CC-3AB766563D81}" type="parTrans" cxnId="{9AB9A9C8-B25C-4599-9CED-C65EC1C0D8AA}">
      <dgm:prSet/>
      <dgm:spPr/>
      <dgm:t>
        <a:bodyPr/>
        <a:lstStyle/>
        <a:p>
          <a:endParaRPr lang="en-IN"/>
        </a:p>
      </dgm:t>
    </dgm:pt>
    <dgm:pt modelId="{52CEF200-4FAD-47D2-B9F8-73EF7178C4AE}" type="sibTrans" cxnId="{9AB9A9C8-B25C-4599-9CED-C65EC1C0D8AA}">
      <dgm:prSet/>
      <dgm:spPr/>
      <dgm:t>
        <a:bodyPr/>
        <a:lstStyle/>
        <a:p>
          <a:endParaRPr lang="en-IN"/>
        </a:p>
      </dgm:t>
    </dgm:pt>
    <dgm:pt modelId="{2ED93830-4F8E-4556-95E8-A73E84CB718C}">
      <dgm:prSet/>
      <dgm:spPr/>
      <dgm:t>
        <a:bodyPr/>
        <a:lstStyle/>
        <a:p>
          <a:r>
            <a:rPr lang="en-IN" dirty="0">
              <a:solidFill>
                <a:srgbClr val="B6FF42"/>
              </a:solidFill>
            </a:rPr>
            <a:t>Energy &amp; Utilities</a:t>
          </a:r>
        </a:p>
      </dgm:t>
    </dgm:pt>
    <dgm:pt modelId="{19BAF9DF-52ED-4DC4-8E3E-1D7427580BB2}" type="parTrans" cxnId="{7170612D-F369-4CEF-BD20-0DD106170695}">
      <dgm:prSet/>
      <dgm:spPr/>
      <dgm:t>
        <a:bodyPr/>
        <a:lstStyle/>
        <a:p>
          <a:endParaRPr lang="en-IN"/>
        </a:p>
      </dgm:t>
    </dgm:pt>
    <dgm:pt modelId="{1E2A8A89-0AE4-4FD0-9124-0911EB5A7D6C}" type="sibTrans" cxnId="{7170612D-F369-4CEF-BD20-0DD106170695}">
      <dgm:prSet/>
      <dgm:spPr/>
      <dgm:t>
        <a:bodyPr/>
        <a:lstStyle/>
        <a:p>
          <a:endParaRPr lang="en-IN"/>
        </a:p>
      </dgm:t>
    </dgm:pt>
    <dgm:pt modelId="{E199533A-E8A9-4AE2-952A-C69D1F393D1B}">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Customer Onboarding</a:t>
          </a:r>
        </a:p>
      </dgm:t>
    </dgm:pt>
    <dgm:pt modelId="{1B7960EA-06FC-446C-A030-1D33F8AC91EA}" type="parTrans" cxnId="{937C3663-6E0B-42D2-BFD0-DF77254D2BD9}">
      <dgm:prSet/>
      <dgm:spPr/>
      <dgm:t>
        <a:bodyPr/>
        <a:lstStyle/>
        <a:p>
          <a:endParaRPr lang="en-IN"/>
        </a:p>
      </dgm:t>
    </dgm:pt>
    <dgm:pt modelId="{C3363AB0-A4AF-42A4-8157-3055F327B3F0}" type="sibTrans" cxnId="{937C3663-6E0B-42D2-BFD0-DF77254D2BD9}">
      <dgm:prSet/>
      <dgm:spPr/>
      <dgm:t>
        <a:bodyPr/>
        <a:lstStyle/>
        <a:p>
          <a:endParaRPr lang="en-IN"/>
        </a:p>
      </dgm:t>
    </dgm:pt>
    <dgm:pt modelId="{60F9EE2C-41D5-4926-9A9F-8E2DE6A0F4E2}">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Field Operations</a:t>
          </a:r>
        </a:p>
      </dgm:t>
    </dgm:pt>
    <dgm:pt modelId="{8EF7565E-BF3A-40D9-A4C7-394932F3CEE3}" type="parTrans" cxnId="{9F5E4AC3-3AB0-4FC8-80AE-908B236E04A6}">
      <dgm:prSet/>
      <dgm:spPr/>
      <dgm:t>
        <a:bodyPr/>
        <a:lstStyle/>
        <a:p>
          <a:endParaRPr lang="en-IN"/>
        </a:p>
      </dgm:t>
    </dgm:pt>
    <dgm:pt modelId="{14C3DBEE-729D-4282-B420-113E353D91A6}" type="sibTrans" cxnId="{9F5E4AC3-3AB0-4FC8-80AE-908B236E04A6}">
      <dgm:prSet/>
      <dgm:spPr/>
      <dgm:t>
        <a:bodyPr/>
        <a:lstStyle/>
        <a:p>
          <a:endParaRPr lang="en-IN"/>
        </a:p>
      </dgm:t>
    </dgm:pt>
    <dgm:pt modelId="{362A4061-B8FA-47AA-903F-F37A4D48FCBB}">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Document Processing</a:t>
          </a:r>
        </a:p>
      </dgm:t>
    </dgm:pt>
    <dgm:pt modelId="{B389BFCA-EB9B-4F22-8D42-A71EBC3861AF}" type="parTrans" cxnId="{E97898E9-53F2-4894-BAE5-55A1867FAEA9}">
      <dgm:prSet/>
      <dgm:spPr/>
      <dgm:t>
        <a:bodyPr/>
        <a:lstStyle/>
        <a:p>
          <a:endParaRPr lang="en-IN"/>
        </a:p>
      </dgm:t>
    </dgm:pt>
    <dgm:pt modelId="{5059BF77-3F06-479F-A12F-658859A6EEB8}" type="sibTrans" cxnId="{E97898E9-53F2-4894-BAE5-55A1867FAEA9}">
      <dgm:prSet/>
      <dgm:spPr/>
      <dgm:t>
        <a:bodyPr/>
        <a:lstStyle/>
        <a:p>
          <a:endParaRPr lang="en-IN"/>
        </a:p>
      </dgm:t>
    </dgm:pt>
    <dgm:pt modelId="{0D556F8D-5CE4-4DFC-86B1-67D46B8483E9}" type="pres">
      <dgm:prSet presAssocID="{FEE82F5E-2A0E-431E-A0AA-6F9FD27F57EB}" presName="linearFlow" presStyleCnt="0">
        <dgm:presLayoutVars>
          <dgm:dir/>
          <dgm:animLvl val="lvl"/>
          <dgm:resizeHandles/>
        </dgm:presLayoutVars>
      </dgm:prSet>
      <dgm:spPr/>
    </dgm:pt>
    <dgm:pt modelId="{45448223-07E4-4721-9272-55794356B097}" type="pres">
      <dgm:prSet presAssocID="{1104C8E4-C603-4A2D-BC57-21D424A33786}" presName="compositeNode" presStyleCnt="0">
        <dgm:presLayoutVars>
          <dgm:bulletEnabled val="1"/>
        </dgm:presLayoutVars>
      </dgm:prSet>
      <dgm:spPr/>
    </dgm:pt>
    <dgm:pt modelId="{F8AD3C2D-EEF5-4C2C-A56D-C207E56CB53C}" type="pres">
      <dgm:prSet presAssocID="{1104C8E4-C603-4A2D-BC57-21D424A33786}" presName="image" presStyleLbl="fgImgPlace1" presStyleIdx="0" presStyleCnt="4" custScaleX="127516" custScaleY="135958"/>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Factory with solid fill"/>
        </a:ext>
      </dgm:extLst>
    </dgm:pt>
    <dgm:pt modelId="{1A4957CE-B477-43D0-9BE6-790C3B6CBFB1}" type="pres">
      <dgm:prSet presAssocID="{1104C8E4-C603-4A2D-BC57-21D424A33786}" presName="childNode" presStyleLbl="node1" presStyleIdx="0" presStyleCnt="4" custScaleX="127121" custScaleY="103485" custLinFactNeighborX="20135" custLinFactNeighborY="613">
        <dgm:presLayoutVars>
          <dgm:bulletEnabled val="1"/>
        </dgm:presLayoutVars>
      </dgm:prSet>
      <dgm:spPr/>
    </dgm:pt>
    <dgm:pt modelId="{9FE4F8BA-A332-4D07-8DD7-6E3951B78CEC}" type="pres">
      <dgm:prSet presAssocID="{1104C8E4-C603-4A2D-BC57-21D424A33786}" presName="parentNode" presStyleLbl="revTx" presStyleIdx="0" presStyleCnt="4" custLinFactNeighborY="3060">
        <dgm:presLayoutVars>
          <dgm:chMax val="0"/>
          <dgm:bulletEnabled val="1"/>
        </dgm:presLayoutVars>
      </dgm:prSet>
      <dgm:spPr/>
    </dgm:pt>
    <dgm:pt modelId="{5B766C3C-4E8C-44DF-8D20-EE87D08CB889}" type="pres">
      <dgm:prSet presAssocID="{95F14E12-A6D9-49D4-8B63-13FAC0854567}" presName="sibTrans" presStyleCnt="0"/>
      <dgm:spPr/>
    </dgm:pt>
    <dgm:pt modelId="{17C265CC-14E8-4BA5-85D8-DB8A72204E3F}" type="pres">
      <dgm:prSet presAssocID="{7299E487-4745-4A78-B3C3-456979B4D823}" presName="compositeNode" presStyleCnt="0">
        <dgm:presLayoutVars>
          <dgm:bulletEnabled val="1"/>
        </dgm:presLayoutVars>
      </dgm:prSet>
      <dgm:spPr/>
    </dgm:pt>
    <dgm:pt modelId="{7BF2AB52-5B05-4049-BD33-7BD5AE3743BB}" type="pres">
      <dgm:prSet presAssocID="{7299E487-4745-4A78-B3C3-456979B4D823}" presName="image" presStyleLbl="fgImgPlace1" presStyleIdx="1" presStyleCnt="4" custScaleX="127516" custScaleY="135958"/>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Heart with pulse with solid fill"/>
        </a:ext>
      </dgm:extLst>
    </dgm:pt>
    <dgm:pt modelId="{78520449-9F80-4700-B76C-6FC485DB018B}" type="pres">
      <dgm:prSet presAssocID="{7299E487-4745-4A78-B3C3-456979B4D823}" presName="childNode" presStyleLbl="node1" presStyleIdx="1" presStyleCnt="4" custScaleX="131675" custLinFactNeighborX="14890" custLinFactNeighborY="1531">
        <dgm:presLayoutVars>
          <dgm:bulletEnabled val="1"/>
        </dgm:presLayoutVars>
      </dgm:prSet>
      <dgm:spPr/>
    </dgm:pt>
    <dgm:pt modelId="{09D70A6D-E70C-4944-BF8B-EEA4C7D2D3E8}" type="pres">
      <dgm:prSet presAssocID="{7299E487-4745-4A78-B3C3-456979B4D823}" presName="parentNode" presStyleLbl="revTx" presStyleIdx="1" presStyleCnt="4" custLinFactNeighborY="1224">
        <dgm:presLayoutVars>
          <dgm:chMax val="0"/>
          <dgm:bulletEnabled val="1"/>
        </dgm:presLayoutVars>
      </dgm:prSet>
      <dgm:spPr/>
    </dgm:pt>
    <dgm:pt modelId="{580C33CF-F8B3-44CD-95AF-387DD2D3C19F}" type="pres">
      <dgm:prSet presAssocID="{2EB6DCBA-899C-4BF1-8957-7E3FA56FD206}" presName="sibTrans" presStyleCnt="0"/>
      <dgm:spPr/>
    </dgm:pt>
    <dgm:pt modelId="{728F7FFD-A5A7-4AE8-903E-D901A383419D}" type="pres">
      <dgm:prSet presAssocID="{34AA3DD6-63B0-493E-8892-136B08505471}" presName="compositeNode" presStyleCnt="0">
        <dgm:presLayoutVars>
          <dgm:bulletEnabled val="1"/>
        </dgm:presLayoutVars>
      </dgm:prSet>
      <dgm:spPr/>
    </dgm:pt>
    <dgm:pt modelId="{BEC6E25D-2848-4A4D-A84A-E3CB26E7129C}" type="pres">
      <dgm:prSet presAssocID="{34AA3DD6-63B0-493E-8892-136B08505471}" presName="image" presStyleLbl="fgImgPlace1" presStyleIdx="2" presStyleCnt="4" custScaleX="127516" custScaleY="135958"/>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Bank with solid fill"/>
        </a:ext>
      </dgm:extLst>
    </dgm:pt>
    <dgm:pt modelId="{E8544D3A-D2D2-4D0B-B08D-15C879315635}" type="pres">
      <dgm:prSet presAssocID="{34AA3DD6-63B0-493E-8892-136B08505471}" presName="childNode" presStyleLbl="node1" presStyleIdx="2" presStyleCnt="4" custScaleX="118316" custLinFactNeighborX="14690" custLinFactNeighborY="919">
        <dgm:presLayoutVars>
          <dgm:bulletEnabled val="1"/>
        </dgm:presLayoutVars>
      </dgm:prSet>
      <dgm:spPr>
        <a:xfrm>
          <a:off x="6032026" y="785682"/>
          <a:ext cx="1907591" cy="3778907"/>
        </a:xfrm>
        <a:prstGeom prst="rect">
          <a:avLst/>
        </a:prstGeom>
      </dgm:spPr>
    </dgm:pt>
    <dgm:pt modelId="{499006F9-908C-407A-98B5-6DA54AB3507B}" type="pres">
      <dgm:prSet presAssocID="{34AA3DD6-63B0-493E-8892-136B08505471}" presName="parentNode" presStyleLbl="revTx" presStyleIdx="2" presStyleCnt="4" custLinFactNeighborY="2142">
        <dgm:presLayoutVars>
          <dgm:chMax val="0"/>
          <dgm:bulletEnabled val="1"/>
        </dgm:presLayoutVars>
      </dgm:prSet>
      <dgm:spPr>
        <a:xfrm rot="16200000">
          <a:off x="3951088" y="2483651"/>
          <a:ext cx="3778907" cy="382968"/>
        </a:xfrm>
        <a:prstGeom prst="rect">
          <a:avLst/>
        </a:prstGeom>
      </dgm:spPr>
    </dgm:pt>
    <dgm:pt modelId="{F82E56DD-5760-4BA8-94A2-4BF93EA04E8E}" type="pres">
      <dgm:prSet presAssocID="{A3E37F27-D084-4EE7-827A-E1728589FAE1}" presName="sibTrans" presStyleCnt="0"/>
      <dgm:spPr/>
    </dgm:pt>
    <dgm:pt modelId="{62C47D84-570A-45C5-9781-BBE9428D1C6B}" type="pres">
      <dgm:prSet presAssocID="{2ED93830-4F8E-4556-95E8-A73E84CB718C}" presName="compositeNode" presStyleCnt="0">
        <dgm:presLayoutVars>
          <dgm:bulletEnabled val="1"/>
        </dgm:presLayoutVars>
      </dgm:prSet>
      <dgm:spPr/>
    </dgm:pt>
    <dgm:pt modelId="{2D2FACEF-6B5C-4892-8518-E437E7760227}" type="pres">
      <dgm:prSet presAssocID="{2ED93830-4F8E-4556-95E8-A73E84CB718C}" presName="image" presStyleLbl="fgImgPlace1" presStyleIdx="3" presStyleCnt="4" custScaleX="127516" custScaleY="135958"/>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Electric Tower with solid fill"/>
        </a:ext>
      </dgm:extLst>
    </dgm:pt>
    <dgm:pt modelId="{BD23B313-A7B3-4DE8-90B8-43667733C495}" type="pres">
      <dgm:prSet presAssocID="{2ED93830-4F8E-4556-95E8-A73E84CB718C}" presName="childNode" presStyleLbl="node1" presStyleIdx="3" presStyleCnt="4">
        <dgm:presLayoutVars>
          <dgm:bulletEnabled val="1"/>
        </dgm:presLayoutVars>
      </dgm:prSet>
      <dgm:spPr>
        <a:xfrm>
          <a:off x="8824948" y="785682"/>
          <a:ext cx="1907591" cy="3778907"/>
        </a:xfrm>
        <a:prstGeom prst="rect">
          <a:avLst/>
        </a:prstGeom>
      </dgm:spPr>
    </dgm:pt>
    <dgm:pt modelId="{A226AAD7-A890-4506-A325-BE5FF1497C6C}" type="pres">
      <dgm:prSet presAssocID="{2ED93830-4F8E-4556-95E8-A73E84CB718C}" presName="parentNode" presStyleLbl="revTx" presStyleIdx="3" presStyleCnt="4" custLinFactNeighborY="4590">
        <dgm:presLayoutVars>
          <dgm:chMax val="0"/>
          <dgm:bulletEnabled val="1"/>
        </dgm:presLayoutVars>
      </dgm:prSet>
      <dgm:spPr/>
    </dgm:pt>
  </dgm:ptLst>
  <dgm:cxnLst>
    <dgm:cxn modelId="{53572F0D-2BC8-492E-87B7-A4E0064BE9D8}" type="presOf" srcId="{34AA3DD6-63B0-493E-8892-136B08505471}" destId="{499006F9-908C-407A-98B5-6DA54AB3507B}" srcOrd="0" destOrd="0" presId="urn:microsoft.com/office/officeart/2005/8/layout/hList2"/>
    <dgm:cxn modelId="{1CCCF810-62B6-4CC8-81B4-B48DC569DCDA}" type="presOf" srcId="{B38B2D38-9726-4721-AE63-40F075AF9C78}" destId="{E8544D3A-D2D2-4D0B-B08D-15C879315635}" srcOrd="0" destOrd="2" presId="urn:microsoft.com/office/officeart/2005/8/layout/hList2"/>
    <dgm:cxn modelId="{12DC0918-610E-4AA5-AE41-FD3B2FD88F32}" type="presOf" srcId="{59AB3D63-19CB-4292-B8B9-D696FE94A04C}" destId="{E8544D3A-D2D2-4D0B-B08D-15C879315635}" srcOrd="0" destOrd="3" presId="urn:microsoft.com/office/officeart/2005/8/layout/hList2"/>
    <dgm:cxn modelId="{DA5F7925-0A4F-4D36-80CB-6E37369A8DDF}" type="presOf" srcId="{E03918C9-8316-4517-8B61-52C208592378}" destId="{1A4957CE-B477-43D0-9BE6-790C3B6CBFB1}" srcOrd="0" destOrd="1" presId="urn:microsoft.com/office/officeart/2005/8/layout/hList2"/>
    <dgm:cxn modelId="{7170612D-F369-4CEF-BD20-0DD106170695}" srcId="{FEE82F5E-2A0E-431E-A0AA-6F9FD27F57EB}" destId="{2ED93830-4F8E-4556-95E8-A73E84CB718C}" srcOrd="3" destOrd="0" parTransId="{19BAF9DF-52ED-4DC4-8E3E-1D7427580BB2}" sibTransId="{1E2A8A89-0AE4-4FD0-9124-0911EB5A7D6C}"/>
    <dgm:cxn modelId="{CB72972E-4975-4C1B-9802-24A99838739E}" type="presOf" srcId="{92B0BD75-C971-4716-B515-703C67E6D852}" destId="{78520449-9F80-4700-B76C-6FC485DB018B}" srcOrd="0" destOrd="0" presId="urn:microsoft.com/office/officeart/2005/8/layout/hList2"/>
    <dgm:cxn modelId="{18647534-F692-428E-9475-B69ED0A3F6FE}" srcId="{1104C8E4-C603-4A2D-BC57-21D424A33786}" destId="{01810A92-B4EB-4E55-8AA9-18C579D202E0}" srcOrd="4" destOrd="0" parTransId="{F420DE06-97EC-4782-A897-512B9C9D9B21}" sibTransId="{D2FF5CA3-42A9-4AB1-AB61-8344A8F37223}"/>
    <dgm:cxn modelId="{8C5A4B5B-5EFD-4555-951F-97F22281E0F2}" type="presOf" srcId="{1104C8E4-C603-4A2D-BC57-21D424A33786}" destId="{9FE4F8BA-A332-4D07-8DD7-6E3951B78CEC}" srcOrd="0" destOrd="0" presId="urn:microsoft.com/office/officeart/2005/8/layout/hList2"/>
    <dgm:cxn modelId="{F3E3D541-6412-459E-9D82-1DE5E57390B8}" type="presOf" srcId="{7589F134-CA8F-4B42-AA5D-12DC2BFCCC31}" destId="{1A4957CE-B477-43D0-9BE6-790C3B6CBFB1}" srcOrd="0" destOrd="3" presId="urn:microsoft.com/office/officeart/2005/8/layout/hList2"/>
    <dgm:cxn modelId="{937C3663-6E0B-42D2-BFD0-DF77254D2BD9}" srcId="{2ED93830-4F8E-4556-95E8-A73E84CB718C}" destId="{E199533A-E8A9-4AE2-952A-C69D1F393D1B}" srcOrd="0" destOrd="0" parTransId="{1B7960EA-06FC-446C-A030-1D33F8AC91EA}" sibTransId="{C3363AB0-A4AF-42A4-8157-3055F327B3F0}"/>
    <dgm:cxn modelId="{CED1C663-676C-47FE-B001-8505813D7DEC}" srcId="{1104C8E4-C603-4A2D-BC57-21D424A33786}" destId="{BB2FFD05-5870-4E0E-8379-F5DE637C3EE7}" srcOrd="0" destOrd="0" parTransId="{08748E89-4104-4C2F-98AF-B810EC9F85F4}" sibTransId="{7607E5DC-C9AE-4FA4-BBA8-374304A28AF3}"/>
    <dgm:cxn modelId="{D0F2A26C-98D5-42D7-ABF8-8F6FBF2B8554}" srcId="{34AA3DD6-63B0-493E-8892-136B08505471}" destId="{8E590CA2-6C6D-48DB-B009-CAC43892DA3B}" srcOrd="0" destOrd="0" parTransId="{698B006A-F627-43E1-B2C0-3E73252994A0}" sibTransId="{66CF98C1-7C61-4D32-9F3E-8333CAFF3A52}"/>
    <dgm:cxn modelId="{D551AD6E-E4A5-4DD3-8A14-79224641EA4B}" srcId="{34AA3DD6-63B0-493E-8892-136B08505471}" destId="{6E2DCA0B-B61D-4195-A6EF-B3CFB8CC375E}" srcOrd="1" destOrd="0" parTransId="{AEDC5EA6-E959-4F18-95C3-CE22229F26D2}" sibTransId="{73ED8262-5442-44C2-AA95-E6B37B0A3F5D}"/>
    <dgm:cxn modelId="{1D0F5374-DF2D-4AB1-9E61-D1DD2313C244}" srcId="{FEE82F5E-2A0E-431E-A0AA-6F9FD27F57EB}" destId="{7299E487-4745-4A78-B3C3-456979B4D823}" srcOrd="1" destOrd="0" parTransId="{0D66B060-E737-4E2D-95D5-800BA3C36B97}" sibTransId="{2EB6DCBA-899C-4BF1-8957-7E3FA56FD206}"/>
    <dgm:cxn modelId="{ECFD1276-39AE-4BA1-884D-F861B295DA73}" srcId="{1104C8E4-C603-4A2D-BC57-21D424A33786}" destId="{20DD24F4-23A2-4087-8C2F-743B9A5CEBA3}" srcOrd="5" destOrd="0" parTransId="{6A77AA7A-E63F-4803-A23B-62E4DC40FD34}" sibTransId="{B5E35FF7-0639-4738-BA5C-DE2587BC50BC}"/>
    <dgm:cxn modelId="{76020179-7684-4B3F-993F-99282862C1A1}" srcId="{FEE82F5E-2A0E-431E-A0AA-6F9FD27F57EB}" destId="{1104C8E4-C603-4A2D-BC57-21D424A33786}" srcOrd="0" destOrd="0" parTransId="{0E6A787A-E320-4D7C-88ED-2C391B5F4350}" sibTransId="{95F14E12-A6D9-49D4-8B63-13FAC0854567}"/>
    <dgm:cxn modelId="{0F747379-C303-45E3-B3C3-1E9376A7730C}" type="presOf" srcId="{BB2FFD05-5870-4E0E-8379-F5DE637C3EE7}" destId="{1A4957CE-B477-43D0-9BE6-790C3B6CBFB1}" srcOrd="0" destOrd="0" presId="urn:microsoft.com/office/officeart/2005/8/layout/hList2"/>
    <dgm:cxn modelId="{0F99667D-21AC-44E2-8BDA-2FA75ABB654A}" srcId="{1104C8E4-C603-4A2D-BC57-21D424A33786}" destId="{4BA9052E-68D2-43C2-A99E-0D90C9BAA25A}" srcOrd="2" destOrd="0" parTransId="{2E524408-5A17-4350-8B48-B7B2040374F1}" sibTransId="{C89DB9D2-034A-46D3-83C0-1B0E21F27247}"/>
    <dgm:cxn modelId="{997E5980-FAE1-44AC-BBAF-8EBDD02C6EB9}" type="presOf" srcId="{01810A92-B4EB-4E55-8AA9-18C579D202E0}" destId="{1A4957CE-B477-43D0-9BE6-790C3B6CBFB1}" srcOrd="0" destOrd="4" presId="urn:microsoft.com/office/officeart/2005/8/layout/hList2"/>
    <dgm:cxn modelId="{12FA8B92-C25A-407C-9AF7-4747E818F440}" type="presOf" srcId="{362A4061-B8FA-47AA-903F-F37A4D48FCBB}" destId="{BD23B313-A7B3-4DE8-90B8-43667733C495}" srcOrd="0" destOrd="2" presId="urn:microsoft.com/office/officeart/2005/8/layout/hList2"/>
    <dgm:cxn modelId="{54994496-8F1A-4523-8576-8113D67AD7CD}" type="presOf" srcId="{E199533A-E8A9-4AE2-952A-C69D1F393D1B}" destId="{BD23B313-A7B3-4DE8-90B8-43667733C495}" srcOrd="0" destOrd="0" presId="urn:microsoft.com/office/officeart/2005/8/layout/hList2"/>
    <dgm:cxn modelId="{E0AB4398-A747-4403-848A-DC1DF3DBA91C}" srcId="{7299E487-4745-4A78-B3C3-456979B4D823}" destId="{92B0BD75-C971-4716-B515-703C67E6D852}" srcOrd="0" destOrd="0" parTransId="{1611F4A7-D235-4AF2-97E9-B186D0A782CD}" sibTransId="{50417DA8-DC61-43B3-83F7-C8EE0CA6F5CD}"/>
    <dgm:cxn modelId="{573F30A4-758F-45B5-BF36-97F6540E3539}" type="presOf" srcId="{4BA9052E-68D2-43C2-A99E-0D90C9BAA25A}" destId="{1A4957CE-B477-43D0-9BE6-790C3B6CBFB1}" srcOrd="0" destOrd="2" presId="urn:microsoft.com/office/officeart/2005/8/layout/hList2"/>
    <dgm:cxn modelId="{DD3E6BAB-89A2-43E0-AB41-45BF6B11B4C2}" srcId="{34AA3DD6-63B0-493E-8892-136B08505471}" destId="{B38B2D38-9726-4721-AE63-40F075AF9C78}" srcOrd="2" destOrd="0" parTransId="{2696C49D-FFD7-46FA-B3EB-64DFFBEDDA07}" sibTransId="{57F67630-AB39-4708-8E26-809CB562A155}"/>
    <dgm:cxn modelId="{499929AC-76EA-4919-83FD-6C2781D0E75F}" srcId="{1104C8E4-C603-4A2D-BC57-21D424A33786}" destId="{E03918C9-8316-4517-8B61-52C208592378}" srcOrd="1" destOrd="0" parTransId="{E2F56B05-DE08-4E83-BB31-967AA9F99270}" sibTransId="{9B8E8DDC-5738-4DA9-99D6-EE4AB9823673}"/>
    <dgm:cxn modelId="{826F88B0-1EFC-41B9-A967-858301CB2D61}" type="presOf" srcId="{FEE82F5E-2A0E-431E-A0AA-6F9FD27F57EB}" destId="{0D556F8D-5CE4-4DFC-86B1-67D46B8483E9}" srcOrd="0" destOrd="0" presId="urn:microsoft.com/office/officeart/2005/8/layout/hList2"/>
    <dgm:cxn modelId="{D4BA4BB1-9CF0-4DC9-9E8C-0BC78BCED055}" type="presOf" srcId="{2ED93830-4F8E-4556-95E8-A73E84CB718C}" destId="{A226AAD7-A890-4506-A325-BE5FF1497C6C}" srcOrd="0" destOrd="0" presId="urn:microsoft.com/office/officeart/2005/8/layout/hList2"/>
    <dgm:cxn modelId="{076DBDB2-1E76-44E1-8974-344B595AAC61}" srcId="{FEE82F5E-2A0E-431E-A0AA-6F9FD27F57EB}" destId="{34AA3DD6-63B0-493E-8892-136B08505471}" srcOrd="2" destOrd="0" parTransId="{BBEF8BA4-3805-405A-8E0A-4A5DD8D38B09}" sibTransId="{A3E37F27-D084-4EE7-827A-E1728589FAE1}"/>
    <dgm:cxn modelId="{9F5E4AC3-3AB0-4FC8-80AE-908B236E04A6}" srcId="{2ED93830-4F8E-4556-95E8-A73E84CB718C}" destId="{60F9EE2C-41D5-4926-9A9F-8E2DE6A0F4E2}" srcOrd="1" destOrd="0" parTransId="{8EF7565E-BF3A-40D9-A4C7-394932F3CEE3}" sibTransId="{14C3DBEE-729D-4282-B420-113E353D91A6}"/>
    <dgm:cxn modelId="{8538DBC4-B7C6-4B3E-B82A-7CAC6530CA63}" type="presOf" srcId="{8E590CA2-6C6D-48DB-B009-CAC43892DA3B}" destId="{E8544D3A-D2D2-4D0B-B08D-15C879315635}" srcOrd="0" destOrd="0" presId="urn:microsoft.com/office/officeart/2005/8/layout/hList2"/>
    <dgm:cxn modelId="{9AB9A9C8-B25C-4599-9CED-C65EC1C0D8AA}" srcId="{34AA3DD6-63B0-493E-8892-136B08505471}" destId="{59AB3D63-19CB-4292-B8B9-D696FE94A04C}" srcOrd="3" destOrd="0" parTransId="{A5ACEDE6-FF5E-48B8-82CC-3AB766563D81}" sibTransId="{52CEF200-4FAD-47D2-B9F8-73EF7178C4AE}"/>
    <dgm:cxn modelId="{E2FD87CC-A08C-4101-AE86-CCEBA2F22938}" srcId="{1104C8E4-C603-4A2D-BC57-21D424A33786}" destId="{7589F134-CA8F-4B42-AA5D-12DC2BFCCC31}" srcOrd="3" destOrd="0" parTransId="{1474ED62-5385-4D5E-B4EB-A50558CB8581}" sibTransId="{A107E042-FF27-48FE-8315-669DA1EBFBF1}"/>
    <dgm:cxn modelId="{98DE4FD8-AAC9-49BE-8551-42ABFA0FE593}" type="presOf" srcId="{E68476EE-5D94-47EB-92ED-F001B4466D20}" destId="{78520449-9F80-4700-B76C-6FC485DB018B}" srcOrd="0" destOrd="1" presId="urn:microsoft.com/office/officeart/2005/8/layout/hList2"/>
    <dgm:cxn modelId="{90F9D2D9-756D-44B5-8A5D-AE579B2B22F6}" type="presOf" srcId="{6E2DCA0B-B61D-4195-A6EF-B3CFB8CC375E}" destId="{E8544D3A-D2D2-4D0B-B08D-15C879315635}" srcOrd="0" destOrd="1" presId="urn:microsoft.com/office/officeart/2005/8/layout/hList2"/>
    <dgm:cxn modelId="{651D06E5-C72D-490E-B8FA-C30FD57B2097}" type="presOf" srcId="{60F9EE2C-41D5-4926-9A9F-8E2DE6A0F4E2}" destId="{BD23B313-A7B3-4DE8-90B8-43667733C495}" srcOrd="0" destOrd="1" presId="urn:microsoft.com/office/officeart/2005/8/layout/hList2"/>
    <dgm:cxn modelId="{E97898E9-53F2-4894-BAE5-55A1867FAEA9}" srcId="{2ED93830-4F8E-4556-95E8-A73E84CB718C}" destId="{362A4061-B8FA-47AA-903F-F37A4D48FCBB}" srcOrd="2" destOrd="0" parTransId="{B389BFCA-EB9B-4F22-8D42-A71EBC3861AF}" sibTransId="{5059BF77-3F06-479F-A12F-658859A6EEB8}"/>
    <dgm:cxn modelId="{F3E8F7EB-C92D-4E24-9B22-23AFE188A948}" type="presOf" srcId="{20DD24F4-23A2-4087-8C2F-743B9A5CEBA3}" destId="{1A4957CE-B477-43D0-9BE6-790C3B6CBFB1}" srcOrd="0" destOrd="5" presId="urn:microsoft.com/office/officeart/2005/8/layout/hList2"/>
    <dgm:cxn modelId="{60E8D4EC-DCE7-4A23-BE94-5993A57B6B76}" type="presOf" srcId="{7299E487-4745-4A78-B3C3-456979B4D823}" destId="{09D70A6D-E70C-4944-BF8B-EEA4C7D2D3E8}" srcOrd="0" destOrd="0" presId="urn:microsoft.com/office/officeart/2005/8/layout/hList2"/>
    <dgm:cxn modelId="{B0F1E4F6-641D-41C5-B797-4130F5C060F4}" srcId="{7299E487-4745-4A78-B3C3-456979B4D823}" destId="{E68476EE-5D94-47EB-92ED-F001B4466D20}" srcOrd="1" destOrd="0" parTransId="{B5112B1F-3218-4488-B32A-4745E1B747D6}" sibTransId="{C21321AD-0398-4A74-837F-F51D98EEBF52}"/>
    <dgm:cxn modelId="{0573BEC8-623A-4A0D-B260-0CC9B6940F5C}" type="presParOf" srcId="{0D556F8D-5CE4-4DFC-86B1-67D46B8483E9}" destId="{45448223-07E4-4721-9272-55794356B097}" srcOrd="0" destOrd="0" presId="urn:microsoft.com/office/officeart/2005/8/layout/hList2"/>
    <dgm:cxn modelId="{85250231-7084-4688-8327-E968C4703CBC}" type="presParOf" srcId="{45448223-07E4-4721-9272-55794356B097}" destId="{F8AD3C2D-EEF5-4C2C-A56D-C207E56CB53C}" srcOrd="0" destOrd="0" presId="urn:microsoft.com/office/officeart/2005/8/layout/hList2"/>
    <dgm:cxn modelId="{18DC9F35-AAD7-4FE0-8464-5E41CEAE4660}" type="presParOf" srcId="{45448223-07E4-4721-9272-55794356B097}" destId="{1A4957CE-B477-43D0-9BE6-790C3B6CBFB1}" srcOrd="1" destOrd="0" presId="urn:microsoft.com/office/officeart/2005/8/layout/hList2"/>
    <dgm:cxn modelId="{E6B0295A-31FA-4235-A496-B22069B5DF09}" type="presParOf" srcId="{45448223-07E4-4721-9272-55794356B097}" destId="{9FE4F8BA-A332-4D07-8DD7-6E3951B78CEC}" srcOrd="2" destOrd="0" presId="urn:microsoft.com/office/officeart/2005/8/layout/hList2"/>
    <dgm:cxn modelId="{A97AB14E-6129-46E0-99D3-9078A391E21A}" type="presParOf" srcId="{0D556F8D-5CE4-4DFC-86B1-67D46B8483E9}" destId="{5B766C3C-4E8C-44DF-8D20-EE87D08CB889}" srcOrd="1" destOrd="0" presId="urn:microsoft.com/office/officeart/2005/8/layout/hList2"/>
    <dgm:cxn modelId="{920BD578-9D12-43E6-BFB0-5C6AC0598E2C}" type="presParOf" srcId="{0D556F8D-5CE4-4DFC-86B1-67D46B8483E9}" destId="{17C265CC-14E8-4BA5-85D8-DB8A72204E3F}" srcOrd="2" destOrd="0" presId="urn:microsoft.com/office/officeart/2005/8/layout/hList2"/>
    <dgm:cxn modelId="{1D96D147-39EA-475B-B0D3-EE1C70CB9358}" type="presParOf" srcId="{17C265CC-14E8-4BA5-85D8-DB8A72204E3F}" destId="{7BF2AB52-5B05-4049-BD33-7BD5AE3743BB}" srcOrd="0" destOrd="0" presId="urn:microsoft.com/office/officeart/2005/8/layout/hList2"/>
    <dgm:cxn modelId="{571012CD-51FA-432F-AF60-4578CC184094}" type="presParOf" srcId="{17C265CC-14E8-4BA5-85D8-DB8A72204E3F}" destId="{78520449-9F80-4700-B76C-6FC485DB018B}" srcOrd="1" destOrd="0" presId="urn:microsoft.com/office/officeart/2005/8/layout/hList2"/>
    <dgm:cxn modelId="{75143864-4494-451E-A37F-D4F44F737E2F}" type="presParOf" srcId="{17C265CC-14E8-4BA5-85D8-DB8A72204E3F}" destId="{09D70A6D-E70C-4944-BF8B-EEA4C7D2D3E8}" srcOrd="2" destOrd="0" presId="urn:microsoft.com/office/officeart/2005/8/layout/hList2"/>
    <dgm:cxn modelId="{8778D01B-742A-48FD-9510-2AFD657B4BEE}" type="presParOf" srcId="{0D556F8D-5CE4-4DFC-86B1-67D46B8483E9}" destId="{580C33CF-F8B3-44CD-95AF-387DD2D3C19F}" srcOrd="3" destOrd="0" presId="urn:microsoft.com/office/officeart/2005/8/layout/hList2"/>
    <dgm:cxn modelId="{A06D1CF4-F639-4183-A9F0-C8AB36FFB9D9}" type="presParOf" srcId="{0D556F8D-5CE4-4DFC-86B1-67D46B8483E9}" destId="{728F7FFD-A5A7-4AE8-903E-D901A383419D}" srcOrd="4" destOrd="0" presId="urn:microsoft.com/office/officeart/2005/8/layout/hList2"/>
    <dgm:cxn modelId="{E150EBEB-8E84-46A0-9BC9-8356E0424503}" type="presParOf" srcId="{728F7FFD-A5A7-4AE8-903E-D901A383419D}" destId="{BEC6E25D-2848-4A4D-A84A-E3CB26E7129C}" srcOrd="0" destOrd="0" presId="urn:microsoft.com/office/officeart/2005/8/layout/hList2"/>
    <dgm:cxn modelId="{4EE4C48A-861D-4E7F-BF02-76D215EF0907}" type="presParOf" srcId="{728F7FFD-A5A7-4AE8-903E-D901A383419D}" destId="{E8544D3A-D2D2-4D0B-B08D-15C879315635}" srcOrd="1" destOrd="0" presId="urn:microsoft.com/office/officeart/2005/8/layout/hList2"/>
    <dgm:cxn modelId="{0C95B63B-9DDE-4542-9B81-B058F1864E18}" type="presParOf" srcId="{728F7FFD-A5A7-4AE8-903E-D901A383419D}" destId="{499006F9-908C-407A-98B5-6DA54AB3507B}" srcOrd="2" destOrd="0" presId="urn:microsoft.com/office/officeart/2005/8/layout/hList2"/>
    <dgm:cxn modelId="{5D4E12FE-B823-4398-AE37-DEB2BD067E06}" type="presParOf" srcId="{0D556F8D-5CE4-4DFC-86B1-67D46B8483E9}" destId="{F82E56DD-5760-4BA8-94A2-4BF93EA04E8E}" srcOrd="5" destOrd="0" presId="urn:microsoft.com/office/officeart/2005/8/layout/hList2"/>
    <dgm:cxn modelId="{94625BE5-D4CB-4AA6-8863-9E180FCD1BC7}" type="presParOf" srcId="{0D556F8D-5CE4-4DFC-86B1-67D46B8483E9}" destId="{62C47D84-570A-45C5-9781-BBE9428D1C6B}" srcOrd="6" destOrd="0" presId="urn:microsoft.com/office/officeart/2005/8/layout/hList2"/>
    <dgm:cxn modelId="{556AB8A3-E09C-474F-9829-5912319C51AD}" type="presParOf" srcId="{62C47D84-570A-45C5-9781-BBE9428D1C6B}" destId="{2D2FACEF-6B5C-4892-8518-E437E7760227}" srcOrd="0" destOrd="0" presId="urn:microsoft.com/office/officeart/2005/8/layout/hList2"/>
    <dgm:cxn modelId="{47CBF502-017D-418A-82D3-98750CFA375F}" type="presParOf" srcId="{62C47D84-570A-45C5-9781-BBE9428D1C6B}" destId="{BD23B313-A7B3-4DE8-90B8-43667733C495}" srcOrd="1" destOrd="0" presId="urn:microsoft.com/office/officeart/2005/8/layout/hList2"/>
    <dgm:cxn modelId="{41E6143F-E060-4B02-8852-E266B1A4D02E}" type="presParOf" srcId="{62C47D84-570A-45C5-9781-BBE9428D1C6B}" destId="{A226AAD7-A890-4506-A325-BE5FF1497C6C}" srcOrd="2" destOrd="0" presId="urn:microsoft.com/office/officeart/2005/8/layout/h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E82F5E-2A0E-431E-A0AA-6F9FD27F57EB}"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n-IN"/>
        </a:p>
      </dgm:t>
    </dgm:pt>
    <dgm:pt modelId="{1104C8E4-C603-4A2D-BC57-21D424A33786}">
      <dgm:prSet phldrT="[Text]" custT="1"/>
      <dgm:spPr/>
      <dgm:t>
        <a:bodyPr/>
        <a:lstStyle/>
        <a:p>
          <a:r>
            <a:rPr lang="en-IN" sz="2400" dirty="0">
              <a:solidFill>
                <a:srgbClr val="399AFF"/>
              </a:solidFill>
            </a:rPr>
            <a:t>Finance &amp; Accounting </a:t>
          </a:r>
        </a:p>
      </dgm:t>
    </dgm:pt>
    <dgm:pt modelId="{0E6A787A-E320-4D7C-88ED-2C391B5F4350}" type="parTrans" cxnId="{76020179-7684-4B3F-993F-99282862C1A1}">
      <dgm:prSet/>
      <dgm:spPr/>
      <dgm:t>
        <a:bodyPr/>
        <a:lstStyle/>
        <a:p>
          <a:endParaRPr lang="en-IN"/>
        </a:p>
      </dgm:t>
    </dgm:pt>
    <dgm:pt modelId="{95F14E12-A6D9-49D4-8B63-13FAC0854567}" type="sibTrans" cxnId="{76020179-7684-4B3F-993F-99282862C1A1}">
      <dgm:prSet/>
      <dgm:spPr/>
      <dgm:t>
        <a:bodyPr/>
        <a:lstStyle/>
        <a:p>
          <a:endParaRPr lang="en-IN"/>
        </a:p>
      </dgm:t>
    </dgm:pt>
    <dgm:pt modelId="{BB2FFD05-5870-4E0E-8379-F5DE637C3EE7}">
      <dgm:prSet custT="1"/>
      <dgm:spPr>
        <a:solidFill>
          <a:srgbClr val="1F3660"/>
        </a:solidFill>
        <a:ln>
          <a:noFill/>
        </a:ln>
      </dgm:spPr>
      <dgm:t>
        <a:bodyPr/>
        <a:lstStyle/>
        <a:p>
          <a:pPr marL="173038" indent="-173038">
            <a:spcBef>
              <a:spcPts val="600"/>
            </a:spcBef>
          </a:pPr>
          <a:r>
            <a:rPr lang="en-IN" sz="1600" dirty="0"/>
            <a:t>Sale Order Automation</a:t>
          </a:r>
        </a:p>
      </dgm:t>
    </dgm:pt>
    <dgm:pt modelId="{08748E89-4104-4C2F-98AF-B810EC9F85F4}" type="parTrans" cxnId="{CED1C663-676C-47FE-B001-8505813D7DEC}">
      <dgm:prSet/>
      <dgm:spPr/>
      <dgm:t>
        <a:bodyPr/>
        <a:lstStyle/>
        <a:p>
          <a:endParaRPr lang="en-IN"/>
        </a:p>
      </dgm:t>
    </dgm:pt>
    <dgm:pt modelId="{7607E5DC-C9AE-4FA4-BBA8-374304A28AF3}" type="sibTrans" cxnId="{CED1C663-676C-47FE-B001-8505813D7DEC}">
      <dgm:prSet/>
      <dgm:spPr/>
      <dgm:t>
        <a:bodyPr/>
        <a:lstStyle/>
        <a:p>
          <a:endParaRPr lang="en-IN"/>
        </a:p>
      </dgm:t>
    </dgm:pt>
    <dgm:pt modelId="{20DD24F4-23A2-4087-8C2F-743B9A5CEBA3}">
      <dgm:prSet custT="1"/>
      <dgm:spPr>
        <a:solidFill>
          <a:srgbClr val="1F3660"/>
        </a:solidFill>
        <a:ln>
          <a:noFill/>
        </a:ln>
      </dgm:spPr>
      <dgm:t>
        <a:bodyPr/>
        <a:lstStyle/>
        <a:p>
          <a:pPr marL="173038" indent="-173038">
            <a:spcBef>
              <a:spcPts val="600"/>
            </a:spcBef>
          </a:pPr>
          <a:r>
            <a:rPr lang="en-IN" sz="1600" dirty="0"/>
            <a:t>Invoice Processing</a:t>
          </a:r>
        </a:p>
      </dgm:t>
    </dgm:pt>
    <dgm:pt modelId="{6A77AA7A-E63F-4803-A23B-62E4DC40FD34}" type="parTrans" cxnId="{ECFD1276-39AE-4BA1-884D-F861B295DA73}">
      <dgm:prSet/>
      <dgm:spPr/>
      <dgm:t>
        <a:bodyPr/>
        <a:lstStyle/>
        <a:p>
          <a:endParaRPr lang="en-IN"/>
        </a:p>
      </dgm:t>
    </dgm:pt>
    <dgm:pt modelId="{B5E35FF7-0639-4738-BA5C-DE2587BC50BC}" type="sibTrans" cxnId="{ECFD1276-39AE-4BA1-884D-F861B295DA73}">
      <dgm:prSet/>
      <dgm:spPr/>
      <dgm:t>
        <a:bodyPr/>
        <a:lstStyle/>
        <a:p>
          <a:endParaRPr lang="en-IN"/>
        </a:p>
      </dgm:t>
    </dgm:pt>
    <dgm:pt modelId="{7299E487-4745-4A78-B3C3-456979B4D823}">
      <dgm:prSet custT="1"/>
      <dgm:spPr/>
      <dgm:t>
        <a:bodyPr/>
        <a:lstStyle/>
        <a:p>
          <a:r>
            <a:rPr lang="en-IN" sz="2400" dirty="0">
              <a:solidFill>
                <a:srgbClr val="399AFF"/>
              </a:solidFill>
            </a:rPr>
            <a:t>Human Resources</a:t>
          </a:r>
        </a:p>
      </dgm:t>
    </dgm:pt>
    <dgm:pt modelId="{0D66B060-E737-4E2D-95D5-800BA3C36B97}" type="parTrans" cxnId="{1D0F5374-DF2D-4AB1-9E61-D1DD2313C244}">
      <dgm:prSet/>
      <dgm:spPr/>
      <dgm:t>
        <a:bodyPr/>
        <a:lstStyle/>
        <a:p>
          <a:endParaRPr lang="en-IN"/>
        </a:p>
      </dgm:t>
    </dgm:pt>
    <dgm:pt modelId="{2EB6DCBA-899C-4BF1-8957-7E3FA56FD206}" type="sibTrans" cxnId="{1D0F5374-DF2D-4AB1-9E61-D1DD2313C244}">
      <dgm:prSet/>
      <dgm:spPr/>
      <dgm:t>
        <a:bodyPr/>
        <a:lstStyle/>
        <a:p>
          <a:endParaRPr lang="en-IN"/>
        </a:p>
      </dgm:t>
    </dgm:pt>
    <dgm:pt modelId="{92B0BD75-C971-4716-B515-703C67E6D852}">
      <dgm:prSet custT="1"/>
      <dgm:spPr>
        <a:solidFill>
          <a:srgbClr val="1F3660"/>
        </a:solidFill>
        <a:ln>
          <a:noFill/>
        </a:ln>
      </dgm:spPr>
      <dgm:t>
        <a:bodyPr/>
        <a:lstStyle/>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Employee Onboarding</a:t>
          </a:r>
        </a:p>
      </dgm:t>
    </dgm:pt>
    <dgm:pt modelId="{1611F4A7-D235-4AF2-97E9-B186D0A782CD}" type="parTrans" cxnId="{E0AB4398-A747-4403-848A-DC1DF3DBA91C}">
      <dgm:prSet/>
      <dgm:spPr/>
      <dgm:t>
        <a:bodyPr/>
        <a:lstStyle/>
        <a:p>
          <a:endParaRPr lang="en-IN"/>
        </a:p>
      </dgm:t>
    </dgm:pt>
    <dgm:pt modelId="{50417DA8-DC61-43B3-83F7-C8EE0CA6F5CD}" type="sibTrans" cxnId="{E0AB4398-A747-4403-848A-DC1DF3DBA91C}">
      <dgm:prSet/>
      <dgm:spPr/>
      <dgm:t>
        <a:bodyPr/>
        <a:lstStyle/>
        <a:p>
          <a:endParaRPr lang="en-IN"/>
        </a:p>
      </dgm:t>
    </dgm:pt>
    <dgm:pt modelId="{34AA3DD6-63B0-493E-8892-136B08505471}">
      <dgm:prSet custT="1"/>
      <dgm:spPr>
        <a:noFill/>
        <a:ln>
          <a:noFill/>
        </a:ln>
        <a:effectLst/>
      </dgm:spPr>
      <dgm:t>
        <a:bodyPr spcFirstLastPara="0" vert="horz" wrap="square" lIns="0" tIns="0" rIns="337757" bIns="0" numCol="1" spcCol="1270" anchor="t" anchorCtr="0"/>
        <a:lstStyle/>
        <a:p>
          <a:r>
            <a:rPr lang="en-IN" sz="2400" kern="1200" dirty="0">
              <a:solidFill>
                <a:srgbClr val="399AFF"/>
              </a:solidFill>
              <a:latin typeface="Aptos" panose="02110004020202020204"/>
              <a:ea typeface="+mn-ea"/>
              <a:cs typeface="+mn-cs"/>
            </a:rPr>
            <a:t>Customer Service</a:t>
          </a:r>
          <a:endParaRPr lang="en-IN" sz="2400" kern="1200" dirty="0">
            <a:solidFill>
              <a:srgbClr val="399AFF"/>
            </a:solidFill>
          </a:endParaRPr>
        </a:p>
      </dgm:t>
    </dgm:pt>
    <dgm:pt modelId="{BBEF8BA4-3805-405A-8E0A-4A5DD8D38B09}" type="parTrans" cxnId="{076DBDB2-1E76-44E1-8974-344B595AAC61}">
      <dgm:prSet/>
      <dgm:spPr/>
      <dgm:t>
        <a:bodyPr/>
        <a:lstStyle/>
        <a:p>
          <a:endParaRPr lang="en-IN"/>
        </a:p>
      </dgm:t>
    </dgm:pt>
    <dgm:pt modelId="{A3E37F27-D084-4EE7-827A-E1728589FAE1}" type="sibTrans" cxnId="{076DBDB2-1E76-44E1-8974-344B595AAC61}">
      <dgm:prSet/>
      <dgm:spPr/>
      <dgm:t>
        <a:bodyPr/>
        <a:lstStyle/>
        <a:p>
          <a:endParaRPr lang="en-IN"/>
        </a:p>
      </dgm:t>
    </dgm:pt>
    <dgm:pt modelId="{8E590CA2-6C6D-48DB-B009-CAC43892DA3B}">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Customer Care Centre</a:t>
          </a:r>
        </a:p>
      </dgm:t>
    </dgm:pt>
    <dgm:pt modelId="{698B006A-F627-43E1-B2C0-3E73252994A0}" type="parTrans" cxnId="{D0F2A26C-98D5-42D7-ABF8-8F6FBF2B8554}">
      <dgm:prSet/>
      <dgm:spPr/>
      <dgm:t>
        <a:bodyPr/>
        <a:lstStyle/>
        <a:p>
          <a:endParaRPr lang="en-IN"/>
        </a:p>
      </dgm:t>
    </dgm:pt>
    <dgm:pt modelId="{66CF98C1-7C61-4D32-9F3E-8333CAFF3A52}" type="sibTrans" cxnId="{D0F2A26C-98D5-42D7-ABF8-8F6FBF2B8554}">
      <dgm:prSet/>
      <dgm:spPr/>
      <dgm:t>
        <a:bodyPr/>
        <a:lstStyle/>
        <a:p>
          <a:endParaRPr lang="en-IN"/>
        </a:p>
      </dgm:t>
    </dgm:pt>
    <dgm:pt modelId="{2ED93830-4F8E-4556-95E8-A73E84CB718C}">
      <dgm:prSet custT="1"/>
      <dgm:spPr/>
      <dgm:t>
        <a:bodyPr/>
        <a:lstStyle/>
        <a:p>
          <a:r>
            <a:rPr lang="en-IN" sz="2400" dirty="0">
              <a:solidFill>
                <a:srgbClr val="399AFF"/>
              </a:solidFill>
            </a:rPr>
            <a:t>Service Operations</a:t>
          </a:r>
        </a:p>
      </dgm:t>
    </dgm:pt>
    <dgm:pt modelId="{19BAF9DF-52ED-4DC4-8E3E-1D7427580BB2}" type="parTrans" cxnId="{7170612D-F369-4CEF-BD20-0DD106170695}">
      <dgm:prSet/>
      <dgm:spPr/>
      <dgm:t>
        <a:bodyPr/>
        <a:lstStyle/>
        <a:p>
          <a:endParaRPr lang="en-IN"/>
        </a:p>
      </dgm:t>
    </dgm:pt>
    <dgm:pt modelId="{1E2A8A89-0AE4-4FD0-9124-0911EB5A7D6C}" type="sibTrans" cxnId="{7170612D-F369-4CEF-BD20-0DD106170695}">
      <dgm:prSet/>
      <dgm:spPr/>
      <dgm:t>
        <a:bodyPr/>
        <a:lstStyle/>
        <a:p>
          <a:endParaRPr lang="en-IN"/>
        </a:p>
      </dgm:t>
    </dgm:pt>
    <dgm:pt modelId="{E199533A-E8A9-4AE2-952A-C69D1F393D1B}">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Document Processing</a:t>
          </a:r>
        </a:p>
      </dgm:t>
    </dgm:pt>
    <dgm:pt modelId="{1B7960EA-06FC-446C-A030-1D33F8AC91EA}" type="parTrans" cxnId="{937C3663-6E0B-42D2-BFD0-DF77254D2BD9}">
      <dgm:prSet/>
      <dgm:spPr/>
      <dgm:t>
        <a:bodyPr/>
        <a:lstStyle/>
        <a:p>
          <a:endParaRPr lang="en-IN"/>
        </a:p>
      </dgm:t>
    </dgm:pt>
    <dgm:pt modelId="{C3363AB0-A4AF-42A4-8157-3055F327B3F0}" type="sibTrans" cxnId="{937C3663-6E0B-42D2-BFD0-DF77254D2BD9}">
      <dgm:prSet/>
      <dgm:spPr/>
      <dgm:t>
        <a:bodyPr/>
        <a:lstStyle/>
        <a:p>
          <a:endParaRPr lang="en-IN"/>
        </a:p>
      </dgm:t>
    </dgm:pt>
    <dgm:pt modelId="{E768EB68-A5B3-4C91-A38C-6EEFF7106BA0}">
      <dgm:prSet custT="1"/>
      <dgm:spPr>
        <a:noFill/>
        <a:ln>
          <a:noFill/>
        </a:ln>
        <a:effectLst/>
      </dgm:spPr>
      <dgm:t>
        <a:bodyPr spcFirstLastPara="0" vert="horz" wrap="square" lIns="0" tIns="0" rIns="337757" bIns="0" numCol="1" spcCol="1270" anchor="t" anchorCtr="0"/>
        <a:lstStyle/>
        <a:p>
          <a:pPr marL="173038" lvl="1" indent="-173038" algn="r" defTabSz="666750">
            <a:lnSpc>
              <a:spcPct val="90000"/>
            </a:lnSpc>
            <a:spcBef>
              <a:spcPts val="600"/>
            </a:spcBef>
            <a:spcAft>
              <a:spcPct val="15000"/>
            </a:spcAft>
            <a:buChar char="•"/>
          </a:pPr>
          <a:r>
            <a:rPr lang="en-IN" sz="2400" kern="1200" dirty="0">
              <a:solidFill>
                <a:srgbClr val="399AFF"/>
              </a:solidFill>
              <a:latin typeface="Aptos" panose="02110004020202020204"/>
              <a:ea typeface="+mn-ea"/>
              <a:cs typeface="+mn-cs"/>
            </a:rPr>
            <a:t>Technology</a:t>
          </a:r>
        </a:p>
      </dgm:t>
    </dgm:pt>
    <dgm:pt modelId="{BFE30339-50E1-4D48-B9B5-68F67D908AE5}" type="sibTrans" cxnId="{F91743E4-BDE7-4AD4-B95D-3C23395DA653}">
      <dgm:prSet/>
      <dgm:spPr/>
      <dgm:t>
        <a:bodyPr/>
        <a:lstStyle/>
        <a:p>
          <a:endParaRPr lang="en-IN"/>
        </a:p>
      </dgm:t>
    </dgm:pt>
    <dgm:pt modelId="{E1063320-662D-40F7-B4BF-590FCE20DC0C}" type="parTrans" cxnId="{F91743E4-BDE7-4AD4-B95D-3C23395DA653}">
      <dgm:prSet/>
      <dgm:spPr/>
      <dgm:t>
        <a:bodyPr/>
        <a:lstStyle/>
        <a:p>
          <a:endParaRPr lang="en-IN"/>
        </a:p>
      </dgm:t>
    </dgm:pt>
    <dgm:pt modelId="{6DCAC669-4F18-41CA-9105-42B2BD026C75}">
      <dgm:prSet custT="1"/>
      <dgm:spPr>
        <a:solidFill>
          <a:srgbClr val="1F3660"/>
        </a:solidFill>
        <a:ln>
          <a:noFill/>
        </a:ln>
      </dgm:spPr>
      <dgm:t>
        <a:bodyPr/>
        <a:lstStyle/>
        <a:p>
          <a:pPr marL="173038" indent="-173038">
            <a:spcBef>
              <a:spcPts val="600"/>
            </a:spcBef>
          </a:pPr>
          <a:r>
            <a:rPr lang="en-IN" sz="1600" dirty="0"/>
            <a:t>Purchase Order Automation</a:t>
          </a:r>
        </a:p>
      </dgm:t>
    </dgm:pt>
    <dgm:pt modelId="{37F7074C-3BC4-43DA-8E26-2745DF22779B}" type="parTrans" cxnId="{259965FA-6A68-406A-98BC-D0AA14DBF4C0}">
      <dgm:prSet/>
      <dgm:spPr/>
      <dgm:t>
        <a:bodyPr/>
        <a:lstStyle/>
        <a:p>
          <a:endParaRPr lang="en-IN"/>
        </a:p>
      </dgm:t>
    </dgm:pt>
    <dgm:pt modelId="{4A5C9955-66C6-4C85-8F0E-54EF784350DA}" type="sibTrans" cxnId="{259965FA-6A68-406A-98BC-D0AA14DBF4C0}">
      <dgm:prSet/>
      <dgm:spPr/>
      <dgm:t>
        <a:bodyPr/>
        <a:lstStyle/>
        <a:p>
          <a:endParaRPr lang="en-IN"/>
        </a:p>
      </dgm:t>
    </dgm:pt>
    <dgm:pt modelId="{D2950151-C5B8-466F-BEED-203B3229C48C}">
      <dgm:prSet custT="1"/>
      <dgm:spPr>
        <a:solidFill>
          <a:srgbClr val="1F3660"/>
        </a:solidFill>
        <a:ln>
          <a:noFill/>
        </a:ln>
      </dgm:spPr>
      <dgm:t>
        <a:bodyPr/>
        <a:lstStyle/>
        <a:p>
          <a:pPr marL="173038" indent="-173038">
            <a:spcBef>
              <a:spcPts val="600"/>
            </a:spcBef>
          </a:pPr>
          <a:r>
            <a:rPr lang="en-IN" sz="1600" dirty="0"/>
            <a:t>Bank Statement Reconciliation</a:t>
          </a:r>
        </a:p>
      </dgm:t>
    </dgm:pt>
    <dgm:pt modelId="{0377D443-79E0-4AB8-9C88-75D786FE5984}" type="parTrans" cxnId="{E28ADAA4-4AAD-4DBB-B187-D38664BCC200}">
      <dgm:prSet/>
      <dgm:spPr/>
      <dgm:t>
        <a:bodyPr/>
        <a:lstStyle/>
        <a:p>
          <a:endParaRPr lang="en-IN"/>
        </a:p>
      </dgm:t>
    </dgm:pt>
    <dgm:pt modelId="{B9EE4BA8-4D78-4497-9EAE-C3AA3516BB8D}" type="sibTrans" cxnId="{E28ADAA4-4AAD-4DBB-B187-D38664BCC200}">
      <dgm:prSet/>
      <dgm:spPr/>
      <dgm:t>
        <a:bodyPr/>
        <a:lstStyle/>
        <a:p>
          <a:endParaRPr lang="en-IN"/>
        </a:p>
      </dgm:t>
    </dgm:pt>
    <dgm:pt modelId="{C137CB12-7FFD-4990-A040-1349C16EBE03}">
      <dgm:prSet custT="1"/>
      <dgm:spPr>
        <a:solidFill>
          <a:srgbClr val="1F3660"/>
        </a:solidFill>
        <a:ln w="19050" cap="flat" cmpd="sng" algn="ctr">
          <a:noFill/>
          <a:prstDash val="solid"/>
          <a:miter lim="800000"/>
        </a:ln>
        <a:effectLst/>
      </dgm:spPr>
      <dgm:t>
        <a:bodyPr spcFirstLastPara="0" vert="horz" wrap="square" lIns="113792" tIns="255639" rIns="113792" bIns="113792" numCol="1" spcCol="1270" anchor="t" anchorCtr="0"/>
        <a:lstStyle/>
        <a:p>
          <a:pPr marL="173038" lvl="1" indent="-173038" algn="l" defTabSz="71120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Robotic Process Automation</a:t>
          </a:r>
        </a:p>
      </dgm:t>
    </dgm:pt>
    <dgm:pt modelId="{60013861-26B0-4C54-98E6-8504CE8A330E}" type="parTrans" cxnId="{49DE253C-FE28-40D3-944F-8DCB8EACD3C6}">
      <dgm:prSet/>
      <dgm:spPr/>
      <dgm:t>
        <a:bodyPr/>
        <a:lstStyle/>
        <a:p>
          <a:endParaRPr lang="en-IN"/>
        </a:p>
      </dgm:t>
    </dgm:pt>
    <dgm:pt modelId="{E7B84145-F95A-4075-98D2-5CAA550577B0}" type="sibTrans" cxnId="{49DE253C-FE28-40D3-944F-8DCB8EACD3C6}">
      <dgm:prSet/>
      <dgm:spPr/>
      <dgm:t>
        <a:bodyPr/>
        <a:lstStyle/>
        <a:p>
          <a:endParaRPr lang="en-IN"/>
        </a:p>
      </dgm:t>
    </dgm:pt>
    <dgm:pt modelId="{22794B3E-766B-49C2-AADF-FCAD476FC57A}">
      <dgm:prSet custT="1"/>
      <dgm:spPr>
        <a:solidFill>
          <a:srgbClr val="1F3660"/>
        </a:solidFill>
        <a:ln w="19050" cap="flat" cmpd="sng" algn="ctr">
          <a:noFill/>
          <a:prstDash val="solid"/>
          <a:miter lim="800000"/>
        </a:ln>
        <a:effectLst/>
      </dgm:spPr>
      <dgm:t>
        <a:bodyPr spcFirstLastPara="0" vert="horz" wrap="square" lIns="113792" tIns="255639" rIns="113792" bIns="113792" numCol="1" spcCol="1270" anchor="t" anchorCtr="0"/>
        <a:lstStyle/>
        <a:p>
          <a:pPr marL="173038" lvl="1" indent="-173038" algn="l" defTabSz="71120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Alert Configuration</a:t>
          </a:r>
        </a:p>
      </dgm:t>
    </dgm:pt>
    <dgm:pt modelId="{269381F5-D021-49FD-8AB4-87FE757FCCA9}" type="parTrans" cxnId="{B5F664E1-57FE-41E0-A594-9E4721088C9D}">
      <dgm:prSet/>
      <dgm:spPr/>
      <dgm:t>
        <a:bodyPr/>
        <a:lstStyle/>
        <a:p>
          <a:endParaRPr lang="en-IN"/>
        </a:p>
      </dgm:t>
    </dgm:pt>
    <dgm:pt modelId="{23ADCE75-7BF0-499C-99C2-DCD12587D7E8}" type="sibTrans" cxnId="{B5F664E1-57FE-41E0-A594-9E4721088C9D}">
      <dgm:prSet/>
      <dgm:spPr/>
      <dgm:t>
        <a:bodyPr/>
        <a:lstStyle/>
        <a:p>
          <a:endParaRPr lang="en-IN"/>
        </a:p>
      </dgm:t>
    </dgm:pt>
    <dgm:pt modelId="{A9A3676E-7B14-459A-A194-D6B539008BB0}">
      <dgm:prSet custT="1"/>
      <dgm:spPr>
        <a:solidFill>
          <a:srgbClr val="1F3660"/>
        </a:solidFill>
        <a:ln w="19050" cap="flat" cmpd="sng" algn="ctr">
          <a:noFill/>
          <a:prstDash val="solid"/>
          <a:miter lim="800000"/>
        </a:ln>
        <a:effectLst/>
      </dgm:spPr>
      <dgm:t>
        <a:bodyPr spcFirstLastPara="0" vert="horz" wrap="square" lIns="113792" tIns="255639" rIns="113792" bIns="113792" numCol="1" spcCol="1270" anchor="t" anchorCtr="0"/>
        <a:lstStyle/>
        <a:p>
          <a:pPr marL="173038" lvl="1" indent="-173038" algn="l" defTabSz="711200">
            <a:lnSpc>
              <a:spcPct val="90000"/>
            </a:lnSpc>
            <a:spcBef>
              <a:spcPts val="600"/>
            </a:spcBef>
            <a:spcAft>
              <a:spcPct val="15000"/>
            </a:spcAft>
            <a:buChar char="•"/>
          </a:pPr>
          <a:endParaRPr lang="en-IN" sz="1600" kern="1200" dirty="0">
            <a:solidFill>
              <a:prstClr val="white"/>
            </a:solidFill>
            <a:latin typeface="Aptos" panose="02110004020202020204"/>
            <a:ea typeface="+mn-ea"/>
            <a:cs typeface="+mn-cs"/>
          </a:endParaRPr>
        </a:p>
      </dgm:t>
    </dgm:pt>
    <dgm:pt modelId="{587A64B2-431C-4A54-B62D-B1F46F429112}" type="parTrans" cxnId="{B2C62A85-1EE7-4B11-8D1F-60D82F56CACD}">
      <dgm:prSet/>
      <dgm:spPr/>
      <dgm:t>
        <a:bodyPr/>
        <a:lstStyle/>
        <a:p>
          <a:endParaRPr lang="en-IN"/>
        </a:p>
      </dgm:t>
    </dgm:pt>
    <dgm:pt modelId="{6C18F914-E47D-4911-8F3F-EC6682B86629}" type="sibTrans" cxnId="{B2C62A85-1EE7-4B11-8D1F-60D82F56CACD}">
      <dgm:prSet/>
      <dgm:spPr/>
      <dgm:t>
        <a:bodyPr/>
        <a:lstStyle/>
        <a:p>
          <a:endParaRPr lang="en-IN"/>
        </a:p>
      </dgm:t>
    </dgm:pt>
    <dgm:pt modelId="{11C17427-BC60-48FA-9BFF-6220C7983B88}">
      <dgm:prSet custT="1"/>
      <dgm:spPr>
        <a:solidFill>
          <a:srgbClr val="1F3660"/>
        </a:solidFill>
        <a:ln>
          <a:noFill/>
        </a:ln>
      </dgm:spPr>
      <dgm:t>
        <a:bodyPr/>
        <a:lstStyle/>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Claim Processing</a:t>
          </a:r>
        </a:p>
      </dgm:t>
    </dgm:pt>
    <dgm:pt modelId="{8B268126-4D93-440A-B2CD-4D207E4ECA2C}" type="parTrans" cxnId="{DCD6F816-9820-4137-AEE4-79A9C58C628A}">
      <dgm:prSet/>
      <dgm:spPr/>
      <dgm:t>
        <a:bodyPr/>
        <a:lstStyle/>
        <a:p>
          <a:endParaRPr lang="en-IN"/>
        </a:p>
      </dgm:t>
    </dgm:pt>
    <dgm:pt modelId="{F376C874-EC27-4820-A79C-4C70705FAE48}" type="sibTrans" cxnId="{DCD6F816-9820-4137-AEE4-79A9C58C628A}">
      <dgm:prSet/>
      <dgm:spPr/>
      <dgm:t>
        <a:bodyPr/>
        <a:lstStyle/>
        <a:p>
          <a:endParaRPr lang="en-IN"/>
        </a:p>
      </dgm:t>
    </dgm:pt>
    <dgm:pt modelId="{5F6402A0-FC38-4AC6-9530-81C26B527CFE}">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Service Desk</a:t>
          </a:r>
        </a:p>
      </dgm:t>
    </dgm:pt>
    <dgm:pt modelId="{75295935-A7D2-49EB-873E-E16F91F557E3}" type="parTrans" cxnId="{0594F20A-9BAD-4BA4-8F15-D2CD7D63E4F6}">
      <dgm:prSet/>
      <dgm:spPr/>
      <dgm:t>
        <a:bodyPr/>
        <a:lstStyle/>
        <a:p>
          <a:endParaRPr lang="en-IN"/>
        </a:p>
      </dgm:t>
    </dgm:pt>
    <dgm:pt modelId="{41123E9B-87CA-4ACF-8453-2E2FE0FC965E}" type="sibTrans" cxnId="{0594F20A-9BAD-4BA4-8F15-D2CD7D63E4F6}">
      <dgm:prSet/>
      <dgm:spPr/>
      <dgm:t>
        <a:bodyPr/>
        <a:lstStyle/>
        <a:p>
          <a:endParaRPr lang="en-IN"/>
        </a:p>
      </dgm:t>
    </dgm:pt>
    <dgm:pt modelId="{509146D0-80E8-4AD3-90F1-CB7AAF0D945E}">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Order Management</a:t>
          </a:r>
        </a:p>
      </dgm:t>
    </dgm:pt>
    <dgm:pt modelId="{147ADB81-A080-42DB-9DE2-EF48378178D9}" type="parTrans" cxnId="{705358E4-20C8-49A0-9AF6-DDB52B80EEB3}">
      <dgm:prSet/>
      <dgm:spPr/>
      <dgm:t>
        <a:bodyPr/>
        <a:lstStyle/>
        <a:p>
          <a:endParaRPr lang="en-IN"/>
        </a:p>
      </dgm:t>
    </dgm:pt>
    <dgm:pt modelId="{6E85F2B5-411C-4273-85CD-1307BB86061E}" type="sibTrans" cxnId="{705358E4-20C8-49A0-9AF6-DDB52B80EEB3}">
      <dgm:prSet/>
      <dgm:spPr/>
      <dgm:t>
        <a:bodyPr/>
        <a:lstStyle/>
        <a:p>
          <a:endParaRPr lang="en-IN"/>
        </a:p>
      </dgm:t>
    </dgm:pt>
    <dgm:pt modelId="{E7CA8C37-78ED-43E6-A6C0-4B473A8E6FD8}">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Feedback or Complaint processing</a:t>
          </a:r>
        </a:p>
      </dgm:t>
    </dgm:pt>
    <dgm:pt modelId="{E85B5D70-10E8-47E1-80EA-F0EE685ADF15}" type="parTrans" cxnId="{371968CE-3A7C-46A5-82D6-364A047C9C33}">
      <dgm:prSet/>
      <dgm:spPr/>
      <dgm:t>
        <a:bodyPr/>
        <a:lstStyle/>
        <a:p>
          <a:endParaRPr lang="en-IN"/>
        </a:p>
      </dgm:t>
    </dgm:pt>
    <dgm:pt modelId="{59AA3E96-9C24-4BC4-A023-7BB3934E1766}" type="sibTrans" cxnId="{371968CE-3A7C-46A5-82D6-364A047C9C33}">
      <dgm:prSet/>
      <dgm:spPr/>
      <dgm:t>
        <a:bodyPr/>
        <a:lstStyle/>
        <a:p>
          <a:endParaRPr lang="en-IN"/>
        </a:p>
      </dgm:t>
    </dgm:pt>
    <dgm:pt modelId="{023993C8-EF24-45A2-8367-0B55D87306DA}">
      <dgm:prSet custT="1"/>
      <dgm:spPr>
        <a:solidFill>
          <a:srgbClr val="1F3660"/>
        </a:solidFill>
        <a:ln w="19050" cap="flat" cmpd="sng" algn="ctr">
          <a:noFill/>
          <a:prstDash val="solid"/>
          <a:miter lim="800000"/>
        </a:ln>
        <a:effectLst/>
      </dgm:spPr>
      <dgm:t>
        <a:bodyPr spcFirstLastPara="0" vert="horz" wrap="square" lIns="135128" tIns="337757" rIns="135128" bIns="135128" numCol="1" spcCol="1270" anchor="t" anchorCtr="0"/>
        <a:lstStyle/>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Field Operations</a:t>
          </a:r>
        </a:p>
      </dgm:t>
    </dgm:pt>
    <dgm:pt modelId="{E849FA19-C61D-446D-ACBD-23ABC9B285A0}" type="parTrans" cxnId="{D481DC42-A482-4205-A506-A760F83FEBD0}">
      <dgm:prSet/>
      <dgm:spPr/>
      <dgm:t>
        <a:bodyPr/>
        <a:lstStyle/>
        <a:p>
          <a:endParaRPr lang="en-IN"/>
        </a:p>
      </dgm:t>
    </dgm:pt>
    <dgm:pt modelId="{AA945BE5-AEAE-4588-91AA-7939C4BCC30A}" type="sibTrans" cxnId="{D481DC42-A482-4205-A506-A760F83FEBD0}">
      <dgm:prSet/>
      <dgm:spPr/>
      <dgm:t>
        <a:bodyPr/>
        <a:lstStyle/>
        <a:p>
          <a:endParaRPr lang="en-IN"/>
        </a:p>
      </dgm:t>
    </dgm:pt>
    <dgm:pt modelId="{CF27109E-0554-43B6-AC1C-4EA3841944FC}">
      <dgm:prSet custT="1"/>
      <dgm:spPr>
        <a:solidFill>
          <a:srgbClr val="1F3660"/>
        </a:solidFill>
        <a:ln w="19050" cap="flat" cmpd="sng" algn="ctr">
          <a:noFill/>
          <a:prstDash val="solid"/>
          <a:miter lim="800000"/>
        </a:ln>
        <a:effectLst/>
      </dgm:spPr>
      <dgm:t>
        <a:bodyPr spcFirstLastPara="0" vert="horz" wrap="square" lIns="113792" tIns="255639" rIns="113792" bIns="113792" numCol="1" spcCol="1270" anchor="t" anchorCtr="0"/>
        <a:lstStyle/>
        <a:p>
          <a:pPr marL="173038" lvl="1" indent="-173038" algn="l" defTabSz="71120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Integrations</a:t>
          </a:r>
        </a:p>
      </dgm:t>
    </dgm:pt>
    <dgm:pt modelId="{16D178CE-0BA1-4147-B6AC-B8422193A90F}" type="parTrans" cxnId="{FADF5DF6-E48E-4A7C-903F-4139DC161135}">
      <dgm:prSet/>
      <dgm:spPr/>
      <dgm:t>
        <a:bodyPr/>
        <a:lstStyle/>
        <a:p>
          <a:endParaRPr lang="en-IN"/>
        </a:p>
      </dgm:t>
    </dgm:pt>
    <dgm:pt modelId="{41A81408-72E4-406E-8AFE-AD1CC058722E}" type="sibTrans" cxnId="{FADF5DF6-E48E-4A7C-903F-4139DC161135}">
      <dgm:prSet/>
      <dgm:spPr/>
      <dgm:t>
        <a:bodyPr/>
        <a:lstStyle/>
        <a:p>
          <a:endParaRPr lang="en-IN"/>
        </a:p>
      </dgm:t>
    </dgm:pt>
    <dgm:pt modelId="{0F4A95F2-FD26-40BF-BCE6-9841AAC9565D}">
      <dgm:prSet custT="1"/>
      <dgm:spPr>
        <a:solidFill>
          <a:srgbClr val="1F3660"/>
        </a:solidFill>
        <a:ln w="19050" cap="flat" cmpd="sng" algn="ctr">
          <a:noFill/>
          <a:prstDash val="solid"/>
          <a:miter lim="800000"/>
        </a:ln>
        <a:effectLst/>
      </dgm:spPr>
      <dgm:t>
        <a:bodyPr spcFirstLastPara="0" vert="horz" wrap="square" lIns="113792" tIns="255639" rIns="113792" bIns="113792" numCol="1" spcCol="1270" anchor="t" anchorCtr="0"/>
        <a:lstStyle/>
        <a:p>
          <a:pPr marL="173038" lvl="1" indent="-173038" algn="l" defTabSz="71120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AI Bots</a:t>
          </a:r>
        </a:p>
      </dgm:t>
    </dgm:pt>
    <dgm:pt modelId="{2E915994-2595-4CA7-8FB5-D6B67B4E982D}" type="parTrans" cxnId="{A76230F5-9E40-4BD9-96FF-101602E0C11D}">
      <dgm:prSet/>
      <dgm:spPr/>
      <dgm:t>
        <a:bodyPr/>
        <a:lstStyle/>
        <a:p>
          <a:endParaRPr lang="en-IN"/>
        </a:p>
      </dgm:t>
    </dgm:pt>
    <dgm:pt modelId="{0C428134-5E68-465E-8140-206893F66C71}" type="sibTrans" cxnId="{A76230F5-9E40-4BD9-96FF-101602E0C11D}">
      <dgm:prSet/>
      <dgm:spPr/>
      <dgm:t>
        <a:bodyPr/>
        <a:lstStyle/>
        <a:p>
          <a:endParaRPr lang="en-IN"/>
        </a:p>
      </dgm:t>
    </dgm:pt>
    <dgm:pt modelId="{0D556F8D-5CE4-4DFC-86B1-67D46B8483E9}" type="pres">
      <dgm:prSet presAssocID="{FEE82F5E-2A0E-431E-A0AA-6F9FD27F57EB}" presName="linearFlow" presStyleCnt="0">
        <dgm:presLayoutVars>
          <dgm:dir/>
          <dgm:animLvl val="lvl"/>
          <dgm:resizeHandles/>
        </dgm:presLayoutVars>
      </dgm:prSet>
      <dgm:spPr/>
    </dgm:pt>
    <dgm:pt modelId="{45448223-07E4-4721-9272-55794356B097}" type="pres">
      <dgm:prSet presAssocID="{1104C8E4-C603-4A2D-BC57-21D424A33786}" presName="compositeNode" presStyleCnt="0">
        <dgm:presLayoutVars>
          <dgm:bulletEnabled val="1"/>
        </dgm:presLayoutVars>
      </dgm:prSet>
      <dgm:spPr/>
    </dgm:pt>
    <dgm:pt modelId="{F8AD3C2D-EEF5-4C2C-A56D-C207E56CB53C}" type="pres">
      <dgm:prSet presAssocID="{1104C8E4-C603-4A2D-BC57-21D424A33786}" presName="image" presStyleLbl="fgImgPlace1" presStyleIdx="0" presStyleCnt="5" custScaleX="127516" custScaleY="135958"/>
      <dgm:spPr>
        <a:blipFill>
          <a:blip xmlns:r="http://schemas.openxmlformats.org/officeDocument/2006/relationships">
            <a:extLst>
              <a:ext uri="{96DAC541-7B7A-43D3-8B79-37D633B846F1}">
                <asvg:svgBlip xmlns:asvg="http://schemas.microsoft.com/office/drawing/2016/SVG/main" r:embed="rId1"/>
              </a:ext>
            </a:extLst>
          </a:blip>
          <a:srcRect/>
          <a:stretch>
            <a:fillRect l="-3000" r="-3000"/>
          </a:stretch>
        </a:blipFill>
        <a:ln>
          <a:noFill/>
        </a:ln>
      </dgm:spPr>
      <dgm:extLst>
        <a:ext uri="{E40237B7-FDA0-4F09-8148-C483321AD2D9}">
          <dgm14:cNvPr xmlns:dgm14="http://schemas.microsoft.com/office/drawing/2010/diagram" id="0" name="" descr="Money with solid fill"/>
        </a:ext>
      </dgm:extLst>
    </dgm:pt>
    <dgm:pt modelId="{1A4957CE-B477-43D0-9BE6-790C3B6CBFB1}" type="pres">
      <dgm:prSet presAssocID="{1104C8E4-C603-4A2D-BC57-21D424A33786}" presName="childNode" presStyleLbl="node1" presStyleIdx="0" presStyleCnt="5" custScaleX="127121" custScaleY="103485" custLinFactNeighborX="20135" custLinFactNeighborY="613">
        <dgm:presLayoutVars>
          <dgm:bulletEnabled val="1"/>
        </dgm:presLayoutVars>
      </dgm:prSet>
      <dgm:spPr/>
    </dgm:pt>
    <dgm:pt modelId="{9FE4F8BA-A332-4D07-8DD7-6E3951B78CEC}" type="pres">
      <dgm:prSet presAssocID="{1104C8E4-C603-4A2D-BC57-21D424A33786}" presName="parentNode" presStyleLbl="revTx" presStyleIdx="0" presStyleCnt="5" custLinFactNeighborY="3060">
        <dgm:presLayoutVars>
          <dgm:chMax val="0"/>
          <dgm:bulletEnabled val="1"/>
        </dgm:presLayoutVars>
      </dgm:prSet>
      <dgm:spPr/>
    </dgm:pt>
    <dgm:pt modelId="{5B766C3C-4E8C-44DF-8D20-EE87D08CB889}" type="pres">
      <dgm:prSet presAssocID="{95F14E12-A6D9-49D4-8B63-13FAC0854567}" presName="sibTrans" presStyleCnt="0"/>
      <dgm:spPr/>
    </dgm:pt>
    <dgm:pt modelId="{17C265CC-14E8-4BA5-85D8-DB8A72204E3F}" type="pres">
      <dgm:prSet presAssocID="{7299E487-4745-4A78-B3C3-456979B4D823}" presName="compositeNode" presStyleCnt="0">
        <dgm:presLayoutVars>
          <dgm:bulletEnabled val="1"/>
        </dgm:presLayoutVars>
      </dgm:prSet>
      <dgm:spPr/>
    </dgm:pt>
    <dgm:pt modelId="{7BF2AB52-5B05-4049-BD33-7BD5AE3743BB}" type="pres">
      <dgm:prSet presAssocID="{7299E487-4745-4A78-B3C3-456979B4D823}" presName="image" presStyleLbl="fgImgPlace1" presStyleIdx="1" presStyleCnt="5" custScaleX="127516" custScaleY="135958"/>
      <dgm:spPr>
        <a:blipFill>
          <a:blip xmlns:r="http://schemas.openxmlformats.org/officeDocument/2006/relationships">
            <a:extLst>
              <a:ext uri="{96DAC541-7B7A-43D3-8B79-37D633B846F1}">
                <asvg:svgBlip xmlns:asvg="http://schemas.microsoft.com/office/drawing/2016/SVG/main" r:embed="rId2"/>
              </a:ext>
            </a:extLst>
          </a:blip>
          <a:srcRect/>
          <a:stretch>
            <a:fillRect l="-3000" r="-3000"/>
          </a:stretch>
        </a:blipFill>
        <a:ln>
          <a:noFill/>
        </a:ln>
      </dgm:spPr>
      <dgm:extLst>
        <a:ext uri="{E40237B7-FDA0-4F09-8148-C483321AD2D9}">
          <dgm14:cNvPr xmlns:dgm14="http://schemas.microsoft.com/office/drawing/2010/diagram" id="0" name="" descr="Cycle with people with solid fill"/>
        </a:ext>
      </dgm:extLst>
    </dgm:pt>
    <dgm:pt modelId="{78520449-9F80-4700-B76C-6FC485DB018B}" type="pres">
      <dgm:prSet presAssocID="{7299E487-4745-4A78-B3C3-456979B4D823}" presName="childNode" presStyleLbl="node1" presStyleIdx="1" presStyleCnt="5" custScaleX="131675" custLinFactNeighborX="14890" custLinFactNeighborY="1531">
        <dgm:presLayoutVars>
          <dgm:bulletEnabled val="1"/>
        </dgm:presLayoutVars>
      </dgm:prSet>
      <dgm:spPr/>
    </dgm:pt>
    <dgm:pt modelId="{09D70A6D-E70C-4944-BF8B-EEA4C7D2D3E8}" type="pres">
      <dgm:prSet presAssocID="{7299E487-4745-4A78-B3C3-456979B4D823}" presName="parentNode" presStyleLbl="revTx" presStyleIdx="1" presStyleCnt="5" custLinFactNeighborY="1224">
        <dgm:presLayoutVars>
          <dgm:chMax val="0"/>
          <dgm:bulletEnabled val="1"/>
        </dgm:presLayoutVars>
      </dgm:prSet>
      <dgm:spPr/>
    </dgm:pt>
    <dgm:pt modelId="{580C33CF-F8B3-44CD-95AF-387DD2D3C19F}" type="pres">
      <dgm:prSet presAssocID="{2EB6DCBA-899C-4BF1-8957-7E3FA56FD206}" presName="sibTrans" presStyleCnt="0"/>
      <dgm:spPr/>
    </dgm:pt>
    <dgm:pt modelId="{728F7FFD-A5A7-4AE8-903E-D901A383419D}" type="pres">
      <dgm:prSet presAssocID="{34AA3DD6-63B0-493E-8892-136B08505471}" presName="compositeNode" presStyleCnt="0">
        <dgm:presLayoutVars>
          <dgm:bulletEnabled val="1"/>
        </dgm:presLayoutVars>
      </dgm:prSet>
      <dgm:spPr/>
    </dgm:pt>
    <dgm:pt modelId="{BEC6E25D-2848-4A4D-A84A-E3CB26E7129C}" type="pres">
      <dgm:prSet presAssocID="{34AA3DD6-63B0-493E-8892-136B08505471}" presName="image" presStyleLbl="fgImgPlace1" presStyleIdx="2" presStyleCnt="5" custScaleX="127516" custScaleY="135958"/>
      <dgm:spPr>
        <a:blipFill>
          <a:blip xmlns:r="http://schemas.openxmlformats.org/officeDocument/2006/relationships">
            <a:extLst>
              <a:ext uri="{96DAC541-7B7A-43D3-8B79-37D633B846F1}">
                <asvg:svgBlip xmlns:asvg="http://schemas.microsoft.com/office/drawing/2016/SVG/main" r:embed="rId3"/>
              </a:ext>
            </a:extLst>
          </a:blip>
          <a:srcRect/>
          <a:stretch>
            <a:fillRect l="-3000" r="-3000"/>
          </a:stretch>
        </a:blipFill>
        <a:ln>
          <a:noFill/>
        </a:ln>
      </dgm:spPr>
      <dgm:extLst>
        <a:ext uri="{E40237B7-FDA0-4F09-8148-C483321AD2D9}">
          <dgm14:cNvPr xmlns:dgm14="http://schemas.microsoft.com/office/drawing/2010/diagram" id="0" name="" descr="Call center with solid fill"/>
        </a:ext>
      </dgm:extLst>
    </dgm:pt>
    <dgm:pt modelId="{E8544D3A-D2D2-4D0B-B08D-15C879315635}" type="pres">
      <dgm:prSet presAssocID="{34AA3DD6-63B0-493E-8892-136B08505471}" presName="childNode" presStyleLbl="node1" presStyleIdx="2" presStyleCnt="5" custScaleX="118316" custLinFactNeighborX="14690" custLinFactNeighborY="919">
        <dgm:presLayoutVars>
          <dgm:bulletEnabled val="1"/>
        </dgm:presLayoutVars>
      </dgm:prSet>
      <dgm:spPr>
        <a:xfrm>
          <a:off x="6032026" y="785682"/>
          <a:ext cx="1907591" cy="3778907"/>
        </a:xfrm>
        <a:prstGeom prst="rect">
          <a:avLst/>
        </a:prstGeom>
      </dgm:spPr>
    </dgm:pt>
    <dgm:pt modelId="{499006F9-908C-407A-98B5-6DA54AB3507B}" type="pres">
      <dgm:prSet presAssocID="{34AA3DD6-63B0-493E-8892-136B08505471}" presName="parentNode" presStyleLbl="revTx" presStyleIdx="2" presStyleCnt="5" custLinFactNeighborY="2142">
        <dgm:presLayoutVars>
          <dgm:chMax val="0"/>
          <dgm:bulletEnabled val="1"/>
        </dgm:presLayoutVars>
      </dgm:prSet>
      <dgm:spPr>
        <a:xfrm rot="16200000">
          <a:off x="3951088" y="2483651"/>
          <a:ext cx="3778907" cy="382968"/>
        </a:xfrm>
        <a:prstGeom prst="rect">
          <a:avLst/>
        </a:prstGeom>
      </dgm:spPr>
    </dgm:pt>
    <dgm:pt modelId="{F82E56DD-5760-4BA8-94A2-4BF93EA04E8E}" type="pres">
      <dgm:prSet presAssocID="{A3E37F27-D084-4EE7-827A-E1728589FAE1}" presName="sibTrans" presStyleCnt="0"/>
      <dgm:spPr/>
    </dgm:pt>
    <dgm:pt modelId="{62C47D84-570A-45C5-9781-BBE9428D1C6B}" type="pres">
      <dgm:prSet presAssocID="{2ED93830-4F8E-4556-95E8-A73E84CB718C}" presName="compositeNode" presStyleCnt="0">
        <dgm:presLayoutVars>
          <dgm:bulletEnabled val="1"/>
        </dgm:presLayoutVars>
      </dgm:prSet>
      <dgm:spPr/>
    </dgm:pt>
    <dgm:pt modelId="{2D2FACEF-6B5C-4892-8518-E437E7760227}" type="pres">
      <dgm:prSet presAssocID="{2ED93830-4F8E-4556-95E8-A73E84CB718C}" presName="image" presStyleLbl="fgImgPlace1" presStyleIdx="3" presStyleCnt="5" custScaleX="127516" custScaleY="135958"/>
      <dgm:spPr>
        <a:blipFill>
          <a:blip xmlns:r="http://schemas.openxmlformats.org/officeDocument/2006/relationships">
            <a:extLst>
              <a:ext uri="{96DAC541-7B7A-43D3-8B79-37D633B846F1}">
                <asvg:svgBlip xmlns:asvg="http://schemas.microsoft.com/office/drawing/2016/SVG/main" r:embed="rId4"/>
              </a:ext>
            </a:extLst>
          </a:blip>
          <a:srcRect/>
          <a:stretch>
            <a:fillRect l="-3000" r="-3000"/>
          </a:stretch>
        </a:blipFill>
        <a:ln>
          <a:noFill/>
        </a:ln>
      </dgm:spPr>
      <dgm:extLst>
        <a:ext uri="{E40237B7-FDA0-4F09-8148-C483321AD2D9}">
          <dgm14:cNvPr xmlns:dgm14="http://schemas.microsoft.com/office/drawing/2010/diagram" id="0" name="" descr="Clipboard Partially Checked with solid fill"/>
        </a:ext>
      </dgm:extLst>
    </dgm:pt>
    <dgm:pt modelId="{BD23B313-A7B3-4DE8-90B8-43667733C495}" type="pres">
      <dgm:prSet presAssocID="{2ED93830-4F8E-4556-95E8-A73E84CB718C}" presName="childNode" presStyleLbl="node1" presStyleIdx="3" presStyleCnt="5" custScaleX="121720" custLinFactNeighborX="15232" custLinFactNeighborY="612">
        <dgm:presLayoutVars>
          <dgm:bulletEnabled val="1"/>
        </dgm:presLayoutVars>
      </dgm:prSet>
      <dgm:spPr>
        <a:xfrm>
          <a:off x="8824948" y="785682"/>
          <a:ext cx="1907591" cy="3778907"/>
        </a:xfrm>
        <a:prstGeom prst="rect">
          <a:avLst/>
        </a:prstGeom>
      </dgm:spPr>
    </dgm:pt>
    <dgm:pt modelId="{A226AAD7-A890-4506-A325-BE5FF1497C6C}" type="pres">
      <dgm:prSet presAssocID="{2ED93830-4F8E-4556-95E8-A73E84CB718C}" presName="parentNode" presStyleLbl="revTx" presStyleIdx="3" presStyleCnt="5" custLinFactNeighborY="4590">
        <dgm:presLayoutVars>
          <dgm:chMax val="0"/>
          <dgm:bulletEnabled val="1"/>
        </dgm:presLayoutVars>
      </dgm:prSet>
      <dgm:spPr/>
    </dgm:pt>
    <dgm:pt modelId="{C1096E57-F23B-4707-B5F0-1A704E3C9C2E}" type="pres">
      <dgm:prSet presAssocID="{1E2A8A89-0AE4-4FD0-9124-0911EB5A7D6C}" presName="sibTrans" presStyleCnt="0"/>
      <dgm:spPr/>
    </dgm:pt>
    <dgm:pt modelId="{D57616B5-7EFD-464D-A03B-7DE810E8AE38}" type="pres">
      <dgm:prSet presAssocID="{E768EB68-A5B3-4C91-A38C-6EEFF7106BA0}" presName="compositeNode" presStyleCnt="0">
        <dgm:presLayoutVars>
          <dgm:bulletEnabled val="1"/>
        </dgm:presLayoutVars>
      </dgm:prSet>
      <dgm:spPr/>
    </dgm:pt>
    <dgm:pt modelId="{5F2175DE-AC80-4B53-B09D-01DE21E71332}" type="pres">
      <dgm:prSet presAssocID="{E768EB68-A5B3-4C91-A38C-6EEFF7106BA0}" presName="image" presStyleLbl="fgImgPlace1" presStyleIdx="4" presStyleCnt="5" custScaleX="135133" custScaleY="12990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Programmer male with solid fill"/>
        </a:ext>
      </dgm:extLst>
    </dgm:pt>
    <dgm:pt modelId="{0CEA6A9D-EE64-4E83-A55F-2C2FC1C2B953}" type="pres">
      <dgm:prSet presAssocID="{E768EB68-A5B3-4C91-A38C-6EEFF7106BA0}" presName="childNode" presStyleLbl="node1" presStyleIdx="4" presStyleCnt="5" custScaleX="138481" custScaleY="95781" custLinFactNeighborX="6123" custLinFactNeighborY="2756">
        <dgm:presLayoutVars>
          <dgm:bulletEnabled val="1"/>
        </dgm:presLayoutVars>
      </dgm:prSet>
      <dgm:spPr>
        <a:xfrm>
          <a:off x="10046436" y="919410"/>
          <a:ext cx="1443800" cy="3600127"/>
        </a:xfrm>
        <a:prstGeom prst="rect">
          <a:avLst/>
        </a:prstGeom>
      </dgm:spPr>
    </dgm:pt>
    <dgm:pt modelId="{DD8D6726-EEEF-4291-9B31-7C72B887E306}" type="pres">
      <dgm:prSet presAssocID="{E768EB68-A5B3-4C91-A38C-6EEFF7106BA0}" presName="parentNode" presStyleLbl="revTx" presStyleIdx="4" presStyleCnt="5" custFlipVert="1" custScaleX="205232" custLinFactNeighborX="-33163" custLinFactNeighborY="1786">
        <dgm:presLayoutVars>
          <dgm:chMax val="0"/>
          <dgm:bulletEnabled val="1"/>
        </dgm:presLayoutVars>
      </dgm:prSet>
      <dgm:spPr>
        <a:xfrm rot="5400000" flipV="1">
          <a:off x="7944325" y="2228648"/>
          <a:ext cx="3778907" cy="604490"/>
        </a:xfrm>
        <a:prstGeom prst="rect">
          <a:avLst/>
        </a:prstGeom>
      </dgm:spPr>
    </dgm:pt>
  </dgm:ptLst>
  <dgm:cxnLst>
    <dgm:cxn modelId="{DE1EBD02-0519-47AE-BCC5-EA5711C9D7B7}" type="presOf" srcId="{11C17427-BC60-48FA-9BFF-6220C7983B88}" destId="{78520449-9F80-4700-B76C-6FC485DB018B}" srcOrd="0" destOrd="1" presId="urn:microsoft.com/office/officeart/2005/8/layout/hList2"/>
    <dgm:cxn modelId="{B6CE230A-867C-4F1C-99D3-597DC0C7EEE9}" type="presOf" srcId="{A9A3676E-7B14-459A-A194-D6B539008BB0}" destId="{0CEA6A9D-EE64-4E83-A55F-2C2FC1C2B953}" srcOrd="0" destOrd="4" presId="urn:microsoft.com/office/officeart/2005/8/layout/hList2"/>
    <dgm:cxn modelId="{0594F20A-9BAD-4BA4-8F15-D2CD7D63E4F6}" srcId="{34AA3DD6-63B0-493E-8892-136B08505471}" destId="{5F6402A0-FC38-4AC6-9530-81C26B527CFE}" srcOrd="1" destOrd="0" parTransId="{75295935-A7D2-49EB-873E-E16F91F557E3}" sibTransId="{41123E9B-87CA-4ACF-8453-2E2FE0FC965E}"/>
    <dgm:cxn modelId="{53572F0D-2BC8-492E-87B7-A4E0064BE9D8}" type="presOf" srcId="{34AA3DD6-63B0-493E-8892-136B08505471}" destId="{499006F9-908C-407A-98B5-6DA54AB3507B}" srcOrd="0" destOrd="0" presId="urn:microsoft.com/office/officeart/2005/8/layout/hList2"/>
    <dgm:cxn modelId="{DCD6F816-9820-4137-AEE4-79A9C58C628A}" srcId="{7299E487-4745-4A78-B3C3-456979B4D823}" destId="{11C17427-BC60-48FA-9BFF-6220C7983B88}" srcOrd="1" destOrd="0" parTransId="{8B268126-4D93-440A-B2CD-4D207E4ECA2C}" sibTransId="{F376C874-EC27-4820-A79C-4C70705FAE48}"/>
    <dgm:cxn modelId="{9BE1FB18-CEF1-4CBA-946B-AC9CD7B9981E}" type="presOf" srcId="{6DCAC669-4F18-41CA-9105-42B2BD026C75}" destId="{1A4957CE-B477-43D0-9BE6-790C3B6CBFB1}" srcOrd="0" destOrd="2" presId="urn:microsoft.com/office/officeart/2005/8/layout/hList2"/>
    <dgm:cxn modelId="{5B1AB319-5B5B-4D0A-AF22-091869706629}" type="presOf" srcId="{5F6402A0-FC38-4AC6-9530-81C26B527CFE}" destId="{E8544D3A-D2D2-4D0B-B08D-15C879315635}" srcOrd="0" destOrd="1" presId="urn:microsoft.com/office/officeart/2005/8/layout/hList2"/>
    <dgm:cxn modelId="{A44B1F22-C183-4F13-9B09-E9AB951F32E6}" type="presOf" srcId="{0F4A95F2-FD26-40BF-BCE6-9841AAC9565D}" destId="{0CEA6A9D-EE64-4E83-A55F-2C2FC1C2B953}" srcOrd="0" destOrd="3" presId="urn:microsoft.com/office/officeart/2005/8/layout/hList2"/>
    <dgm:cxn modelId="{7170612D-F369-4CEF-BD20-0DD106170695}" srcId="{FEE82F5E-2A0E-431E-A0AA-6F9FD27F57EB}" destId="{2ED93830-4F8E-4556-95E8-A73E84CB718C}" srcOrd="3" destOrd="0" parTransId="{19BAF9DF-52ED-4DC4-8E3E-1D7427580BB2}" sibTransId="{1E2A8A89-0AE4-4FD0-9124-0911EB5A7D6C}"/>
    <dgm:cxn modelId="{CB72972E-4975-4C1B-9802-24A99838739E}" type="presOf" srcId="{92B0BD75-C971-4716-B515-703C67E6D852}" destId="{78520449-9F80-4700-B76C-6FC485DB018B}" srcOrd="0" destOrd="0" presId="urn:microsoft.com/office/officeart/2005/8/layout/hList2"/>
    <dgm:cxn modelId="{7ECF3233-2392-45A1-8EF5-1462F1B2A93C}" type="presOf" srcId="{E768EB68-A5B3-4C91-A38C-6EEFF7106BA0}" destId="{DD8D6726-EEEF-4291-9B31-7C72B887E306}" srcOrd="0" destOrd="0" presId="urn:microsoft.com/office/officeart/2005/8/layout/hList2"/>
    <dgm:cxn modelId="{49DE253C-FE28-40D3-944F-8DCB8EACD3C6}" srcId="{E768EB68-A5B3-4C91-A38C-6EEFF7106BA0}" destId="{C137CB12-7FFD-4990-A040-1349C16EBE03}" srcOrd="0" destOrd="0" parTransId="{60013861-26B0-4C54-98E6-8504CE8A330E}" sibTransId="{E7B84145-F95A-4075-98D2-5CAA550577B0}"/>
    <dgm:cxn modelId="{805E793C-D780-4647-9D1C-51F9605E2DCE}" type="presOf" srcId="{CF27109E-0554-43B6-AC1C-4EA3841944FC}" destId="{0CEA6A9D-EE64-4E83-A55F-2C2FC1C2B953}" srcOrd="0" destOrd="2" presId="urn:microsoft.com/office/officeart/2005/8/layout/hList2"/>
    <dgm:cxn modelId="{8C5A4B5B-5EFD-4555-951F-97F22281E0F2}" type="presOf" srcId="{1104C8E4-C603-4A2D-BC57-21D424A33786}" destId="{9FE4F8BA-A332-4D07-8DD7-6E3951B78CEC}" srcOrd="0" destOrd="0" presId="urn:microsoft.com/office/officeart/2005/8/layout/hList2"/>
    <dgm:cxn modelId="{D481DC42-A482-4205-A506-A760F83FEBD0}" srcId="{2ED93830-4F8E-4556-95E8-A73E84CB718C}" destId="{023993C8-EF24-45A2-8367-0B55D87306DA}" srcOrd="1" destOrd="0" parTransId="{E849FA19-C61D-446D-ACBD-23ABC9B285A0}" sibTransId="{AA945BE5-AEAE-4588-91AA-7939C4BCC30A}"/>
    <dgm:cxn modelId="{937C3663-6E0B-42D2-BFD0-DF77254D2BD9}" srcId="{2ED93830-4F8E-4556-95E8-A73E84CB718C}" destId="{E199533A-E8A9-4AE2-952A-C69D1F393D1B}" srcOrd="0" destOrd="0" parTransId="{1B7960EA-06FC-446C-A030-1D33F8AC91EA}" sibTransId="{C3363AB0-A4AF-42A4-8157-3055F327B3F0}"/>
    <dgm:cxn modelId="{CED1C663-676C-47FE-B001-8505813D7DEC}" srcId="{1104C8E4-C603-4A2D-BC57-21D424A33786}" destId="{BB2FFD05-5870-4E0E-8379-F5DE637C3EE7}" srcOrd="0" destOrd="0" parTransId="{08748E89-4104-4C2F-98AF-B810EC9F85F4}" sibTransId="{7607E5DC-C9AE-4FA4-BBA8-374304A28AF3}"/>
    <dgm:cxn modelId="{114BC344-8B0D-4D10-B37F-734CA42060BE}" type="presOf" srcId="{C137CB12-7FFD-4990-A040-1349C16EBE03}" destId="{0CEA6A9D-EE64-4E83-A55F-2C2FC1C2B953}" srcOrd="0" destOrd="0" presId="urn:microsoft.com/office/officeart/2005/8/layout/hList2"/>
    <dgm:cxn modelId="{D0F2A26C-98D5-42D7-ABF8-8F6FBF2B8554}" srcId="{34AA3DD6-63B0-493E-8892-136B08505471}" destId="{8E590CA2-6C6D-48DB-B009-CAC43892DA3B}" srcOrd="0" destOrd="0" parTransId="{698B006A-F627-43E1-B2C0-3E73252994A0}" sibTransId="{66CF98C1-7C61-4D32-9F3E-8333CAFF3A52}"/>
    <dgm:cxn modelId="{76CC5D51-C259-46C8-8B53-67BDE12553C9}" type="presOf" srcId="{22794B3E-766B-49C2-AADF-FCAD476FC57A}" destId="{0CEA6A9D-EE64-4E83-A55F-2C2FC1C2B953}" srcOrd="0" destOrd="1" presId="urn:microsoft.com/office/officeart/2005/8/layout/hList2"/>
    <dgm:cxn modelId="{1D0F5374-DF2D-4AB1-9E61-D1DD2313C244}" srcId="{FEE82F5E-2A0E-431E-A0AA-6F9FD27F57EB}" destId="{7299E487-4745-4A78-B3C3-456979B4D823}" srcOrd="1" destOrd="0" parTransId="{0D66B060-E737-4E2D-95D5-800BA3C36B97}" sibTransId="{2EB6DCBA-899C-4BF1-8957-7E3FA56FD206}"/>
    <dgm:cxn modelId="{ECFD1276-39AE-4BA1-884D-F861B295DA73}" srcId="{1104C8E4-C603-4A2D-BC57-21D424A33786}" destId="{20DD24F4-23A2-4087-8C2F-743B9A5CEBA3}" srcOrd="1" destOrd="0" parTransId="{6A77AA7A-E63F-4803-A23B-62E4DC40FD34}" sibTransId="{B5E35FF7-0639-4738-BA5C-DE2587BC50BC}"/>
    <dgm:cxn modelId="{76020179-7684-4B3F-993F-99282862C1A1}" srcId="{FEE82F5E-2A0E-431E-A0AA-6F9FD27F57EB}" destId="{1104C8E4-C603-4A2D-BC57-21D424A33786}" srcOrd="0" destOrd="0" parTransId="{0E6A787A-E320-4D7C-88ED-2C391B5F4350}" sibTransId="{95F14E12-A6D9-49D4-8B63-13FAC0854567}"/>
    <dgm:cxn modelId="{0F747379-C303-45E3-B3C3-1E9376A7730C}" type="presOf" srcId="{BB2FFD05-5870-4E0E-8379-F5DE637C3EE7}" destId="{1A4957CE-B477-43D0-9BE6-790C3B6CBFB1}" srcOrd="0" destOrd="0" presId="urn:microsoft.com/office/officeart/2005/8/layout/hList2"/>
    <dgm:cxn modelId="{B2C62A85-1EE7-4B11-8D1F-60D82F56CACD}" srcId="{E768EB68-A5B3-4C91-A38C-6EEFF7106BA0}" destId="{A9A3676E-7B14-459A-A194-D6B539008BB0}" srcOrd="4" destOrd="0" parTransId="{587A64B2-431C-4A54-B62D-B1F46F429112}" sibTransId="{6C18F914-E47D-4911-8F3F-EC6682B86629}"/>
    <dgm:cxn modelId="{2CA39792-04E0-40B1-A551-F8F06EEE5DA5}" type="presOf" srcId="{E7CA8C37-78ED-43E6-A6C0-4B473A8E6FD8}" destId="{E8544D3A-D2D2-4D0B-B08D-15C879315635}" srcOrd="0" destOrd="3" presId="urn:microsoft.com/office/officeart/2005/8/layout/hList2"/>
    <dgm:cxn modelId="{54994496-8F1A-4523-8576-8113D67AD7CD}" type="presOf" srcId="{E199533A-E8A9-4AE2-952A-C69D1F393D1B}" destId="{BD23B313-A7B3-4DE8-90B8-43667733C495}" srcOrd="0" destOrd="0" presId="urn:microsoft.com/office/officeart/2005/8/layout/hList2"/>
    <dgm:cxn modelId="{E0AB4398-A747-4403-848A-DC1DF3DBA91C}" srcId="{7299E487-4745-4A78-B3C3-456979B4D823}" destId="{92B0BD75-C971-4716-B515-703C67E6D852}" srcOrd="0" destOrd="0" parTransId="{1611F4A7-D235-4AF2-97E9-B186D0A782CD}" sibTransId="{50417DA8-DC61-43B3-83F7-C8EE0CA6F5CD}"/>
    <dgm:cxn modelId="{E44B87A0-6EE1-4517-9AB2-1AA24A60C1A8}" type="presOf" srcId="{D2950151-C5B8-466F-BEED-203B3229C48C}" destId="{1A4957CE-B477-43D0-9BE6-790C3B6CBFB1}" srcOrd="0" destOrd="3" presId="urn:microsoft.com/office/officeart/2005/8/layout/hList2"/>
    <dgm:cxn modelId="{E28ADAA4-4AAD-4DBB-B187-D38664BCC200}" srcId="{1104C8E4-C603-4A2D-BC57-21D424A33786}" destId="{D2950151-C5B8-466F-BEED-203B3229C48C}" srcOrd="3" destOrd="0" parTransId="{0377D443-79E0-4AB8-9C88-75D786FE5984}" sibTransId="{B9EE4BA8-4D78-4497-9EAE-C3AA3516BB8D}"/>
    <dgm:cxn modelId="{826F88B0-1EFC-41B9-A967-858301CB2D61}" type="presOf" srcId="{FEE82F5E-2A0E-431E-A0AA-6F9FD27F57EB}" destId="{0D556F8D-5CE4-4DFC-86B1-67D46B8483E9}" srcOrd="0" destOrd="0" presId="urn:microsoft.com/office/officeart/2005/8/layout/hList2"/>
    <dgm:cxn modelId="{D4BA4BB1-9CF0-4DC9-9E8C-0BC78BCED055}" type="presOf" srcId="{2ED93830-4F8E-4556-95E8-A73E84CB718C}" destId="{A226AAD7-A890-4506-A325-BE5FF1497C6C}" srcOrd="0" destOrd="0" presId="urn:microsoft.com/office/officeart/2005/8/layout/hList2"/>
    <dgm:cxn modelId="{F7E48FB2-C50E-479C-B14A-45BA4359DC64}" type="presOf" srcId="{023993C8-EF24-45A2-8367-0B55D87306DA}" destId="{BD23B313-A7B3-4DE8-90B8-43667733C495}" srcOrd="0" destOrd="1" presId="urn:microsoft.com/office/officeart/2005/8/layout/hList2"/>
    <dgm:cxn modelId="{076DBDB2-1E76-44E1-8974-344B595AAC61}" srcId="{FEE82F5E-2A0E-431E-A0AA-6F9FD27F57EB}" destId="{34AA3DD6-63B0-493E-8892-136B08505471}" srcOrd="2" destOrd="0" parTransId="{BBEF8BA4-3805-405A-8E0A-4A5DD8D38B09}" sibTransId="{A3E37F27-D084-4EE7-827A-E1728589FAE1}"/>
    <dgm:cxn modelId="{8538DBC4-B7C6-4B3E-B82A-7CAC6530CA63}" type="presOf" srcId="{8E590CA2-6C6D-48DB-B009-CAC43892DA3B}" destId="{E8544D3A-D2D2-4D0B-B08D-15C879315635}" srcOrd="0" destOrd="0" presId="urn:microsoft.com/office/officeart/2005/8/layout/hList2"/>
    <dgm:cxn modelId="{371968CE-3A7C-46A5-82D6-364A047C9C33}" srcId="{34AA3DD6-63B0-493E-8892-136B08505471}" destId="{E7CA8C37-78ED-43E6-A6C0-4B473A8E6FD8}" srcOrd="3" destOrd="0" parTransId="{E85B5D70-10E8-47E1-80EA-F0EE685ADF15}" sibTransId="{59AA3E96-9C24-4BC4-A023-7BB3934E1766}"/>
    <dgm:cxn modelId="{B5F664E1-57FE-41E0-A594-9E4721088C9D}" srcId="{E768EB68-A5B3-4C91-A38C-6EEFF7106BA0}" destId="{22794B3E-766B-49C2-AADF-FCAD476FC57A}" srcOrd="1" destOrd="0" parTransId="{269381F5-D021-49FD-8AB4-87FE757FCCA9}" sibTransId="{23ADCE75-7BF0-499C-99C2-DCD12587D7E8}"/>
    <dgm:cxn modelId="{F91743E4-BDE7-4AD4-B95D-3C23395DA653}" srcId="{FEE82F5E-2A0E-431E-A0AA-6F9FD27F57EB}" destId="{E768EB68-A5B3-4C91-A38C-6EEFF7106BA0}" srcOrd="4" destOrd="0" parTransId="{E1063320-662D-40F7-B4BF-590FCE20DC0C}" sibTransId="{BFE30339-50E1-4D48-B9B5-68F67D908AE5}"/>
    <dgm:cxn modelId="{705358E4-20C8-49A0-9AF6-DDB52B80EEB3}" srcId="{34AA3DD6-63B0-493E-8892-136B08505471}" destId="{509146D0-80E8-4AD3-90F1-CB7AAF0D945E}" srcOrd="2" destOrd="0" parTransId="{147ADB81-A080-42DB-9DE2-EF48378178D9}" sibTransId="{6E85F2B5-411C-4273-85CD-1307BB86061E}"/>
    <dgm:cxn modelId="{F3E8F7EB-C92D-4E24-9B22-23AFE188A948}" type="presOf" srcId="{20DD24F4-23A2-4087-8C2F-743B9A5CEBA3}" destId="{1A4957CE-B477-43D0-9BE6-790C3B6CBFB1}" srcOrd="0" destOrd="1" presId="urn:microsoft.com/office/officeart/2005/8/layout/hList2"/>
    <dgm:cxn modelId="{60E8D4EC-DCE7-4A23-BE94-5993A57B6B76}" type="presOf" srcId="{7299E487-4745-4A78-B3C3-456979B4D823}" destId="{09D70A6D-E70C-4944-BF8B-EEA4C7D2D3E8}" srcOrd="0" destOrd="0" presId="urn:microsoft.com/office/officeart/2005/8/layout/hList2"/>
    <dgm:cxn modelId="{D09294EF-9404-44DA-B96D-E93FB44FB993}" type="presOf" srcId="{509146D0-80E8-4AD3-90F1-CB7AAF0D945E}" destId="{E8544D3A-D2D2-4D0B-B08D-15C879315635}" srcOrd="0" destOrd="2" presId="urn:microsoft.com/office/officeart/2005/8/layout/hList2"/>
    <dgm:cxn modelId="{A76230F5-9E40-4BD9-96FF-101602E0C11D}" srcId="{E768EB68-A5B3-4C91-A38C-6EEFF7106BA0}" destId="{0F4A95F2-FD26-40BF-BCE6-9841AAC9565D}" srcOrd="3" destOrd="0" parTransId="{2E915994-2595-4CA7-8FB5-D6B67B4E982D}" sibTransId="{0C428134-5E68-465E-8140-206893F66C71}"/>
    <dgm:cxn modelId="{FADF5DF6-E48E-4A7C-903F-4139DC161135}" srcId="{E768EB68-A5B3-4C91-A38C-6EEFF7106BA0}" destId="{CF27109E-0554-43B6-AC1C-4EA3841944FC}" srcOrd="2" destOrd="0" parTransId="{16D178CE-0BA1-4147-B6AC-B8422193A90F}" sibTransId="{41A81408-72E4-406E-8AFE-AD1CC058722E}"/>
    <dgm:cxn modelId="{259965FA-6A68-406A-98BC-D0AA14DBF4C0}" srcId="{1104C8E4-C603-4A2D-BC57-21D424A33786}" destId="{6DCAC669-4F18-41CA-9105-42B2BD026C75}" srcOrd="2" destOrd="0" parTransId="{37F7074C-3BC4-43DA-8E26-2745DF22779B}" sibTransId="{4A5C9955-66C6-4C85-8F0E-54EF784350DA}"/>
    <dgm:cxn modelId="{0573BEC8-623A-4A0D-B260-0CC9B6940F5C}" type="presParOf" srcId="{0D556F8D-5CE4-4DFC-86B1-67D46B8483E9}" destId="{45448223-07E4-4721-9272-55794356B097}" srcOrd="0" destOrd="0" presId="urn:microsoft.com/office/officeart/2005/8/layout/hList2"/>
    <dgm:cxn modelId="{85250231-7084-4688-8327-E968C4703CBC}" type="presParOf" srcId="{45448223-07E4-4721-9272-55794356B097}" destId="{F8AD3C2D-EEF5-4C2C-A56D-C207E56CB53C}" srcOrd="0" destOrd="0" presId="urn:microsoft.com/office/officeart/2005/8/layout/hList2"/>
    <dgm:cxn modelId="{18DC9F35-AAD7-4FE0-8464-5E41CEAE4660}" type="presParOf" srcId="{45448223-07E4-4721-9272-55794356B097}" destId="{1A4957CE-B477-43D0-9BE6-790C3B6CBFB1}" srcOrd="1" destOrd="0" presId="urn:microsoft.com/office/officeart/2005/8/layout/hList2"/>
    <dgm:cxn modelId="{E6B0295A-31FA-4235-A496-B22069B5DF09}" type="presParOf" srcId="{45448223-07E4-4721-9272-55794356B097}" destId="{9FE4F8BA-A332-4D07-8DD7-6E3951B78CEC}" srcOrd="2" destOrd="0" presId="urn:microsoft.com/office/officeart/2005/8/layout/hList2"/>
    <dgm:cxn modelId="{A97AB14E-6129-46E0-99D3-9078A391E21A}" type="presParOf" srcId="{0D556F8D-5CE4-4DFC-86B1-67D46B8483E9}" destId="{5B766C3C-4E8C-44DF-8D20-EE87D08CB889}" srcOrd="1" destOrd="0" presId="urn:microsoft.com/office/officeart/2005/8/layout/hList2"/>
    <dgm:cxn modelId="{920BD578-9D12-43E6-BFB0-5C6AC0598E2C}" type="presParOf" srcId="{0D556F8D-5CE4-4DFC-86B1-67D46B8483E9}" destId="{17C265CC-14E8-4BA5-85D8-DB8A72204E3F}" srcOrd="2" destOrd="0" presId="urn:microsoft.com/office/officeart/2005/8/layout/hList2"/>
    <dgm:cxn modelId="{1D96D147-39EA-475B-B0D3-EE1C70CB9358}" type="presParOf" srcId="{17C265CC-14E8-4BA5-85D8-DB8A72204E3F}" destId="{7BF2AB52-5B05-4049-BD33-7BD5AE3743BB}" srcOrd="0" destOrd="0" presId="urn:microsoft.com/office/officeart/2005/8/layout/hList2"/>
    <dgm:cxn modelId="{571012CD-51FA-432F-AF60-4578CC184094}" type="presParOf" srcId="{17C265CC-14E8-4BA5-85D8-DB8A72204E3F}" destId="{78520449-9F80-4700-B76C-6FC485DB018B}" srcOrd="1" destOrd="0" presId="urn:microsoft.com/office/officeart/2005/8/layout/hList2"/>
    <dgm:cxn modelId="{75143864-4494-451E-A37F-D4F44F737E2F}" type="presParOf" srcId="{17C265CC-14E8-4BA5-85D8-DB8A72204E3F}" destId="{09D70A6D-E70C-4944-BF8B-EEA4C7D2D3E8}" srcOrd="2" destOrd="0" presId="urn:microsoft.com/office/officeart/2005/8/layout/hList2"/>
    <dgm:cxn modelId="{8778D01B-742A-48FD-9510-2AFD657B4BEE}" type="presParOf" srcId="{0D556F8D-5CE4-4DFC-86B1-67D46B8483E9}" destId="{580C33CF-F8B3-44CD-95AF-387DD2D3C19F}" srcOrd="3" destOrd="0" presId="urn:microsoft.com/office/officeart/2005/8/layout/hList2"/>
    <dgm:cxn modelId="{A06D1CF4-F639-4183-A9F0-C8AB36FFB9D9}" type="presParOf" srcId="{0D556F8D-5CE4-4DFC-86B1-67D46B8483E9}" destId="{728F7FFD-A5A7-4AE8-903E-D901A383419D}" srcOrd="4" destOrd="0" presId="urn:microsoft.com/office/officeart/2005/8/layout/hList2"/>
    <dgm:cxn modelId="{E150EBEB-8E84-46A0-9BC9-8356E0424503}" type="presParOf" srcId="{728F7FFD-A5A7-4AE8-903E-D901A383419D}" destId="{BEC6E25D-2848-4A4D-A84A-E3CB26E7129C}" srcOrd="0" destOrd="0" presId="urn:microsoft.com/office/officeart/2005/8/layout/hList2"/>
    <dgm:cxn modelId="{4EE4C48A-861D-4E7F-BF02-76D215EF0907}" type="presParOf" srcId="{728F7FFD-A5A7-4AE8-903E-D901A383419D}" destId="{E8544D3A-D2D2-4D0B-B08D-15C879315635}" srcOrd="1" destOrd="0" presId="urn:microsoft.com/office/officeart/2005/8/layout/hList2"/>
    <dgm:cxn modelId="{0C95B63B-9DDE-4542-9B81-B058F1864E18}" type="presParOf" srcId="{728F7FFD-A5A7-4AE8-903E-D901A383419D}" destId="{499006F9-908C-407A-98B5-6DA54AB3507B}" srcOrd="2" destOrd="0" presId="urn:microsoft.com/office/officeart/2005/8/layout/hList2"/>
    <dgm:cxn modelId="{5D4E12FE-B823-4398-AE37-DEB2BD067E06}" type="presParOf" srcId="{0D556F8D-5CE4-4DFC-86B1-67D46B8483E9}" destId="{F82E56DD-5760-4BA8-94A2-4BF93EA04E8E}" srcOrd="5" destOrd="0" presId="urn:microsoft.com/office/officeart/2005/8/layout/hList2"/>
    <dgm:cxn modelId="{94625BE5-D4CB-4AA6-8863-9E180FCD1BC7}" type="presParOf" srcId="{0D556F8D-5CE4-4DFC-86B1-67D46B8483E9}" destId="{62C47D84-570A-45C5-9781-BBE9428D1C6B}" srcOrd="6" destOrd="0" presId="urn:microsoft.com/office/officeart/2005/8/layout/hList2"/>
    <dgm:cxn modelId="{556AB8A3-E09C-474F-9829-5912319C51AD}" type="presParOf" srcId="{62C47D84-570A-45C5-9781-BBE9428D1C6B}" destId="{2D2FACEF-6B5C-4892-8518-E437E7760227}" srcOrd="0" destOrd="0" presId="urn:microsoft.com/office/officeart/2005/8/layout/hList2"/>
    <dgm:cxn modelId="{47CBF502-017D-418A-82D3-98750CFA375F}" type="presParOf" srcId="{62C47D84-570A-45C5-9781-BBE9428D1C6B}" destId="{BD23B313-A7B3-4DE8-90B8-43667733C495}" srcOrd="1" destOrd="0" presId="urn:microsoft.com/office/officeart/2005/8/layout/hList2"/>
    <dgm:cxn modelId="{41E6143F-E060-4B02-8852-E266B1A4D02E}" type="presParOf" srcId="{62C47D84-570A-45C5-9781-BBE9428D1C6B}" destId="{A226AAD7-A890-4506-A325-BE5FF1497C6C}" srcOrd="2" destOrd="0" presId="urn:microsoft.com/office/officeart/2005/8/layout/hList2"/>
    <dgm:cxn modelId="{B287F93A-DE89-485C-A4BA-AF67E5CBDDEC}" type="presParOf" srcId="{0D556F8D-5CE4-4DFC-86B1-67D46B8483E9}" destId="{C1096E57-F23B-4707-B5F0-1A704E3C9C2E}" srcOrd="7" destOrd="0" presId="urn:microsoft.com/office/officeart/2005/8/layout/hList2"/>
    <dgm:cxn modelId="{CE019AC5-1651-4C80-B7F5-0EF5B0F1360B}" type="presParOf" srcId="{0D556F8D-5CE4-4DFC-86B1-67D46B8483E9}" destId="{D57616B5-7EFD-464D-A03B-7DE810E8AE38}" srcOrd="8" destOrd="0" presId="urn:microsoft.com/office/officeart/2005/8/layout/hList2"/>
    <dgm:cxn modelId="{7C850C7C-5B48-4BB5-929B-5D917EC1C6DB}" type="presParOf" srcId="{D57616B5-7EFD-464D-A03B-7DE810E8AE38}" destId="{5F2175DE-AC80-4B53-B09D-01DE21E71332}" srcOrd="0" destOrd="0" presId="urn:microsoft.com/office/officeart/2005/8/layout/hList2"/>
    <dgm:cxn modelId="{FCA8A72C-7582-4C38-AB79-390EB1001AA5}" type="presParOf" srcId="{D57616B5-7EFD-464D-A03B-7DE810E8AE38}" destId="{0CEA6A9D-EE64-4E83-A55F-2C2FC1C2B953}" srcOrd="1" destOrd="0" presId="urn:microsoft.com/office/officeart/2005/8/layout/hList2"/>
    <dgm:cxn modelId="{9742C518-6EE7-4CE0-9F31-638360E1AEDA}" type="presParOf" srcId="{D57616B5-7EFD-464D-A03B-7DE810E8AE38}" destId="{DD8D6726-EEEF-4291-9B31-7C72B887E306}" srcOrd="2" destOrd="0" presId="urn:microsoft.com/office/officeart/2005/8/layout/h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11A177-43A3-408C-AE81-33F7BD8DF530}" type="doc">
      <dgm:prSet loTypeId="urn:microsoft.com/office/officeart/2018/2/layout/IconCircleList" loCatId="icon" qsTypeId="urn:microsoft.com/office/officeart/2005/8/quickstyle/simple1" qsCatId="simple" csTypeId="urn:microsoft.com/office/officeart/2005/8/colors/accent0_3" csCatId="mainScheme" phldr="1"/>
      <dgm:spPr/>
      <dgm:t>
        <a:bodyPr/>
        <a:lstStyle/>
        <a:p>
          <a:endParaRPr lang="en-IN"/>
        </a:p>
      </dgm:t>
    </dgm:pt>
    <dgm:pt modelId="{8A3ED33F-2F55-41A8-93C0-86EA8E7489DA}">
      <dgm:prSet phldrT="[Text]" custT="1"/>
      <dgm:spPr>
        <a:noFill/>
        <a:ln>
          <a:noFill/>
        </a:ln>
      </dgm:spPr>
      <dgm:t>
        <a:bodyPr/>
        <a:lstStyle/>
        <a:p>
          <a:pPr>
            <a:lnSpc>
              <a:spcPct val="100000"/>
            </a:lnSpc>
          </a:pPr>
          <a:r>
            <a:rPr lang="en-US" sz="1800" b="0" dirty="0">
              <a:solidFill>
                <a:schemeClr val="bg1"/>
              </a:solidFill>
            </a:rPr>
            <a:t>AI-driven</a:t>
          </a:r>
          <a:r>
            <a:rPr lang="en-US" sz="1400" b="1" dirty="0">
              <a:solidFill>
                <a:schemeClr val="bg1"/>
              </a:solidFill>
            </a:rPr>
            <a:t> email parsing </a:t>
          </a:r>
          <a:r>
            <a:rPr lang="en-US" sz="1100" dirty="0">
              <a:solidFill>
                <a:schemeClr val="bg1"/>
              </a:solidFill>
            </a:rPr>
            <a:t>extracted sale order details (product, quantity, client info) from a dedicated mailbox.</a:t>
          </a:r>
          <a:endParaRPr lang="en-IN" sz="1100" dirty="0">
            <a:solidFill>
              <a:schemeClr val="bg1"/>
            </a:solidFill>
          </a:endParaRPr>
        </a:p>
      </dgm:t>
    </dgm:pt>
    <dgm:pt modelId="{984245A2-C5D8-4CF9-9076-F6F4CE4F34FF}" type="parTrans" cxnId="{E92CD1C0-758F-463D-9573-788A94514581}">
      <dgm:prSet/>
      <dgm:spPr/>
      <dgm:t>
        <a:bodyPr/>
        <a:lstStyle/>
        <a:p>
          <a:endParaRPr lang="en-IN" sz="1600">
            <a:solidFill>
              <a:schemeClr val="bg1"/>
            </a:solidFill>
          </a:endParaRPr>
        </a:p>
      </dgm:t>
    </dgm:pt>
    <dgm:pt modelId="{8BE6634C-AED4-4064-9D2A-EF09C4C28F54}" type="sibTrans" cxnId="{E92CD1C0-758F-463D-9573-788A94514581}">
      <dgm:prSet custT="1"/>
      <dgm:spPr>
        <a:ln>
          <a:solidFill>
            <a:srgbClr val="B6FF42"/>
          </a:solidFill>
        </a:ln>
      </dgm:spPr>
      <dgm:t>
        <a:bodyPr/>
        <a:lstStyle/>
        <a:p>
          <a:pPr>
            <a:lnSpc>
              <a:spcPct val="100000"/>
            </a:lnSpc>
          </a:pPr>
          <a:endParaRPr lang="en-IN" sz="400">
            <a:solidFill>
              <a:schemeClr val="bg1"/>
            </a:solidFill>
          </a:endParaRPr>
        </a:p>
      </dgm:t>
    </dgm:pt>
    <dgm:pt modelId="{BD7F3F0B-3D05-45BD-8255-D9819EB8B477}">
      <dgm:prSet custT="1"/>
      <dgm:spPr>
        <a:noFill/>
        <a:ln w="19050" cap="flat" cmpd="sng" algn="ctr">
          <a:noFill/>
          <a:prstDash val="solid"/>
          <a:miter lim="800000"/>
        </a:ln>
        <a:effectLst/>
      </dgm:spPr>
      <dgm:t>
        <a:bodyPr spcFirstLastPara="0" vert="horz" wrap="square" lIns="113792" tIns="113792" rIns="113792" bIns="113792" numCol="1" spcCol="1270" anchor="ctr" anchorCtr="0"/>
        <a:lstStyle/>
        <a:p>
          <a:pPr>
            <a:lnSpc>
              <a:spcPct val="100000"/>
            </a:lnSpc>
          </a:pPr>
          <a:r>
            <a:rPr lang="en-US" sz="1100" kern="1200" dirty="0">
              <a:solidFill>
                <a:schemeClr val="bg1"/>
              </a:solidFill>
            </a:rPr>
            <a:t>Marketing reviewed requests, followed by </a:t>
          </a:r>
          <a:r>
            <a:rPr lang="en-US" sz="1600" b="1" kern="1200" dirty="0">
              <a:solidFill>
                <a:schemeClr val="bg1"/>
              </a:solidFill>
            </a:rPr>
            <a:t>Management approval </a:t>
          </a:r>
          <a:r>
            <a:rPr lang="en-US" sz="1200" kern="1200" dirty="0">
              <a:solidFill>
                <a:schemeClr val="bg1"/>
              </a:solidFill>
            </a:rPr>
            <a:t>through a real-time </a:t>
          </a:r>
          <a:r>
            <a:rPr lang="en-US" sz="1400" b="1" kern="1200" dirty="0">
              <a:solidFill>
                <a:schemeClr val="bg1"/>
              </a:solidFill>
              <a:latin typeface="Aptos" panose="02110004020202020204"/>
              <a:ea typeface="+mn-ea"/>
              <a:cs typeface="+mn-cs"/>
            </a:rPr>
            <a:t>portal</a:t>
          </a:r>
          <a:r>
            <a:rPr lang="en-US" sz="1200" kern="1200" dirty="0">
              <a:solidFill>
                <a:schemeClr val="bg1"/>
              </a:solidFill>
            </a:rPr>
            <a:t>.</a:t>
          </a:r>
        </a:p>
      </dgm:t>
    </dgm:pt>
    <dgm:pt modelId="{E73EE59D-69BE-4226-9708-12C170F8C5CA}" type="parTrans" cxnId="{4DA24434-E811-44E7-8ED4-60E87A2D9F9C}">
      <dgm:prSet/>
      <dgm:spPr/>
      <dgm:t>
        <a:bodyPr/>
        <a:lstStyle/>
        <a:p>
          <a:endParaRPr lang="en-IN" sz="1600">
            <a:solidFill>
              <a:schemeClr val="bg1"/>
            </a:solidFill>
          </a:endParaRPr>
        </a:p>
      </dgm:t>
    </dgm:pt>
    <dgm:pt modelId="{71A35FEB-204D-4350-A1D3-ED4E83EB42DE}" type="sibTrans" cxnId="{4DA24434-E811-44E7-8ED4-60E87A2D9F9C}">
      <dgm:prSet custT="1"/>
      <dgm:spPr>
        <a:ln>
          <a:solidFill>
            <a:srgbClr val="B6FF42"/>
          </a:solidFill>
        </a:ln>
      </dgm:spPr>
      <dgm:t>
        <a:bodyPr/>
        <a:lstStyle/>
        <a:p>
          <a:pPr>
            <a:lnSpc>
              <a:spcPct val="100000"/>
            </a:lnSpc>
          </a:pPr>
          <a:endParaRPr lang="en-IN" sz="400">
            <a:solidFill>
              <a:schemeClr val="bg1"/>
            </a:solidFill>
          </a:endParaRPr>
        </a:p>
      </dgm:t>
    </dgm:pt>
    <dgm:pt modelId="{F0DD3596-F3DC-46C0-B98D-567037EEC9E8}">
      <dgm:prSet custT="1"/>
      <dgm:spPr>
        <a:noFill/>
        <a:ln w="19050" cap="flat" cmpd="sng" algn="ctr">
          <a:noFill/>
          <a:prstDash val="solid"/>
          <a:miter lim="800000"/>
        </a:ln>
        <a:effectLst/>
      </dgm:spPr>
      <dgm:t>
        <a:bodyPr spcFirstLastPara="0" vert="horz" wrap="square" lIns="113792" tIns="113792" rIns="113792" bIns="113792" numCol="1" spcCol="1270" anchor="ctr" anchorCtr="0"/>
        <a:lstStyle/>
        <a:p>
          <a:pPr>
            <a:lnSpc>
              <a:spcPct val="100000"/>
            </a:lnSpc>
          </a:pPr>
          <a:r>
            <a:rPr lang="en-US" sz="2000" b="0" dirty="0">
              <a:solidFill>
                <a:schemeClr val="bg1"/>
              </a:solidFill>
            </a:rPr>
            <a:t>BOT </a:t>
          </a:r>
          <a:r>
            <a:rPr lang="en-US" sz="1400" b="0" dirty="0">
              <a:solidFill>
                <a:schemeClr val="bg1"/>
              </a:solidFill>
            </a:rPr>
            <a:t>automated sale order creation </a:t>
          </a:r>
          <a:r>
            <a:rPr lang="en-US" sz="1200" dirty="0">
              <a:solidFill>
                <a:schemeClr val="bg1"/>
              </a:solidFill>
            </a:rPr>
            <a:t>eliminating manual entry.</a:t>
          </a:r>
        </a:p>
      </dgm:t>
    </dgm:pt>
    <dgm:pt modelId="{97F2418F-966B-4D6A-AF2F-DAF4DF04138A}" type="parTrans" cxnId="{73F895BA-FEB3-49E6-A40B-CD5134613D13}">
      <dgm:prSet/>
      <dgm:spPr/>
      <dgm:t>
        <a:bodyPr/>
        <a:lstStyle/>
        <a:p>
          <a:endParaRPr lang="en-IN" sz="1600">
            <a:solidFill>
              <a:schemeClr val="bg1"/>
            </a:solidFill>
          </a:endParaRPr>
        </a:p>
      </dgm:t>
    </dgm:pt>
    <dgm:pt modelId="{5EABD1A7-1CF0-4A20-B2BB-ABAFC8C47C14}" type="sibTrans" cxnId="{73F895BA-FEB3-49E6-A40B-CD5134613D13}">
      <dgm:prSet custT="1"/>
      <dgm:spPr>
        <a:ln>
          <a:solidFill>
            <a:srgbClr val="B6FF42"/>
          </a:solidFill>
        </a:ln>
      </dgm:spPr>
      <dgm:t>
        <a:bodyPr/>
        <a:lstStyle/>
        <a:p>
          <a:pPr>
            <a:lnSpc>
              <a:spcPct val="100000"/>
            </a:lnSpc>
          </a:pPr>
          <a:endParaRPr lang="en-IN" sz="400">
            <a:solidFill>
              <a:schemeClr val="bg1"/>
            </a:solidFill>
          </a:endParaRPr>
        </a:p>
      </dgm:t>
    </dgm:pt>
    <dgm:pt modelId="{1B9AAC62-492D-4B19-B087-562A4956985C}">
      <dgm:prSet custT="1"/>
      <dgm:spPr>
        <a:noFill/>
        <a:ln w="19050" cap="flat" cmpd="sng" algn="ctr">
          <a:noFill/>
          <a:prstDash val="solid"/>
          <a:miter lim="800000"/>
        </a:ln>
        <a:effectLst/>
      </dgm:spPr>
      <dgm:t>
        <a:bodyPr spcFirstLastPara="0" vert="horz" wrap="square" lIns="113792" tIns="113792" rIns="113792" bIns="113792" numCol="1" spcCol="1270" anchor="ctr" anchorCtr="0"/>
        <a:lstStyle/>
        <a:p>
          <a:pPr>
            <a:lnSpc>
              <a:spcPct val="100000"/>
            </a:lnSpc>
          </a:pPr>
          <a:r>
            <a:rPr lang="en-US" sz="1100" kern="1200" dirty="0">
              <a:solidFill>
                <a:schemeClr val="bg1"/>
              </a:solidFill>
            </a:rPr>
            <a:t>Production and Quality teams handled manufacturing and inspections, </a:t>
          </a:r>
          <a:r>
            <a:rPr lang="en-US" sz="1400" b="1" kern="1200" dirty="0">
              <a:solidFill>
                <a:schemeClr val="bg1"/>
              </a:solidFill>
              <a:latin typeface="Aptos" panose="02110004020202020204"/>
              <a:ea typeface="+mn-ea"/>
              <a:cs typeface="+mn-cs"/>
            </a:rPr>
            <a:t>ensuring</a:t>
          </a:r>
          <a:r>
            <a:rPr lang="en-US" sz="1200" kern="1200" dirty="0">
              <a:solidFill>
                <a:schemeClr val="bg1"/>
              </a:solidFill>
            </a:rPr>
            <a:t> </a:t>
          </a:r>
          <a:r>
            <a:rPr lang="en-US" sz="1600" b="1" kern="1200" dirty="0">
              <a:solidFill>
                <a:schemeClr val="bg1"/>
              </a:solidFill>
            </a:rPr>
            <a:t>compliance</a:t>
          </a:r>
          <a:endParaRPr lang="en-US" sz="1200" b="1" kern="1200" dirty="0">
            <a:solidFill>
              <a:schemeClr val="bg1"/>
            </a:solidFill>
          </a:endParaRPr>
        </a:p>
      </dgm:t>
    </dgm:pt>
    <dgm:pt modelId="{EE4B9C42-3F9E-4825-9015-81532A5950B8}" type="parTrans" cxnId="{3973100A-F4A0-4B13-8B59-85169F6157A9}">
      <dgm:prSet/>
      <dgm:spPr/>
      <dgm:t>
        <a:bodyPr/>
        <a:lstStyle/>
        <a:p>
          <a:endParaRPr lang="en-IN" sz="1600">
            <a:solidFill>
              <a:schemeClr val="bg1"/>
            </a:solidFill>
          </a:endParaRPr>
        </a:p>
      </dgm:t>
    </dgm:pt>
    <dgm:pt modelId="{6115CA40-1D01-41A6-8687-F1742D58942B}" type="sibTrans" cxnId="{3973100A-F4A0-4B13-8B59-85169F6157A9}">
      <dgm:prSet custT="1"/>
      <dgm:spPr>
        <a:ln>
          <a:solidFill>
            <a:srgbClr val="B6FF42"/>
          </a:solidFill>
        </a:ln>
      </dgm:spPr>
      <dgm:t>
        <a:bodyPr/>
        <a:lstStyle/>
        <a:p>
          <a:pPr>
            <a:lnSpc>
              <a:spcPct val="100000"/>
            </a:lnSpc>
          </a:pPr>
          <a:endParaRPr lang="en-IN" sz="400">
            <a:solidFill>
              <a:schemeClr val="bg1"/>
            </a:solidFill>
          </a:endParaRPr>
        </a:p>
      </dgm:t>
    </dgm:pt>
    <dgm:pt modelId="{092F1036-0026-4626-A779-890DF81E769B}">
      <dgm:prSet custT="1"/>
      <dgm:spPr>
        <a:noFill/>
        <a:ln w="19050" cap="flat" cmpd="sng" algn="ctr">
          <a:noFill/>
          <a:prstDash val="solid"/>
          <a:miter lim="800000"/>
        </a:ln>
        <a:effectLst/>
      </dgm:spPr>
      <dgm:t>
        <a:bodyPr spcFirstLastPara="0" vert="horz" wrap="square" lIns="113792" tIns="113792" rIns="113792" bIns="113792" numCol="1" spcCol="1270" anchor="ctr" anchorCtr="0"/>
        <a:lstStyle/>
        <a:p>
          <a:pPr>
            <a:lnSpc>
              <a:spcPct val="100000"/>
            </a:lnSpc>
          </a:pPr>
          <a:r>
            <a:rPr lang="en-US" sz="1800" b="0" kern="1200" dirty="0">
              <a:solidFill>
                <a:schemeClr val="bg1"/>
              </a:solidFill>
              <a:latin typeface="Aptos" panose="02110004020202020204"/>
              <a:ea typeface="+mn-ea"/>
              <a:cs typeface="+mn-cs"/>
            </a:rPr>
            <a:t>Digital records </a:t>
          </a:r>
          <a:r>
            <a:rPr lang="en-US" sz="1200" b="0" kern="1200" dirty="0">
              <a:solidFill>
                <a:schemeClr val="bg1"/>
              </a:solidFill>
              <a:latin typeface="Aptos" panose="02110004020202020204"/>
              <a:ea typeface="+mn-ea"/>
              <a:cs typeface="+mn-cs"/>
            </a:rPr>
            <a:t>provided complete traceability and regulatory compliance.</a:t>
          </a:r>
          <a:endParaRPr lang="en-US" sz="1400" b="0" kern="1200" dirty="0">
            <a:solidFill>
              <a:schemeClr val="bg1"/>
            </a:solidFill>
            <a:latin typeface="Aptos" panose="02110004020202020204"/>
            <a:ea typeface="+mn-ea"/>
            <a:cs typeface="+mn-cs"/>
          </a:endParaRPr>
        </a:p>
      </dgm:t>
    </dgm:pt>
    <dgm:pt modelId="{C109A61F-1C03-437E-9A17-27F295940887}" type="parTrans" cxnId="{CAF94813-D18C-48EB-8E59-25909BBDE738}">
      <dgm:prSet/>
      <dgm:spPr/>
      <dgm:t>
        <a:bodyPr/>
        <a:lstStyle/>
        <a:p>
          <a:endParaRPr lang="en-IN" sz="1600">
            <a:solidFill>
              <a:schemeClr val="bg1"/>
            </a:solidFill>
          </a:endParaRPr>
        </a:p>
      </dgm:t>
    </dgm:pt>
    <dgm:pt modelId="{936E0078-B100-4450-A846-00A900E23D42}" type="sibTrans" cxnId="{CAF94813-D18C-48EB-8E59-25909BBDE738}">
      <dgm:prSet/>
      <dgm:spPr/>
      <dgm:t>
        <a:bodyPr/>
        <a:lstStyle/>
        <a:p>
          <a:endParaRPr lang="en-IN" sz="1600">
            <a:solidFill>
              <a:schemeClr val="bg1"/>
            </a:solidFill>
          </a:endParaRPr>
        </a:p>
      </dgm:t>
    </dgm:pt>
    <dgm:pt modelId="{516BA9A3-671D-459F-9567-EB4D70D449E7}" type="pres">
      <dgm:prSet presAssocID="{2311A177-43A3-408C-AE81-33F7BD8DF530}" presName="root" presStyleCnt="0">
        <dgm:presLayoutVars>
          <dgm:dir/>
          <dgm:resizeHandles val="exact"/>
        </dgm:presLayoutVars>
      </dgm:prSet>
      <dgm:spPr/>
    </dgm:pt>
    <dgm:pt modelId="{EF48182F-5DA6-4C9D-99F7-24FCA70797F3}" type="pres">
      <dgm:prSet presAssocID="{2311A177-43A3-408C-AE81-33F7BD8DF530}" presName="container" presStyleCnt="0">
        <dgm:presLayoutVars>
          <dgm:dir/>
          <dgm:resizeHandles val="exact"/>
        </dgm:presLayoutVars>
      </dgm:prSet>
      <dgm:spPr/>
    </dgm:pt>
    <dgm:pt modelId="{2E090DDB-D049-453E-9483-2A215384188F}" type="pres">
      <dgm:prSet presAssocID="{8A3ED33F-2F55-41A8-93C0-86EA8E7489DA}" presName="compNode" presStyleCnt="0"/>
      <dgm:spPr/>
    </dgm:pt>
    <dgm:pt modelId="{B1A95D50-BD73-4D5D-A7C3-A5DA4B1EFAD9}" type="pres">
      <dgm:prSet presAssocID="{8A3ED33F-2F55-41A8-93C0-86EA8E7489DA}" presName="iconBgRect" presStyleLbl="bgShp" presStyleIdx="0" presStyleCnt="5"/>
      <dgm:spPr>
        <a:solidFill>
          <a:srgbClr val="B6FF42"/>
        </a:solidFill>
        <a:ln>
          <a:noFill/>
        </a:ln>
      </dgm:spPr>
    </dgm:pt>
    <dgm:pt modelId="{5421EDF8-EDD8-4442-83EB-47687FC60221}" type="pres">
      <dgm:prSet presAssocID="{8A3ED33F-2F55-41A8-93C0-86EA8E7489D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Envelope"/>
        </a:ext>
      </dgm:extLst>
    </dgm:pt>
    <dgm:pt modelId="{2AE3E388-B1C5-496A-85D4-ECB85195A8F4}" type="pres">
      <dgm:prSet presAssocID="{8A3ED33F-2F55-41A8-93C0-86EA8E7489DA}" presName="spaceRect" presStyleCnt="0"/>
      <dgm:spPr/>
    </dgm:pt>
    <dgm:pt modelId="{CFBA2309-098D-4465-A140-717E2069A151}" type="pres">
      <dgm:prSet presAssocID="{8A3ED33F-2F55-41A8-93C0-86EA8E7489DA}" presName="textRect" presStyleLbl="revTx" presStyleIdx="0" presStyleCnt="5">
        <dgm:presLayoutVars>
          <dgm:chMax val="1"/>
          <dgm:chPref val="1"/>
        </dgm:presLayoutVars>
      </dgm:prSet>
      <dgm:spPr/>
    </dgm:pt>
    <dgm:pt modelId="{5960E838-D2AA-41D1-80F4-13FDF0D2ACB8}" type="pres">
      <dgm:prSet presAssocID="{8BE6634C-AED4-4064-9D2A-EF09C4C28F54}" presName="sibTrans" presStyleLbl="sibTrans2D1" presStyleIdx="0" presStyleCnt="0"/>
      <dgm:spPr/>
    </dgm:pt>
    <dgm:pt modelId="{C3B17BA4-4776-48E3-A2A5-A908AC92B8D2}" type="pres">
      <dgm:prSet presAssocID="{BD7F3F0B-3D05-45BD-8255-D9819EB8B477}" presName="compNode" presStyleCnt="0"/>
      <dgm:spPr/>
    </dgm:pt>
    <dgm:pt modelId="{6CC80EB8-64FC-4FDE-B2BA-6EAB07F3F183}" type="pres">
      <dgm:prSet presAssocID="{BD7F3F0B-3D05-45BD-8255-D9819EB8B477}" presName="iconBgRect" presStyleLbl="bgShp" presStyleIdx="1" presStyleCnt="5"/>
      <dgm:spPr>
        <a:solidFill>
          <a:srgbClr val="B6FF42"/>
        </a:solidFill>
      </dgm:spPr>
    </dgm:pt>
    <dgm:pt modelId="{184E40C9-67E9-4678-85AE-CE14D44DA9DD}" type="pres">
      <dgm:prSet presAssocID="{BD7F3F0B-3D05-45BD-8255-D9819EB8B477}"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uge"/>
        </a:ext>
      </dgm:extLst>
    </dgm:pt>
    <dgm:pt modelId="{803AC6BC-1C39-4294-9DA3-D60C62D90BEA}" type="pres">
      <dgm:prSet presAssocID="{BD7F3F0B-3D05-45BD-8255-D9819EB8B477}" presName="spaceRect" presStyleCnt="0"/>
      <dgm:spPr/>
    </dgm:pt>
    <dgm:pt modelId="{F1A55319-9DFA-4D0A-AA6D-A176BA3A009E}" type="pres">
      <dgm:prSet presAssocID="{BD7F3F0B-3D05-45BD-8255-D9819EB8B477}" presName="textRect" presStyleLbl="revTx" presStyleIdx="1" presStyleCnt="5" custScaleX="119307">
        <dgm:presLayoutVars>
          <dgm:chMax val="1"/>
          <dgm:chPref val="1"/>
        </dgm:presLayoutVars>
      </dgm:prSet>
      <dgm:spPr/>
    </dgm:pt>
    <dgm:pt modelId="{768FBBAB-C380-4EC4-B755-097ACA4E3640}" type="pres">
      <dgm:prSet presAssocID="{71A35FEB-204D-4350-A1D3-ED4E83EB42DE}" presName="sibTrans" presStyleLbl="sibTrans2D1" presStyleIdx="0" presStyleCnt="0"/>
      <dgm:spPr/>
    </dgm:pt>
    <dgm:pt modelId="{A4A631D7-5516-4217-A794-E6D3C4E648CF}" type="pres">
      <dgm:prSet presAssocID="{F0DD3596-F3DC-46C0-B98D-567037EEC9E8}" presName="compNode" presStyleCnt="0"/>
      <dgm:spPr/>
    </dgm:pt>
    <dgm:pt modelId="{103D9BAB-24C6-4B73-B04E-E901B55E4701}" type="pres">
      <dgm:prSet presAssocID="{F0DD3596-F3DC-46C0-B98D-567037EEC9E8}" presName="iconBgRect" presStyleLbl="bgShp" presStyleIdx="2" presStyleCnt="5"/>
      <dgm:spPr>
        <a:solidFill>
          <a:srgbClr val="B6FF42"/>
        </a:solidFill>
      </dgm:spPr>
    </dgm:pt>
    <dgm:pt modelId="{9289CDA8-9F9A-4E52-835B-1A373BD308CE}" type="pres">
      <dgm:prSet presAssocID="{F0DD3596-F3DC-46C0-B98D-567037EEC9E8}"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obot"/>
        </a:ext>
      </dgm:extLst>
    </dgm:pt>
    <dgm:pt modelId="{51993E0A-E6E9-43D0-9525-EA2EB722676B}" type="pres">
      <dgm:prSet presAssocID="{F0DD3596-F3DC-46C0-B98D-567037EEC9E8}" presName="spaceRect" presStyleCnt="0"/>
      <dgm:spPr/>
    </dgm:pt>
    <dgm:pt modelId="{B3C7775E-E204-4F16-9EDC-D88D8A4C4678}" type="pres">
      <dgm:prSet presAssocID="{F0DD3596-F3DC-46C0-B98D-567037EEC9E8}" presName="textRect" presStyleLbl="revTx" presStyleIdx="2" presStyleCnt="5" custScaleY="66245">
        <dgm:presLayoutVars>
          <dgm:chMax val="1"/>
          <dgm:chPref val="1"/>
        </dgm:presLayoutVars>
      </dgm:prSet>
      <dgm:spPr/>
    </dgm:pt>
    <dgm:pt modelId="{FF481252-E90F-40B8-B8AA-48151CCF6368}" type="pres">
      <dgm:prSet presAssocID="{5EABD1A7-1CF0-4A20-B2BB-ABAFC8C47C14}" presName="sibTrans" presStyleLbl="sibTrans2D1" presStyleIdx="0" presStyleCnt="0"/>
      <dgm:spPr/>
    </dgm:pt>
    <dgm:pt modelId="{CA0EE9A2-BECB-4186-98C1-3606D514A2B8}" type="pres">
      <dgm:prSet presAssocID="{1B9AAC62-492D-4B19-B087-562A4956985C}" presName="compNode" presStyleCnt="0"/>
      <dgm:spPr/>
    </dgm:pt>
    <dgm:pt modelId="{FFBE9E90-D921-48E1-8799-68AFA3EFB2D6}" type="pres">
      <dgm:prSet presAssocID="{1B9AAC62-492D-4B19-B087-562A4956985C}" presName="iconBgRect" presStyleLbl="bgShp" presStyleIdx="3" presStyleCnt="5"/>
      <dgm:spPr>
        <a:solidFill>
          <a:srgbClr val="B6FF42"/>
        </a:solidFill>
      </dgm:spPr>
    </dgm:pt>
    <dgm:pt modelId="{F2864A1F-9EA9-405D-ACB8-E1CA27BC8D1E}" type="pres">
      <dgm:prSet presAssocID="{1B9AAC62-492D-4B19-B087-562A4956985C}"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D0B9561D-2AEF-4898-B436-53B121C20D0A}" type="pres">
      <dgm:prSet presAssocID="{1B9AAC62-492D-4B19-B087-562A4956985C}" presName="spaceRect" presStyleCnt="0"/>
      <dgm:spPr/>
    </dgm:pt>
    <dgm:pt modelId="{EEB2A9AA-615C-40F2-83FA-BE0E35315BDF}" type="pres">
      <dgm:prSet presAssocID="{1B9AAC62-492D-4B19-B087-562A4956985C}" presName="textRect" presStyleLbl="revTx" presStyleIdx="3" presStyleCnt="5">
        <dgm:presLayoutVars>
          <dgm:chMax val="1"/>
          <dgm:chPref val="1"/>
        </dgm:presLayoutVars>
      </dgm:prSet>
      <dgm:spPr/>
    </dgm:pt>
    <dgm:pt modelId="{B1382002-2C40-45E0-8C20-C5687F9459FD}" type="pres">
      <dgm:prSet presAssocID="{6115CA40-1D01-41A6-8687-F1742D58942B}" presName="sibTrans" presStyleLbl="sibTrans2D1" presStyleIdx="0" presStyleCnt="0"/>
      <dgm:spPr/>
    </dgm:pt>
    <dgm:pt modelId="{A404EA39-70FF-43A5-A6D4-AE786DFA9017}" type="pres">
      <dgm:prSet presAssocID="{092F1036-0026-4626-A779-890DF81E769B}" presName="compNode" presStyleCnt="0"/>
      <dgm:spPr/>
    </dgm:pt>
    <dgm:pt modelId="{2EABFBE7-7E9E-46A8-B121-7EE1F72DA533}" type="pres">
      <dgm:prSet presAssocID="{092F1036-0026-4626-A779-890DF81E769B}" presName="iconBgRect" presStyleLbl="bgShp" presStyleIdx="4" presStyleCnt="5"/>
      <dgm:spPr>
        <a:solidFill>
          <a:srgbClr val="B6FF42"/>
        </a:solidFill>
      </dgm:spPr>
    </dgm:pt>
    <dgm:pt modelId="{9EE47887-E6BA-467D-ACAF-1AABC0D2FF27}" type="pres">
      <dgm:prSet presAssocID="{092F1036-0026-4626-A779-890DF81E769B}"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Magnifying glass"/>
        </a:ext>
      </dgm:extLst>
    </dgm:pt>
    <dgm:pt modelId="{35E9DE82-552B-4512-9709-35159F0EED7C}" type="pres">
      <dgm:prSet presAssocID="{092F1036-0026-4626-A779-890DF81E769B}" presName="spaceRect" presStyleCnt="0"/>
      <dgm:spPr/>
    </dgm:pt>
    <dgm:pt modelId="{B5173671-1EE7-4229-ADC5-FDFEF3F32F64}" type="pres">
      <dgm:prSet presAssocID="{092F1036-0026-4626-A779-890DF81E769B}" presName="textRect" presStyleLbl="revTx" presStyleIdx="4" presStyleCnt="5">
        <dgm:presLayoutVars>
          <dgm:chMax val="1"/>
          <dgm:chPref val="1"/>
        </dgm:presLayoutVars>
      </dgm:prSet>
      <dgm:spPr/>
    </dgm:pt>
  </dgm:ptLst>
  <dgm:cxnLst>
    <dgm:cxn modelId="{3973100A-F4A0-4B13-8B59-85169F6157A9}" srcId="{2311A177-43A3-408C-AE81-33F7BD8DF530}" destId="{1B9AAC62-492D-4B19-B087-562A4956985C}" srcOrd="3" destOrd="0" parTransId="{EE4B9C42-3F9E-4825-9015-81532A5950B8}" sibTransId="{6115CA40-1D01-41A6-8687-F1742D58942B}"/>
    <dgm:cxn modelId="{CAF94813-D18C-48EB-8E59-25909BBDE738}" srcId="{2311A177-43A3-408C-AE81-33F7BD8DF530}" destId="{092F1036-0026-4626-A779-890DF81E769B}" srcOrd="4" destOrd="0" parTransId="{C109A61F-1C03-437E-9A17-27F295940887}" sibTransId="{936E0078-B100-4450-A846-00A900E23D42}"/>
    <dgm:cxn modelId="{E4DC2D2D-765A-4C58-BFF4-AB4149F32477}" type="presOf" srcId="{8BE6634C-AED4-4064-9D2A-EF09C4C28F54}" destId="{5960E838-D2AA-41D1-80F4-13FDF0D2ACB8}" srcOrd="0" destOrd="0" presId="urn:microsoft.com/office/officeart/2018/2/layout/IconCircleList"/>
    <dgm:cxn modelId="{4DA24434-E811-44E7-8ED4-60E87A2D9F9C}" srcId="{2311A177-43A3-408C-AE81-33F7BD8DF530}" destId="{BD7F3F0B-3D05-45BD-8255-D9819EB8B477}" srcOrd="1" destOrd="0" parTransId="{E73EE59D-69BE-4226-9708-12C170F8C5CA}" sibTransId="{71A35FEB-204D-4350-A1D3-ED4E83EB42DE}"/>
    <dgm:cxn modelId="{E78FBC6E-C847-4801-92BA-23429D333E13}" type="presOf" srcId="{BD7F3F0B-3D05-45BD-8255-D9819EB8B477}" destId="{F1A55319-9DFA-4D0A-AA6D-A176BA3A009E}" srcOrd="0" destOrd="0" presId="urn:microsoft.com/office/officeart/2018/2/layout/IconCircleList"/>
    <dgm:cxn modelId="{2BFAB16F-C00D-4232-BDB0-0DF72956315B}" type="presOf" srcId="{092F1036-0026-4626-A779-890DF81E769B}" destId="{B5173671-1EE7-4229-ADC5-FDFEF3F32F64}" srcOrd="0" destOrd="0" presId="urn:microsoft.com/office/officeart/2018/2/layout/IconCircleList"/>
    <dgm:cxn modelId="{C1A34480-9D65-4AAF-9DCE-08C2BC3D2EDE}" type="presOf" srcId="{1B9AAC62-492D-4B19-B087-562A4956985C}" destId="{EEB2A9AA-615C-40F2-83FA-BE0E35315BDF}" srcOrd="0" destOrd="0" presId="urn:microsoft.com/office/officeart/2018/2/layout/IconCircleList"/>
    <dgm:cxn modelId="{B7026E8B-252E-4829-A23F-1FA0BC86E914}" type="presOf" srcId="{6115CA40-1D01-41A6-8687-F1742D58942B}" destId="{B1382002-2C40-45E0-8C20-C5687F9459FD}" srcOrd="0" destOrd="0" presId="urn:microsoft.com/office/officeart/2018/2/layout/IconCircleList"/>
    <dgm:cxn modelId="{13104FA4-E710-4247-9A61-B86C686FE3E9}" type="presOf" srcId="{F0DD3596-F3DC-46C0-B98D-567037EEC9E8}" destId="{B3C7775E-E204-4F16-9EDC-D88D8A4C4678}" srcOrd="0" destOrd="0" presId="urn:microsoft.com/office/officeart/2018/2/layout/IconCircleList"/>
    <dgm:cxn modelId="{73F895BA-FEB3-49E6-A40B-CD5134613D13}" srcId="{2311A177-43A3-408C-AE81-33F7BD8DF530}" destId="{F0DD3596-F3DC-46C0-B98D-567037EEC9E8}" srcOrd="2" destOrd="0" parTransId="{97F2418F-966B-4D6A-AF2F-DAF4DF04138A}" sibTransId="{5EABD1A7-1CF0-4A20-B2BB-ABAFC8C47C14}"/>
    <dgm:cxn modelId="{45A674BB-5D67-4100-8266-63BCB3545618}" type="presOf" srcId="{5EABD1A7-1CF0-4A20-B2BB-ABAFC8C47C14}" destId="{FF481252-E90F-40B8-B8AA-48151CCF6368}" srcOrd="0" destOrd="0" presId="urn:microsoft.com/office/officeart/2018/2/layout/IconCircleList"/>
    <dgm:cxn modelId="{E92CD1C0-758F-463D-9573-788A94514581}" srcId="{2311A177-43A3-408C-AE81-33F7BD8DF530}" destId="{8A3ED33F-2F55-41A8-93C0-86EA8E7489DA}" srcOrd="0" destOrd="0" parTransId="{984245A2-C5D8-4CF9-9076-F6F4CE4F34FF}" sibTransId="{8BE6634C-AED4-4064-9D2A-EF09C4C28F54}"/>
    <dgm:cxn modelId="{EA6FA0C1-F695-4099-AB01-932BFA119D1B}" type="presOf" srcId="{8A3ED33F-2F55-41A8-93C0-86EA8E7489DA}" destId="{CFBA2309-098D-4465-A140-717E2069A151}" srcOrd="0" destOrd="0" presId="urn:microsoft.com/office/officeart/2018/2/layout/IconCircleList"/>
    <dgm:cxn modelId="{F961BACD-80AD-4BFD-8233-8640D31E2DBC}" type="presOf" srcId="{2311A177-43A3-408C-AE81-33F7BD8DF530}" destId="{516BA9A3-671D-459F-9567-EB4D70D449E7}" srcOrd="0" destOrd="0" presId="urn:microsoft.com/office/officeart/2018/2/layout/IconCircleList"/>
    <dgm:cxn modelId="{827CD7D4-4066-4ED4-A50C-94F7E641F913}" type="presOf" srcId="{71A35FEB-204D-4350-A1D3-ED4E83EB42DE}" destId="{768FBBAB-C380-4EC4-B755-097ACA4E3640}" srcOrd="0" destOrd="0" presId="urn:microsoft.com/office/officeart/2018/2/layout/IconCircleList"/>
    <dgm:cxn modelId="{AA582041-D3E5-4FEB-8F6D-9ADC7E28B19C}" type="presParOf" srcId="{516BA9A3-671D-459F-9567-EB4D70D449E7}" destId="{EF48182F-5DA6-4C9D-99F7-24FCA70797F3}" srcOrd="0" destOrd="0" presId="urn:microsoft.com/office/officeart/2018/2/layout/IconCircleList"/>
    <dgm:cxn modelId="{C7828376-BEAC-424C-AE1D-54D51D64EB55}" type="presParOf" srcId="{EF48182F-5DA6-4C9D-99F7-24FCA70797F3}" destId="{2E090DDB-D049-453E-9483-2A215384188F}" srcOrd="0" destOrd="0" presId="urn:microsoft.com/office/officeart/2018/2/layout/IconCircleList"/>
    <dgm:cxn modelId="{713CD90C-614F-4098-8190-862B6263A1D4}" type="presParOf" srcId="{2E090DDB-D049-453E-9483-2A215384188F}" destId="{B1A95D50-BD73-4D5D-A7C3-A5DA4B1EFAD9}" srcOrd="0" destOrd="0" presId="urn:microsoft.com/office/officeart/2018/2/layout/IconCircleList"/>
    <dgm:cxn modelId="{95D6DB70-0629-4C19-ABF6-DD1EC99B3127}" type="presParOf" srcId="{2E090DDB-D049-453E-9483-2A215384188F}" destId="{5421EDF8-EDD8-4442-83EB-47687FC60221}" srcOrd="1" destOrd="0" presId="urn:microsoft.com/office/officeart/2018/2/layout/IconCircleList"/>
    <dgm:cxn modelId="{A0213551-7379-4D6C-B8A8-49F3853EC5DE}" type="presParOf" srcId="{2E090DDB-D049-453E-9483-2A215384188F}" destId="{2AE3E388-B1C5-496A-85D4-ECB85195A8F4}" srcOrd="2" destOrd="0" presId="urn:microsoft.com/office/officeart/2018/2/layout/IconCircleList"/>
    <dgm:cxn modelId="{7F0172BF-D8BB-48AF-A09E-B79E004569EE}" type="presParOf" srcId="{2E090DDB-D049-453E-9483-2A215384188F}" destId="{CFBA2309-098D-4465-A140-717E2069A151}" srcOrd="3" destOrd="0" presId="urn:microsoft.com/office/officeart/2018/2/layout/IconCircleList"/>
    <dgm:cxn modelId="{2EFF55E9-BC96-4D85-B7BC-802E25FD32C4}" type="presParOf" srcId="{EF48182F-5DA6-4C9D-99F7-24FCA70797F3}" destId="{5960E838-D2AA-41D1-80F4-13FDF0D2ACB8}" srcOrd="1" destOrd="0" presId="urn:microsoft.com/office/officeart/2018/2/layout/IconCircleList"/>
    <dgm:cxn modelId="{853AB814-4FF1-491F-80BC-11D9AEE840FC}" type="presParOf" srcId="{EF48182F-5DA6-4C9D-99F7-24FCA70797F3}" destId="{C3B17BA4-4776-48E3-A2A5-A908AC92B8D2}" srcOrd="2" destOrd="0" presId="urn:microsoft.com/office/officeart/2018/2/layout/IconCircleList"/>
    <dgm:cxn modelId="{EB8E74B7-1DA7-4689-BF7A-1C2319A1176F}" type="presParOf" srcId="{C3B17BA4-4776-48E3-A2A5-A908AC92B8D2}" destId="{6CC80EB8-64FC-4FDE-B2BA-6EAB07F3F183}" srcOrd="0" destOrd="0" presId="urn:microsoft.com/office/officeart/2018/2/layout/IconCircleList"/>
    <dgm:cxn modelId="{52354F77-7D57-4491-A676-7C16C8A10647}" type="presParOf" srcId="{C3B17BA4-4776-48E3-A2A5-A908AC92B8D2}" destId="{184E40C9-67E9-4678-85AE-CE14D44DA9DD}" srcOrd="1" destOrd="0" presId="urn:microsoft.com/office/officeart/2018/2/layout/IconCircleList"/>
    <dgm:cxn modelId="{91444ED4-4FB7-483D-ACF1-D7A115DCFEEC}" type="presParOf" srcId="{C3B17BA4-4776-48E3-A2A5-A908AC92B8D2}" destId="{803AC6BC-1C39-4294-9DA3-D60C62D90BEA}" srcOrd="2" destOrd="0" presId="urn:microsoft.com/office/officeart/2018/2/layout/IconCircleList"/>
    <dgm:cxn modelId="{54A8038B-BF72-4E5B-B010-76D0A177EDC5}" type="presParOf" srcId="{C3B17BA4-4776-48E3-A2A5-A908AC92B8D2}" destId="{F1A55319-9DFA-4D0A-AA6D-A176BA3A009E}" srcOrd="3" destOrd="0" presId="urn:microsoft.com/office/officeart/2018/2/layout/IconCircleList"/>
    <dgm:cxn modelId="{7E992B06-DB9D-4841-9A21-95E323989EAC}" type="presParOf" srcId="{EF48182F-5DA6-4C9D-99F7-24FCA70797F3}" destId="{768FBBAB-C380-4EC4-B755-097ACA4E3640}" srcOrd="3" destOrd="0" presId="urn:microsoft.com/office/officeart/2018/2/layout/IconCircleList"/>
    <dgm:cxn modelId="{E82490B2-3ECB-4773-AB23-709C358AF490}" type="presParOf" srcId="{EF48182F-5DA6-4C9D-99F7-24FCA70797F3}" destId="{A4A631D7-5516-4217-A794-E6D3C4E648CF}" srcOrd="4" destOrd="0" presId="urn:microsoft.com/office/officeart/2018/2/layout/IconCircleList"/>
    <dgm:cxn modelId="{78201663-DD21-4852-A01F-3D19D456AEA7}" type="presParOf" srcId="{A4A631D7-5516-4217-A794-E6D3C4E648CF}" destId="{103D9BAB-24C6-4B73-B04E-E901B55E4701}" srcOrd="0" destOrd="0" presId="urn:microsoft.com/office/officeart/2018/2/layout/IconCircleList"/>
    <dgm:cxn modelId="{D72EB1F4-D2DD-4724-8BE4-C8382F8F3647}" type="presParOf" srcId="{A4A631D7-5516-4217-A794-E6D3C4E648CF}" destId="{9289CDA8-9F9A-4E52-835B-1A373BD308CE}" srcOrd="1" destOrd="0" presId="urn:microsoft.com/office/officeart/2018/2/layout/IconCircleList"/>
    <dgm:cxn modelId="{7E4E5E03-AB73-4D89-A8C2-833B9A718021}" type="presParOf" srcId="{A4A631D7-5516-4217-A794-E6D3C4E648CF}" destId="{51993E0A-E6E9-43D0-9525-EA2EB722676B}" srcOrd="2" destOrd="0" presId="urn:microsoft.com/office/officeart/2018/2/layout/IconCircleList"/>
    <dgm:cxn modelId="{A9BE3D6C-D611-4555-8380-B2AE3AEEE602}" type="presParOf" srcId="{A4A631D7-5516-4217-A794-E6D3C4E648CF}" destId="{B3C7775E-E204-4F16-9EDC-D88D8A4C4678}" srcOrd="3" destOrd="0" presId="urn:microsoft.com/office/officeart/2018/2/layout/IconCircleList"/>
    <dgm:cxn modelId="{31AB3087-E549-4326-9FC0-3EADA1270DB8}" type="presParOf" srcId="{EF48182F-5DA6-4C9D-99F7-24FCA70797F3}" destId="{FF481252-E90F-40B8-B8AA-48151CCF6368}" srcOrd="5" destOrd="0" presId="urn:microsoft.com/office/officeart/2018/2/layout/IconCircleList"/>
    <dgm:cxn modelId="{93D74842-CBC4-4512-94CE-238E24F07C13}" type="presParOf" srcId="{EF48182F-5DA6-4C9D-99F7-24FCA70797F3}" destId="{CA0EE9A2-BECB-4186-98C1-3606D514A2B8}" srcOrd="6" destOrd="0" presId="urn:microsoft.com/office/officeart/2018/2/layout/IconCircleList"/>
    <dgm:cxn modelId="{F726B861-6C55-4F7C-AB7B-19D19341D304}" type="presParOf" srcId="{CA0EE9A2-BECB-4186-98C1-3606D514A2B8}" destId="{FFBE9E90-D921-48E1-8799-68AFA3EFB2D6}" srcOrd="0" destOrd="0" presId="urn:microsoft.com/office/officeart/2018/2/layout/IconCircleList"/>
    <dgm:cxn modelId="{404E8A16-8D31-443F-B8CA-B0B460EA0DC6}" type="presParOf" srcId="{CA0EE9A2-BECB-4186-98C1-3606D514A2B8}" destId="{F2864A1F-9EA9-405D-ACB8-E1CA27BC8D1E}" srcOrd="1" destOrd="0" presId="urn:microsoft.com/office/officeart/2018/2/layout/IconCircleList"/>
    <dgm:cxn modelId="{2EE2F6BB-C276-48BD-837D-6B9892C27069}" type="presParOf" srcId="{CA0EE9A2-BECB-4186-98C1-3606D514A2B8}" destId="{D0B9561D-2AEF-4898-B436-53B121C20D0A}" srcOrd="2" destOrd="0" presId="urn:microsoft.com/office/officeart/2018/2/layout/IconCircleList"/>
    <dgm:cxn modelId="{1130D00D-4DCB-4B18-84B6-A57B848A8F08}" type="presParOf" srcId="{CA0EE9A2-BECB-4186-98C1-3606D514A2B8}" destId="{EEB2A9AA-615C-40F2-83FA-BE0E35315BDF}" srcOrd="3" destOrd="0" presId="urn:microsoft.com/office/officeart/2018/2/layout/IconCircleList"/>
    <dgm:cxn modelId="{03EB8B2D-6C12-47A9-9F81-B735008FB8C2}" type="presParOf" srcId="{EF48182F-5DA6-4C9D-99F7-24FCA70797F3}" destId="{B1382002-2C40-45E0-8C20-C5687F9459FD}" srcOrd="7" destOrd="0" presId="urn:microsoft.com/office/officeart/2018/2/layout/IconCircleList"/>
    <dgm:cxn modelId="{E77B93B9-9F40-4E94-90C7-26CCD483DA6A}" type="presParOf" srcId="{EF48182F-5DA6-4C9D-99F7-24FCA70797F3}" destId="{A404EA39-70FF-43A5-A6D4-AE786DFA9017}" srcOrd="8" destOrd="0" presId="urn:microsoft.com/office/officeart/2018/2/layout/IconCircleList"/>
    <dgm:cxn modelId="{191A0D5B-7F42-4A8A-BE06-8F84829F27A7}" type="presParOf" srcId="{A404EA39-70FF-43A5-A6D4-AE786DFA9017}" destId="{2EABFBE7-7E9E-46A8-B121-7EE1F72DA533}" srcOrd="0" destOrd="0" presId="urn:microsoft.com/office/officeart/2018/2/layout/IconCircleList"/>
    <dgm:cxn modelId="{ED89DBA8-5D79-40F8-9B07-2D3FF1D73FD3}" type="presParOf" srcId="{A404EA39-70FF-43A5-A6D4-AE786DFA9017}" destId="{9EE47887-E6BA-467D-ACAF-1AABC0D2FF27}" srcOrd="1" destOrd="0" presId="urn:microsoft.com/office/officeart/2018/2/layout/IconCircleList"/>
    <dgm:cxn modelId="{4919EB59-CFE0-47DA-B87B-67C9067F9763}" type="presParOf" srcId="{A404EA39-70FF-43A5-A6D4-AE786DFA9017}" destId="{35E9DE82-552B-4512-9709-35159F0EED7C}" srcOrd="2" destOrd="0" presId="urn:microsoft.com/office/officeart/2018/2/layout/IconCircleList"/>
    <dgm:cxn modelId="{E0821153-C580-4AB4-8F00-B3BECFE4DFF3}" type="presParOf" srcId="{A404EA39-70FF-43A5-A6D4-AE786DFA9017}" destId="{B5173671-1EE7-4229-ADC5-FDFEF3F32F64}" srcOrd="3" destOrd="0" presId="urn:microsoft.com/office/officeart/2018/2/layout/IconCircleList"/>
  </dgm:cxnLst>
  <dgm:bg/>
  <dgm:whole>
    <a:ln>
      <a:noFill/>
    </a:ln>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C4C34FB4-EC02-4C17-970D-EBB7752B6EF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019B105D-B22C-4D08-837D-4CEBB5111101}">
      <dgm:prSet phldrT="[Tex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70% faster</a:t>
          </a:r>
          <a:r>
            <a:rPr lang="en-IN" sz="1800" b="0" i="0" dirty="0">
              <a:solidFill>
                <a:srgbClr val="B6FF42"/>
              </a:solidFill>
            </a:rPr>
            <a:t> </a:t>
          </a:r>
          <a:r>
            <a:rPr lang="en-IN" sz="1400" b="0" i="0" dirty="0"/>
            <a:t>order processing.</a:t>
          </a:r>
          <a:endParaRPr lang="en-IN" sz="1400" dirty="0"/>
        </a:p>
      </dgm:t>
    </dgm:pt>
    <dgm:pt modelId="{0697D293-1FBD-4A11-A811-2D232FA57FC9}" type="parTrans" cxnId="{5256BAD1-E6BD-494C-8F5A-E8A281068E41}">
      <dgm:prSet/>
      <dgm:spPr/>
      <dgm:t>
        <a:bodyPr/>
        <a:lstStyle/>
        <a:p>
          <a:endParaRPr lang="en-IN" sz="1200"/>
        </a:p>
      </dgm:t>
    </dgm:pt>
    <dgm:pt modelId="{85C541BB-B0DC-4C13-98B8-B1230C798B0D}" type="sibTrans" cxnId="{5256BAD1-E6BD-494C-8F5A-E8A281068E41}">
      <dgm:prSet/>
      <dgm:spPr/>
      <dgm:t>
        <a:bodyPr/>
        <a:lstStyle/>
        <a:p>
          <a:endParaRPr lang="en-IN" sz="1200"/>
        </a:p>
      </dgm:t>
    </dgm:pt>
    <dgm:pt modelId="{0796C273-A66A-461A-ADC9-7382D0C937CC}">
      <dgm:prSet custT="1"/>
      <dgm:spPr>
        <a:noFill/>
        <a:ln>
          <a:solidFill>
            <a:srgbClr val="399AFF">
              <a:alpha val="14118"/>
            </a:srgbClr>
          </a:solidFill>
        </a:ln>
      </dgm:spPr>
      <dgm:t>
        <a:bodyPr/>
        <a:lstStyle/>
        <a:p>
          <a:pPr>
            <a:buFont typeface="Arial" panose="020B0604020202020204" pitchFamily="34" charset="0"/>
            <a:buChar char="•"/>
          </a:pPr>
          <a:r>
            <a:rPr lang="en-US" sz="1800" b="1" i="0" dirty="0">
              <a:solidFill>
                <a:srgbClr val="B6FF42"/>
              </a:solidFill>
            </a:rPr>
            <a:t>95% Accuracy </a:t>
          </a:r>
          <a:r>
            <a:rPr lang="en-US" sz="1400" b="0" i="0" dirty="0"/>
            <a:t>in sale orders.</a:t>
          </a:r>
          <a:endParaRPr lang="en-US" sz="1800" b="0" i="0" dirty="0"/>
        </a:p>
      </dgm:t>
    </dgm:pt>
    <dgm:pt modelId="{0E4446D9-3470-4B50-8283-FA5948E68B53}" type="parTrans" cxnId="{2CF7F97E-AF25-4247-B4D0-FB272AE2E7E6}">
      <dgm:prSet/>
      <dgm:spPr/>
      <dgm:t>
        <a:bodyPr/>
        <a:lstStyle/>
        <a:p>
          <a:endParaRPr lang="en-IN" sz="1200"/>
        </a:p>
      </dgm:t>
    </dgm:pt>
    <dgm:pt modelId="{8B2E50B4-499F-4E93-BD57-1A4288539ABA}" type="sibTrans" cxnId="{2CF7F97E-AF25-4247-B4D0-FB272AE2E7E6}">
      <dgm:prSet/>
      <dgm:spPr/>
      <dgm:t>
        <a:bodyPr/>
        <a:lstStyle/>
        <a:p>
          <a:endParaRPr lang="en-IN" sz="1200"/>
        </a:p>
      </dgm:t>
    </dgm:pt>
    <dgm:pt modelId="{A9D834CE-A131-4571-B158-91DDEAFD4C8A}">
      <dgm:prSet custT="1"/>
      <dgm:spPr>
        <a:noFill/>
        <a:ln>
          <a:solidFill>
            <a:srgbClr val="399AFF">
              <a:alpha val="14118"/>
            </a:srgbClr>
          </a:solidFill>
        </a:ln>
      </dgm:spPr>
      <dgm:t>
        <a:bodyPr/>
        <a:lstStyle/>
        <a:p>
          <a:pPr>
            <a:buFont typeface="Arial" panose="020B0604020202020204" pitchFamily="34" charset="0"/>
            <a:buChar char="•"/>
          </a:pPr>
          <a:r>
            <a:rPr lang="en-US" sz="1800" b="1" i="0" dirty="0">
              <a:solidFill>
                <a:srgbClr val="B6FF42"/>
              </a:solidFill>
            </a:rPr>
            <a:t>60% Reduction </a:t>
          </a:r>
          <a:r>
            <a:rPr lang="en-US" sz="1600" b="0" i="0" dirty="0"/>
            <a:t>in team effort.</a:t>
          </a:r>
        </a:p>
      </dgm:t>
    </dgm:pt>
    <dgm:pt modelId="{7A8C57D0-A4CE-455E-8E2A-395EBF700166}" type="parTrans" cxnId="{014E4ADF-0390-42BE-B187-6800CE05442F}">
      <dgm:prSet/>
      <dgm:spPr/>
      <dgm:t>
        <a:bodyPr/>
        <a:lstStyle/>
        <a:p>
          <a:endParaRPr lang="en-IN" sz="1200"/>
        </a:p>
      </dgm:t>
    </dgm:pt>
    <dgm:pt modelId="{EF923DD4-C128-431F-9133-3C9DEB02026C}" type="sibTrans" cxnId="{014E4ADF-0390-42BE-B187-6800CE05442F}">
      <dgm:prSet/>
      <dgm:spPr/>
      <dgm:t>
        <a:bodyPr/>
        <a:lstStyle/>
        <a:p>
          <a:endParaRPr lang="en-IN" sz="1200"/>
        </a:p>
      </dgm:t>
    </dgm:pt>
    <dgm:pt modelId="{C10DFBA1-64E6-40DB-9041-AF5C0D80B49F}">
      <dgm:prSet custT="1"/>
      <dgm:spPr>
        <a:noFill/>
        <a:ln>
          <a:solidFill>
            <a:srgbClr val="399AFF">
              <a:alpha val="14118"/>
            </a:srgbClr>
          </a:solidFill>
        </a:ln>
      </dgm:spPr>
      <dgm:t>
        <a:bodyPr/>
        <a:lstStyle/>
        <a:p>
          <a:pPr>
            <a:buFont typeface="Arial" panose="020B0604020202020204" pitchFamily="34" charset="0"/>
            <a:buChar char="•"/>
          </a:pPr>
          <a:r>
            <a:rPr lang="en-US" sz="1800" b="1" i="0" dirty="0">
              <a:solidFill>
                <a:srgbClr val="B6FF42"/>
              </a:solidFill>
            </a:rPr>
            <a:t>Real-time tracking </a:t>
          </a:r>
          <a:r>
            <a:rPr lang="en-US" sz="1400" b="0" i="0" dirty="0"/>
            <a:t>compliance with audit trails.</a:t>
          </a:r>
          <a:endParaRPr lang="en-US" sz="1800" b="1" i="0" dirty="0"/>
        </a:p>
      </dgm:t>
    </dgm:pt>
    <dgm:pt modelId="{B4A8C3D6-560C-45BA-9EC5-42360327EE4E}" type="parTrans" cxnId="{79A63933-E630-460B-A35F-ACD68522F125}">
      <dgm:prSet/>
      <dgm:spPr/>
      <dgm:t>
        <a:bodyPr/>
        <a:lstStyle/>
        <a:p>
          <a:endParaRPr lang="en-IN" sz="1200"/>
        </a:p>
      </dgm:t>
    </dgm:pt>
    <dgm:pt modelId="{6D154F44-98E3-4AB0-BB6E-C3F72D1E4B29}" type="sibTrans" cxnId="{79A63933-E630-460B-A35F-ACD68522F125}">
      <dgm:prSet/>
      <dgm:spPr/>
      <dgm:t>
        <a:bodyPr/>
        <a:lstStyle/>
        <a:p>
          <a:endParaRPr lang="en-IN" sz="1200"/>
        </a:p>
      </dgm:t>
    </dgm:pt>
    <dgm:pt modelId="{112FF701-AE28-4612-B761-71CF9B098493}">
      <dgm:prSet custT="1"/>
      <dgm:spPr>
        <a:noFill/>
        <a:ln>
          <a:solidFill>
            <a:srgbClr val="399AFF">
              <a:alpha val="14118"/>
            </a:srgbClr>
          </a:solidFill>
        </a:ln>
      </dgm:spPr>
      <dgm:t>
        <a:bodyPr/>
        <a:lstStyle/>
        <a:p>
          <a:pPr>
            <a:buFont typeface="Arial" panose="020B0604020202020204" pitchFamily="34" charset="0"/>
            <a:buChar char="•"/>
          </a:pPr>
          <a:r>
            <a:rPr lang="en-US" sz="1600" b="1" i="0" dirty="0">
              <a:solidFill>
                <a:srgbClr val="B6FF42"/>
              </a:solidFill>
            </a:rPr>
            <a:t>Scalable solution </a:t>
          </a:r>
          <a:r>
            <a:rPr lang="en-US" sz="1400" b="0" i="0" dirty="0"/>
            <a:t>for growing order volumes.</a:t>
          </a:r>
          <a:endParaRPr lang="en-US" sz="1400" b="1" i="0" dirty="0"/>
        </a:p>
      </dgm:t>
    </dgm:pt>
    <dgm:pt modelId="{563B5D1F-FB41-4237-A95F-D30BD06EF0F6}" type="parTrans" cxnId="{61CCB5A6-28E0-41DE-A35E-54905A822B32}">
      <dgm:prSet/>
      <dgm:spPr/>
      <dgm:t>
        <a:bodyPr/>
        <a:lstStyle/>
        <a:p>
          <a:endParaRPr lang="en-IN" sz="1200"/>
        </a:p>
      </dgm:t>
    </dgm:pt>
    <dgm:pt modelId="{79C6B72C-E709-470E-B700-3EB925B73680}" type="sibTrans" cxnId="{61CCB5A6-28E0-41DE-A35E-54905A822B32}">
      <dgm:prSet/>
      <dgm:spPr/>
      <dgm:t>
        <a:bodyPr/>
        <a:lstStyle/>
        <a:p>
          <a:endParaRPr lang="en-IN" sz="1200"/>
        </a:p>
      </dgm:t>
    </dgm:pt>
    <dgm:pt modelId="{F428335E-C193-4B62-A957-008AEA443805}" type="pres">
      <dgm:prSet presAssocID="{C4C34FB4-EC02-4C17-970D-EBB7752B6EFB}" presName="diagram" presStyleCnt="0">
        <dgm:presLayoutVars>
          <dgm:dir/>
          <dgm:resizeHandles val="exact"/>
        </dgm:presLayoutVars>
      </dgm:prSet>
      <dgm:spPr/>
    </dgm:pt>
    <dgm:pt modelId="{9A87BD6A-5294-4DD9-9C70-704C134A4F31}" type="pres">
      <dgm:prSet presAssocID="{019B105D-B22C-4D08-837D-4CEBB5111101}" presName="node" presStyleLbl="node1" presStyleIdx="0" presStyleCnt="5" custScaleX="135412">
        <dgm:presLayoutVars>
          <dgm:bulletEnabled val="1"/>
        </dgm:presLayoutVars>
      </dgm:prSet>
      <dgm:spPr/>
    </dgm:pt>
    <dgm:pt modelId="{2525BB42-C4F2-4535-899E-197C5AFAAA3B}" type="pres">
      <dgm:prSet presAssocID="{85C541BB-B0DC-4C13-98B8-B1230C798B0D}" presName="sibTrans" presStyleCnt="0"/>
      <dgm:spPr/>
    </dgm:pt>
    <dgm:pt modelId="{A3D6CB1E-626F-48F7-A961-E16615167BF7}" type="pres">
      <dgm:prSet presAssocID="{0796C273-A66A-461A-ADC9-7382D0C937CC}" presName="node" presStyleLbl="node1" presStyleIdx="1" presStyleCnt="5" custScaleX="131370">
        <dgm:presLayoutVars>
          <dgm:bulletEnabled val="1"/>
        </dgm:presLayoutVars>
      </dgm:prSet>
      <dgm:spPr/>
    </dgm:pt>
    <dgm:pt modelId="{BC36D203-462D-46F5-AF2A-380924BAA335}" type="pres">
      <dgm:prSet presAssocID="{8B2E50B4-499F-4E93-BD57-1A4288539ABA}" presName="sibTrans" presStyleCnt="0"/>
      <dgm:spPr/>
    </dgm:pt>
    <dgm:pt modelId="{F50F0844-8F05-42E4-8D9C-0725AF94D94E}" type="pres">
      <dgm:prSet presAssocID="{A9D834CE-A131-4571-B158-91DDEAFD4C8A}" presName="node" presStyleLbl="node1" presStyleIdx="2" presStyleCnt="5" custScaleX="149342">
        <dgm:presLayoutVars>
          <dgm:bulletEnabled val="1"/>
        </dgm:presLayoutVars>
      </dgm:prSet>
      <dgm:spPr/>
    </dgm:pt>
    <dgm:pt modelId="{489A589E-FD78-4A6E-B6DF-68BE731C2860}" type="pres">
      <dgm:prSet presAssocID="{EF923DD4-C128-431F-9133-3C9DEB02026C}" presName="sibTrans" presStyleCnt="0"/>
      <dgm:spPr/>
    </dgm:pt>
    <dgm:pt modelId="{C98CF24D-0E29-49B5-8FF1-65974499320B}" type="pres">
      <dgm:prSet presAssocID="{C10DFBA1-64E6-40DB-9041-AF5C0D80B49F}" presName="node" presStyleLbl="node1" presStyleIdx="3" presStyleCnt="5" custScaleX="182522">
        <dgm:presLayoutVars>
          <dgm:bulletEnabled val="1"/>
        </dgm:presLayoutVars>
      </dgm:prSet>
      <dgm:spPr/>
    </dgm:pt>
    <dgm:pt modelId="{A74C0018-AEFA-4849-B53A-1E745D3E3596}" type="pres">
      <dgm:prSet presAssocID="{6D154F44-98E3-4AB0-BB6E-C3F72D1E4B29}" presName="sibTrans" presStyleCnt="0"/>
      <dgm:spPr/>
    </dgm:pt>
    <dgm:pt modelId="{E831CBA3-0DF1-416D-BAA9-71EF3B6C849F}" type="pres">
      <dgm:prSet presAssocID="{112FF701-AE28-4612-B761-71CF9B098493}" presName="node" presStyleLbl="node1" presStyleIdx="4" presStyleCnt="5" custScaleX="156268">
        <dgm:presLayoutVars>
          <dgm:bulletEnabled val="1"/>
        </dgm:presLayoutVars>
      </dgm:prSet>
      <dgm:spPr/>
    </dgm:pt>
  </dgm:ptLst>
  <dgm:cxnLst>
    <dgm:cxn modelId="{79A63933-E630-460B-A35F-ACD68522F125}" srcId="{C4C34FB4-EC02-4C17-970D-EBB7752B6EFB}" destId="{C10DFBA1-64E6-40DB-9041-AF5C0D80B49F}" srcOrd="3" destOrd="0" parTransId="{B4A8C3D6-560C-45BA-9EC5-42360327EE4E}" sibTransId="{6D154F44-98E3-4AB0-BB6E-C3F72D1E4B29}"/>
    <dgm:cxn modelId="{4B34363D-AF5E-482D-A9CB-47FA5CDDA2D9}" type="presOf" srcId="{C10DFBA1-64E6-40DB-9041-AF5C0D80B49F}" destId="{C98CF24D-0E29-49B5-8FF1-65974499320B}" srcOrd="0" destOrd="0" presId="urn:microsoft.com/office/officeart/2005/8/layout/default"/>
    <dgm:cxn modelId="{B5A1BB5B-0EE1-4C7A-851E-5C4B6202EEA4}" type="presOf" srcId="{C4C34FB4-EC02-4C17-970D-EBB7752B6EFB}" destId="{F428335E-C193-4B62-A957-008AEA443805}" srcOrd="0" destOrd="0" presId="urn:microsoft.com/office/officeart/2005/8/layout/default"/>
    <dgm:cxn modelId="{2CF7F97E-AF25-4247-B4D0-FB272AE2E7E6}" srcId="{C4C34FB4-EC02-4C17-970D-EBB7752B6EFB}" destId="{0796C273-A66A-461A-ADC9-7382D0C937CC}" srcOrd="1" destOrd="0" parTransId="{0E4446D9-3470-4B50-8283-FA5948E68B53}" sibTransId="{8B2E50B4-499F-4E93-BD57-1A4288539ABA}"/>
    <dgm:cxn modelId="{18D6DC9C-2E08-41AF-B4BC-35D2285EF1B8}" type="presOf" srcId="{0796C273-A66A-461A-ADC9-7382D0C937CC}" destId="{A3D6CB1E-626F-48F7-A961-E16615167BF7}" srcOrd="0" destOrd="0" presId="urn:microsoft.com/office/officeart/2005/8/layout/default"/>
    <dgm:cxn modelId="{61CCB5A6-28E0-41DE-A35E-54905A822B32}" srcId="{C4C34FB4-EC02-4C17-970D-EBB7752B6EFB}" destId="{112FF701-AE28-4612-B761-71CF9B098493}" srcOrd="4" destOrd="0" parTransId="{563B5D1F-FB41-4237-A95F-D30BD06EF0F6}" sibTransId="{79C6B72C-E709-470E-B700-3EB925B73680}"/>
    <dgm:cxn modelId="{159CDAA8-E6BC-49FD-9FA2-5323AAFBE009}" type="presOf" srcId="{019B105D-B22C-4D08-837D-4CEBB5111101}" destId="{9A87BD6A-5294-4DD9-9C70-704C134A4F31}" srcOrd="0" destOrd="0" presId="urn:microsoft.com/office/officeart/2005/8/layout/default"/>
    <dgm:cxn modelId="{880D07C3-D9F6-43BC-B395-60F2F29A1D79}" type="presOf" srcId="{A9D834CE-A131-4571-B158-91DDEAFD4C8A}" destId="{F50F0844-8F05-42E4-8D9C-0725AF94D94E}" srcOrd="0" destOrd="0" presId="urn:microsoft.com/office/officeart/2005/8/layout/default"/>
    <dgm:cxn modelId="{5256BAD1-E6BD-494C-8F5A-E8A281068E41}" srcId="{C4C34FB4-EC02-4C17-970D-EBB7752B6EFB}" destId="{019B105D-B22C-4D08-837D-4CEBB5111101}" srcOrd="0" destOrd="0" parTransId="{0697D293-1FBD-4A11-A811-2D232FA57FC9}" sibTransId="{85C541BB-B0DC-4C13-98B8-B1230C798B0D}"/>
    <dgm:cxn modelId="{014E4ADF-0390-42BE-B187-6800CE05442F}" srcId="{C4C34FB4-EC02-4C17-970D-EBB7752B6EFB}" destId="{A9D834CE-A131-4571-B158-91DDEAFD4C8A}" srcOrd="2" destOrd="0" parTransId="{7A8C57D0-A4CE-455E-8E2A-395EBF700166}" sibTransId="{EF923DD4-C128-431F-9133-3C9DEB02026C}"/>
    <dgm:cxn modelId="{0E8E30ED-F127-4BF1-ACE7-49F867A6B05F}" type="presOf" srcId="{112FF701-AE28-4612-B761-71CF9B098493}" destId="{E831CBA3-0DF1-416D-BAA9-71EF3B6C849F}" srcOrd="0" destOrd="0" presId="urn:microsoft.com/office/officeart/2005/8/layout/default"/>
    <dgm:cxn modelId="{3D8678D5-8F59-4037-A6E0-29BA4A45DEC1}" type="presParOf" srcId="{F428335E-C193-4B62-A957-008AEA443805}" destId="{9A87BD6A-5294-4DD9-9C70-704C134A4F31}" srcOrd="0" destOrd="0" presId="urn:microsoft.com/office/officeart/2005/8/layout/default"/>
    <dgm:cxn modelId="{B113757C-CFC7-4D1B-B41C-B3743CF041AA}" type="presParOf" srcId="{F428335E-C193-4B62-A957-008AEA443805}" destId="{2525BB42-C4F2-4535-899E-197C5AFAAA3B}" srcOrd="1" destOrd="0" presId="urn:microsoft.com/office/officeart/2005/8/layout/default"/>
    <dgm:cxn modelId="{8402A758-7AB0-46B1-91D4-A573B7189B64}" type="presParOf" srcId="{F428335E-C193-4B62-A957-008AEA443805}" destId="{A3D6CB1E-626F-48F7-A961-E16615167BF7}" srcOrd="2" destOrd="0" presId="urn:microsoft.com/office/officeart/2005/8/layout/default"/>
    <dgm:cxn modelId="{505B22E8-7245-4594-AD87-402F73DD9397}" type="presParOf" srcId="{F428335E-C193-4B62-A957-008AEA443805}" destId="{BC36D203-462D-46F5-AF2A-380924BAA335}" srcOrd="3" destOrd="0" presId="urn:microsoft.com/office/officeart/2005/8/layout/default"/>
    <dgm:cxn modelId="{539F407E-47B2-46E5-A206-F8E69E3E48B9}" type="presParOf" srcId="{F428335E-C193-4B62-A957-008AEA443805}" destId="{F50F0844-8F05-42E4-8D9C-0725AF94D94E}" srcOrd="4" destOrd="0" presId="urn:microsoft.com/office/officeart/2005/8/layout/default"/>
    <dgm:cxn modelId="{D19BC2DE-EAC6-4120-843E-7557087DA730}" type="presParOf" srcId="{F428335E-C193-4B62-A957-008AEA443805}" destId="{489A589E-FD78-4A6E-B6DF-68BE731C2860}" srcOrd="5" destOrd="0" presId="urn:microsoft.com/office/officeart/2005/8/layout/default"/>
    <dgm:cxn modelId="{13D25416-90C0-473F-8CD6-64DA65292A2F}" type="presParOf" srcId="{F428335E-C193-4B62-A957-008AEA443805}" destId="{C98CF24D-0E29-49B5-8FF1-65974499320B}" srcOrd="6" destOrd="0" presId="urn:microsoft.com/office/officeart/2005/8/layout/default"/>
    <dgm:cxn modelId="{28674113-1E33-44D1-B0DE-C241C95DCB02}" type="presParOf" srcId="{F428335E-C193-4B62-A957-008AEA443805}" destId="{A74C0018-AEFA-4849-B53A-1E745D3E3596}" srcOrd="7" destOrd="0" presId="urn:microsoft.com/office/officeart/2005/8/layout/default"/>
    <dgm:cxn modelId="{4B8EC438-9697-4C28-A1FF-2C8DEC996CEC}" type="presParOf" srcId="{F428335E-C193-4B62-A957-008AEA443805}" destId="{E831CBA3-0DF1-416D-BAA9-71EF3B6C849F}" srcOrd="8"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311A177-43A3-408C-AE81-33F7BD8DF530}" type="doc">
      <dgm:prSet loTypeId="urn:microsoft.com/office/officeart/2018/2/layout/IconCircleList" loCatId="icon" qsTypeId="urn:microsoft.com/office/officeart/2005/8/quickstyle/simple1" qsCatId="simple" csTypeId="urn:microsoft.com/office/officeart/2005/8/colors/accent0_3" csCatId="mainScheme" phldr="1"/>
      <dgm:spPr/>
      <dgm:t>
        <a:bodyPr/>
        <a:lstStyle/>
        <a:p>
          <a:endParaRPr lang="en-IN"/>
        </a:p>
      </dgm:t>
    </dgm:pt>
    <dgm:pt modelId="{8A3ED33F-2F55-41A8-93C0-86EA8E7489DA}">
      <dgm:prSet phldrT="[Text]" custT="1"/>
      <dgm:spPr>
        <a:noFill/>
        <a:ln>
          <a:noFill/>
        </a:ln>
      </dgm:spPr>
      <dgm:t>
        <a:bodyPr/>
        <a:lstStyle/>
        <a:p>
          <a:pPr>
            <a:lnSpc>
              <a:spcPct val="100000"/>
            </a:lnSpc>
          </a:pPr>
          <a:r>
            <a:rPr lang="en-US" sz="1200" b="0" dirty="0">
              <a:solidFill>
                <a:schemeClr val="bg1"/>
              </a:solidFill>
            </a:rPr>
            <a:t>A digital platform integrated with Microsoft Dynamics Business Central.</a:t>
          </a:r>
          <a:endParaRPr lang="en-IN" sz="900" b="0" dirty="0">
            <a:solidFill>
              <a:schemeClr val="bg1"/>
            </a:solidFill>
          </a:endParaRPr>
        </a:p>
      </dgm:t>
    </dgm:pt>
    <dgm:pt modelId="{984245A2-C5D8-4CF9-9076-F6F4CE4F34FF}" type="parTrans" cxnId="{E92CD1C0-758F-463D-9573-788A94514581}">
      <dgm:prSet/>
      <dgm:spPr/>
      <dgm:t>
        <a:bodyPr/>
        <a:lstStyle/>
        <a:p>
          <a:endParaRPr lang="en-IN" sz="1600">
            <a:solidFill>
              <a:schemeClr val="bg1"/>
            </a:solidFill>
          </a:endParaRPr>
        </a:p>
      </dgm:t>
    </dgm:pt>
    <dgm:pt modelId="{8BE6634C-AED4-4064-9D2A-EF09C4C28F54}" type="sibTrans" cxnId="{E92CD1C0-758F-463D-9573-788A94514581}">
      <dgm:prSet custT="1"/>
      <dgm:spPr>
        <a:ln>
          <a:solidFill>
            <a:srgbClr val="B6FF42"/>
          </a:solidFill>
        </a:ln>
      </dgm:spPr>
      <dgm:t>
        <a:bodyPr/>
        <a:lstStyle/>
        <a:p>
          <a:pPr>
            <a:lnSpc>
              <a:spcPct val="100000"/>
            </a:lnSpc>
          </a:pPr>
          <a:endParaRPr lang="en-IN" sz="400">
            <a:solidFill>
              <a:schemeClr val="bg1"/>
            </a:solidFill>
          </a:endParaRPr>
        </a:p>
      </dgm:t>
    </dgm:pt>
    <dgm:pt modelId="{BD7F3F0B-3D05-45BD-8255-D9819EB8B477}">
      <dgm:prSet custT="1"/>
      <dgm:spPr>
        <a:noFill/>
        <a:ln w="19050" cap="flat" cmpd="sng" algn="ctr">
          <a:noFill/>
          <a:prstDash val="solid"/>
          <a:miter lim="800000"/>
        </a:ln>
        <a:effectLst/>
      </dgm:spPr>
      <dgm:t>
        <a:bodyPr spcFirstLastPara="0" vert="horz" wrap="square" lIns="113792" tIns="113792" rIns="113792" bIns="113792" numCol="1" spcCol="1270" anchor="ctr" anchorCtr="0"/>
        <a:lstStyle/>
        <a:p>
          <a:pPr>
            <a:lnSpc>
              <a:spcPct val="100000"/>
            </a:lnSpc>
          </a:pPr>
          <a:r>
            <a:rPr lang="en-US" sz="1100" kern="1200" dirty="0">
              <a:solidFill>
                <a:schemeClr val="bg1"/>
              </a:solidFill>
            </a:rPr>
            <a:t>Vendors access POs directly from the portal </a:t>
          </a:r>
          <a:r>
            <a:rPr lang="en-US" sz="1600" kern="1200" dirty="0">
              <a:solidFill>
                <a:schemeClr val="bg1"/>
              </a:solidFill>
            </a:rPr>
            <a:t>Integrating to Business Central</a:t>
          </a:r>
          <a:endParaRPr lang="en-IN" sz="1600" kern="1200" dirty="0">
            <a:solidFill>
              <a:schemeClr val="bg1"/>
            </a:solidFill>
          </a:endParaRPr>
        </a:p>
      </dgm:t>
    </dgm:pt>
    <dgm:pt modelId="{E73EE59D-69BE-4226-9708-12C170F8C5CA}" type="parTrans" cxnId="{4DA24434-E811-44E7-8ED4-60E87A2D9F9C}">
      <dgm:prSet/>
      <dgm:spPr/>
      <dgm:t>
        <a:bodyPr/>
        <a:lstStyle/>
        <a:p>
          <a:endParaRPr lang="en-IN" sz="1600">
            <a:solidFill>
              <a:schemeClr val="bg1"/>
            </a:solidFill>
          </a:endParaRPr>
        </a:p>
      </dgm:t>
    </dgm:pt>
    <dgm:pt modelId="{71A35FEB-204D-4350-A1D3-ED4E83EB42DE}" type="sibTrans" cxnId="{4DA24434-E811-44E7-8ED4-60E87A2D9F9C}">
      <dgm:prSet custT="1"/>
      <dgm:spPr>
        <a:ln>
          <a:solidFill>
            <a:srgbClr val="B6FF42"/>
          </a:solidFill>
        </a:ln>
      </dgm:spPr>
      <dgm:t>
        <a:bodyPr/>
        <a:lstStyle/>
        <a:p>
          <a:pPr>
            <a:lnSpc>
              <a:spcPct val="100000"/>
            </a:lnSpc>
          </a:pPr>
          <a:endParaRPr lang="en-IN" sz="400">
            <a:solidFill>
              <a:schemeClr val="bg1"/>
            </a:solidFill>
          </a:endParaRPr>
        </a:p>
      </dgm:t>
    </dgm:pt>
    <dgm:pt modelId="{F0DD3596-F3DC-46C0-B98D-567037EEC9E8}">
      <dgm:prSet custT="1"/>
      <dgm:spPr>
        <a:noFill/>
        <a:ln w="19050" cap="flat" cmpd="sng" algn="ctr">
          <a:noFill/>
          <a:prstDash val="solid"/>
          <a:miter lim="800000"/>
        </a:ln>
        <a:effectLst/>
      </dgm:spPr>
      <dgm:t>
        <a:bodyPr spcFirstLastPara="0" vert="horz" wrap="square" lIns="113792" tIns="113792" rIns="113792" bIns="113792" numCol="1" spcCol="1270" anchor="ctr" anchorCtr="0"/>
        <a:lstStyle/>
        <a:p>
          <a:pPr>
            <a:lnSpc>
              <a:spcPct val="100000"/>
            </a:lnSpc>
          </a:pPr>
          <a:r>
            <a:rPr lang="en-US" sz="1200" dirty="0">
              <a:solidFill>
                <a:schemeClr val="bg1"/>
              </a:solidFill>
            </a:rPr>
            <a:t>Vendors select POs, to </a:t>
          </a:r>
          <a:r>
            <a:rPr lang="en-US" sz="1600" dirty="0">
              <a:solidFill>
                <a:schemeClr val="bg1"/>
              </a:solidFill>
            </a:rPr>
            <a:t>generate ASNs QR </a:t>
          </a:r>
          <a:r>
            <a:rPr lang="en-US" sz="1400" dirty="0">
              <a:solidFill>
                <a:schemeClr val="bg1"/>
              </a:solidFill>
            </a:rPr>
            <a:t>to print</a:t>
          </a:r>
          <a:endParaRPr lang="en-US" sz="1200" dirty="0">
            <a:solidFill>
              <a:schemeClr val="bg1"/>
            </a:solidFill>
          </a:endParaRPr>
        </a:p>
      </dgm:t>
    </dgm:pt>
    <dgm:pt modelId="{97F2418F-966B-4D6A-AF2F-DAF4DF04138A}" type="parTrans" cxnId="{73F895BA-FEB3-49E6-A40B-CD5134613D13}">
      <dgm:prSet/>
      <dgm:spPr/>
      <dgm:t>
        <a:bodyPr/>
        <a:lstStyle/>
        <a:p>
          <a:endParaRPr lang="en-IN" sz="1600">
            <a:solidFill>
              <a:schemeClr val="bg1"/>
            </a:solidFill>
          </a:endParaRPr>
        </a:p>
      </dgm:t>
    </dgm:pt>
    <dgm:pt modelId="{5EABD1A7-1CF0-4A20-B2BB-ABAFC8C47C14}" type="sibTrans" cxnId="{73F895BA-FEB3-49E6-A40B-CD5134613D13}">
      <dgm:prSet custT="1"/>
      <dgm:spPr>
        <a:ln>
          <a:solidFill>
            <a:srgbClr val="B6FF42"/>
          </a:solidFill>
        </a:ln>
      </dgm:spPr>
      <dgm:t>
        <a:bodyPr/>
        <a:lstStyle/>
        <a:p>
          <a:pPr>
            <a:lnSpc>
              <a:spcPct val="100000"/>
            </a:lnSpc>
          </a:pPr>
          <a:endParaRPr lang="en-IN" sz="400">
            <a:solidFill>
              <a:schemeClr val="bg1"/>
            </a:solidFill>
          </a:endParaRPr>
        </a:p>
      </dgm:t>
    </dgm:pt>
    <dgm:pt modelId="{1B9AAC62-492D-4B19-B087-562A4956985C}">
      <dgm:prSet custT="1"/>
      <dgm:spPr>
        <a:noFill/>
        <a:ln w="19050" cap="flat" cmpd="sng" algn="ctr">
          <a:noFill/>
          <a:prstDash val="solid"/>
          <a:miter lim="800000"/>
        </a:ln>
        <a:effectLst/>
      </dgm:spPr>
      <dgm:t>
        <a:bodyPr spcFirstLastPara="0" vert="horz" wrap="square" lIns="113792" tIns="113792" rIns="113792" bIns="113792" numCol="1" spcCol="1270" anchor="ctr" anchorCtr="0"/>
        <a:lstStyle/>
        <a:p>
          <a:pPr>
            <a:lnSpc>
              <a:spcPct val="100000"/>
            </a:lnSpc>
          </a:pPr>
          <a:r>
            <a:rPr lang="en-US" sz="1100" kern="1200" dirty="0">
              <a:solidFill>
                <a:schemeClr val="bg1"/>
              </a:solidFill>
            </a:rPr>
            <a:t>ASNs are sent to Business Central, enabling receipts team to </a:t>
          </a:r>
          <a:r>
            <a:rPr lang="en-US" sz="1600" kern="1200" dirty="0">
              <a:solidFill>
                <a:schemeClr val="bg1"/>
              </a:solidFill>
            </a:rPr>
            <a:t>verify shipments efficiently.</a:t>
          </a:r>
          <a:endParaRPr lang="en-US" sz="1600" b="1" kern="1200" dirty="0">
            <a:solidFill>
              <a:schemeClr val="bg1"/>
            </a:solidFill>
          </a:endParaRPr>
        </a:p>
      </dgm:t>
    </dgm:pt>
    <dgm:pt modelId="{EE4B9C42-3F9E-4825-9015-81532A5950B8}" type="parTrans" cxnId="{3973100A-F4A0-4B13-8B59-85169F6157A9}">
      <dgm:prSet/>
      <dgm:spPr/>
      <dgm:t>
        <a:bodyPr/>
        <a:lstStyle/>
        <a:p>
          <a:endParaRPr lang="en-IN" sz="1600">
            <a:solidFill>
              <a:schemeClr val="bg1"/>
            </a:solidFill>
          </a:endParaRPr>
        </a:p>
      </dgm:t>
    </dgm:pt>
    <dgm:pt modelId="{6115CA40-1D01-41A6-8687-F1742D58942B}" type="sibTrans" cxnId="{3973100A-F4A0-4B13-8B59-85169F6157A9}">
      <dgm:prSet custT="1"/>
      <dgm:spPr>
        <a:ln>
          <a:solidFill>
            <a:srgbClr val="B6FF42"/>
          </a:solidFill>
        </a:ln>
      </dgm:spPr>
      <dgm:t>
        <a:bodyPr/>
        <a:lstStyle/>
        <a:p>
          <a:pPr>
            <a:lnSpc>
              <a:spcPct val="100000"/>
            </a:lnSpc>
          </a:pPr>
          <a:endParaRPr lang="en-IN" sz="400">
            <a:solidFill>
              <a:schemeClr val="bg1"/>
            </a:solidFill>
          </a:endParaRPr>
        </a:p>
      </dgm:t>
    </dgm:pt>
    <dgm:pt modelId="{092F1036-0026-4626-A779-890DF81E769B}">
      <dgm:prSet custT="1"/>
      <dgm:spPr>
        <a:noFill/>
        <a:ln w="19050" cap="flat" cmpd="sng" algn="ctr">
          <a:noFill/>
          <a:prstDash val="solid"/>
          <a:miter lim="800000"/>
        </a:ln>
        <a:effectLst/>
      </dgm:spPr>
      <dgm:t>
        <a:bodyPr spcFirstLastPara="0" vert="horz" wrap="square" lIns="113792" tIns="113792" rIns="113792" bIns="113792" numCol="1" spcCol="1270" anchor="ctr" anchorCtr="0"/>
        <a:lstStyle/>
        <a:p>
          <a:pPr>
            <a:lnSpc>
              <a:spcPct val="100000"/>
            </a:lnSpc>
          </a:pPr>
          <a:r>
            <a:rPr lang="en-US" sz="1800" b="0" kern="1200" dirty="0">
              <a:solidFill>
                <a:schemeClr val="bg1"/>
              </a:solidFill>
              <a:latin typeface="Aptos" panose="02110004020202020204"/>
              <a:ea typeface="+mn-ea"/>
              <a:cs typeface="+mn-cs"/>
            </a:rPr>
            <a:t>Digital records </a:t>
          </a:r>
          <a:r>
            <a:rPr lang="en-US" sz="1200" b="0" kern="1200" dirty="0">
              <a:solidFill>
                <a:schemeClr val="bg1"/>
              </a:solidFill>
              <a:latin typeface="Aptos" panose="02110004020202020204"/>
              <a:ea typeface="+mn-ea"/>
              <a:cs typeface="+mn-cs"/>
            </a:rPr>
            <a:t>provided full traceability and regulatory compliance.</a:t>
          </a:r>
          <a:endParaRPr lang="en-US" sz="1400" b="0" kern="1200" dirty="0">
            <a:solidFill>
              <a:schemeClr val="bg1"/>
            </a:solidFill>
            <a:latin typeface="Aptos" panose="02110004020202020204"/>
            <a:ea typeface="+mn-ea"/>
            <a:cs typeface="+mn-cs"/>
          </a:endParaRPr>
        </a:p>
      </dgm:t>
    </dgm:pt>
    <dgm:pt modelId="{C109A61F-1C03-437E-9A17-27F295940887}" type="parTrans" cxnId="{CAF94813-D18C-48EB-8E59-25909BBDE738}">
      <dgm:prSet/>
      <dgm:spPr/>
      <dgm:t>
        <a:bodyPr/>
        <a:lstStyle/>
        <a:p>
          <a:endParaRPr lang="en-IN" sz="1600">
            <a:solidFill>
              <a:schemeClr val="bg1"/>
            </a:solidFill>
          </a:endParaRPr>
        </a:p>
      </dgm:t>
    </dgm:pt>
    <dgm:pt modelId="{936E0078-B100-4450-A846-00A900E23D42}" type="sibTrans" cxnId="{CAF94813-D18C-48EB-8E59-25909BBDE738}">
      <dgm:prSet/>
      <dgm:spPr/>
      <dgm:t>
        <a:bodyPr/>
        <a:lstStyle/>
        <a:p>
          <a:endParaRPr lang="en-IN" sz="1600">
            <a:solidFill>
              <a:schemeClr val="bg1"/>
            </a:solidFill>
          </a:endParaRPr>
        </a:p>
      </dgm:t>
    </dgm:pt>
    <dgm:pt modelId="{516BA9A3-671D-459F-9567-EB4D70D449E7}" type="pres">
      <dgm:prSet presAssocID="{2311A177-43A3-408C-AE81-33F7BD8DF530}" presName="root" presStyleCnt="0">
        <dgm:presLayoutVars>
          <dgm:dir/>
          <dgm:resizeHandles val="exact"/>
        </dgm:presLayoutVars>
      </dgm:prSet>
      <dgm:spPr/>
    </dgm:pt>
    <dgm:pt modelId="{EF48182F-5DA6-4C9D-99F7-24FCA70797F3}" type="pres">
      <dgm:prSet presAssocID="{2311A177-43A3-408C-AE81-33F7BD8DF530}" presName="container" presStyleCnt="0">
        <dgm:presLayoutVars>
          <dgm:dir/>
          <dgm:resizeHandles val="exact"/>
        </dgm:presLayoutVars>
      </dgm:prSet>
      <dgm:spPr/>
    </dgm:pt>
    <dgm:pt modelId="{2E090DDB-D049-453E-9483-2A215384188F}" type="pres">
      <dgm:prSet presAssocID="{8A3ED33F-2F55-41A8-93C0-86EA8E7489DA}" presName="compNode" presStyleCnt="0"/>
      <dgm:spPr/>
    </dgm:pt>
    <dgm:pt modelId="{B1A95D50-BD73-4D5D-A7C3-A5DA4B1EFAD9}" type="pres">
      <dgm:prSet presAssocID="{8A3ED33F-2F55-41A8-93C0-86EA8E7489DA}" presName="iconBgRect" presStyleLbl="bgShp" presStyleIdx="0" presStyleCnt="5"/>
      <dgm:spPr>
        <a:solidFill>
          <a:srgbClr val="B6FF42"/>
        </a:solidFill>
        <a:ln>
          <a:noFill/>
        </a:ln>
      </dgm:spPr>
    </dgm:pt>
    <dgm:pt modelId="{5421EDF8-EDD8-4442-83EB-47687FC60221}" type="pres">
      <dgm:prSet presAssocID="{8A3ED33F-2F55-41A8-93C0-86EA8E7489D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Network"/>
        </a:ext>
      </dgm:extLst>
    </dgm:pt>
    <dgm:pt modelId="{2AE3E388-B1C5-496A-85D4-ECB85195A8F4}" type="pres">
      <dgm:prSet presAssocID="{8A3ED33F-2F55-41A8-93C0-86EA8E7489DA}" presName="spaceRect" presStyleCnt="0"/>
      <dgm:spPr/>
    </dgm:pt>
    <dgm:pt modelId="{CFBA2309-098D-4465-A140-717E2069A151}" type="pres">
      <dgm:prSet presAssocID="{8A3ED33F-2F55-41A8-93C0-86EA8E7489DA}" presName="textRect" presStyleLbl="revTx" presStyleIdx="0" presStyleCnt="5">
        <dgm:presLayoutVars>
          <dgm:chMax val="1"/>
          <dgm:chPref val="1"/>
        </dgm:presLayoutVars>
      </dgm:prSet>
      <dgm:spPr/>
    </dgm:pt>
    <dgm:pt modelId="{5960E838-D2AA-41D1-80F4-13FDF0D2ACB8}" type="pres">
      <dgm:prSet presAssocID="{8BE6634C-AED4-4064-9D2A-EF09C4C28F54}" presName="sibTrans" presStyleLbl="sibTrans2D1" presStyleIdx="0" presStyleCnt="0"/>
      <dgm:spPr/>
    </dgm:pt>
    <dgm:pt modelId="{C3B17BA4-4776-48E3-A2A5-A908AC92B8D2}" type="pres">
      <dgm:prSet presAssocID="{BD7F3F0B-3D05-45BD-8255-D9819EB8B477}" presName="compNode" presStyleCnt="0"/>
      <dgm:spPr/>
    </dgm:pt>
    <dgm:pt modelId="{6CC80EB8-64FC-4FDE-B2BA-6EAB07F3F183}" type="pres">
      <dgm:prSet presAssocID="{BD7F3F0B-3D05-45BD-8255-D9819EB8B477}" presName="iconBgRect" presStyleLbl="bgShp" presStyleIdx="1" presStyleCnt="5"/>
      <dgm:spPr>
        <a:solidFill>
          <a:srgbClr val="B6FF42"/>
        </a:solidFill>
      </dgm:spPr>
    </dgm:pt>
    <dgm:pt modelId="{184E40C9-67E9-4678-85AE-CE14D44DA9DD}" type="pres">
      <dgm:prSet presAssocID="{BD7F3F0B-3D05-45BD-8255-D9819EB8B477}"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803AC6BC-1C39-4294-9DA3-D60C62D90BEA}" type="pres">
      <dgm:prSet presAssocID="{BD7F3F0B-3D05-45BD-8255-D9819EB8B477}" presName="spaceRect" presStyleCnt="0"/>
      <dgm:spPr/>
    </dgm:pt>
    <dgm:pt modelId="{F1A55319-9DFA-4D0A-AA6D-A176BA3A009E}" type="pres">
      <dgm:prSet presAssocID="{BD7F3F0B-3D05-45BD-8255-D9819EB8B477}" presName="textRect" presStyleLbl="revTx" presStyleIdx="1" presStyleCnt="5" custScaleX="119307">
        <dgm:presLayoutVars>
          <dgm:chMax val="1"/>
          <dgm:chPref val="1"/>
        </dgm:presLayoutVars>
      </dgm:prSet>
      <dgm:spPr/>
    </dgm:pt>
    <dgm:pt modelId="{768FBBAB-C380-4EC4-B755-097ACA4E3640}" type="pres">
      <dgm:prSet presAssocID="{71A35FEB-204D-4350-A1D3-ED4E83EB42DE}" presName="sibTrans" presStyleLbl="sibTrans2D1" presStyleIdx="0" presStyleCnt="0"/>
      <dgm:spPr/>
    </dgm:pt>
    <dgm:pt modelId="{A4A631D7-5516-4217-A794-E6D3C4E648CF}" type="pres">
      <dgm:prSet presAssocID="{F0DD3596-F3DC-46C0-B98D-567037EEC9E8}" presName="compNode" presStyleCnt="0"/>
      <dgm:spPr/>
    </dgm:pt>
    <dgm:pt modelId="{103D9BAB-24C6-4B73-B04E-E901B55E4701}" type="pres">
      <dgm:prSet presAssocID="{F0DD3596-F3DC-46C0-B98D-567037EEC9E8}" presName="iconBgRect" presStyleLbl="bgShp" presStyleIdx="2" presStyleCnt="5"/>
      <dgm:spPr>
        <a:solidFill>
          <a:srgbClr val="B6FF42"/>
        </a:solidFill>
      </dgm:spPr>
    </dgm:pt>
    <dgm:pt modelId="{9289CDA8-9F9A-4E52-835B-1A373BD308CE}" type="pres">
      <dgm:prSet presAssocID="{F0DD3596-F3DC-46C0-B98D-567037EEC9E8}"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egister"/>
        </a:ext>
      </dgm:extLst>
    </dgm:pt>
    <dgm:pt modelId="{51993E0A-E6E9-43D0-9525-EA2EB722676B}" type="pres">
      <dgm:prSet presAssocID="{F0DD3596-F3DC-46C0-B98D-567037EEC9E8}" presName="spaceRect" presStyleCnt="0"/>
      <dgm:spPr/>
    </dgm:pt>
    <dgm:pt modelId="{B3C7775E-E204-4F16-9EDC-D88D8A4C4678}" type="pres">
      <dgm:prSet presAssocID="{F0DD3596-F3DC-46C0-B98D-567037EEC9E8}" presName="textRect" presStyleLbl="revTx" presStyleIdx="2" presStyleCnt="5" custScaleY="214558">
        <dgm:presLayoutVars>
          <dgm:chMax val="1"/>
          <dgm:chPref val="1"/>
        </dgm:presLayoutVars>
      </dgm:prSet>
      <dgm:spPr/>
    </dgm:pt>
    <dgm:pt modelId="{FF481252-E90F-40B8-B8AA-48151CCF6368}" type="pres">
      <dgm:prSet presAssocID="{5EABD1A7-1CF0-4A20-B2BB-ABAFC8C47C14}" presName="sibTrans" presStyleLbl="sibTrans2D1" presStyleIdx="0" presStyleCnt="0"/>
      <dgm:spPr/>
    </dgm:pt>
    <dgm:pt modelId="{CA0EE9A2-BECB-4186-98C1-3606D514A2B8}" type="pres">
      <dgm:prSet presAssocID="{1B9AAC62-492D-4B19-B087-562A4956985C}" presName="compNode" presStyleCnt="0"/>
      <dgm:spPr/>
    </dgm:pt>
    <dgm:pt modelId="{FFBE9E90-D921-48E1-8799-68AFA3EFB2D6}" type="pres">
      <dgm:prSet presAssocID="{1B9AAC62-492D-4B19-B087-562A4956985C}" presName="iconBgRect" presStyleLbl="bgShp" presStyleIdx="3" presStyleCnt="5"/>
      <dgm:spPr>
        <a:solidFill>
          <a:srgbClr val="B6FF42"/>
        </a:solidFill>
      </dgm:spPr>
    </dgm:pt>
    <dgm:pt modelId="{F2864A1F-9EA9-405D-ACB8-E1CA27BC8D1E}" type="pres">
      <dgm:prSet presAssocID="{1B9AAC62-492D-4B19-B087-562A4956985C}"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x"/>
        </a:ext>
      </dgm:extLst>
    </dgm:pt>
    <dgm:pt modelId="{D0B9561D-2AEF-4898-B436-53B121C20D0A}" type="pres">
      <dgm:prSet presAssocID="{1B9AAC62-492D-4B19-B087-562A4956985C}" presName="spaceRect" presStyleCnt="0"/>
      <dgm:spPr/>
    </dgm:pt>
    <dgm:pt modelId="{EEB2A9AA-615C-40F2-83FA-BE0E35315BDF}" type="pres">
      <dgm:prSet presAssocID="{1B9AAC62-492D-4B19-B087-562A4956985C}" presName="textRect" presStyleLbl="revTx" presStyleIdx="3" presStyleCnt="5">
        <dgm:presLayoutVars>
          <dgm:chMax val="1"/>
          <dgm:chPref val="1"/>
        </dgm:presLayoutVars>
      </dgm:prSet>
      <dgm:spPr/>
    </dgm:pt>
    <dgm:pt modelId="{B1382002-2C40-45E0-8C20-C5687F9459FD}" type="pres">
      <dgm:prSet presAssocID="{6115CA40-1D01-41A6-8687-F1742D58942B}" presName="sibTrans" presStyleLbl="sibTrans2D1" presStyleIdx="0" presStyleCnt="0"/>
      <dgm:spPr/>
    </dgm:pt>
    <dgm:pt modelId="{A404EA39-70FF-43A5-A6D4-AE786DFA9017}" type="pres">
      <dgm:prSet presAssocID="{092F1036-0026-4626-A779-890DF81E769B}" presName="compNode" presStyleCnt="0"/>
      <dgm:spPr/>
    </dgm:pt>
    <dgm:pt modelId="{2EABFBE7-7E9E-46A8-B121-7EE1F72DA533}" type="pres">
      <dgm:prSet presAssocID="{092F1036-0026-4626-A779-890DF81E769B}" presName="iconBgRect" presStyleLbl="bgShp" presStyleIdx="4" presStyleCnt="5"/>
      <dgm:spPr>
        <a:solidFill>
          <a:srgbClr val="B6FF42"/>
        </a:solidFill>
      </dgm:spPr>
    </dgm:pt>
    <dgm:pt modelId="{9EE47887-E6BA-467D-ACAF-1AABC0D2FF27}" type="pres">
      <dgm:prSet presAssocID="{092F1036-0026-4626-A779-890DF81E769B}"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Magnifying glass"/>
        </a:ext>
      </dgm:extLst>
    </dgm:pt>
    <dgm:pt modelId="{35E9DE82-552B-4512-9709-35159F0EED7C}" type="pres">
      <dgm:prSet presAssocID="{092F1036-0026-4626-A779-890DF81E769B}" presName="spaceRect" presStyleCnt="0"/>
      <dgm:spPr/>
    </dgm:pt>
    <dgm:pt modelId="{B5173671-1EE7-4229-ADC5-FDFEF3F32F64}" type="pres">
      <dgm:prSet presAssocID="{092F1036-0026-4626-A779-890DF81E769B}" presName="textRect" presStyleLbl="revTx" presStyleIdx="4" presStyleCnt="5">
        <dgm:presLayoutVars>
          <dgm:chMax val="1"/>
          <dgm:chPref val="1"/>
        </dgm:presLayoutVars>
      </dgm:prSet>
      <dgm:spPr/>
    </dgm:pt>
  </dgm:ptLst>
  <dgm:cxnLst>
    <dgm:cxn modelId="{3973100A-F4A0-4B13-8B59-85169F6157A9}" srcId="{2311A177-43A3-408C-AE81-33F7BD8DF530}" destId="{1B9AAC62-492D-4B19-B087-562A4956985C}" srcOrd="3" destOrd="0" parTransId="{EE4B9C42-3F9E-4825-9015-81532A5950B8}" sibTransId="{6115CA40-1D01-41A6-8687-F1742D58942B}"/>
    <dgm:cxn modelId="{CAF94813-D18C-48EB-8E59-25909BBDE738}" srcId="{2311A177-43A3-408C-AE81-33F7BD8DF530}" destId="{092F1036-0026-4626-A779-890DF81E769B}" srcOrd="4" destOrd="0" parTransId="{C109A61F-1C03-437E-9A17-27F295940887}" sibTransId="{936E0078-B100-4450-A846-00A900E23D42}"/>
    <dgm:cxn modelId="{E4DC2D2D-765A-4C58-BFF4-AB4149F32477}" type="presOf" srcId="{8BE6634C-AED4-4064-9D2A-EF09C4C28F54}" destId="{5960E838-D2AA-41D1-80F4-13FDF0D2ACB8}" srcOrd="0" destOrd="0" presId="urn:microsoft.com/office/officeart/2018/2/layout/IconCircleList"/>
    <dgm:cxn modelId="{4DA24434-E811-44E7-8ED4-60E87A2D9F9C}" srcId="{2311A177-43A3-408C-AE81-33F7BD8DF530}" destId="{BD7F3F0B-3D05-45BD-8255-D9819EB8B477}" srcOrd="1" destOrd="0" parTransId="{E73EE59D-69BE-4226-9708-12C170F8C5CA}" sibTransId="{71A35FEB-204D-4350-A1D3-ED4E83EB42DE}"/>
    <dgm:cxn modelId="{E78FBC6E-C847-4801-92BA-23429D333E13}" type="presOf" srcId="{BD7F3F0B-3D05-45BD-8255-D9819EB8B477}" destId="{F1A55319-9DFA-4D0A-AA6D-A176BA3A009E}" srcOrd="0" destOrd="0" presId="urn:microsoft.com/office/officeart/2018/2/layout/IconCircleList"/>
    <dgm:cxn modelId="{2BFAB16F-C00D-4232-BDB0-0DF72956315B}" type="presOf" srcId="{092F1036-0026-4626-A779-890DF81E769B}" destId="{B5173671-1EE7-4229-ADC5-FDFEF3F32F64}" srcOrd="0" destOrd="0" presId="urn:microsoft.com/office/officeart/2018/2/layout/IconCircleList"/>
    <dgm:cxn modelId="{C1A34480-9D65-4AAF-9DCE-08C2BC3D2EDE}" type="presOf" srcId="{1B9AAC62-492D-4B19-B087-562A4956985C}" destId="{EEB2A9AA-615C-40F2-83FA-BE0E35315BDF}" srcOrd="0" destOrd="0" presId="urn:microsoft.com/office/officeart/2018/2/layout/IconCircleList"/>
    <dgm:cxn modelId="{B7026E8B-252E-4829-A23F-1FA0BC86E914}" type="presOf" srcId="{6115CA40-1D01-41A6-8687-F1742D58942B}" destId="{B1382002-2C40-45E0-8C20-C5687F9459FD}" srcOrd="0" destOrd="0" presId="urn:microsoft.com/office/officeart/2018/2/layout/IconCircleList"/>
    <dgm:cxn modelId="{13104FA4-E710-4247-9A61-B86C686FE3E9}" type="presOf" srcId="{F0DD3596-F3DC-46C0-B98D-567037EEC9E8}" destId="{B3C7775E-E204-4F16-9EDC-D88D8A4C4678}" srcOrd="0" destOrd="0" presId="urn:microsoft.com/office/officeart/2018/2/layout/IconCircleList"/>
    <dgm:cxn modelId="{73F895BA-FEB3-49E6-A40B-CD5134613D13}" srcId="{2311A177-43A3-408C-AE81-33F7BD8DF530}" destId="{F0DD3596-F3DC-46C0-B98D-567037EEC9E8}" srcOrd="2" destOrd="0" parTransId="{97F2418F-966B-4D6A-AF2F-DAF4DF04138A}" sibTransId="{5EABD1A7-1CF0-4A20-B2BB-ABAFC8C47C14}"/>
    <dgm:cxn modelId="{45A674BB-5D67-4100-8266-63BCB3545618}" type="presOf" srcId="{5EABD1A7-1CF0-4A20-B2BB-ABAFC8C47C14}" destId="{FF481252-E90F-40B8-B8AA-48151CCF6368}" srcOrd="0" destOrd="0" presId="urn:microsoft.com/office/officeart/2018/2/layout/IconCircleList"/>
    <dgm:cxn modelId="{E92CD1C0-758F-463D-9573-788A94514581}" srcId="{2311A177-43A3-408C-AE81-33F7BD8DF530}" destId="{8A3ED33F-2F55-41A8-93C0-86EA8E7489DA}" srcOrd="0" destOrd="0" parTransId="{984245A2-C5D8-4CF9-9076-F6F4CE4F34FF}" sibTransId="{8BE6634C-AED4-4064-9D2A-EF09C4C28F54}"/>
    <dgm:cxn modelId="{EA6FA0C1-F695-4099-AB01-932BFA119D1B}" type="presOf" srcId="{8A3ED33F-2F55-41A8-93C0-86EA8E7489DA}" destId="{CFBA2309-098D-4465-A140-717E2069A151}" srcOrd="0" destOrd="0" presId="urn:microsoft.com/office/officeart/2018/2/layout/IconCircleList"/>
    <dgm:cxn modelId="{F961BACD-80AD-4BFD-8233-8640D31E2DBC}" type="presOf" srcId="{2311A177-43A3-408C-AE81-33F7BD8DF530}" destId="{516BA9A3-671D-459F-9567-EB4D70D449E7}" srcOrd="0" destOrd="0" presId="urn:microsoft.com/office/officeart/2018/2/layout/IconCircleList"/>
    <dgm:cxn modelId="{827CD7D4-4066-4ED4-A50C-94F7E641F913}" type="presOf" srcId="{71A35FEB-204D-4350-A1D3-ED4E83EB42DE}" destId="{768FBBAB-C380-4EC4-B755-097ACA4E3640}" srcOrd="0" destOrd="0" presId="urn:microsoft.com/office/officeart/2018/2/layout/IconCircleList"/>
    <dgm:cxn modelId="{AA582041-D3E5-4FEB-8F6D-9ADC7E28B19C}" type="presParOf" srcId="{516BA9A3-671D-459F-9567-EB4D70D449E7}" destId="{EF48182F-5DA6-4C9D-99F7-24FCA70797F3}" srcOrd="0" destOrd="0" presId="urn:microsoft.com/office/officeart/2018/2/layout/IconCircleList"/>
    <dgm:cxn modelId="{C7828376-BEAC-424C-AE1D-54D51D64EB55}" type="presParOf" srcId="{EF48182F-5DA6-4C9D-99F7-24FCA70797F3}" destId="{2E090DDB-D049-453E-9483-2A215384188F}" srcOrd="0" destOrd="0" presId="urn:microsoft.com/office/officeart/2018/2/layout/IconCircleList"/>
    <dgm:cxn modelId="{713CD90C-614F-4098-8190-862B6263A1D4}" type="presParOf" srcId="{2E090DDB-D049-453E-9483-2A215384188F}" destId="{B1A95D50-BD73-4D5D-A7C3-A5DA4B1EFAD9}" srcOrd="0" destOrd="0" presId="urn:microsoft.com/office/officeart/2018/2/layout/IconCircleList"/>
    <dgm:cxn modelId="{95D6DB70-0629-4C19-ABF6-DD1EC99B3127}" type="presParOf" srcId="{2E090DDB-D049-453E-9483-2A215384188F}" destId="{5421EDF8-EDD8-4442-83EB-47687FC60221}" srcOrd="1" destOrd="0" presId="urn:microsoft.com/office/officeart/2018/2/layout/IconCircleList"/>
    <dgm:cxn modelId="{A0213551-7379-4D6C-B8A8-49F3853EC5DE}" type="presParOf" srcId="{2E090DDB-D049-453E-9483-2A215384188F}" destId="{2AE3E388-B1C5-496A-85D4-ECB85195A8F4}" srcOrd="2" destOrd="0" presId="urn:microsoft.com/office/officeart/2018/2/layout/IconCircleList"/>
    <dgm:cxn modelId="{7F0172BF-D8BB-48AF-A09E-B79E004569EE}" type="presParOf" srcId="{2E090DDB-D049-453E-9483-2A215384188F}" destId="{CFBA2309-098D-4465-A140-717E2069A151}" srcOrd="3" destOrd="0" presId="urn:microsoft.com/office/officeart/2018/2/layout/IconCircleList"/>
    <dgm:cxn modelId="{2EFF55E9-BC96-4D85-B7BC-802E25FD32C4}" type="presParOf" srcId="{EF48182F-5DA6-4C9D-99F7-24FCA70797F3}" destId="{5960E838-D2AA-41D1-80F4-13FDF0D2ACB8}" srcOrd="1" destOrd="0" presId="urn:microsoft.com/office/officeart/2018/2/layout/IconCircleList"/>
    <dgm:cxn modelId="{853AB814-4FF1-491F-80BC-11D9AEE840FC}" type="presParOf" srcId="{EF48182F-5DA6-4C9D-99F7-24FCA70797F3}" destId="{C3B17BA4-4776-48E3-A2A5-A908AC92B8D2}" srcOrd="2" destOrd="0" presId="urn:microsoft.com/office/officeart/2018/2/layout/IconCircleList"/>
    <dgm:cxn modelId="{EB8E74B7-1DA7-4689-BF7A-1C2319A1176F}" type="presParOf" srcId="{C3B17BA4-4776-48E3-A2A5-A908AC92B8D2}" destId="{6CC80EB8-64FC-4FDE-B2BA-6EAB07F3F183}" srcOrd="0" destOrd="0" presId="urn:microsoft.com/office/officeart/2018/2/layout/IconCircleList"/>
    <dgm:cxn modelId="{52354F77-7D57-4491-A676-7C16C8A10647}" type="presParOf" srcId="{C3B17BA4-4776-48E3-A2A5-A908AC92B8D2}" destId="{184E40C9-67E9-4678-85AE-CE14D44DA9DD}" srcOrd="1" destOrd="0" presId="urn:microsoft.com/office/officeart/2018/2/layout/IconCircleList"/>
    <dgm:cxn modelId="{91444ED4-4FB7-483D-ACF1-D7A115DCFEEC}" type="presParOf" srcId="{C3B17BA4-4776-48E3-A2A5-A908AC92B8D2}" destId="{803AC6BC-1C39-4294-9DA3-D60C62D90BEA}" srcOrd="2" destOrd="0" presId="urn:microsoft.com/office/officeart/2018/2/layout/IconCircleList"/>
    <dgm:cxn modelId="{54A8038B-BF72-4E5B-B010-76D0A177EDC5}" type="presParOf" srcId="{C3B17BA4-4776-48E3-A2A5-A908AC92B8D2}" destId="{F1A55319-9DFA-4D0A-AA6D-A176BA3A009E}" srcOrd="3" destOrd="0" presId="urn:microsoft.com/office/officeart/2018/2/layout/IconCircleList"/>
    <dgm:cxn modelId="{7E992B06-DB9D-4841-9A21-95E323989EAC}" type="presParOf" srcId="{EF48182F-5DA6-4C9D-99F7-24FCA70797F3}" destId="{768FBBAB-C380-4EC4-B755-097ACA4E3640}" srcOrd="3" destOrd="0" presId="urn:microsoft.com/office/officeart/2018/2/layout/IconCircleList"/>
    <dgm:cxn modelId="{E82490B2-3ECB-4773-AB23-709C358AF490}" type="presParOf" srcId="{EF48182F-5DA6-4C9D-99F7-24FCA70797F3}" destId="{A4A631D7-5516-4217-A794-E6D3C4E648CF}" srcOrd="4" destOrd="0" presId="urn:microsoft.com/office/officeart/2018/2/layout/IconCircleList"/>
    <dgm:cxn modelId="{78201663-DD21-4852-A01F-3D19D456AEA7}" type="presParOf" srcId="{A4A631D7-5516-4217-A794-E6D3C4E648CF}" destId="{103D9BAB-24C6-4B73-B04E-E901B55E4701}" srcOrd="0" destOrd="0" presId="urn:microsoft.com/office/officeart/2018/2/layout/IconCircleList"/>
    <dgm:cxn modelId="{D72EB1F4-D2DD-4724-8BE4-C8382F8F3647}" type="presParOf" srcId="{A4A631D7-5516-4217-A794-E6D3C4E648CF}" destId="{9289CDA8-9F9A-4E52-835B-1A373BD308CE}" srcOrd="1" destOrd="0" presId="urn:microsoft.com/office/officeart/2018/2/layout/IconCircleList"/>
    <dgm:cxn modelId="{7E4E5E03-AB73-4D89-A8C2-833B9A718021}" type="presParOf" srcId="{A4A631D7-5516-4217-A794-E6D3C4E648CF}" destId="{51993E0A-E6E9-43D0-9525-EA2EB722676B}" srcOrd="2" destOrd="0" presId="urn:microsoft.com/office/officeart/2018/2/layout/IconCircleList"/>
    <dgm:cxn modelId="{A9BE3D6C-D611-4555-8380-B2AE3AEEE602}" type="presParOf" srcId="{A4A631D7-5516-4217-A794-E6D3C4E648CF}" destId="{B3C7775E-E204-4F16-9EDC-D88D8A4C4678}" srcOrd="3" destOrd="0" presId="urn:microsoft.com/office/officeart/2018/2/layout/IconCircleList"/>
    <dgm:cxn modelId="{31AB3087-E549-4326-9FC0-3EADA1270DB8}" type="presParOf" srcId="{EF48182F-5DA6-4C9D-99F7-24FCA70797F3}" destId="{FF481252-E90F-40B8-B8AA-48151CCF6368}" srcOrd="5" destOrd="0" presId="urn:microsoft.com/office/officeart/2018/2/layout/IconCircleList"/>
    <dgm:cxn modelId="{93D74842-CBC4-4512-94CE-238E24F07C13}" type="presParOf" srcId="{EF48182F-5DA6-4C9D-99F7-24FCA70797F3}" destId="{CA0EE9A2-BECB-4186-98C1-3606D514A2B8}" srcOrd="6" destOrd="0" presId="urn:microsoft.com/office/officeart/2018/2/layout/IconCircleList"/>
    <dgm:cxn modelId="{F726B861-6C55-4F7C-AB7B-19D19341D304}" type="presParOf" srcId="{CA0EE9A2-BECB-4186-98C1-3606D514A2B8}" destId="{FFBE9E90-D921-48E1-8799-68AFA3EFB2D6}" srcOrd="0" destOrd="0" presId="urn:microsoft.com/office/officeart/2018/2/layout/IconCircleList"/>
    <dgm:cxn modelId="{404E8A16-8D31-443F-B8CA-B0B460EA0DC6}" type="presParOf" srcId="{CA0EE9A2-BECB-4186-98C1-3606D514A2B8}" destId="{F2864A1F-9EA9-405D-ACB8-E1CA27BC8D1E}" srcOrd="1" destOrd="0" presId="urn:microsoft.com/office/officeart/2018/2/layout/IconCircleList"/>
    <dgm:cxn modelId="{2EE2F6BB-C276-48BD-837D-6B9892C27069}" type="presParOf" srcId="{CA0EE9A2-BECB-4186-98C1-3606D514A2B8}" destId="{D0B9561D-2AEF-4898-B436-53B121C20D0A}" srcOrd="2" destOrd="0" presId="urn:microsoft.com/office/officeart/2018/2/layout/IconCircleList"/>
    <dgm:cxn modelId="{1130D00D-4DCB-4B18-84B6-A57B848A8F08}" type="presParOf" srcId="{CA0EE9A2-BECB-4186-98C1-3606D514A2B8}" destId="{EEB2A9AA-615C-40F2-83FA-BE0E35315BDF}" srcOrd="3" destOrd="0" presId="urn:microsoft.com/office/officeart/2018/2/layout/IconCircleList"/>
    <dgm:cxn modelId="{03EB8B2D-6C12-47A9-9F81-B735008FB8C2}" type="presParOf" srcId="{EF48182F-5DA6-4C9D-99F7-24FCA70797F3}" destId="{B1382002-2C40-45E0-8C20-C5687F9459FD}" srcOrd="7" destOrd="0" presId="urn:microsoft.com/office/officeart/2018/2/layout/IconCircleList"/>
    <dgm:cxn modelId="{E77B93B9-9F40-4E94-90C7-26CCD483DA6A}" type="presParOf" srcId="{EF48182F-5DA6-4C9D-99F7-24FCA70797F3}" destId="{A404EA39-70FF-43A5-A6D4-AE786DFA9017}" srcOrd="8" destOrd="0" presId="urn:microsoft.com/office/officeart/2018/2/layout/IconCircleList"/>
    <dgm:cxn modelId="{191A0D5B-7F42-4A8A-BE06-8F84829F27A7}" type="presParOf" srcId="{A404EA39-70FF-43A5-A6D4-AE786DFA9017}" destId="{2EABFBE7-7E9E-46A8-B121-7EE1F72DA533}" srcOrd="0" destOrd="0" presId="urn:microsoft.com/office/officeart/2018/2/layout/IconCircleList"/>
    <dgm:cxn modelId="{ED89DBA8-5D79-40F8-9B07-2D3FF1D73FD3}" type="presParOf" srcId="{A404EA39-70FF-43A5-A6D4-AE786DFA9017}" destId="{9EE47887-E6BA-467D-ACAF-1AABC0D2FF27}" srcOrd="1" destOrd="0" presId="urn:microsoft.com/office/officeart/2018/2/layout/IconCircleList"/>
    <dgm:cxn modelId="{4919EB59-CFE0-47DA-B87B-67C9067F9763}" type="presParOf" srcId="{A404EA39-70FF-43A5-A6D4-AE786DFA9017}" destId="{35E9DE82-552B-4512-9709-35159F0EED7C}" srcOrd="2" destOrd="0" presId="urn:microsoft.com/office/officeart/2018/2/layout/IconCircleList"/>
    <dgm:cxn modelId="{E0821153-C580-4AB4-8F00-B3BECFE4DFF3}" type="presParOf" srcId="{A404EA39-70FF-43A5-A6D4-AE786DFA9017}" destId="{B5173671-1EE7-4229-ADC5-FDFEF3F32F64}" srcOrd="3" destOrd="0" presId="urn:microsoft.com/office/officeart/2018/2/layout/IconCircleList"/>
  </dgm:cxnLst>
  <dgm:bg/>
  <dgm:whole>
    <a:ln>
      <a:noFill/>
    </a:ln>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C4C34FB4-EC02-4C17-970D-EBB7752B6EF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019B105D-B22C-4D08-837D-4CEBB5111101}">
      <dgm:prSet phldrT="[Tex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90% Reduction </a:t>
          </a:r>
          <a:r>
            <a:rPr lang="en-US" sz="1400" b="0" i="0" dirty="0"/>
            <a:t>in Manual Errors</a:t>
          </a:r>
          <a:endParaRPr lang="en-IN" sz="1400" dirty="0"/>
        </a:p>
      </dgm:t>
    </dgm:pt>
    <dgm:pt modelId="{0697D293-1FBD-4A11-A811-2D232FA57FC9}" type="parTrans" cxnId="{5256BAD1-E6BD-494C-8F5A-E8A281068E41}">
      <dgm:prSet/>
      <dgm:spPr/>
      <dgm:t>
        <a:bodyPr/>
        <a:lstStyle/>
        <a:p>
          <a:endParaRPr lang="en-IN" sz="1200"/>
        </a:p>
      </dgm:t>
    </dgm:pt>
    <dgm:pt modelId="{85C541BB-B0DC-4C13-98B8-B1230C798B0D}" type="sibTrans" cxnId="{5256BAD1-E6BD-494C-8F5A-E8A281068E41}">
      <dgm:prSet/>
      <dgm:spPr/>
      <dgm:t>
        <a:bodyPr/>
        <a:lstStyle/>
        <a:p>
          <a:endParaRPr lang="en-IN" sz="1200"/>
        </a:p>
      </dgm:t>
    </dgm:pt>
    <dgm:pt modelId="{0796C273-A66A-461A-ADC9-7382D0C937CC}">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75% Improvement </a:t>
          </a:r>
          <a:r>
            <a:rPr lang="en-US" sz="1400" b="0" i="0" dirty="0"/>
            <a:t>in Vendor Transparency</a:t>
          </a:r>
          <a:endParaRPr lang="en-US" sz="1800" b="0" i="0" dirty="0"/>
        </a:p>
      </dgm:t>
    </dgm:pt>
    <dgm:pt modelId="{0E4446D9-3470-4B50-8283-FA5948E68B53}" type="parTrans" cxnId="{2CF7F97E-AF25-4247-B4D0-FB272AE2E7E6}">
      <dgm:prSet/>
      <dgm:spPr/>
      <dgm:t>
        <a:bodyPr/>
        <a:lstStyle/>
        <a:p>
          <a:endParaRPr lang="en-IN" sz="1200"/>
        </a:p>
      </dgm:t>
    </dgm:pt>
    <dgm:pt modelId="{8B2E50B4-499F-4E93-BD57-1A4288539ABA}" type="sibTrans" cxnId="{2CF7F97E-AF25-4247-B4D0-FB272AE2E7E6}">
      <dgm:prSet/>
      <dgm:spPr/>
      <dgm:t>
        <a:bodyPr/>
        <a:lstStyle/>
        <a:p>
          <a:endParaRPr lang="en-IN" sz="1200"/>
        </a:p>
      </dgm:t>
    </dgm:pt>
    <dgm:pt modelId="{A9D834CE-A131-4571-B158-91DDEAFD4C8A}">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Increased Operational stability </a:t>
          </a:r>
          <a:r>
            <a:rPr lang="en-US" sz="1600" b="0" i="0" dirty="0"/>
            <a:t>by reducing dependency on emails.</a:t>
          </a:r>
        </a:p>
      </dgm:t>
    </dgm:pt>
    <dgm:pt modelId="{7A8C57D0-A4CE-455E-8E2A-395EBF700166}" type="parTrans" cxnId="{014E4ADF-0390-42BE-B187-6800CE05442F}">
      <dgm:prSet/>
      <dgm:spPr/>
      <dgm:t>
        <a:bodyPr/>
        <a:lstStyle/>
        <a:p>
          <a:endParaRPr lang="en-IN" sz="1200"/>
        </a:p>
      </dgm:t>
    </dgm:pt>
    <dgm:pt modelId="{EF923DD4-C128-431F-9133-3C9DEB02026C}" type="sibTrans" cxnId="{014E4ADF-0390-42BE-B187-6800CE05442F}">
      <dgm:prSet/>
      <dgm:spPr/>
      <dgm:t>
        <a:bodyPr/>
        <a:lstStyle/>
        <a:p>
          <a:endParaRPr lang="en-IN" sz="1200"/>
        </a:p>
      </dgm:t>
    </dgm:pt>
    <dgm:pt modelId="{C10DFBA1-64E6-40DB-9041-AF5C0D80B49F}">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100% Scalability </a:t>
          </a:r>
          <a:r>
            <a:rPr lang="en-US" sz="1400" b="0" i="0" dirty="0"/>
            <a:t>for future business needs and additional functionalities</a:t>
          </a:r>
          <a:endParaRPr lang="en-US" sz="1800" b="1" i="0" dirty="0"/>
        </a:p>
      </dgm:t>
    </dgm:pt>
    <dgm:pt modelId="{B4A8C3D6-560C-45BA-9EC5-42360327EE4E}" type="parTrans" cxnId="{79A63933-E630-460B-A35F-ACD68522F125}">
      <dgm:prSet/>
      <dgm:spPr/>
      <dgm:t>
        <a:bodyPr/>
        <a:lstStyle/>
        <a:p>
          <a:endParaRPr lang="en-IN" sz="1200"/>
        </a:p>
      </dgm:t>
    </dgm:pt>
    <dgm:pt modelId="{6D154F44-98E3-4AB0-BB6E-C3F72D1E4B29}" type="sibTrans" cxnId="{79A63933-E630-460B-A35F-ACD68522F125}">
      <dgm:prSet/>
      <dgm:spPr/>
      <dgm:t>
        <a:bodyPr/>
        <a:lstStyle/>
        <a:p>
          <a:endParaRPr lang="en-IN" sz="1200"/>
        </a:p>
      </dgm:t>
    </dgm:pt>
    <dgm:pt modelId="{F428335E-C193-4B62-A957-008AEA443805}" type="pres">
      <dgm:prSet presAssocID="{C4C34FB4-EC02-4C17-970D-EBB7752B6EFB}" presName="diagram" presStyleCnt="0">
        <dgm:presLayoutVars>
          <dgm:dir/>
          <dgm:resizeHandles val="exact"/>
        </dgm:presLayoutVars>
      </dgm:prSet>
      <dgm:spPr/>
    </dgm:pt>
    <dgm:pt modelId="{9A87BD6A-5294-4DD9-9C70-704C134A4F31}" type="pres">
      <dgm:prSet presAssocID="{019B105D-B22C-4D08-837D-4CEBB5111101}" presName="node" presStyleLbl="node1" presStyleIdx="0" presStyleCnt="4" custScaleX="135412">
        <dgm:presLayoutVars>
          <dgm:bulletEnabled val="1"/>
        </dgm:presLayoutVars>
      </dgm:prSet>
      <dgm:spPr/>
    </dgm:pt>
    <dgm:pt modelId="{2525BB42-C4F2-4535-899E-197C5AFAAA3B}" type="pres">
      <dgm:prSet presAssocID="{85C541BB-B0DC-4C13-98B8-B1230C798B0D}" presName="sibTrans" presStyleCnt="0"/>
      <dgm:spPr/>
    </dgm:pt>
    <dgm:pt modelId="{A3D6CB1E-626F-48F7-A961-E16615167BF7}" type="pres">
      <dgm:prSet presAssocID="{0796C273-A66A-461A-ADC9-7382D0C937CC}" presName="node" presStyleLbl="node1" presStyleIdx="1" presStyleCnt="4" custScaleX="171254">
        <dgm:presLayoutVars>
          <dgm:bulletEnabled val="1"/>
        </dgm:presLayoutVars>
      </dgm:prSet>
      <dgm:spPr/>
    </dgm:pt>
    <dgm:pt modelId="{BC36D203-462D-46F5-AF2A-380924BAA335}" type="pres">
      <dgm:prSet presAssocID="{8B2E50B4-499F-4E93-BD57-1A4288539ABA}" presName="sibTrans" presStyleCnt="0"/>
      <dgm:spPr/>
    </dgm:pt>
    <dgm:pt modelId="{F50F0844-8F05-42E4-8D9C-0725AF94D94E}" type="pres">
      <dgm:prSet presAssocID="{A9D834CE-A131-4571-B158-91DDEAFD4C8A}" presName="node" presStyleLbl="node1" presStyleIdx="2" presStyleCnt="4" custScaleX="216235">
        <dgm:presLayoutVars>
          <dgm:bulletEnabled val="1"/>
        </dgm:presLayoutVars>
      </dgm:prSet>
      <dgm:spPr/>
    </dgm:pt>
    <dgm:pt modelId="{489A589E-FD78-4A6E-B6DF-68BE731C2860}" type="pres">
      <dgm:prSet presAssocID="{EF923DD4-C128-431F-9133-3C9DEB02026C}" presName="sibTrans" presStyleCnt="0"/>
      <dgm:spPr/>
    </dgm:pt>
    <dgm:pt modelId="{C98CF24D-0E29-49B5-8FF1-65974499320B}" type="pres">
      <dgm:prSet presAssocID="{C10DFBA1-64E6-40DB-9041-AF5C0D80B49F}" presName="node" presStyleLbl="node1" presStyleIdx="3" presStyleCnt="4" custScaleX="182522">
        <dgm:presLayoutVars>
          <dgm:bulletEnabled val="1"/>
        </dgm:presLayoutVars>
      </dgm:prSet>
      <dgm:spPr/>
    </dgm:pt>
  </dgm:ptLst>
  <dgm:cxnLst>
    <dgm:cxn modelId="{79A63933-E630-460B-A35F-ACD68522F125}" srcId="{C4C34FB4-EC02-4C17-970D-EBB7752B6EFB}" destId="{C10DFBA1-64E6-40DB-9041-AF5C0D80B49F}" srcOrd="3" destOrd="0" parTransId="{B4A8C3D6-560C-45BA-9EC5-42360327EE4E}" sibTransId="{6D154F44-98E3-4AB0-BB6E-C3F72D1E4B29}"/>
    <dgm:cxn modelId="{4B34363D-AF5E-482D-A9CB-47FA5CDDA2D9}" type="presOf" srcId="{C10DFBA1-64E6-40DB-9041-AF5C0D80B49F}" destId="{C98CF24D-0E29-49B5-8FF1-65974499320B}" srcOrd="0" destOrd="0" presId="urn:microsoft.com/office/officeart/2005/8/layout/default"/>
    <dgm:cxn modelId="{B5A1BB5B-0EE1-4C7A-851E-5C4B6202EEA4}" type="presOf" srcId="{C4C34FB4-EC02-4C17-970D-EBB7752B6EFB}" destId="{F428335E-C193-4B62-A957-008AEA443805}" srcOrd="0" destOrd="0" presId="urn:microsoft.com/office/officeart/2005/8/layout/default"/>
    <dgm:cxn modelId="{2CF7F97E-AF25-4247-B4D0-FB272AE2E7E6}" srcId="{C4C34FB4-EC02-4C17-970D-EBB7752B6EFB}" destId="{0796C273-A66A-461A-ADC9-7382D0C937CC}" srcOrd="1" destOrd="0" parTransId="{0E4446D9-3470-4B50-8283-FA5948E68B53}" sibTransId="{8B2E50B4-499F-4E93-BD57-1A4288539ABA}"/>
    <dgm:cxn modelId="{18D6DC9C-2E08-41AF-B4BC-35D2285EF1B8}" type="presOf" srcId="{0796C273-A66A-461A-ADC9-7382D0C937CC}" destId="{A3D6CB1E-626F-48F7-A961-E16615167BF7}" srcOrd="0" destOrd="0" presId="urn:microsoft.com/office/officeart/2005/8/layout/default"/>
    <dgm:cxn modelId="{159CDAA8-E6BC-49FD-9FA2-5323AAFBE009}" type="presOf" srcId="{019B105D-B22C-4D08-837D-4CEBB5111101}" destId="{9A87BD6A-5294-4DD9-9C70-704C134A4F31}" srcOrd="0" destOrd="0" presId="urn:microsoft.com/office/officeart/2005/8/layout/default"/>
    <dgm:cxn modelId="{880D07C3-D9F6-43BC-B395-60F2F29A1D79}" type="presOf" srcId="{A9D834CE-A131-4571-B158-91DDEAFD4C8A}" destId="{F50F0844-8F05-42E4-8D9C-0725AF94D94E}" srcOrd="0" destOrd="0" presId="urn:microsoft.com/office/officeart/2005/8/layout/default"/>
    <dgm:cxn modelId="{5256BAD1-E6BD-494C-8F5A-E8A281068E41}" srcId="{C4C34FB4-EC02-4C17-970D-EBB7752B6EFB}" destId="{019B105D-B22C-4D08-837D-4CEBB5111101}" srcOrd="0" destOrd="0" parTransId="{0697D293-1FBD-4A11-A811-2D232FA57FC9}" sibTransId="{85C541BB-B0DC-4C13-98B8-B1230C798B0D}"/>
    <dgm:cxn modelId="{014E4ADF-0390-42BE-B187-6800CE05442F}" srcId="{C4C34FB4-EC02-4C17-970D-EBB7752B6EFB}" destId="{A9D834CE-A131-4571-B158-91DDEAFD4C8A}" srcOrd="2" destOrd="0" parTransId="{7A8C57D0-A4CE-455E-8E2A-395EBF700166}" sibTransId="{EF923DD4-C128-431F-9133-3C9DEB02026C}"/>
    <dgm:cxn modelId="{3D8678D5-8F59-4037-A6E0-29BA4A45DEC1}" type="presParOf" srcId="{F428335E-C193-4B62-A957-008AEA443805}" destId="{9A87BD6A-5294-4DD9-9C70-704C134A4F31}" srcOrd="0" destOrd="0" presId="urn:microsoft.com/office/officeart/2005/8/layout/default"/>
    <dgm:cxn modelId="{B113757C-CFC7-4D1B-B41C-B3743CF041AA}" type="presParOf" srcId="{F428335E-C193-4B62-A957-008AEA443805}" destId="{2525BB42-C4F2-4535-899E-197C5AFAAA3B}" srcOrd="1" destOrd="0" presId="urn:microsoft.com/office/officeart/2005/8/layout/default"/>
    <dgm:cxn modelId="{8402A758-7AB0-46B1-91D4-A573B7189B64}" type="presParOf" srcId="{F428335E-C193-4B62-A957-008AEA443805}" destId="{A3D6CB1E-626F-48F7-A961-E16615167BF7}" srcOrd="2" destOrd="0" presId="urn:microsoft.com/office/officeart/2005/8/layout/default"/>
    <dgm:cxn modelId="{505B22E8-7245-4594-AD87-402F73DD9397}" type="presParOf" srcId="{F428335E-C193-4B62-A957-008AEA443805}" destId="{BC36D203-462D-46F5-AF2A-380924BAA335}" srcOrd="3" destOrd="0" presId="urn:microsoft.com/office/officeart/2005/8/layout/default"/>
    <dgm:cxn modelId="{539F407E-47B2-46E5-A206-F8E69E3E48B9}" type="presParOf" srcId="{F428335E-C193-4B62-A957-008AEA443805}" destId="{F50F0844-8F05-42E4-8D9C-0725AF94D94E}" srcOrd="4" destOrd="0" presId="urn:microsoft.com/office/officeart/2005/8/layout/default"/>
    <dgm:cxn modelId="{D19BC2DE-EAC6-4120-843E-7557087DA730}" type="presParOf" srcId="{F428335E-C193-4B62-A957-008AEA443805}" destId="{489A589E-FD78-4A6E-B6DF-68BE731C2860}" srcOrd="5" destOrd="0" presId="urn:microsoft.com/office/officeart/2005/8/layout/default"/>
    <dgm:cxn modelId="{13D25416-90C0-473F-8CD6-64DA65292A2F}" type="presParOf" srcId="{F428335E-C193-4B62-A957-008AEA443805}" destId="{C98CF24D-0E29-49B5-8FF1-65974499320B}" srcOrd="6"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4C34FB4-EC02-4C17-970D-EBB7752B6EF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019B105D-B22C-4D08-837D-4CEBB5111101}">
      <dgm:prSet phldrT="[Tex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85% Reduction </a:t>
          </a:r>
          <a:r>
            <a:rPr lang="en-US" sz="1400" b="0" i="0" dirty="0"/>
            <a:t>in Resolution Time</a:t>
          </a:r>
          <a:endParaRPr lang="en-IN" sz="1400" dirty="0"/>
        </a:p>
      </dgm:t>
    </dgm:pt>
    <dgm:pt modelId="{0697D293-1FBD-4A11-A811-2D232FA57FC9}" type="parTrans" cxnId="{5256BAD1-E6BD-494C-8F5A-E8A281068E41}">
      <dgm:prSet/>
      <dgm:spPr/>
      <dgm:t>
        <a:bodyPr/>
        <a:lstStyle/>
        <a:p>
          <a:endParaRPr lang="en-IN" sz="1200"/>
        </a:p>
      </dgm:t>
    </dgm:pt>
    <dgm:pt modelId="{85C541BB-B0DC-4C13-98B8-B1230C798B0D}" type="sibTrans" cxnId="{5256BAD1-E6BD-494C-8F5A-E8A281068E41}">
      <dgm:prSet/>
      <dgm:spPr/>
      <dgm:t>
        <a:bodyPr/>
        <a:lstStyle/>
        <a:p>
          <a:endParaRPr lang="en-IN" sz="1200"/>
        </a:p>
      </dgm:t>
    </dgm:pt>
    <dgm:pt modelId="{0796C273-A66A-461A-ADC9-7382D0C937CC}">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100% Ticket Traceability </a:t>
          </a:r>
          <a:r>
            <a:rPr lang="en-US" sz="1400" b="0" i="0" dirty="0"/>
            <a:t>Across Departments</a:t>
          </a:r>
          <a:endParaRPr lang="en-US" sz="1800" b="0" i="0" dirty="0"/>
        </a:p>
      </dgm:t>
    </dgm:pt>
    <dgm:pt modelId="{0E4446D9-3470-4B50-8283-FA5948E68B53}" type="parTrans" cxnId="{2CF7F97E-AF25-4247-B4D0-FB272AE2E7E6}">
      <dgm:prSet/>
      <dgm:spPr/>
      <dgm:t>
        <a:bodyPr/>
        <a:lstStyle/>
        <a:p>
          <a:endParaRPr lang="en-IN" sz="1200"/>
        </a:p>
      </dgm:t>
    </dgm:pt>
    <dgm:pt modelId="{8B2E50B4-499F-4E93-BD57-1A4288539ABA}" type="sibTrans" cxnId="{2CF7F97E-AF25-4247-B4D0-FB272AE2E7E6}">
      <dgm:prSet/>
      <dgm:spPr/>
      <dgm:t>
        <a:bodyPr/>
        <a:lstStyle/>
        <a:p>
          <a:endParaRPr lang="en-IN" sz="1200"/>
        </a:p>
      </dgm:t>
    </dgm:pt>
    <dgm:pt modelId="{A9D834CE-A131-4571-B158-91DDEAFD4C8A}">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Streamlined </a:t>
          </a:r>
          <a:r>
            <a:rPr lang="en-US" sz="1600" b="0" i="0" dirty="0"/>
            <a:t>Inter Department Communications.</a:t>
          </a:r>
        </a:p>
      </dgm:t>
    </dgm:pt>
    <dgm:pt modelId="{7A8C57D0-A4CE-455E-8E2A-395EBF700166}" type="parTrans" cxnId="{014E4ADF-0390-42BE-B187-6800CE05442F}">
      <dgm:prSet/>
      <dgm:spPr/>
      <dgm:t>
        <a:bodyPr/>
        <a:lstStyle/>
        <a:p>
          <a:endParaRPr lang="en-IN" sz="1200"/>
        </a:p>
      </dgm:t>
    </dgm:pt>
    <dgm:pt modelId="{EF923DD4-C128-431F-9133-3C9DEB02026C}" type="sibTrans" cxnId="{014E4ADF-0390-42BE-B187-6800CE05442F}">
      <dgm:prSet/>
      <dgm:spPr/>
      <dgm:t>
        <a:bodyPr/>
        <a:lstStyle/>
        <a:p>
          <a:endParaRPr lang="en-IN" sz="1200"/>
        </a:p>
      </dgm:t>
    </dgm:pt>
    <dgm:pt modelId="{C10DFBA1-64E6-40DB-9041-AF5C0D80B49F}">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Improved</a:t>
          </a:r>
        </a:p>
        <a:p>
          <a:pPr>
            <a:buFont typeface="Arial" panose="020B0604020202020204" pitchFamily="34" charset="0"/>
            <a:buChar char="•"/>
          </a:pPr>
          <a:r>
            <a:rPr lang="en-US" sz="1400" b="0" i="0" dirty="0"/>
            <a:t>Employee Satisfactions</a:t>
          </a:r>
          <a:endParaRPr lang="en-US" sz="1800" b="1" i="0" dirty="0"/>
        </a:p>
      </dgm:t>
    </dgm:pt>
    <dgm:pt modelId="{B4A8C3D6-560C-45BA-9EC5-42360327EE4E}" type="parTrans" cxnId="{79A63933-E630-460B-A35F-ACD68522F125}">
      <dgm:prSet/>
      <dgm:spPr/>
      <dgm:t>
        <a:bodyPr/>
        <a:lstStyle/>
        <a:p>
          <a:endParaRPr lang="en-IN" sz="1200"/>
        </a:p>
      </dgm:t>
    </dgm:pt>
    <dgm:pt modelId="{6D154F44-98E3-4AB0-BB6E-C3F72D1E4B29}" type="sibTrans" cxnId="{79A63933-E630-460B-A35F-ACD68522F125}">
      <dgm:prSet/>
      <dgm:spPr/>
      <dgm:t>
        <a:bodyPr/>
        <a:lstStyle/>
        <a:p>
          <a:endParaRPr lang="en-IN" sz="1200"/>
        </a:p>
      </dgm:t>
    </dgm:pt>
    <dgm:pt modelId="{F428335E-C193-4B62-A957-008AEA443805}" type="pres">
      <dgm:prSet presAssocID="{C4C34FB4-EC02-4C17-970D-EBB7752B6EFB}" presName="diagram" presStyleCnt="0">
        <dgm:presLayoutVars>
          <dgm:dir/>
          <dgm:resizeHandles val="exact"/>
        </dgm:presLayoutVars>
      </dgm:prSet>
      <dgm:spPr/>
    </dgm:pt>
    <dgm:pt modelId="{9A87BD6A-5294-4DD9-9C70-704C134A4F31}" type="pres">
      <dgm:prSet presAssocID="{019B105D-B22C-4D08-837D-4CEBB5111101}" presName="node" presStyleLbl="node1" presStyleIdx="0" presStyleCnt="4" custScaleX="135412">
        <dgm:presLayoutVars>
          <dgm:bulletEnabled val="1"/>
        </dgm:presLayoutVars>
      </dgm:prSet>
      <dgm:spPr/>
    </dgm:pt>
    <dgm:pt modelId="{2525BB42-C4F2-4535-899E-197C5AFAAA3B}" type="pres">
      <dgm:prSet presAssocID="{85C541BB-B0DC-4C13-98B8-B1230C798B0D}" presName="sibTrans" presStyleCnt="0"/>
      <dgm:spPr/>
    </dgm:pt>
    <dgm:pt modelId="{A3D6CB1E-626F-48F7-A961-E16615167BF7}" type="pres">
      <dgm:prSet presAssocID="{0796C273-A66A-461A-ADC9-7382D0C937CC}" presName="node" presStyleLbl="node1" presStyleIdx="1" presStyleCnt="4" custScaleX="171254">
        <dgm:presLayoutVars>
          <dgm:bulletEnabled val="1"/>
        </dgm:presLayoutVars>
      </dgm:prSet>
      <dgm:spPr/>
    </dgm:pt>
    <dgm:pt modelId="{BC36D203-462D-46F5-AF2A-380924BAA335}" type="pres">
      <dgm:prSet presAssocID="{8B2E50B4-499F-4E93-BD57-1A4288539ABA}" presName="sibTrans" presStyleCnt="0"/>
      <dgm:spPr/>
    </dgm:pt>
    <dgm:pt modelId="{F50F0844-8F05-42E4-8D9C-0725AF94D94E}" type="pres">
      <dgm:prSet presAssocID="{A9D834CE-A131-4571-B158-91DDEAFD4C8A}" presName="node" presStyleLbl="node1" presStyleIdx="2" presStyleCnt="4" custScaleX="216235">
        <dgm:presLayoutVars>
          <dgm:bulletEnabled val="1"/>
        </dgm:presLayoutVars>
      </dgm:prSet>
      <dgm:spPr/>
    </dgm:pt>
    <dgm:pt modelId="{489A589E-FD78-4A6E-B6DF-68BE731C2860}" type="pres">
      <dgm:prSet presAssocID="{EF923DD4-C128-431F-9133-3C9DEB02026C}" presName="sibTrans" presStyleCnt="0"/>
      <dgm:spPr/>
    </dgm:pt>
    <dgm:pt modelId="{C98CF24D-0E29-49B5-8FF1-65974499320B}" type="pres">
      <dgm:prSet presAssocID="{C10DFBA1-64E6-40DB-9041-AF5C0D80B49F}" presName="node" presStyleLbl="node1" presStyleIdx="3" presStyleCnt="4" custScaleX="182522">
        <dgm:presLayoutVars>
          <dgm:bulletEnabled val="1"/>
        </dgm:presLayoutVars>
      </dgm:prSet>
      <dgm:spPr/>
    </dgm:pt>
  </dgm:ptLst>
  <dgm:cxnLst>
    <dgm:cxn modelId="{79A63933-E630-460B-A35F-ACD68522F125}" srcId="{C4C34FB4-EC02-4C17-970D-EBB7752B6EFB}" destId="{C10DFBA1-64E6-40DB-9041-AF5C0D80B49F}" srcOrd="3" destOrd="0" parTransId="{B4A8C3D6-560C-45BA-9EC5-42360327EE4E}" sibTransId="{6D154F44-98E3-4AB0-BB6E-C3F72D1E4B29}"/>
    <dgm:cxn modelId="{4B34363D-AF5E-482D-A9CB-47FA5CDDA2D9}" type="presOf" srcId="{C10DFBA1-64E6-40DB-9041-AF5C0D80B49F}" destId="{C98CF24D-0E29-49B5-8FF1-65974499320B}" srcOrd="0" destOrd="0" presId="urn:microsoft.com/office/officeart/2005/8/layout/default"/>
    <dgm:cxn modelId="{B5A1BB5B-0EE1-4C7A-851E-5C4B6202EEA4}" type="presOf" srcId="{C4C34FB4-EC02-4C17-970D-EBB7752B6EFB}" destId="{F428335E-C193-4B62-A957-008AEA443805}" srcOrd="0" destOrd="0" presId="urn:microsoft.com/office/officeart/2005/8/layout/default"/>
    <dgm:cxn modelId="{2CF7F97E-AF25-4247-B4D0-FB272AE2E7E6}" srcId="{C4C34FB4-EC02-4C17-970D-EBB7752B6EFB}" destId="{0796C273-A66A-461A-ADC9-7382D0C937CC}" srcOrd="1" destOrd="0" parTransId="{0E4446D9-3470-4B50-8283-FA5948E68B53}" sibTransId="{8B2E50B4-499F-4E93-BD57-1A4288539ABA}"/>
    <dgm:cxn modelId="{18D6DC9C-2E08-41AF-B4BC-35D2285EF1B8}" type="presOf" srcId="{0796C273-A66A-461A-ADC9-7382D0C937CC}" destId="{A3D6CB1E-626F-48F7-A961-E16615167BF7}" srcOrd="0" destOrd="0" presId="urn:microsoft.com/office/officeart/2005/8/layout/default"/>
    <dgm:cxn modelId="{159CDAA8-E6BC-49FD-9FA2-5323AAFBE009}" type="presOf" srcId="{019B105D-B22C-4D08-837D-4CEBB5111101}" destId="{9A87BD6A-5294-4DD9-9C70-704C134A4F31}" srcOrd="0" destOrd="0" presId="urn:microsoft.com/office/officeart/2005/8/layout/default"/>
    <dgm:cxn modelId="{880D07C3-D9F6-43BC-B395-60F2F29A1D79}" type="presOf" srcId="{A9D834CE-A131-4571-B158-91DDEAFD4C8A}" destId="{F50F0844-8F05-42E4-8D9C-0725AF94D94E}" srcOrd="0" destOrd="0" presId="urn:microsoft.com/office/officeart/2005/8/layout/default"/>
    <dgm:cxn modelId="{5256BAD1-E6BD-494C-8F5A-E8A281068E41}" srcId="{C4C34FB4-EC02-4C17-970D-EBB7752B6EFB}" destId="{019B105D-B22C-4D08-837D-4CEBB5111101}" srcOrd="0" destOrd="0" parTransId="{0697D293-1FBD-4A11-A811-2D232FA57FC9}" sibTransId="{85C541BB-B0DC-4C13-98B8-B1230C798B0D}"/>
    <dgm:cxn modelId="{014E4ADF-0390-42BE-B187-6800CE05442F}" srcId="{C4C34FB4-EC02-4C17-970D-EBB7752B6EFB}" destId="{A9D834CE-A131-4571-B158-91DDEAFD4C8A}" srcOrd="2" destOrd="0" parTransId="{7A8C57D0-A4CE-455E-8E2A-395EBF700166}" sibTransId="{EF923DD4-C128-431F-9133-3C9DEB02026C}"/>
    <dgm:cxn modelId="{3D8678D5-8F59-4037-A6E0-29BA4A45DEC1}" type="presParOf" srcId="{F428335E-C193-4B62-A957-008AEA443805}" destId="{9A87BD6A-5294-4DD9-9C70-704C134A4F31}" srcOrd="0" destOrd="0" presId="urn:microsoft.com/office/officeart/2005/8/layout/default"/>
    <dgm:cxn modelId="{B113757C-CFC7-4D1B-B41C-B3743CF041AA}" type="presParOf" srcId="{F428335E-C193-4B62-A957-008AEA443805}" destId="{2525BB42-C4F2-4535-899E-197C5AFAAA3B}" srcOrd="1" destOrd="0" presId="urn:microsoft.com/office/officeart/2005/8/layout/default"/>
    <dgm:cxn modelId="{8402A758-7AB0-46B1-91D4-A573B7189B64}" type="presParOf" srcId="{F428335E-C193-4B62-A957-008AEA443805}" destId="{A3D6CB1E-626F-48F7-A961-E16615167BF7}" srcOrd="2" destOrd="0" presId="urn:microsoft.com/office/officeart/2005/8/layout/default"/>
    <dgm:cxn modelId="{505B22E8-7245-4594-AD87-402F73DD9397}" type="presParOf" srcId="{F428335E-C193-4B62-A957-008AEA443805}" destId="{BC36D203-462D-46F5-AF2A-380924BAA335}" srcOrd="3" destOrd="0" presId="urn:microsoft.com/office/officeart/2005/8/layout/default"/>
    <dgm:cxn modelId="{539F407E-47B2-46E5-A206-F8E69E3E48B9}" type="presParOf" srcId="{F428335E-C193-4B62-A957-008AEA443805}" destId="{F50F0844-8F05-42E4-8D9C-0725AF94D94E}" srcOrd="4" destOrd="0" presId="urn:microsoft.com/office/officeart/2005/8/layout/default"/>
    <dgm:cxn modelId="{D19BC2DE-EAC6-4120-843E-7557087DA730}" type="presParOf" srcId="{F428335E-C193-4B62-A957-008AEA443805}" destId="{489A589E-FD78-4A6E-B6DF-68BE731C2860}" srcOrd="5" destOrd="0" presId="urn:microsoft.com/office/officeart/2005/8/layout/default"/>
    <dgm:cxn modelId="{13D25416-90C0-473F-8CD6-64DA65292A2F}" type="presParOf" srcId="{F428335E-C193-4B62-A957-008AEA443805}" destId="{C98CF24D-0E29-49B5-8FF1-65974499320B}"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4C34FB4-EC02-4C17-970D-EBB7752B6EF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019B105D-B22C-4D08-837D-4CEBB5111101}">
      <dgm:prSet phldrT="[Tex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90% Reduction </a:t>
          </a:r>
          <a:r>
            <a:rPr lang="en-US" sz="1400" b="0" i="0" dirty="0"/>
            <a:t>in approval delays</a:t>
          </a:r>
          <a:endParaRPr lang="en-IN" sz="1400" dirty="0"/>
        </a:p>
      </dgm:t>
    </dgm:pt>
    <dgm:pt modelId="{0697D293-1FBD-4A11-A811-2D232FA57FC9}" type="parTrans" cxnId="{5256BAD1-E6BD-494C-8F5A-E8A281068E41}">
      <dgm:prSet/>
      <dgm:spPr/>
      <dgm:t>
        <a:bodyPr/>
        <a:lstStyle/>
        <a:p>
          <a:endParaRPr lang="en-IN" sz="1200"/>
        </a:p>
      </dgm:t>
    </dgm:pt>
    <dgm:pt modelId="{85C541BB-B0DC-4C13-98B8-B1230C798B0D}" type="sibTrans" cxnId="{5256BAD1-E6BD-494C-8F5A-E8A281068E41}">
      <dgm:prSet/>
      <dgm:spPr/>
      <dgm:t>
        <a:bodyPr/>
        <a:lstStyle/>
        <a:p>
          <a:endParaRPr lang="en-IN" sz="1200"/>
        </a:p>
      </dgm:t>
    </dgm:pt>
    <dgm:pt modelId="{0796C273-A66A-461A-ADC9-7382D0C937CC}">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90% Increase </a:t>
          </a:r>
          <a:r>
            <a:rPr lang="en-US" sz="1400" b="0" i="0" dirty="0"/>
            <a:t>in Procurement Transparency</a:t>
          </a:r>
          <a:endParaRPr lang="en-US" sz="1800" b="0" i="0" dirty="0"/>
        </a:p>
      </dgm:t>
    </dgm:pt>
    <dgm:pt modelId="{0E4446D9-3470-4B50-8283-FA5948E68B53}" type="parTrans" cxnId="{2CF7F97E-AF25-4247-B4D0-FB272AE2E7E6}">
      <dgm:prSet/>
      <dgm:spPr/>
      <dgm:t>
        <a:bodyPr/>
        <a:lstStyle/>
        <a:p>
          <a:endParaRPr lang="en-IN" sz="1200"/>
        </a:p>
      </dgm:t>
    </dgm:pt>
    <dgm:pt modelId="{8B2E50B4-499F-4E93-BD57-1A4288539ABA}" type="sibTrans" cxnId="{2CF7F97E-AF25-4247-B4D0-FB272AE2E7E6}">
      <dgm:prSet/>
      <dgm:spPr/>
      <dgm:t>
        <a:bodyPr/>
        <a:lstStyle/>
        <a:p>
          <a:endParaRPr lang="en-IN" sz="1200"/>
        </a:p>
      </dgm:t>
    </dgm:pt>
    <dgm:pt modelId="{A9D834CE-A131-4571-B158-91DDEAFD4C8A}">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Improved operational controls </a:t>
          </a:r>
          <a:r>
            <a:rPr lang="en-US" sz="1600" b="0" i="0" dirty="0"/>
            <a:t>Through centralized Dashboards.</a:t>
          </a:r>
        </a:p>
      </dgm:t>
    </dgm:pt>
    <dgm:pt modelId="{7A8C57D0-A4CE-455E-8E2A-395EBF700166}" type="parTrans" cxnId="{014E4ADF-0390-42BE-B187-6800CE05442F}">
      <dgm:prSet/>
      <dgm:spPr/>
      <dgm:t>
        <a:bodyPr/>
        <a:lstStyle/>
        <a:p>
          <a:endParaRPr lang="en-IN" sz="1200"/>
        </a:p>
      </dgm:t>
    </dgm:pt>
    <dgm:pt modelId="{EF923DD4-C128-431F-9133-3C9DEB02026C}" type="sibTrans" cxnId="{014E4ADF-0390-42BE-B187-6800CE05442F}">
      <dgm:prSet/>
      <dgm:spPr/>
      <dgm:t>
        <a:bodyPr/>
        <a:lstStyle/>
        <a:p>
          <a:endParaRPr lang="en-IN" sz="1200"/>
        </a:p>
      </dgm:t>
    </dgm:pt>
    <dgm:pt modelId="{C10DFBA1-64E6-40DB-9041-AF5C0D80B49F}">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100% Audit-ready </a:t>
          </a:r>
        </a:p>
        <a:p>
          <a:pPr>
            <a:buFont typeface="Arial" panose="020B0604020202020204" pitchFamily="34" charset="0"/>
            <a:buChar char="•"/>
          </a:pPr>
          <a:r>
            <a:rPr lang="en-US" sz="1400" b="0" i="0" dirty="0"/>
            <a:t>Digital Documents</a:t>
          </a:r>
          <a:endParaRPr lang="en-US" sz="1800" b="1" i="0" dirty="0"/>
        </a:p>
      </dgm:t>
    </dgm:pt>
    <dgm:pt modelId="{B4A8C3D6-560C-45BA-9EC5-42360327EE4E}" type="parTrans" cxnId="{79A63933-E630-460B-A35F-ACD68522F125}">
      <dgm:prSet/>
      <dgm:spPr/>
      <dgm:t>
        <a:bodyPr/>
        <a:lstStyle/>
        <a:p>
          <a:endParaRPr lang="en-IN" sz="1200"/>
        </a:p>
      </dgm:t>
    </dgm:pt>
    <dgm:pt modelId="{6D154F44-98E3-4AB0-BB6E-C3F72D1E4B29}" type="sibTrans" cxnId="{79A63933-E630-460B-A35F-ACD68522F125}">
      <dgm:prSet/>
      <dgm:spPr/>
      <dgm:t>
        <a:bodyPr/>
        <a:lstStyle/>
        <a:p>
          <a:endParaRPr lang="en-IN" sz="1200"/>
        </a:p>
      </dgm:t>
    </dgm:pt>
    <dgm:pt modelId="{F428335E-C193-4B62-A957-008AEA443805}" type="pres">
      <dgm:prSet presAssocID="{C4C34FB4-EC02-4C17-970D-EBB7752B6EFB}" presName="diagram" presStyleCnt="0">
        <dgm:presLayoutVars>
          <dgm:dir/>
          <dgm:resizeHandles val="exact"/>
        </dgm:presLayoutVars>
      </dgm:prSet>
      <dgm:spPr/>
    </dgm:pt>
    <dgm:pt modelId="{9A87BD6A-5294-4DD9-9C70-704C134A4F31}" type="pres">
      <dgm:prSet presAssocID="{019B105D-B22C-4D08-837D-4CEBB5111101}" presName="node" presStyleLbl="node1" presStyleIdx="0" presStyleCnt="4" custScaleX="135412">
        <dgm:presLayoutVars>
          <dgm:bulletEnabled val="1"/>
        </dgm:presLayoutVars>
      </dgm:prSet>
      <dgm:spPr/>
    </dgm:pt>
    <dgm:pt modelId="{2525BB42-C4F2-4535-899E-197C5AFAAA3B}" type="pres">
      <dgm:prSet presAssocID="{85C541BB-B0DC-4C13-98B8-B1230C798B0D}" presName="sibTrans" presStyleCnt="0"/>
      <dgm:spPr/>
    </dgm:pt>
    <dgm:pt modelId="{A3D6CB1E-626F-48F7-A961-E16615167BF7}" type="pres">
      <dgm:prSet presAssocID="{0796C273-A66A-461A-ADC9-7382D0C937CC}" presName="node" presStyleLbl="node1" presStyleIdx="1" presStyleCnt="4" custScaleX="171254">
        <dgm:presLayoutVars>
          <dgm:bulletEnabled val="1"/>
        </dgm:presLayoutVars>
      </dgm:prSet>
      <dgm:spPr/>
    </dgm:pt>
    <dgm:pt modelId="{BC36D203-462D-46F5-AF2A-380924BAA335}" type="pres">
      <dgm:prSet presAssocID="{8B2E50B4-499F-4E93-BD57-1A4288539ABA}" presName="sibTrans" presStyleCnt="0"/>
      <dgm:spPr/>
    </dgm:pt>
    <dgm:pt modelId="{F50F0844-8F05-42E4-8D9C-0725AF94D94E}" type="pres">
      <dgm:prSet presAssocID="{A9D834CE-A131-4571-B158-91DDEAFD4C8A}" presName="node" presStyleLbl="node1" presStyleIdx="2" presStyleCnt="4" custScaleX="216235">
        <dgm:presLayoutVars>
          <dgm:bulletEnabled val="1"/>
        </dgm:presLayoutVars>
      </dgm:prSet>
      <dgm:spPr/>
    </dgm:pt>
    <dgm:pt modelId="{489A589E-FD78-4A6E-B6DF-68BE731C2860}" type="pres">
      <dgm:prSet presAssocID="{EF923DD4-C128-431F-9133-3C9DEB02026C}" presName="sibTrans" presStyleCnt="0"/>
      <dgm:spPr/>
    </dgm:pt>
    <dgm:pt modelId="{C98CF24D-0E29-49B5-8FF1-65974499320B}" type="pres">
      <dgm:prSet presAssocID="{C10DFBA1-64E6-40DB-9041-AF5C0D80B49F}" presName="node" presStyleLbl="node1" presStyleIdx="3" presStyleCnt="4" custScaleX="182522">
        <dgm:presLayoutVars>
          <dgm:bulletEnabled val="1"/>
        </dgm:presLayoutVars>
      </dgm:prSet>
      <dgm:spPr/>
    </dgm:pt>
  </dgm:ptLst>
  <dgm:cxnLst>
    <dgm:cxn modelId="{79A63933-E630-460B-A35F-ACD68522F125}" srcId="{C4C34FB4-EC02-4C17-970D-EBB7752B6EFB}" destId="{C10DFBA1-64E6-40DB-9041-AF5C0D80B49F}" srcOrd="3" destOrd="0" parTransId="{B4A8C3D6-560C-45BA-9EC5-42360327EE4E}" sibTransId="{6D154F44-98E3-4AB0-BB6E-C3F72D1E4B29}"/>
    <dgm:cxn modelId="{4B34363D-AF5E-482D-A9CB-47FA5CDDA2D9}" type="presOf" srcId="{C10DFBA1-64E6-40DB-9041-AF5C0D80B49F}" destId="{C98CF24D-0E29-49B5-8FF1-65974499320B}" srcOrd="0" destOrd="0" presId="urn:microsoft.com/office/officeart/2005/8/layout/default"/>
    <dgm:cxn modelId="{B5A1BB5B-0EE1-4C7A-851E-5C4B6202EEA4}" type="presOf" srcId="{C4C34FB4-EC02-4C17-970D-EBB7752B6EFB}" destId="{F428335E-C193-4B62-A957-008AEA443805}" srcOrd="0" destOrd="0" presId="urn:microsoft.com/office/officeart/2005/8/layout/default"/>
    <dgm:cxn modelId="{2CF7F97E-AF25-4247-B4D0-FB272AE2E7E6}" srcId="{C4C34FB4-EC02-4C17-970D-EBB7752B6EFB}" destId="{0796C273-A66A-461A-ADC9-7382D0C937CC}" srcOrd="1" destOrd="0" parTransId="{0E4446D9-3470-4B50-8283-FA5948E68B53}" sibTransId="{8B2E50B4-499F-4E93-BD57-1A4288539ABA}"/>
    <dgm:cxn modelId="{18D6DC9C-2E08-41AF-B4BC-35D2285EF1B8}" type="presOf" srcId="{0796C273-A66A-461A-ADC9-7382D0C937CC}" destId="{A3D6CB1E-626F-48F7-A961-E16615167BF7}" srcOrd="0" destOrd="0" presId="urn:microsoft.com/office/officeart/2005/8/layout/default"/>
    <dgm:cxn modelId="{159CDAA8-E6BC-49FD-9FA2-5323AAFBE009}" type="presOf" srcId="{019B105D-B22C-4D08-837D-4CEBB5111101}" destId="{9A87BD6A-5294-4DD9-9C70-704C134A4F31}" srcOrd="0" destOrd="0" presId="urn:microsoft.com/office/officeart/2005/8/layout/default"/>
    <dgm:cxn modelId="{880D07C3-D9F6-43BC-B395-60F2F29A1D79}" type="presOf" srcId="{A9D834CE-A131-4571-B158-91DDEAFD4C8A}" destId="{F50F0844-8F05-42E4-8D9C-0725AF94D94E}" srcOrd="0" destOrd="0" presId="urn:microsoft.com/office/officeart/2005/8/layout/default"/>
    <dgm:cxn modelId="{5256BAD1-E6BD-494C-8F5A-E8A281068E41}" srcId="{C4C34FB4-EC02-4C17-970D-EBB7752B6EFB}" destId="{019B105D-B22C-4D08-837D-4CEBB5111101}" srcOrd="0" destOrd="0" parTransId="{0697D293-1FBD-4A11-A811-2D232FA57FC9}" sibTransId="{85C541BB-B0DC-4C13-98B8-B1230C798B0D}"/>
    <dgm:cxn modelId="{014E4ADF-0390-42BE-B187-6800CE05442F}" srcId="{C4C34FB4-EC02-4C17-970D-EBB7752B6EFB}" destId="{A9D834CE-A131-4571-B158-91DDEAFD4C8A}" srcOrd="2" destOrd="0" parTransId="{7A8C57D0-A4CE-455E-8E2A-395EBF700166}" sibTransId="{EF923DD4-C128-431F-9133-3C9DEB02026C}"/>
    <dgm:cxn modelId="{3D8678D5-8F59-4037-A6E0-29BA4A45DEC1}" type="presParOf" srcId="{F428335E-C193-4B62-A957-008AEA443805}" destId="{9A87BD6A-5294-4DD9-9C70-704C134A4F31}" srcOrd="0" destOrd="0" presId="urn:microsoft.com/office/officeart/2005/8/layout/default"/>
    <dgm:cxn modelId="{B113757C-CFC7-4D1B-B41C-B3743CF041AA}" type="presParOf" srcId="{F428335E-C193-4B62-A957-008AEA443805}" destId="{2525BB42-C4F2-4535-899E-197C5AFAAA3B}" srcOrd="1" destOrd="0" presId="urn:microsoft.com/office/officeart/2005/8/layout/default"/>
    <dgm:cxn modelId="{8402A758-7AB0-46B1-91D4-A573B7189B64}" type="presParOf" srcId="{F428335E-C193-4B62-A957-008AEA443805}" destId="{A3D6CB1E-626F-48F7-A961-E16615167BF7}" srcOrd="2" destOrd="0" presId="urn:microsoft.com/office/officeart/2005/8/layout/default"/>
    <dgm:cxn modelId="{505B22E8-7245-4594-AD87-402F73DD9397}" type="presParOf" srcId="{F428335E-C193-4B62-A957-008AEA443805}" destId="{BC36D203-462D-46F5-AF2A-380924BAA335}" srcOrd="3" destOrd="0" presId="urn:microsoft.com/office/officeart/2005/8/layout/default"/>
    <dgm:cxn modelId="{539F407E-47B2-46E5-A206-F8E69E3E48B9}" type="presParOf" srcId="{F428335E-C193-4B62-A957-008AEA443805}" destId="{F50F0844-8F05-42E4-8D9C-0725AF94D94E}" srcOrd="4" destOrd="0" presId="urn:microsoft.com/office/officeart/2005/8/layout/default"/>
    <dgm:cxn modelId="{D19BC2DE-EAC6-4120-843E-7557087DA730}" type="presParOf" srcId="{F428335E-C193-4B62-A957-008AEA443805}" destId="{489A589E-FD78-4A6E-B6DF-68BE731C2860}" srcOrd="5" destOrd="0" presId="urn:microsoft.com/office/officeart/2005/8/layout/default"/>
    <dgm:cxn modelId="{13D25416-90C0-473F-8CD6-64DA65292A2F}" type="presParOf" srcId="{F428335E-C193-4B62-A957-008AEA443805}" destId="{C98CF24D-0E29-49B5-8FF1-65974499320B}"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4C34FB4-EC02-4C17-970D-EBB7752B6EF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019B105D-B22C-4D08-837D-4CEBB5111101}">
      <dgm:prSet phldrT="[Tex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85% Reduction </a:t>
          </a:r>
          <a:r>
            <a:rPr lang="en-US" sz="1400" b="0" i="0" dirty="0"/>
            <a:t>in Resolution Time</a:t>
          </a:r>
          <a:endParaRPr lang="en-IN" sz="1400" dirty="0"/>
        </a:p>
      </dgm:t>
    </dgm:pt>
    <dgm:pt modelId="{0697D293-1FBD-4A11-A811-2D232FA57FC9}" type="parTrans" cxnId="{5256BAD1-E6BD-494C-8F5A-E8A281068E41}">
      <dgm:prSet/>
      <dgm:spPr/>
      <dgm:t>
        <a:bodyPr/>
        <a:lstStyle/>
        <a:p>
          <a:endParaRPr lang="en-IN" sz="1200"/>
        </a:p>
      </dgm:t>
    </dgm:pt>
    <dgm:pt modelId="{85C541BB-B0DC-4C13-98B8-B1230C798B0D}" type="sibTrans" cxnId="{5256BAD1-E6BD-494C-8F5A-E8A281068E41}">
      <dgm:prSet/>
      <dgm:spPr/>
      <dgm:t>
        <a:bodyPr/>
        <a:lstStyle/>
        <a:p>
          <a:endParaRPr lang="en-IN" sz="1200"/>
        </a:p>
      </dgm:t>
    </dgm:pt>
    <dgm:pt modelId="{0796C273-A66A-461A-ADC9-7382D0C937CC}">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Centralized, Searchable</a:t>
          </a:r>
        </a:p>
        <a:p>
          <a:pPr>
            <a:buFont typeface="Arial" panose="020B0604020202020204" pitchFamily="34" charset="0"/>
            <a:buChar char="•"/>
          </a:pPr>
          <a:r>
            <a:rPr lang="en-IN" sz="1400" b="0" i="0" dirty="0"/>
            <a:t>Record keeping</a:t>
          </a:r>
          <a:endParaRPr lang="en-US" sz="1800" b="0" i="0" dirty="0"/>
        </a:p>
      </dgm:t>
    </dgm:pt>
    <dgm:pt modelId="{0E4446D9-3470-4B50-8283-FA5948E68B53}" type="parTrans" cxnId="{2CF7F97E-AF25-4247-B4D0-FB272AE2E7E6}">
      <dgm:prSet/>
      <dgm:spPr/>
      <dgm:t>
        <a:bodyPr/>
        <a:lstStyle/>
        <a:p>
          <a:endParaRPr lang="en-IN" sz="1200"/>
        </a:p>
      </dgm:t>
    </dgm:pt>
    <dgm:pt modelId="{8B2E50B4-499F-4E93-BD57-1A4288539ABA}" type="sibTrans" cxnId="{2CF7F97E-AF25-4247-B4D0-FB272AE2E7E6}">
      <dgm:prSet/>
      <dgm:spPr/>
      <dgm:t>
        <a:bodyPr/>
        <a:lstStyle/>
        <a:p>
          <a:endParaRPr lang="en-IN" sz="1200"/>
        </a:p>
      </dgm:t>
    </dgm:pt>
    <dgm:pt modelId="{A9D834CE-A131-4571-B158-91DDEAFD4C8A}">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Faster Turnaround </a:t>
          </a:r>
          <a:r>
            <a:rPr lang="en-IN" sz="1600" b="0" i="0" dirty="0"/>
            <a:t>on reimbursements and payments</a:t>
          </a:r>
          <a:r>
            <a:rPr lang="en-US" sz="1600" b="0" i="0" dirty="0"/>
            <a:t>.</a:t>
          </a:r>
        </a:p>
      </dgm:t>
    </dgm:pt>
    <dgm:pt modelId="{7A8C57D0-A4CE-455E-8E2A-395EBF700166}" type="parTrans" cxnId="{014E4ADF-0390-42BE-B187-6800CE05442F}">
      <dgm:prSet/>
      <dgm:spPr/>
      <dgm:t>
        <a:bodyPr/>
        <a:lstStyle/>
        <a:p>
          <a:endParaRPr lang="en-IN" sz="1200"/>
        </a:p>
      </dgm:t>
    </dgm:pt>
    <dgm:pt modelId="{EF923DD4-C128-431F-9133-3C9DEB02026C}" type="sibTrans" cxnId="{014E4ADF-0390-42BE-B187-6800CE05442F}">
      <dgm:prSet/>
      <dgm:spPr/>
      <dgm:t>
        <a:bodyPr/>
        <a:lstStyle/>
        <a:p>
          <a:endParaRPr lang="en-IN" sz="1200"/>
        </a:p>
      </dgm:t>
    </dgm:pt>
    <dgm:pt modelId="{C10DFBA1-64E6-40DB-9041-AF5C0D80B49F}">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Seamless Finance Control </a:t>
          </a:r>
          <a:r>
            <a:rPr lang="en-IN" sz="1400" b="0" i="0" dirty="0"/>
            <a:t>via PO linkage</a:t>
          </a:r>
          <a:endParaRPr lang="en-US" sz="1800" b="1" i="0" dirty="0"/>
        </a:p>
      </dgm:t>
    </dgm:pt>
    <dgm:pt modelId="{B4A8C3D6-560C-45BA-9EC5-42360327EE4E}" type="parTrans" cxnId="{79A63933-E630-460B-A35F-ACD68522F125}">
      <dgm:prSet/>
      <dgm:spPr/>
      <dgm:t>
        <a:bodyPr/>
        <a:lstStyle/>
        <a:p>
          <a:endParaRPr lang="en-IN" sz="1200"/>
        </a:p>
      </dgm:t>
    </dgm:pt>
    <dgm:pt modelId="{6D154F44-98E3-4AB0-BB6E-C3F72D1E4B29}" type="sibTrans" cxnId="{79A63933-E630-460B-A35F-ACD68522F125}">
      <dgm:prSet/>
      <dgm:spPr/>
      <dgm:t>
        <a:bodyPr/>
        <a:lstStyle/>
        <a:p>
          <a:endParaRPr lang="en-IN" sz="1200"/>
        </a:p>
      </dgm:t>
    </dgm:pt>
    <dgm:pt modelId="{F428335E-C193-4B62-A957-008AEA443805}" type="pres">
      <dgm:prSet presAssocID="{C4C34FB4-EC02-4C17-970D-EBB7752B6EFB}" presName="diagram" presStyleCnt="0">
        <dgm:presLayoutVars>
          <dgm:dir/>
          <dgm:resizeHandles val="exact"/>
        </dgm:presLayoutVars>
      </dgm:prSet>
      <dgm:spPr/>
    </dgm:pt>
    <dgm:pt modelId="{9A87BD6A-5294-4DD9-9C70-704C134A4F31}" type="pres">
      <dgm:prSet presAssocID="{019B105D-B22C-4D08-837D-4CEBB5111101}" presName="node" presStyleLbl="node1" presStyleIdx="0" presStyleCnt="4" custScaleX="135412">
        <dgm:presLayoutVars>
          <dgm:bulletEnabled val="1"/>
        </dgm:presLayoutVars>
      </dgm:prSet>
      <dgm:spPr/>
    </dgm:pt>
    <dgm:pt modelId="{2525BB42-C4F2-4535-899E-197C5AFAAA3B}" type="pres">
      <dgm:prSet presAssocID="{85C541BB-B0DC-4C13-98B8-B1230C798B0D}" presName="sibTrans" presStyleCnt="0"/>
      <dgm:spPr/>
    </dgm:pt>
    <dgm:pt modelId="{A3D6CB1E-626F-48F7-A961-E16615167BF7}" type="pres">
      <dgm:prSet presAssocID="{0796C273-A66A-461A-ADC9-7382D0C937CC}" presName="node" presStyleLbl="node1" presStyleIdx="1" presStyleCnt="4" custScaleX="171254">
        <dgm:presLayoutVars>
          <dgm:bulletEnabled val="1"/>
        </dgm:presLayoutVars>
      </dgm:prSet>
      <dgm:spPr/>
    </dgm:pt>
    <dgm:pt modelId="{BC36D203-462D-46F5-AF2A-380924BAA335}" type="pres">
      <dgm:prSet presAssocID="{8B2E50B4-499F-4E93-BD57-1A4288539ABA}" presName="sibTrans" presStyleCnt="0"/>
      <dgm:spPr/>
    </dgm:pt>
    <dgm:pt modelId="{F50F0844-8F05-42E4-8D9C-0725AF94D94E}" type="pres">
      <dgm:prSet presAssocID="{A9D834CE-A131-4571-B158-91DDEAFD4C8A}" presName="node" presStyleLbl="node1" presStyleIdx="2" presStyleCnt="4" custScaleX="216235">
        <dgm:presLayoutVars>
          <dgm:bulletEnabled val="1"/>
        </dgm:presLayoutVars>
      </dgm:prSet>
      <dgm:spPr/>
    </dgm:pt>
    <dgm:pt modelId="{489A589E-FD78-4A6E-B6DF-68BE731C2860}" type="pres">
      <dgm:prSet presAssocID="{EF923DD4-C128-431F-9133-3C9DEB02026C}" presName="sibTrans" presStyleCnt="0"/>
      <dgm:spPr/>
    </dgm:pt>
    <dgm:pt modelId="{C98CF24D-0E29-49B5-8FF1-65974499320B}" type="pres">
      <dgm:prSet presAssocID="{C10DFBA1-64E6-40DB-9041-AF5C0D80B49F}" presName="node" presStyleLbl="node1" presStyleIdx="3" presStyleCnt="4" custScaleX="182522">
        <dgm:presLayoutVars>
          <dgm:bulletEnabled val="1"/>
        </dgm:presLayoutVars>
      </dgm:prSet>
      <dgm:spPr/>
    </dgm:pt>
  </dgm:ptLst>
  <dgm:cxnLst>
    <dgm:cxn modelId="{79A63933-E630-460B-A35F-ACD68522F125}" srcId="{C4C34FB4-EC02-4C17-970D-EBB7752B6EFB}" destId="{C10DFBA1-64E6-40DB-9041-AF5C0D80B49F}" srcOrd="3" destOrd="0" parTransId="{B4A8C3D6-560C-45BA-9EC5-42360327EE4E}" sibTransId="{6D154F44-98E3-4AB0-BB6E-C3F72D1E4B29}"/>
    <dgm:cxn modelId="{4B34363D-AF5E-482D-A9CB-47FA5CDDA2D9}" type="presOf" srcId="{C10DFBA1-64E6-40DB-9041-AF5C0D80B49F}" destId="{C98CF24D-0E29-49B5-8FF1-65974499320B}" srcOrd="0" destOrd="0" presId="urn:microsoft.com/office/officeart/2005/8/layout/default"/>
    <dgm:cxn modelId="{B5A1BB5B-0EE1-4C7A-851E-5C4B6202EEA4}" type="presOf" srcId="{C4C34FB4-EC02-4C17-970D-EBB7752B6EFB}" destId="{F428335E-C193-4B62-A957-008AEA443805}" srcOrd="0" destOrd="0" presId="urn:microsoft.com/office/officeart/2005/8/layout/default"/>
    <dgm:cxn modelId="{2CF7F97E-AF25-4247-B4D0-FB272AE2E7E6}" srcId="{C4C34FB4-EC02-4C17-970D-EBB7752B6EFB}" destId="{0796C273-A66A-461A-ADC9-7382D0C937CC}" srcOrd="1" destOrd="0" parTransId="{0E4446D9-3470-4B50-8283-FA5948E68B53}" sibTransId="{8B2E50B4-499F-4E93-BD57-1A4288539ABA}"/>
    <dgm:cxn modelId="{18D6DC9C-2E08-41AF-B4BC-35D2285EF1B8}" type="presOf" srcId="{0796C273-A66A-461A-ADC9-7382D0C937CC}" destId="{A3D6CB1E-626F-48F7-A961-E16615167BF7}" srcOrd="0" destOrd="0" presId="urn:microsoft.com/office/officeart/2005/8/layout/default"/>
    <dgm:cxn modelId="{159CDAA8-E6BC-49FD-9FA2-5323AAFBE009}" type="presOf" srcId="{019B105D-B22C-4D08-837D-4CEBB5111101}" destId="{9A87BD6A-5294-4DD9-9C70-704C134A4F31}" srcOrd="0" destOrd="0" presId="urn:microsoft.com/office/officeart/2005/8/layout/default"/>
    <dgm:cxn modelId="{880D07C3-D9F6-43BC-B395-60F2F29A1D79}" type="presOf" srcId="{A9D834CE-A131-4571-B158-91DDEAFD4C8A}" destId="{F50F0844-8F05-42E4-8D9C-0725AF94D94E}" srcOrd="0" destOrd="0" presId="urn:microsoft.com/office/officeart/2005/8/layout/default"/>
    <dgm:cxn modelId="{5256BAD1-E6BD-494C-8F5A-E8A281068E41}" srcId="{C4C34FB4-EC02-4C17-970D-EBB7752B6EFB}" destId="{019B105D-B22C-4D08-837D-4CEBB5111101}" srcOrd="0" destOrd="0" parTransId="{0697D293-1FBD-4A11-A811-2D232FA57FC9}" sibTransId="{85C541BB-B0DC-4C13-98B8-B1230C798B0D}"/>
    <dgm:cxn modelId="{014E4ADF-0390-42BE-B187-6800CE05442F}" srcId="{C4C34FB4-EC02-4C17-970D-EBB7752B6EFB}" destId="{A9D834CE-A131-4571-B158-91DDEAFD4C8A}" srcOrd="2" destOrd="0" parTransId="{7A8C57D0-A4CE-455E-8E2A-395EBF700166}" sibTransId="{EF923DD4-C128-431F-9133-3C9DEB02026C}"/>
    <dgm:cxn modelId="{3D8678D5-8F59-4037-A6E0-29BA4A45DEC1}" type="presParOf" srcId="{F428335E-C193-4B62-A957-008AEA443805}" destId="{9A87BD6A-5294-4DD9-9C70-704C134A4F31}" srcOrd="0" destOrd="0" presId="urn:microsoft.com/office/officeart/2005/8/layout/default"/>
    <dgm:cxn modelId="{B113757C-CFC7-4D1B-B41C-B3743CF041AA}" type="presParOf" srcId="{F428335E-C193-4B62-A957-008AEA443805}" destId="{2525BB42-C4F2-4535-899E-197C5AFAAA3B}" srcOrd="1" destOrd="0" presId="urn:microsoft.com/office/officeart/2005/8/layout/default"/>
    <dgm:cxn modelId="{8402A758-7AB0-46B1-91D4-A573B7189B64}" type="presParOf" srcId="{F428335E-C193-4B62-A957-008AEA443805}" destId="{A3D6CB1E-626F-48F7-A961-E16615167BF7}" srcOrd="2" destOrd="0" presId="urn:microsoft.com/office/officeart/2005/8/layout/default"/>
    <dgm:cxn modelId="{505B22E8-7245-4594-AD87-402F73DD9397}" type="presParOf" srcId="{F428335E-C193-4B62-A957-008AEA443805}" destId="{BC36D203-462D-46F5-AF2A-380924BAA335}" srcOrd="3" destOrd="0" presId="urn:microsoft.com/office/officeart/2005/8/layout/default"/>
    <dgm:cxn modelId="{539F407E-47B2-46E5-A206-F8E69E3E48B9}" type="presParOf" srcId="{F428335E-C193-4B62-A957-008AEA443805}" destId="{F50F0844-8F05-42E4-8D9C-0725AF94D94E}" srcOrd="4" destOrd="0" presId="urn:microsoft.com/office/officeart/2005/8/layout/default"/>
    <dgm:cxn modelId="{D19BC2DE-EAC6-4120-843E-7557087DA730}" type="presParOf" srcId="{F428335E-C193-4B62-A957-008AEA443805}" destId="{489A589E-FD78-4A6E-B6DF-68BE731C2860}" srcOrd="5" destOrd="0" presId="urn:microsoft.com/office/officeart/2005/8/layout/default"/>
    <dgm:cxn modelId="{13D25416-90C0-473F-8CD6-64DA65292A2F}" type="presParOf" srcId="{F428335E-C193-4B62-A957-008AEA443805}" destId="{C98CF24D-0E29-49B5-8FF1-65974499320B}"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4C34FB4-EC02-4C17-970D-EBB7752B6EF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019B105D-B22C-4D08-837D-4CEBB5111101}">
      <dgm:prSet phldrT="[Tex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80% Faster </a:t>
          </a:r>
          <a:r>
            <a:rPr lang="en-US" sz="1400" b="0" i="0" dirty="0"/>
            <a:t>lab test Processing</a:t>
          </a:r>
          <a:endParaRPr lang="en-IN" sz="1400" dirty="0"/>
        </a:p>
      </dgm:t>
    </dgm:pt>
    <dgm:pt modelId="{0697D293-1FBD-4A11-A811-2D232FA57FC9}" type="parTrans" cxnId="{5256BAD1-E6BD-494C-8F5A-E8A281068E41}">
      <dgm:prSet/>
      <dgm:spPr/>
      <dgm:t>
        <a:bodyPr/>
        <a:lstStyle/>
        <a:p>
          <a:endParaRPr lang="en-IN" sz="1200"/>
        </a:p>
      </dgm:t>
    </dgm:pt>
    <dgm:pt modelId="{85C541BB-B0DC-4C13-98B8-B1230C798B0D}" type="sibTrans" cxnId="{5256BAD1-E6BD-494C-8F5A-E8A281068E41}">
      <dgm:prSet/>
      <dgm:spPr/>
      <dgm:t>
        <a:bodyPr/>
        <a:lstStyle/>
        <a:p>
          <a:endParaRPr lang="en-IN" sz="1200"/>
        </a:p>
      </dgm:t>
    </dgm:pt>
    <dgm:pt modelId="{0796C273-A66A-461A-ADC9-7382D0C937CC}">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100% Digital traceability </a:t>
          </a:r>
        </a:p>
        <a:p>
          <a:pPr>
            <a:buFont typeface="Arial" panose="020B0604020202020204" pitchFamily="34" charset="0"/>
            <a:buChar char="•"/>
          </a:pPr>
          <a:r>
            <a:rPr lang="en-IN" sz="1400" b="0" i="0" dirty="0"/>
            <a:t>Of requests and reports</a:t>
          </a:r>
          <a:endParaRPr lang="en-US" sz="1800" b="0" i="0" dirty="0"/>
        </a:p>
      </dgm:t>
    </dgm:pt>
    <dgm:pt modelId="{0E4446D9-3470-4B50-8283-FA5948E68B53}" type="parTrans" cxnId="{2CF7F97E-AF25-4247-B4D0-FB272AE2E7E6}">
      <dgm:prSet/>
      <dgm:spPr/>
      <dgm:t>
        <a:bodyPr/>
        <a:lstStyle/>
        <a:p>
          <a:endParaRPr lang="en-IN" sz="1200"/>
        </a:p>
      </dgm:t>
    </dgm:pt>
    <dgm:pt modelId="{8B2E50B4-499F-4E93-BD57-1A4288539ABA}" type="sibTrans" cxnId="{2CF7F97E-AF25-4247-B4D0-FB272AE2E7E6}">
      <dgm:prSet/>
      <dgm:spPr/>
      <dgm:t>
        <a:bodyPr/>
        <a:lstStyle/>
        <a:p>
          <a:endParaRPr lang="en-IN" sz="1200"/>
        </a:p>
      </dgm:t>
    </dgm:pt>
    <dgm:pt modelId="{A9D834CE-A131-4571-B158-91DDEAFD4C8A}">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Improved Efficiency</a:t>
          </a:r>
          <a:r>
            <a:rPr lang="en-IN" sz="1600" b="0" i="0" dirty="0"/>
            <a:t> </a:t>
          </a:r>
        </a:p>
        <a:p>
          <a:pPr>
            <a:buFont typeface="Arial" panose="020B0604020202020204" pitchFamily="34" charset="0"/>
            <a:buChar char="•"/>
          </a:pPr>
          <a:r>
            <a:rPr lang="en-IN" sz="1600" b="0" i="0" dirty="0"/>
            <a:t>Requestors and Lab Team</a:t>
          </a:r>
          <a:endParaRPr lang="en-US" sz="1600" b="0" i="0" dirty="0"/>
        </a:p>
      </dgm:t>
    </dgm:pt>
    <dgm:pt modelId="{7A8C57D0-A4CE-455E-8E2A-395EBF700166}" type="parTrans" cxnId="{014E4ADF-0390-42BE-B187-6800CE05442F}">
      <dgm:prSet/>
      <dgm:spPr/>
      <dgm:t>
        <a:bodyPr/>
        <a:lstStyle/>
        <a:p>
          <a:endParaRPr lang="en-IN" sz="1200"/>
        </a:p>
      </dgm:t>
    </dgm:pt>
    <dgm:pt modelId="{EF923DD4-C128-431F-9133-3C9DEB02026C}" type="sibTrans" cxnId="{014E4ADF-0390-42BE-B187-6800CE05442F}">
      <dgm:prSet/>
      <dgm:spPr/>
      <dgm:t>
        <a:bodyPr/>
        <a:lstStyle/>
        <a:p>
          <a:endParaRPr lang="en-IN" sz="1200"/>
        </a:p>
      </dgm:t>
    </dgm:pt>
    <dgm:pt modelId="{C10DFBA1-64E6-40DB-9041-AF5C0D80B49F}">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Scalable </a:t>
          </a:r>
        </a:p>
        <a:p>
          <a:pPr>
            <a:buFont typeface="Arial" panose="020B0604020202020204" pitchFamily="34" charset="0"/>
            <a:buChar char="•"/>
          </a:pPr>
          <a:r>
            <a:rPr lang="en-IN" sz="1400" b="0" i="0" dirty="0"/>
            <a:t>Across Divisions and Test Types</a:t>
          </a:r>
          <a:endParaRPr lang="en-US" sz="1800" b="1" i="0" dirty="0"/>
        </a:p>
      </dgm:t>
    </dgm:pt>
    <dgm:pt modelId="{B4A8C3D6-560C-45BA-9EC5-42360327EE4E}" type="parTrans" cxnId="{79A63933-E630-460B-A35F-ACD68522F125}">
      <dgm:prSet/>
      <dgm:spPr/>
      <dgm:t>
        <a:bodyPr/>
        <a:lstStyle/>
        <a:p>
          <a:endParaRPr lang="en-IN" sz="1200"/>
        </a:p>
      </dgm:t>
    </dgm:pt>
    <dgm:pt modelId="{6D154F44-98E3-4AB0-BB6E-C3F72D1E4B29}" type="sibTrans" cxnId="{79A63933-E630-460B-A35F-ACD68522F125}">
      <dgm:prSet/>
      <dgm:spPr/>
      <dgm:t>
        <a:bodyPr/>
        <a:lstStyle/>
        <a:p>
          <a:endParaRPr lang="en-IN" sz="1200"/>
        </a:p>
      </dgm:t>
    </dgm:pt>
    <dgm:pt modelId="{F428335E-C193-4B62-A957-008AEA443805}" type="pres">
      <dgm:prSet presAssocID="{C4C34FB4-EC02-4C17-970D-EBB7752B6EFB}" presName="diagram" presStyleCnt="0">
        <dgm:presLayoutVars>
          <dgm:dir/>
          <dgm:resizeHandles val="exact"/>
        </dgm:presLayoutVars>
      </dgm:prSet>
      <dgm:spPr/>
    </dgm:pt>
    <dgm:pt modelId="{9A87BD6A-5294-4DD9-9C70-704C134A4F31}" type="pres">
      <dgm:prSet presAssocID="{019B105D-B22C-4D08-837D-4CEBB5111101}" presName="node" presStyleLbl="node1" presStyleIdx="0" presStyleCnt="4" custScaleX="135412">
        <dgm:presLayoutVars>
          <dgm:bulletEnabled val="1"/>
        </dgm:presLayoutVars>
      </dgm:prSet>
      <dgm:spPr/>
    </dgm:pt>
    <dgm:pt modelId="{2525BB42-C4F2-4535-899E-197C5AFAAA3B}" type="pres">
      <dgm:prSet presAssocID="{85C541BB-B0DC-4C13-98B8-B1230C798B0D}" presName="sibTrans" presStyleCnt="0"/>
      <dgm:spPr/>
    </dgm:pt>
    <dgm:pt modelId="{A3D6CB1E-626F-48F7-A961-E16615167BF7}" type="pres">
      <dgm:prSet presAssocID="{0796C273-A66A-461A-ADC9-7382D0C937CC}" presName="node" presStyleLbl="node1" presStyleIdx="1" presStyleCnt="4" custScaleX="171254">
        <dgm:presLayoutVars>
          <dgm:bulletEnabled val="1"/>
        </dgm:presLayoutVars>
      </dgm:prSet>
      <dgm:spPr/>
    </dgm:pt>
    <dgm:pt modelId="{BC36D203-462D-46F5-AF2A-380924BAA335}" type="pres">
      <dgm:prSet presAssocID="{8B2E50B4-499F-4E93-BD57-1A4288539ABA}" presName="sibTrans" presStyleCnt="0"/>
      <dgm:spPr/>
    </dgm:pt>
    <dgm:pt modelId="{F50F0844-8F05-42E4-8D9C-0725AF94D94E}" type="pres">
      <dgm:prSet presAssocID="{A9D834CE-A131-4571-B158-91DDEAFD4C8A}" presName="node" presStyleLbl="node1" presStyleIdx="2" presStyleCnt="4" custScaleX="216235">
        <dgm:presLayoutVars>
          <dgm:bulletEnabled val="1"/>
        </dgm:presLayoutVars>
      </dgm:prSet>
      <dgm:spPr/>
    </dgm:pt>
    <dgm:pt modelId="{489A589E-FD78-4A6E-B6DF-68BE731C2860}" type="pres">
      <dgm:prSet presAssocID="{EF923DD4-C128-431F-9133-3C9DEB02026C}" presName="sibTrans" presStyleCnt="0"/>
      <dgm:spPr/>
    </dgm:pt>
    <dgm:pt modelId="{C98CF24D-0E29-49B5-8FF1-65974499320B}" type="pres">
      <dgm:prSet presAssocID="{C10DFBA1-64E6-40DB-9041-AF5C0D80B49F}" presName="node" presStyleLbl="node1" presStyleIdx="3" presStyleCnt="4" custScaleX="182522">
        <dgm:presLayoutVars>
          <dgm:bulletEnabled val="1"/>
        </dgm:presLayoutVars>
      </dgm:prSet>
      <dgm:spPr/>
    </dgm:pt>
  </dgm:ptLst>
  <dgm:cxnLst>
    <dgm:cxn modelId="{79A63933-E630-460B-A35F-ACD68522F125}" srcId="{C4C34FB4-EC02-4C17-970D-EBB7752B6EFB}" destId="{C10DFBA1-64E6-40DB-9041-AF5C0D80B49F}" srcOrd="3" destOrd="0" parTransId="{B4A8C3D6-560C-45BA-9EC5-42360327EE4E}" sibTransId="{6D154F44-98E3-4AB0-BB6E-C3F72D1E4B29}"/>
    <dgm:cxn modelId="{4B34363D-AF5E-482D-A9CB-47FA5CDDA2D9}" type="presOf" srcId="{C10DFBA1-64E6-40DB-9041-AF5C0D80B49F}" destId="{C98CF24D-0E29-49B5-8FF1-65974499320B}" srcOrd="0" destOrd="0" presId="urn:microsoft.com/office/officeart/2005/8/layout/default"/>
    <dgm:cxn modelId="{B5A1BB5B-0EE1-4C7A-851E-5C4B6202EEA4}" type="presOf" srcId="{C4C34FB4-EC02-4C17-970D-EBB7752B6EFB}" destId="{F428335E-C193-4B62-A957-008AEA443805}" srcOrd="0" destOrd="0" presId="urn:microsoft.com/office/officeart/2005/8/layout/default"/>
    <dgm:cxn modelId="{2CF7F97E-AF25-4247-B4D0-FB272AE2E7E6}" srcId="{C4C34FB4-EC02-4C17-970D-EBB7752B6EFB}" destId="{0796C273-A66A-461A-ADC9-7382D0C937CC}" srcOrd="1" destOrd="0" parTransId="{0E4446D9-3470-4B50-8283-FA5948E68B53}" sibTransId="{8B2E50B4-499F-4E93-BD57-1A4288539ABA}"/>
    <dgm:cxn modelId="{18D6DC9C-2E08-41AF-B4BC-35D2285EF1B8}" type="presOf" srcId="{0796C273-A66A-461A-ADC9-7382D0C937CC}" destId="{A3D6CB1E-626F-48F7-A961-E16615167BF7}" srcOrd="0" destOrd="0" presId="urn:microsoft.com/office/officeart/2005/8/layout/default"/>
    <dgm:cxn modelId="{159CDAA8-E6BC-49FD-9FA2-5323AAFBE009}" type="presOf" srcId="{019B105D-B22C-4D08-837D-4CEBB5111101}" destId="{9A87BD6A-5294-4DD9-9C70-704C134A4F31}" srcOrd="0" destOrd="0" presId="urn:microsoft.com/office/officeart/2005/8/layout/default"/>
    <dgm:cxn modelId="{880D07C3-D9F6-43BC-B395-60F2F29A1D79}" type="presOf" srcId="{A9D834CE-A131-4571-B158-91DDEAFD4C8A}" destId="{F50F0844-8F05-42E4-8D9C-0725AF94D94E}" srcOrd="0" destOrd="0" presId="urn:microsoft.com/office/officeart/2005/8/layout/default"/>
    <dgm:cxn modelId="{5256BAD1-E6BD-494C-8F5A-E8A281068E41}" srcId="{C4C34FB4-EC02-4C17-970D-EBB7752B6EFB}" destId="{019B105D-B22C-4D08-837D-4CEBB5111101}" srcOrd="0" destOrd="0" parTransId="{0697D293-1FBD-4A11-A811-2D232FA57FC9}" sibTransId="{85C541BB-B0DC-4C13-98B8-B1230C798B0D}"/>
    <dgm:cxn modelId="{014E4ADF-0390-42BE-B187-6800CE05442F}" srcId="{C4C34FB4-EC02-4C17-970D-EBB7752B6EFB}" destId="{A9D834CE-A131-4571-B158-91DDEAFD4C8A}" srcOrd="2" destOrd="0" parTransId="{7A8C57D0-A4CE-455E-8E2A-395EBF700166}" sibTransId="{EF923DD4-C128-431F-9133-3C9DEB02026C}"/>
    <dgm:cxn modelId="{3D8678D5-8F59-4037-A6E0-29BA4A45DEC1}" type="presParOf" srcId="{F428335E-C193-4B62-A957-008AEA443805}" destId="{9A87BD6A-5294-4DD9-9C70-704C134A4F31}" srcOrd="0" destOrd="0" presId="urn:microsoft.com/office/officeart/2005/8/layout/default"/>
    <dgm:cxn modelId="{B113757C-CFC7-4D1B-B41C-B3743CF041AA}" type="presParOf" srcId="{F428335E-C193-4B62-A957-008AEA443805}" destId="{2525BB42-C4F2-4535-899E-197C5AFAAA3B}" srcOrd="1" destOrd="0" presId="urn:microsoft.com/office/officeart/2005/8/layout/default"/>
    <dgm:cxn modelId="{8402A758-7AB0-46B1-91D4-A573B7189B64}" type="presParOf" srcId="{F428335E-C193-4B62-A957-008AEA443805}" destId="{A3D6CB1E-626F-48F7-A961-E16615167BF7}" srcOrd="2" destOrd="0" presId="urn:microsoft.com/office/officeart/2005/8/layout/default"/>
    <dgm:cxn modelId="{505B22E8-7245-4594-AD87-402F73DD9397}" type="presParOf" srcId="{F428335E-C193-4B62-A957-008AEA443805}" destId="{BC36D203-462D-46F5-AF2A-380924BAA335}" srcOrd="3" destOrd="0" presId="urn:microsoft.com/office/officeart/2005/8/layout/default"/>
    <dgm:cxn modelId="{539F407E-47B2-46E5-A206-F8E69E3E48B9}" type="presParOf" srcId="{F428335E-C193-4B62-A957-008AEA443805}" destId="{F50F0844-8F05-42E4-8D9C-0725AF94D94E}" srcOrd="4" destOrd="0" presId="urn:microsoft.com/office/officeart/2005/8/layout/default"/>
    <dgm:cxn modelId="{D19BC2DE-EAC6-4120-843E-7557087DA730}" type="presParOf" srcId="{F428335E-C193-4B62-A957-008AEA443805}" destId="{489A589E-FD78-4A6E-B6DF-68BE731C2860}" srcOrd="5" destOrd="0" presId="urn:microsoft.com/office/officeart/2005/8/layout/default"/>
    <dgm:cxn modelId="{13D25416-90C0-473F-8CD6-64DA65292A2F}" type="presParOf" srcId="{F428335E-C193-4B62-A957-008AEA443805}" destId="{C98CF24D-0E29-49B5-8FF1-65974499320B}"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4C34FB4-EC02-4C17-970D-EBB7752B6EF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019B105D-B22C-4D08-837D-4CEBB5111101}">
      <dgm:prSet phldrT="[Tex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95% Reduction </a:t>
          </a:r>
          <a:r>
            <a:rPr lang="en-US" sz="1400" b="0" i="0" dirty="0"/>
            <a:t>in Manual data Entry efforts</a:t>
          </a:r>
          <a:endParaRPr lang="en-IN" sz="1400" dirty="0"/>
        </a:p>
      </dgm:t>
    </dgm:pt>
    <dgm:pt modelId="{0697D293-1FBD-4A11-A811-2D232FA57FC9}" type="parTrans" cxnId="{5256BAD1-E6BD-494C-8F5A-E8A281068E41}">
      <dgm:prSet/>
      <dgm:spPr/>
      <dgm:t>
        <a:bodyPr/>
        <a:lstStyle/>
        <a:p>
          <a:endParaRPr lang="en-IN" sz="1200"/>
        </a:p>
      </dgm:t>
    </dgm:pt>
    <dgm:pt modelId="{85C541BB-B0DC-4C13-98B8-B1230C798B0D}" type="sibTrans" cxnId="{5256BAD1-E6BD-494C-8F5A-E8A281068E41}">
      <dgm:prSet/>
      <dgm:spPr/>
      <dgm:t>
        <a:bodyPr/>
        <a:lstStyle/>
        <a:p>
          <a:endParaRPr lang="en-IN" sz="1200"/>
        </a:p>
      </dgm:t>
    </dgm:pt>
    <dgm:pt modelId="{0796C273-A66A-461A-ADC9-7382D0C937CC}">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Real-Time Synchronization</a:t>
          </a:r>
        </a:p>
        <a:p>
          <a:pPr>
            <a:buFont typeface="Arial" panose="020B0604020202020204" pitchFamily="34" charset="0"/>
            <a:buChar char="•"/>
          </a:pPr>
          <a:r>
            <a:rPr lang="en-IN" sz="1400" b="0" i="0" dirty="0"/>
            <a:t>between Excel and Oracle</a:t>
          </a:r>
          <a:endParaRPr lang="en-US" sz="1800" b="0" i="0" dirty="0"/>
        </a:p>
      </dgm:t>
    </dgm:pt>
    <dgm:pt modelId="{0E4446D9-3470-4B50-8283-FA5948E68B53}" type="parTrans" cxnId="{2CF7F97E-AF25-4247-B4D0-FB272AE2E7E6}">
      <dgm:prSet/>
      <dgm:spPr/>
      <dgm:t>
        <a:bodyPr/>
        <a:lstStyle/>
        <a:p>
          <a:endParaRPr lang="en-IN" sz="1200"/>
        </a:p>
      </dgm:t>
    </dgm:pt>
    <dgm:pt modelId="{8B2E50B4-499F-4E93-BD57-1A4288539ABA}" type="sibTrans" cxnId="{2CF7F97E-AF25-4247-B4D0-FB272AE2E7E6}">
      <dgm:prSet/>
      <dgm:spPr/>
      <dgm:t>
        <a:bodyPr/>
        <a:lstStyle/>
        <a:p>
          <a:endParaRPr lang="en-IN" sz="1200"/>
        </a:p>
      </dgm:t>
    </dgm:pt>
    <dgm:pt modelId="{A9D834CE-A131-4571-B158-91DDEAFD4C8A}">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 Improved Inventory Accuracy</a:t>
          </a:r>
        </a:p>
        <a:p>
          <a:pPr>
            <a:buFont typeface="Arial" panose="020B0604020202020204" pitchFamily="34" charset="0"/>
            <a:buChar char="•"/>
          </a:pPr>
          <a:r>
            <a:rPr lang="en-IN" sz="1600" b="0" i="0" dirty="0"/>
            <a:t>across systems</a:t>
          </a:r>
          <a:endParaRPr lang="en-US" sz="1600" b="0" i="0" dirty="0"/>
        </a:p>
      </dgm:t>
    </dgm:pt>
    <dgm:pt modelId="{7A8C57D0-A4CE-455E-8E2A-395EBF700166}" type="parTrans" cxnId="{014E4ADF-0390-42BE-B187-6800CE05442F}">
      <dgm:prSet/>
      <dgm:spPr/>
      <dgm:t>
        <a:bodyPr/>
        <a:lstStyle/>
        <a:p>
          <a:endParaRPr lang="en-IN" sz="1200"/>
        </a:p>
      </dgm:t>
    </dgm:pt>
    <dgm:pt modelId="{EF923DD4-C128-431F-9133-3C9DEB02026C}" type="sibTrans" cxnId="{014E4ADF-0390-42BE-B187-6800CE05442F}">
      <dgm:prSet/>
      <dgm:spPr/>
      <dgm:t>
        <a:bodyPr/>
        <a:lstStyle/>
        <a:p>
          <a:endParaRPr lang="en-IN" sz="1200"/>
        </a:p>
      </dgm:t>
    </dgm:pt>
    <dgm:pt modelId="{C10DFBA1-64E6-40DB-9041-AF5C0D80B49F}">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Scalable Automation </a:t>
          </a:r>
        </a:p>
        <a:p>
          <a:pPr>
            <a:buFont typeface="Arial" panose="020B0604020202020204" pitchFamily="34" charset="0"/>
            <a:buChar char="•"/>
          </a:pPr>
          <a:r>
            <a:rPr lang="en-IN" sz="1400" b="0" i="0" dirty="0"/>
            <a:t>for future ERP modules</a:t>
          </a:r>
          <a:endParaRPr lang="en-US" sz="1800" b="1" i="0" dirty="0"/>
        </a:p>
      </dgm:t>
    </dgm:pt>
    <dgm:pt modelId="{B4A8C3D6-560C-45BA-9EC5-42360327EE4E}" type="parTrans" cxnId="{79A63933-E630-460B-A35F-ACD68522F125}">
      <dgm:prSet/>
      <dgm:spPr/>
      <dgm:t>
        <a:bodyPr/>
        <a:lstStyle/>
        <a:p>
          <a:endParaRPr lang="en-IN" sz="1200"/>
        </a:p>
      </dgm:t>
    </dgm:pt>
    <dgm:pt modelId="{6D154F44-98E3-4AB0-BB6E-C3F72D1E4B29}" type="sibTrans" cxnId="{79A63933-E630-460B-A35F-ACD68522F125}">
      <dgm:prSet/>
      <dgm:spPr/>
      <dgm:t>
        <a:bodyPr/>
        <a:lstStyle/>
        <a:p>
          <a:endParaRPr lang="en-IN" sz="1200"/>
        </a:p>
      </dgm:t>
    </dgm:pt>
    <dgm:pt modelId="{F428335E-C193-4B62-A957-008AEA443805}" type="pres">
      <dgm:prSet presAssocID="{C4C34FB4-EC02-4C17-970D-EBB7752B6EFB}" presName="diagram" presStyleCnt="0">
        <dgm:presLayoutVars>
          <dgm:dir/>
          <dgm:resizeHandles val="exact"/>
        </dgm:presLayoutVars>
      </dgm:prSet>
      <dgm:spPr/>
    </dgm:pt>
    <dgm:pt modelId="{9A87BD6A-5294-4DD9-9C70-704C134A4F31}" type="pres">
      <dgm:prSet presAssocID="{019B105D-B22C-4D08-837D-4CEBB5111101}" presName="node" presStyleLbl="node1" presStyleIdx="0" presStyleCnt="4" custScaleX="135412">
        <dgm:presLayoutVars>
          <dgm:bulletEnabled val="1"/>
        </dgm:presLayoutVars>
      </dgm:prSet>
      <dgm:spPr/>
    </dgm:pt>
    <dgm:pt modelId="{2525BB42-C4F2-4535-899E-197C5AFAAA3B}" type="pres">
      <dgm:prSet presAssocID="{85C541BB-B0DC-4C13-98B8-B1230C798B0D}" presName="sibTrans" presStyleCnt="0"/>
      <dgm:spPr/>
    </dgm:pt>
    <dgm:pt modelId="{A3D6CB1E-626F-48F7-A961-E16615167BF7}" type="pres">
      <dgm:prSet presAssocID="{0796C273-A66A-461A-ADC9-7382D0C937CC}" presName="node" presStyleLbl="node1" presStyleIdx="1" presStyleCnt="4" custScaleX="171254">
        <dgm:presLayoutVars>
          <dgm:bulletEnabled val="1"/>
        </dgm:presLayoutVars>
      </dgm:prSet>
      <dgm:spPr/>
    </dgm:pt>
    <dgm:pt modelId="{BC36D203-462D-46F5-AF2A-380924BAA335}" type="pres">
      <dgm:prSet presAssocID="{8B2E50B4-499F-4E93-BD57-1A4288539ABA}" presName="sibTrans" presStyleCnt="0"/>
      <dgm:spPr/>
    </dgm:pt>
    <dgm:pt modelId="{F50F0844-8F05-42E4-8D9C-0725AF94D94E}" type="pres">
      <dgm:prSet presAssocID="{A9D834CE-A131-4571-B158-91DDEAFD4C8A}" presName="node" presStyleLbl="node1" presStyleIdx="2" presStyleCnt="4" custScaleX="216235">
        <dgm:presLayoutVars>
          <dgm:bulletEnabled val="1"/>
        </dgm:presLayoutVars>
      </dgm:prSet>
      <dgm:spPr/>
    </dgm:pt>
    <dgm:pt modelId="{489A589E-FD78-4A6E-B6DF-68BE731C2860}" type="pres">
      <dgm:prSet presAssocID="{EF923DD4-C128-431F-9133-3C9DEB02026C}" presName="sibTrans" presStyleCnt="0"/>
      <dgm:spPr/>
    </dgm:pt>
    <dgm:pt modelId="{C98CF24D-0E29-49B5-8FF1-65974499320B}" type="pres">
      <dgm:prSet presAssocID="{C10DFBA1-64E6-40DB-9041-AF5C0D80B49F}" presName="node" presStyleLbl="node1" presStyleIdx="3" presStyleCnt="4" custScaleX="182522">
        <dgm:presLayoutVars>
          <dgm:bulletEnabled val="1"/>
        </dgm:presLayoutVars>
      </dgm:prSet>
      <dgm:spPr/>
    </dgm:pt>
  </dgm:ptLst>
  <dgm:cxnLst>
    <dgm:cxn modelId="{79A63933-E630-460B-A35F-ACD68522F125}" srcId="{C4C34FB4-EC02-4C17-970D-EBB7752B6EFB}" destId="{C10DFBA1-64E6-40DB-9041-AF5C0D80B49F}" srcOrd="3" destOrd="0" parTransId="{B4A8C3D6-560C-45BA-9EC5-42360327EE4E}" sibTransId="{6D154F44-98E3-4AB0-BB6E-C3F72D1E4B29}"/>
    <dgm:cxn modelId="{4B34363D-AF5E-482D-A9CB-47FA5CDDA2D9}" type="presOf" srcId="{C10DFBA1-64E6-40DB-9041-AF5C0D80B49F}" destId="{C98CF24D-0E29-49B5-8FF1-65974499320B}" srcOrd="0" destOrd="0" presId="urn:microsoft.com/office/officeart/2005/8/layout/default"/>
    <dgm:cxn modelId="{B5A1BB5B-0EE1-4C7A-851E-5C4B6202EEA4}" type="presOf" srcId="{C4C34FB4-EC02-4C17-970D-EBB7752B6EFB}" destId="{F428335E-C193-4B62-A957-008AEA443805}" srcOrd="0" destOrd="0" presId="urn:microsoft.com/office/officeart/2005/8/layout/default"/>
    <dgm:cxn modelId="{2CF7F97E-AF25-4247-B4D0-FB272AE2E7E6}" srcId="{C4C34FB4-EC02-4C17-970D-EBB7752B6EFB}" destId="{0796C273-A66A-461A-ADC9-7382D0C937CC}" srcOrd="1" destOrd="0" parTransId="{0E4446D9-3470-4B50-8283-FA5948E68B53}" sibTransId="{8B2E50B4-499F-4E93-BD57-1A4288539ABA}"/>
    <dgm:cxn modelId="{18D6DC9C-2E08-41AF-B4BC-35D2285EF1B8}" type="presOf" srcId="{0796C273-A66A-461A-ADC9-7382D0C937CC}" destId="{A3D6CB1E-626F-48F7-A961-E16615167BF7}" srcOrd="0" destOrd="0" presId="urn:microsoft.com/office/officeart/2005/8/layout/default"/>
    <dgm:cxn modelId="{159CDAA8-E6BC-49FD-9FA2-5323AAFBE009}" type="presOf" srcId="{019B105D-B22C-4D08-837D-4CEBB5111101}" destId="{9A87BD6A-5294-4DD9-9C70-704C134A4F31}" srcOrd="0" destOrd="0" presId="urn:microsoft.com/office/officeart/2005/8/layout/default"/>
    <dgm:cxn modelId="{880D07C3-D9F6-43BC-B395-60F2F29A1D79}" type="presOf" srcId="{A9D834CE-A131-4571-B158-91DDEAFD4C8A}" destId="{F50F0844-8F05-42E4-8D9C-0725AF94D94E}" srcOrd="0" destOrd="0" presId="urn:microsoft.com/office/officeart/2005/8/layout/default"/>
    <dgm:cxn modelId="{5256BAD1-E6BD-494C-8F5A-E8A281068E41}" srcId="{C4C34FB4-EC02-4C17-970D-EBB7752B6EFB}" destId="{019B105D-B22C-4D08-837D-4CEBB5111101}" srcOrd="0" destOrd="0" parTransId="{0697D293-1FBD-4A11-A811-2D232FA57FC9}" sibTransId="{85C541BB-B0DC-4C13-98B8-B1230C798B0D}"/>
    <dgm:cxn modelId="{014E4ADF-0390-42BE-B187-6800CE05442F}" srcId="{C4C34FB4-EC02-4C17-970D-EBB7752B6EFB}" destId="{A9D834CE-A131-4571-B158-91DDEAFD4C8A}" srcOrd="2" destOrd="0" parTransId="{7A8C57D0-A4CE-455E-8E2A-395EBF700166}" sibTransId="{EF923DD4-C128-431F-9133-3C9DEB02026C}"/>
    <dgm:cxn modelId="{3D8678D5-8F59-4037-A6E0-29BA4A45DEC1}" type="presParOf" srcId="{F428335E-C193-4B62-A957-008AEA443805}" destId="{9A87BD6A-5294-4DD9-9C70-704C134A4F31}" srcOrd="0" destOrd="0" presId="urn:microsoft.com/office/officeart/2005/8/layout/default"/>
    <dgm:cxn modelId="{B113757C-CFC7-4D1B-B41C-B3743CF041AA}" type="presParOf" srcId="{F428335E-C193-4B62-A957-008AEA443805}" destId="{2525BB42-C4F2-4535-899E-197C5AFAAA3B}" srcOrd="1" destOrd="0" presId="urn:microsoft.com/office/officeart/2005/8/layout/default"/>
    <dgm:cxn modelId="{8402A758-7AB0-46B1-91D4-A573B7189B64}" type="presParOf" srcId="{F428335E-C193-4B62-A957-008AEA443805}" destId="{A3D6CB1E-626F-48F7-A961-E16615167BF7}" srcOrd="2" destOrd="0" presId="urn:microsoft.com/office/officeart/2005/8/layout/default"/>
    <dgm:cxn modelId="{505B22E8-7245-4594-AD87-402F73DD9397}" type="presParOf" srcId="{F428335E-C193-4B62-A957-008AEA443805}" destId="{BC36D203-462D-46F5-AF2A-380924BAA335}" srcOrd="3" destOrd="0" presId="urn:microsoft.com/office/officeart/2005/8/layout/default"/>
    <dgm:cxn modelId="{539F407E-47B2-46E5-A206-F8E69E3E48B9}" type="presParOf" srcId="{F428335E-C193-4B62-A957-008AEA443805}" destId="{F50F0844-8F05-42E4-8D9C-0725AF94D94E}" srcOrd="4" destOrd="0" presId="urn:microsoft.com/office/officeart/2005/8/layout/default"/>
    <dgm:cxn modelId="{D19BC2DE-EAC6-4120-843E-7557087DA730}" type="presParOf" srcId="{F428335E-C193-4B62-A957-008AEA443805}" destId="{489A589E-FD78-4A6E-B6DF-68BE731C2860}" srcOrd="5" destOrd="0" presId="urn:microsoft.com/office/officeart/2005/8/layout/default"/>
    <dgm:cxn modelId="{13D25416-90C0-473F-8CD6-64DA65292A2F}" type="presParOf" srcId="{F428335E-C193-4B62-A957-008AEA443805}" destId="{C98CF24D-0E29-49B5-8FF1-65974499320B}"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4C34FB4-EC02-4C17-970D-EBB7752B6EF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019B105D-B22C-4D08-837D-4CEBB5111101}">
      <dgm:prSet phldrT="[Tex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Improved Recovery Rate </a:t>
          </a:r>
        </a:p>
        <a:p>
          <a:pPr>
            <a:buFont typeface="Arial" panose="020B0604020202020204" pitchFamily="34" charset="0"/>
            <a:buChar char="•"/>
          </a:pPr>
          <a:r>
            <a:rPr lang="en-IN" sz="1400" b="0" i="0" dirty="0"/>
            <a:t>with timely reminders</a:t>
          </a:r>
          <a:endParaRPr lang="en-IN" sz="1400" dirty="0"/>
        </a:p>
      </dgm:t>
    </dgm:pt>
    <dgm:pt modelId="{0697D293-1FBD-4A11-A811-2D232FA57FC9}" type="parTrans" cxnId="{5256BAD1-E6BD-494C-8F5A-E8A281068E41}">
      <dgm:prSet/>
      <dgm:spPr/>
      <dgm:t>
        <a:bodyPr/>
        <a:lstStyle/>
        <a:p>
          <a:endParaRPr lang="en-IN" sz="1200"/>
        </a:p>
      </dgm:t>
    </dgm:pt>
    <dgm:pt modelId="{85C541BB-B0DC-4C13-98B8-B1230C798B0D}" type="sibTrans" cxnId="{5256BAD1-E6BD-494C-8F5A-E8A281068E41}">
      <dgm:prSet/>
      <dgm:spPr/>
      <dgm:t>
        <a:bodyPr/>
        <a:lstStyle/>
        <a:p>
          <a:endParaRPr lang="en-IN" sz="1200"/>
        </a:p>
      </dgm:t>
    </dgm:pt>
    <dgm:pt modelId="{A9D834CE-A131-4571-B158-91DDEAFD4C8A}">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 Complete Visibility</a:t>
          </a:r>
        </a:p>
        <a:p>
          <a:pPr>
            <a:buFont typeface="Arial" panose="020B0604020202020204" pitchFamily="34" charset="0"/>
            <a:buChar char="•"/>
          </a:pPr>
          <a:r>
            <a:rPr lang="en-US" sz="1600" b="0" i="0" dirty="0"/>
            <a:t>of defaulter status and case progress</a:t>
          </a:r>
        </a:p>
      </dgm:t>
    </dgm:pt>
    <dgm:pt modelId="{7A8C57D0-A4CE-455E-8E2A-395EBF700166}" type="parTrans" cxnId="{014E4ADF-0390-42BE-B187-6800CE05442F}">
      <dgm:prSet/>
      <dgm:spPr/>
      <dgm:t>
        <a:bodyPr/>
        <a:lstStyle/>
        <a:p>
          <a:endParaRPr lang="en-IN" sz="1200"/>
        </a:p>
      </dgm:t>
    </dgm:pt>
    <dgm:pt modelId="{EF923DD4-C128-431F-9133-3C9DEB02026C}" type="sibTrans" cxnId="{014E4ADF-0390-42BE-B187-6800CE05442F}">
      <dgm:prSet/>
      <dgm:spPr/>
      <dgm:t>
        <a:bodyPr/>
        <a:lstStyle/>
        <a:p>
          <a:endParaRPr lang="en-IN" sz="1200"/>
        </a:p>
      </dgm:t>
    </dgm:pt>
    <dgm:pt modelId="{C10DFBA1-64E6-40DB-9041-AF5C0D80B49F}">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Audit-Ready</a:t>
          </a:r>
        </a:p>
        <a:p>
          <a:pPr>
            <a:buFont typeface="Arial" panose="020B0604020202020204" pitchFamily="34" charset="0"/>
            <a:buChar char="•"/>
          </a:pPr>
          <a:r>
            <a:rPr lang="en-US" sz="1400" dirty="0"/>
            <a:t>documentation for legal and finance compliance</a:t>
          </a:r>
          <a:endParaRPr lang="en-US" sz="1800" b="1" i="0" dirty="0"/>
        </a:p>
      </dgm:t>
    </dgm:pt>
    <dgm:pt modelId="{B4A8C3D6-560C-45BA-9EC5-42360327EE4E}" type="parTrans" cxnId="{79A63933-E630-460B-A35F-ACD68522F125}">
      <dgm:prSet/>
      <dgm:spPr/>
      <dgm:t>
        <a:bodyPr/>
        <a:lstStyle/>
        <a:p>
          <a:endParaRPr lang="en-IN" sz="1200"/>
        </a:p>
      </dgm:t>
    </dgm:pt>
    <dgm:pt modelId="{6D154F44-98E3-4AB0-BB6E-C3F72D1E4B29}" type="sibTrans" cxnId="{79A63933-E630-460B-A35F-ACD68522F125}">
      <dgm:prSet/>
      <dgm:spPr/>
      <dgm:t>
        <a:bodyPr/>
        <a:lstStyle/>
        <a:p>
          <a:endParaRPr lang="en-IN" sz="1200"/>
        </a:p>
      </dgm:t>
    </dgm:pt>
    <dgm:pt modelId="{0796C273-A66A-461A-ADC9-7382D0C937CC}">
      <dgm:prSet custT="1"/>
      <dgm:spPr>
        <a:noFill/>
        <a:ln>
          <a:solidFill>
            <a:srgbClr val="399AFF">
              <a:alpha val="14118"/>
            </a:srgbClr>
          </a:solidFill>
        </a:ln>
      </dgm:spPr>
      <dgm:t>
        <a:bodyPr/>
        <a:lstStyle/>
        <a:p>
          <a:pPr>
            <a:buFont typeface="Arial" panose="020B0604020202020204" pitchFamily="34" charset="0"/>
            <a:buChar char="•"/>
          </a:pPr>
          <a:r>
            <a:rPr lang="en-IN" sz="1800" b="1" i="0" dirty="0">
              <a:solidFill>
                <a:srgbClr val="B6FF42"/>
              </a:solidFill>
            </a:rPr>
            <a:t>Structured Legal Escalation</a:t>
          </a:r>
        </a:p>
        <a:p>
          <a:pPr>
            <a:buFont typeface="Arial" panose="020B0604020202020204" pitchFamily="34" charset="0"/>
            <a:buChar char="•"/>
          </a:pPr>
          <a:r>
            <a:rPr lang="en-IN" sz="1400" b="0" i="0" dirty="0"/>
            <a:t>reducing manual coordination</a:t>
          </a:r>
          <a:endParaRPr lang="en-US" sz="1800" b="0" i="0" dirty="0"/>
        </a:p>
      </dgm:t>
    </dgm:pt>
    <dgm:pt modelId="{8B2E50B4-499F-4E93-BD57-1A4288539ABA}" type="sibTrans" cxnId="{2CF7F97E-AF25-4247-B4D0-FB272AE2E7E6}">
      <dgm:prSet/>
      <dgm:spPr/>
      <dgm:t>
        <a:bodyPr/>
        <a:lstStyle/>
        <a:p>
          <a:endParaRPr lang="en-IN" sz="1200"/>
        </a:p>
      </dgm:t>
    </dgm:pt>
    <dgm:pt modelId="{0E4446D9-3470-4B50-8283-FA5948E68B53}" type="parTrans" cxnId="{2CF7F97E-AF25-4247-B4D0-FB272AE2E7E6}">
      <dgm:prSet/>
      <dgm:spPr/>
      <dgm:t>
        <a:bodyPr/>
        <a:lstStyle/>
        <a:p>
          <a:endParaRPr lang="en-IN" sz="1200"/>
        </a:p>
      </dgm:t>
    </dgm:pt>
    <dgm:pt modelId="{F428335E-C193-4B62-A957-008AEA443805}" type="pres">
      <dgm:prSet presAssocID="{C4C34FB4-EC02-4C17-970D-EBB7752B6EFB}" presName="diagram" presStyleCnt="0">
        <dgm:presLayoutVars>
          <dgm:dir/>
          <dgm:resizeHandles val="exact"/>
        </dgm:presLayoutVars>
      </dgm:prSet>
      <dgm:spPr/>
    </dgm:pt>
    <dgm:pt modelId="{9A87BD6A-5294-4DD9-9C70-704C134A4F31}" type="pres">
      <dgm:prSet presAssocID="{019B105D-B22C-4D08-837D-4CEBB5111101}" presName="node" presStyleLbl="node1" presStyleIdx="0" presStyleCnt="4" custScaleX="135412">
        <dgm:presLayoutVars>
          <dgm:bulletEnabled val="1"/>
        </dgm:presLayoutVars>
      </dgm:prSet>
      <dgm:spPr/>
    </dgm:pt>
    <dgm:pt modelId="{2525BB42-C4F2-4535-899E-197C5AFAAA3B}" type="pres">
      <dgm:prSet presAssocID="{85C541BB-B0DC-4C13-98B8-B1230C798B0D}" presName="sibTrans" presStyleCnt="0"/>
      <dgm:spPr/>
    </dgm:pt>
    <dgm:pt modelId="{A3D6CB1E-626F-48F7-A961-E16615167BF7}" type="pres">
      <dgm:prSet presAssocID="{0796C273-A66A-461A-ADC9-7382D0C937CC}" presName="node" presStyleLbl="node1" presStyleIdx="1" presStyleCnt="4" custScaleX="171254">
        <dgm:presLayoutVars>
          <dgm:bulletEnabled val="1"/>
        </dgm:presLayoutVars>
      </dgm:prSet>
      <dgm:spPr/>
    </dgm:pt>
    <dgm:pt modelId="{BC36D203-462D-46F5-AF2A-380924BAA335}" type="pres">
      <dgm:prSet presAssocID="{8B2E50B4-499F-4E93-BD57-1A4288539ABA}" presName="sibTrans" presStyleCnt="0"/>
      <dgm:spPr/>
    </dgm:pt>
    <dgm:pt modelId="{F50F0844-8F05-42E4-8D9C-0725AF94D94E}" type="pres">
      <dgm:prSet presAssocID="{A9D834CE-A131-4571-B158-91DDEAFD4C8A}" presName="node" presStyleLbl="node1" presStyleIdx="2" presStyleCnt="4" custScaleX="202571">
        <dgm:presLayoutVars>
          <dgm:bulletEnabled val="1"/>
        </dgm:presLayoutVars>
      </dgm:prSet>
      <dgm:spPr/>
    </dgm:pt>
    <dgm:pt modelId="{489A589E-FD78-4A6E-B6DF-68BE731C2860}" type="pres">
      <dgm:prSet presAssocID="{EF923DD4-C128-431F-9133-3C9DEB02026C}" presName="sibTrans" presStyleCnt="0"/>
      <dgm:spPr/>
    </dgm:pt>
    <dgm:pt modelId="{C98CF24D-0E29-49B5-8FF1-65974499320B}" type="pres">
      <dgm:prSet presAssocID="{C10DFBA1-64E6-40DB-9041-AF5C0D80B49F}" presName="node" presStyleLbl="node1" presStyleIdx="3" presStyleCnt="4" custScaleX="182522">
        <dgm:presLayoutVars>
          <dgm:bulletEnabled val="1"/>
        </dgm:presLayoutVars>
      </dgm:prSet>
      <dgm:spPr/>
    </dgm:pt>
  </dgm:ptLst>
  <dgm:cxnLst>
    <dgm:cxn modelId="{79A63933-E630-460B-A35F-ACD68522F125}" srcId="{C4C34FB4-EC02-4C17-970D-EBB7752B6EFB}" destId="{C10DFBA1-64E6-40DB-9041-AF5C0D80B49F}" srcOrd="3" destOrd="0" parTransId="{B4A8C3D6-560C-45BA-9EC5-42360327EE4E}" sibTransId="{6D154F44-98E3-4AB0-BB6E-C3F72D1E4B29}"/>
    <dgm:cxn modelId="{4B34363D-AF5E-482D-A9CB-47FA5CDDA2D9}" type="presOf" srcId="{C10DFBA1-64E6-40DB-9041-AF5C0D80B49F}" destId="{C98CF24D-0E29-49B5-8FF1-65974499320B}" srcOrd="0" destOrd="0" presId="urn:microsoft.com/office/officeart/2005/8/layout/default"/>
    <dgm:cxn modelId="{B5A1BB5B-0EE1-4C7A-851E-5C4B6202EEA4}" type="presOf" srcId="{C4C34FB4-EC02-4C17-970D-EBB7752B6EFB}" destId="{F428335E-C193-4B62-A957-008AEA443805}" srcOrd="0" destOrd="0" presId="urn:microsoft.com/office/officeart/2005/8/layout/default"/>
    <dgm:cxn modelId="{2CF7F97E-AF25-4247-B4D0-FB272AE2E7E6}" srcId="{C4C34FB4-EC02-4C17-970D-EBB7752B6EFB}" destId="{0796C273-A66A-461A-ADC9-7382D0C937CC}" srcOrd="1" destOrd="0" parTransId="{0E4446D9-3470-4B50-8283-FA5948E68B53}" sibTransId="{8B2E50B4-499F-4E93-BD57-1A4288539ABA}"/>
    <dgm:cxn modelId="{18D6DC9C-2E08-41AF-B4BC-35D2285EF1B8}" type="presOf" srcId="{0796C273-A66A-461A-ADC9-7382D0C937CC}" destId="{A3D6CB1E-626F-48F7-A961-E16615167BF7}" srcOrd="0" destOrd="0" presId="urn:microsoft.com/office/officeart/2005/8/layout/default"/>
    <dgm:cxn modelId="{159CDAA8-E6BC-49FD-9FA2-5323AAFBE009}" type="presOf" srcId="{019B105D-B22C-4D08-837D-4CEBB5111101}" destId="{9A87BD6A-5294-4DD9-9C70-704C134A4F31}" srcOrd="0" destOrd="0" presId="urn:microsoft.com/office/officeart/2005/8/layout/default"/>
    <dgm:cxn modelId="{880D07C3-D9F6-43BC-B395-60F2F29A1D79}" type="presOf" srcId="{A9D834CE-A131-4571-B158-91DDEAFD4C8A}" destId="{F50F0844-8F05-42E4-8D9C-0725AF94D94E}" srcOrd="0" destOrd="0" presId="urn:microsoft.com/office/officeart/2005/8/layout/default"/>
    <dgm:cxn modelId="{5256BAD1-E6BD-494C-8F5A-E8A281068E41}" srcId="{C4C34FB4-EC02-4C17-970D-EBB7752B6EFB}" destId="{019B105D-B22C-4D08-837D-4CEBB5111101}" srcOrd="0" destOrd="0" parTransId="{0697D293-1FBD-4A11-A811-2D232FA57FC9}" sibTransId="{85C541BB-B0DC-4C13-98B8-B1230C798B0D}"/>
    <dgm:cxn modelId="{014E4ADF-0390-42BE-B187-6800CE05442F}" srcId="{C4C34FB4-EC02-4C17-970D-EBB7752B6EFB}" destId="{A9D834CE-A131-4571-B158-91DDEAFD4C8A}" srcOrd="2" destOrd="0" parTransId="{7A8C57D0-A4CE-455E-8E2A-395EBF700166}" sibTransId="{EF923DD4-C128-431F-9133-3C9DEB02026C}"/>
    <dgm:cxn modelId="{3D8678D5-8F59-4037-A6E0-29BA4A45DEC1}" type="presParOf" srcId="{F428335E-C193-4B62-A957-008AEA443805}" destId="{9A87BD6A-5294-4DD9-9C70-704C134A4F31}" srcOrd="0" destOrd="0" presId="urn:microsoft.com/office/officeart/2005/8/layout/default"/>
    <dgm:cxn modelId="{B113757C-CFC7-4D1B-B41C-B3743CF041AA}" type="presParOf" srcId="{F428335E-C193-4B62-A957-008AEA443805}" destId="{2525BB42-C4F2-4535-899E-197C5AFAAA3B}" srcOrd="1" destOrd="0" presId="urn:microsoft.com/office/officeart/2005/8/layout/default"/>
    <dgm:cxn modelId="{8402A758-7AB0-46B1-91D4-A573B7189B64}" type="presParOf" srcId="{F428335E-C193-4B62-A957-008AEA443805}" destId="{A3D6CB1E-626F-48F7-A961-E16615167BF7}" srcOrd="2" destOrd="0" presId="urn:microsoft.com/office/officeart/2005/8/layout/default"/>
    <dgm:cxn modelId="{505B22E8-7245-4594-AD87-402F73DD9397}" type="presParOf" srcId="{F428335E-C193-4B62-A957-008AEA443805}" destId="{BC36D203-462D-46F5-AF2A-380924BAA335}" srcOrd="3" destOrd="0" presId="urn:microsoft.com/office/officeart/2005/8/layout/default"/>
    <dgm:cxn modelId="{539F407E-47B2-46E5-A206-F8E69E3E48B9}" type="presParOf" srcId="{F428335E-C193-4B62-A957-008AEA443805}" destId="{F50F0844-8F05-42E4-8D9C-0725AF94D94E}" srcOrd="4" destOrd="0" presId="urn:microsoft.com/office/officeart/2005/8/layout/default"/>
    <dgm:cxn modelId="{D19BC2DE-EAC6-4120-843E-7557087DA730}" type="presParOf" srcId="{F428335E-C193-4B62-A957-008AEA443805}" destId="{489A589E-FD78-4A6E-B6DF-68BE731C2860}" srcOrd="5" destOrd="0" presId="urn:microsoft.com/office/officeart/2005/8/layout/default"/>
    <dgm:cxn modelId="{13D25416-90C0-473F-8CD6-64DA65292A2F}" type="presParOf" srcId="{F428335E-C193-4B62-A957-008AEA443805}" destId="{C98CF24D-0E29-49B5-8FF1-65974499320B}"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0602E39-C126-4723-9297-7E42914C566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3CC45AFF-FCF2-4DE6-B8BB-04B3E6C5AE09}">
      <dgm:prSet phldrT="[Text]" custT="1"/>
      <dgm:spPr>
        <a:ln>
          <a:noFill/>
        </a:ln>
      </dgm:spPr>
      <dgm:t>
        <a:bodyPr/>
        <a:lstStyle/>
        <a:p>
          <a:r>
            <a:rPr lang="en-US" sz="1600" dirty="0"/>
            <a:t>Tailored low-code features for GenX citizen developers.</a:t>
          </a:r>
          <a:endParaRPr lang="en-IN" sz="1600" dirty="0"/>
        </a:p>
      </dgm:t>
    </dgm:pt>
    <dgm:pt modelId="{028D4BE6-6D70-484A-8C34-755E8B42455D}" type="parTrans" cxnId="{00C34CEF-7C0A-4A98-B7AE-00491F32FF13}">
      <dgm:prSet/>
      <dgm:spPr/>
      <dgm:t>
        <a:bodyPr/>
        <a:lstStyle/>
        <a:p>
          <a:endParaRPr lang="en-IN"/>
        </a:p>
      </dgm:t>
    </dgm:pt>
    <dgm:pt modelId="{32AA759E-13E2-4F3D-BDCB-E213F4767FD8}" type="sibTrans" cxnId="{00C34CEF-7C0A-4A98-B7AE-00491F32FF13}">
      <dgm:prSet/>
      <dgm:spPr/>
      <dgm:t>
        <a:bodyPr/>
        <a:lstStyle/>
        <a:p>
          <a:endParaRPr lang="en-IN"/>
        </a:p>
      </dgm:t>
    </dgm:pt>
    <dgm:pt modelId="{F5F1A3C2-2C07-40E1-B4B0-41EEE1DA73F3}">
      <dgm:prSet phldrT="[Text]" custT="1"/>
      <dgm:spPr>
        <a:ln>
          <a:noFill/>
        </a:ln>
      </dgm:spPr>
      <dgm:t>
        <a:bodyPr/>
        <a:lstStyle/>
        <a:p>
          <a:r>
            <a:rPr lang="en-US" sz="1600" dirty="0"/>
            <a:t>Simplified, process-oriented data architecture.</a:t>
          </a:r>
          <a:endParaRPr lang="en-IN" sz="1600" dirty="0"/>
        </a:p>
      </dgm:t>
    </dgm:pt>
    <dgm:pt modelId="{38702CC9-3DEE-43A4-A8CD-63141D159E2D}" type="parTrans" cxnId="{71970066-4658-4B8E-9AFD-320CE25CE9EB}">
      <dgm:prSet/>
      <dgm:spPr/>
      <dgm:t>
        <a:bodyPr/>
        <a:lstStyle/>
        <a:p>
          <a:endParaRPr lang="en-IN"/>
        </a:p>
      </dgm:t>
    </dgm:pt>
    <dgm:pt modelId="{9D634E58-67B1-44BC-BC47-FE976DFCFF81}" type="sibTrans" cxnId="{71970066-4658-4B8E-9AFD-320CE25CE9EB}">
      <dgm:prSet/>
      <dgm:spPr/>
      <dgm:t>
        <a:bodyPr/>
        <a:lstStyle/>
        <a:p>
          <a:endParaRPr lang="en-IN"/>
        </a:p>
      </dgm:t>
    </dgm:pt>
    <dgm:pt modelId="{1A6AB9E1-9F9E-453C-B535-4942CF90D308}">
      <dgm:prSet phldrT="[Text]" custT="1"/>
      <dgm:spPr>
        <a:ln>
          <a:noFill/>
        </a:ln>
      </dgm:spPr>
      <dgm:t>
        <a:bodyPr/>
        <a:lstStyle/>
        <a:p>
          <a:r>
            <a:rPr lang="en-US" sz="1600" dirty="0"/>
            <a:t>RPA and integrations optimized for strategic solutions.</a:t>
          </a:r>
          <a:endParaRPr lang="en-IN" sz="1600" dirty="0"/>
        </a:p>
      </dgm:t>
    </dgm:pt>
    <dgm:pt modelId="{8FA76E67-4ED8-4237-933D-80EEF11D7106}" type="parTrans" cxnId="{97E4A9B5-A86D-4D76-A0DF-392D4F4AF987}">
      <dgm:prSet/>
      <dgm:spPr/>
      <dgm:t>
        <a:bodyPr/>
        <a:lstStyle/>
        <a:p>
          <a:endParaRPr lang="en-IN"/>
        </a:p>
      </dgm:t>
    </dgm:pt>
    <dgm:pt modelId="{B09272C8-C439-4497-93B1-99227973A21C}" type="sibTrans" cxnId="{97E4A9B5-A86D-4D76-A0DF-392D4F4AF987}">
      <dgm:prSet/>
      <dgm:spPr/>
      <dgm:t>
        <a:bodyPr/>
        <a:lstStyle/>
        <a:p>
          <a:endParaRPr lang="en-IN"/>
        </a:p>
      </dgm:t>
    </dgm:pt>
    <dgm:pt modelId="{56CF513D-80AB-48A3-8240-43CCF3D315FB}">
      <dgm:prSet phldrT="[Text]" custT="1"/>
      <dgm:spPr>
        <a:ln>
          <a:noFill/>
        </a:ln>
      </dgm:spPr>
      <dgm:t>
        <a:bodyPr/>
        <a:lstStyle/>
        <a:p>
          <a:r>
            <a:rPr lang="en-US" sz="1600" dirty="0"/>
            <a:t>Specialized LLM and image models for common use cases.</a:t>
          </a:r>
          <a:endParaRPr lang="en-IN" sz="1600" dirty="0"/>
        </a:p>
      </dgm:t>
    </dgm:pt>
    <dgm:pt modelId="{9FD00CEB-EA97-4E8E-AC14-3B3FEB5A8C18}" type="parTrans" cxnId="{AC33EECA-0902-4A5C-93F4-64972DC62AE6}">
      <dgm:prSet/>
      <dgm:spPr/>
      <dgm:t>
        <a:bodyPr/>
        <a:lstStyle/>
        <a:p>
          <a:endParaRPr lang="en-IN"/>
        </a:p>
      </dgm:t>
    </dgm:pt>
    <dgm:pt modelId="{F478A631-7C47-4BE7-A13C-5064D674156B}" type="sibTrans" cxnId="{AC33EECA-0902-4A5C-93F4-64972DC62AE6}">
      <dgm:prSet/>
      <dgm:spPr/>
      <dgm:t>
        <a:bodyPr/>
        <a:lstStyle/>
        <a:p>
          <a:endParaRPr lang="en-IN"/>
        </a:p>
      </dgm:t>
    </dgm:pt>
    <dgm:pt modelId="{12990F9A-ABDC-4873-8AB0-D42EDCE7D1EB}">
      <dgm:prSet phldrT="[Text]" custT="1"/>
      <dgm:spPr>
        <a:ln>
          <a:noFill/>
        </a:ln>
      </dgm:spPr>
      <dgm:t>
        <a:bodyPr/>
        <a:lstStyle/>
        <a:p>
          <a:r>
            <a:rPr lang="en-US" sz="1600" dirty="0"/>
            <a:t>Multi-tenant DMS supporting S3, OneDrive, Google Drive, local, or FTP storage.</a:t>
          </a:r>
          <a:endParaRPr lang="en-IN" sz="1600" dirty="0"/>
        </a:p>
      </dgm:t>
    </dgm:pt>
    <dgm:pt modelId="{4C5AEDE0-E6BE-4B73-AB6F-4C95B6742478}" type="parTrans" cxnId="{939F03D1-6F03-44AA-BFC1-6BF35F5F0129}">
      <dgm:prSet/>
      <dgm:spPr/>
      <dgm:t>
        <a:bodyPr/>
        <a:lstStyle/>
        <a:p>
          <a:endParaRPr lang="en-IN"/>
        </a:p>
      </dgm:t>
    </dgm:pt>
    <dgm:pt modelId="{BFFB0DDB-9DD9-439E-A297-510F71CFDCC6}" type="sibTrans" cxnId="{939F03D1-6F03-44AA-BFC1-6BF35F5F0129}">
      <dgm:prSet/>
      <dgm:spPr/>
      <dgm:t>
        <a:bodyPr/>
        <a:lstStyle/>
        <a:p>
          <a:endParaRPr lang="en-IN"/>
        </a:p>
      </dgm:t>
    </dgm:pt>
    <dgm:pt modelId="{EA567D02-54B3-481A-A6E7-245D70D3A594}">
      <dgm:prSet phldrT="[Text]" custT="1"/>
      <dgm:spPr>
        <a:ln>
          <a:noFill/>
        </a:ln>
      </dgm:spPr>
      <dgm:t>
        <a:bodyPr/>
        <a:lstStyle/>
        <a:p>
          <a:r>
            <a:rPr lang="en-US" sz="1600" dirty="0"/>
            <a:t>State management for deploying BOTs within workflows.</a:t>
          </a:r>
          <a:endParaRPr lang="en-IN" sz="1600" dirty="0"/>
        </a:p>
      </dgm:t>
    </dgm:pt>
    <dgm:pt modelId="{C2481CC9-0F06-41CB-B021-854D00DDD47D}" type="parTrans" cxnId="{583C1C5A-3306-4583-8D96-4102285B4909}">
      <dgm:prSet/>
      <dgm:spPr/>
      <dgm:t>
        <a:bodyPr/>
        <a:lstStyle/>
        <a:p>
          <a:endParaRPr lang="en-IN"/>
        </a:p>
      </dgm:t>
    </dgm:pt>
    <dgm:pt modelId="{C0704437-D622-495E-8148-3554FC836C7A}" type="sibTrans" cxnId="{583C1C5A-3306-4583-8D96-4102285B4909}">
      <dgm:prSet/>
      <dgm:spPr/>
      <dgm:t>
        <a:bodyPr/>
        <a:lstStyle/>
        <a:p>
          <a:endParaRPr lang="en-IN"/>
        </a:p>
      </dgm:t>
    </dgm:pt>
    <dgm:pt modelId="{DC3E29F0-2AC2-4FC7-A14A-D31F3F332E49}">
      <dgm:prSet phldrT="[Text]" custT="1"/>
      <dgm:spPr>
        <a:ln>
          <a:noFill/>
        </a:ln>
      </dgm:spPr>
      <dgm:t>
        <a:bodyPr/>
        <a:lstStyle/>
        <a:p>
          <a:r>
            <a:rPr lang="en-US" sz="1600"/>
            <a:t>Supports </a:t>
          </a:r>
          <a:r>
            <a:rPr lang="en-US" sz="1600" dirty="0"/>
            <a:t>both stateful and stateless process flows.</a:t>
          </a:r>
          <a:endParaRPr lang="en-IN" sz="1600" dirty="0"/>
        </a:p>
      </dgm:t>
    </dgm:pt>
    <dgm:pt modelId="{6D07FF9F-6F0C-4020-B6E6-F7052EA0A879}" type="parTrans" cxnId="{A0A103F2-1B3C-47C3-A475-CC297980BA4C}">
      <dgm:prSet/>
      <dgm:spPr/>
      <dgm:t>
        <a:bodyPr/>
        <a:lstStyle/>
        <a:p>
          <a:endParaRPr lang="en-IN"/>
        </a:p>
      </dgm:t>
    </dgm:pt>
    <dgm:pt modelId="{8AADC25C-FF76-4997-9E3C-A849EF5592CD}" type="sibTrans" cxnId="{A0A103F2-1B3C-47C3-A475-CC297980BA4C}">
      <dgm:prSet/>
      <dgm:spPr/>
      <dgm:t>
        <a:bodyPr/>
        <a:lstStyle/>
        <a:p>
          <a:endParaRPr lang="en-IN"/>
        </a:p>
      </dgm:t>
    </dgm:pt>
    <dgm:pt modelId="{1F248A27-1405-41AF-815C-27786EDED4D5}">
      <dgm:prSet phldrT="[Text]" custT="1"/>
      <dgm:spPr>
        <a:ln>
          <a:noFill/>
        </a:ln>
      </dgm:spPr>
      <dgm:t>
        <a:bodyPr/>
        <a:lstStyle/>
        <a:p>
          <a:r>
            <a:rPr lang="en-US" sz="1600"/>
            <a:t>Customizable </a:t>
          </a:r>
          <a:r>
            <a:rPr lang="en-US" sz="1600" dirty="0"/>
            <a:t>dashboards.</a:t>
          </a:r>
          <a:endParaRPr lang="en-IN" sz="1600" dirty="0"/>
        </a:p>
      </dgm:t>
    </dgm:pt>
    <dgm:pt modelId="{907CDB7E-DEF1-4ED3-B513-191E51B5844A}" type="parTrans" cxnId="{CEC52861-E0CC-4647-9F26-8592675B63C8}">
      <dgm:prSet/>
      <dgm:spPr/>
      <dgm:t>
        <a:bodyPr/>
        <a:lstStyle/>
        <a:p>
          <a:endParaRPr lang="en-IN"/>
        </a:p>
      </dgm:t>
    </dgm:pt>
    <dgm:pt modelId="{34293834-BB6E-499F-8E6C-F8985C0557AF}" type="sibTrans" cxnId="{CEC52861-E0CC-4647-9F26-8592675B63C8}">
      <dgm:prSet/>
      <dgm:spPr/>
      <dgm:t>
        <a:bodyPr/>
        <a:lstStyle/>
        <a:p>
          <a:endParaRPr lang="en-IN"/>
        </a:p>
      </dgm:t>
    </dgm:pt>
    <dgm:pt modelId="{4719846B-1EFF-4544-9B68-2B768FD56BF5}" type="pres">
      <dgm:prSet presAssocID="{A0602E39-C126-4723-9297-7E42914C5665}" presName="diagram" presStyleCnt="0">
        <dgm:presLayoutVars>
          <dgm:dir/>
          <dgm:resizeHandles val="exact"/>
        </dgm:presLayoutVars>
      </dgm:prSet>
      <dgm:spPr/>
    </dgm:pt>
    <dgm:pt modelId="{11311EB6-B616-49A1-B91D-CEC43D556A00}" type="pres">
      <dgm:prSet presAssocID="{3CC45AFF-FCF2-4DE6-B8BB-04B3E6C5AE09}" presName="node" presStyleLbl="node1" presStyleIdx="0" presStyleCnt="8">
        <dgm:presLayoutVars>
          <dgm:bulletEnabled val="1"/>
        </dgm:presLayoutVars>
      </dgm:prSet>
      <dgm:spPr/>
    </dgm:pt>
    <dgm:pt modelId="{3A549CF2-7315-40EA-8504-479896C3F383}" type="pres">
      <dgm:prSet presAssocID="{32AA759E-13E2-4F3D-BDCB-E213F4767FD8}" presName="sibTrans" presStyleCnt="0"/>
      <dgm:spPr/>
    </dgm:pt>
    <dgm:pt modelId="{AE52F869-6A4C-4268-8ED2-5BF05D19ADC5}" type="pres">
      <dgm:prSet presAssocID="{F5F1A3C2-2C07-40E1-B4B0-41EEE1DA73F3}" presName="node" presStyleLbl="node1" presStyleIdx="1" presStyleCnt="8">
        <dgm:presLayoutVars>
          <dgm:bulletEnabled val="1"/>
        </dgm:presLayoutVars>
      </dgm:prSet>
      <dgm:spPr/>
    </dgm:pt>
    <dgm:pt modelId="{0E84FE76-60CB-4388-9C9B-5B2C11C609FC}" type="pres">
      <dgm:prSet presAssocID="{9D634E58-67B1-44BC-BC47-FE976DFCFF81}" presName="sibTrans" presStyleCnt="0"/>
      <dgm:spPr/>
    </dgm:pt>
    <dgm:pt modelId="{E653F629-43B0-4E83-982F-DC5E4A94DEC1}" type="pres">
      <dgm:prSet presAssocID="{1A6AB9E1-9F9E-453C-B535-4942CF90D308}" presName="node" presStyleLbl="node1" presStyleIdx="2" presStyleCnt="8">
        <dgm:presLayoutVars>
          <dgm:bulletEnabled val="1"/>
        </dgm:presLayoutVars>
      </dgm:prSet>
      <dgm:spPr/>
    </dgm:pt>
    <dgm:pt modelId="{197A0691-7308-4FB5-BA98-1FF1E1B12E5D}" type="pres">
      <dgm:prSet presAssocID="{B09272C8-C439-4497-93B1-99227973A21C}" presName="sibTrans" presStyleCnt="0"/>
      <dgm:spPr/>
    </dgm:pt>
    <dgm:pt modelId="{CB4A345E-D777-4DF0-81AE-7813D8BB14AE}" type="pres">
      <dgm:prSet presAssocID="{1F248A27-1405-41AF-815C-27786EDED4D5}" presName="node" presStyleLbl="node1" presStyleIdx="3" presStyleCnt="8">
        <dgm:presLayoutVars>
          <dgm:bulletEnabled val="1"/>
        </dgm:presLayoutVars>
      </dgm:prSet>
      <dgm:spPr/>
    </dgm:pt>
    <dgm:pt modelId="{074FD5C0-08EE-46FA-B274-5003808702F4}" type="pres">
      <dgm:prSet presAssocID="{34293834-BB6E-499F-8E6C-F8985C0557AF}" presName="sibTrans" presStyleCnt="0"/>
      <dgm:spPr/>
    </dgm:pt>
    <dgm:pt modelId="{87F6A9B1-26FB-409C-9822-48AE931B25F9}" type="pres">
      <dgm:prSet presAssocID="{56CF513D-80AB-48A3-8240-43CCF3D315FB}" presName="node" presStyleLbl="node1" presStyleIdx="4" presStyleCnt="8" custLinFactNeighborY="40069">
        <dgm:presLayoutVars>
          <dgm:bulletEnabled val="1"/>
        </dgm:presLayoutVars>
      </dgm:prSet>
      <dgm:spPr/>
    </dgm:pt>
    <dgm:pt modelId="{C718A359-27A3-4F1A-A831-3BFE4B8C306C}" type="pres">
      <dgm:prSet presAssocID="{F478A631-7C47-4BE7-A13C-5064D674156B}" presName="sibTrans" presStyleCnt="0"/>
      <dgm:spPr/>
    </dgm:pt>
    <dgm:pt modelId="{311C2801-E36E-44E7-920C-F2D636782DC8}" type="pres">
      <dgm:prSet presAssocID="{12990F9A-ABDC-4873-8AB0-D42EDCE7D1EB}" presName="node" presStyleLbl="node1" presStyleIdx="5" presStyleCnt="8" custLinFactNeighborY="40069">
        <dgm:presLayoutVars>
          <dgm:bulletEnabled val="1"/>
        </dgm:presLayoutVars>
      </dgm:prSet>
      <dgm:spPr/>
    </dgm:pt>
    <dgm:pt modelId="{A4583939-9DEF-4676-A6E6-8117B279A5C0}" type="pres">
      <dgm:prSet presAssocID="{BFFB0DDB-9DD9-439E-A297-510F71CFDCC6}" presName="sibTrans" presStyleCnt="0"/>
      <dgm:spPr/>
    </dgm:pt>
    <dgm:pt modelId="{D4EC9769-5F9C-47FA-9D60-E514BE620EBE}" type="pres">
      <dgm:prSet presAssocID="{EA567D02-54B3-481A-A6E7-245D70D3A594}" presName="node" presStyleLbl="node1" presStyleIdx="6" presStyleCnt="8" custLinFactNeighborY="40069">
        <dgm:presLayoutVars>
          <dgm:bulletEnabled val="1"/>
        </dgm:presLayoutVars>
      </dgm:prSet>
      <dgm:spPr/>
    </dgm:pt>
    <dgm:pt modelId="{ECBB41DF-361B-45AB-9A25-A3FD459EF26C}" type="pres">
      <dgm:prSet presAssocID="{C0704437-D622-495E-8148-3554FC836C7A}" presName="sibTrans" presStyleCnt="0"/>
      <dgm:spPr/>
    </dgm:pt>
    <dgm:pt modelId="{4A7B8E97-81F1-4819-B3F1-DA41A75AA0CC}" type="pres">
      <dgm:prSet presAssocID="{DC3E29F0-2AC2-4FC7-A14A-D31F3F332E49}" presName="node" presStyleLbl="node1" presStyleIdx="7" presStyleCnt="8" custLinFactNeighborX="8504" custLinFactNeighborY="36234">
        <dgm:presLayoutVars>
          <dgm:bulletEnabled val="1"/>
        </dgm:presLayoutVars>
      </dgm:prSet>
      <dgm:spPr/>
    </dgm:pt>
  </dgm:ptLst>
  <dgm:cxnLst>
    <dgm:cxn modelId="{8BFBC924-03F2-4E10-A912-B81BF6E7351E}" type="presOf" srcId="{1F248A27-1405-41AF-815C-27786EDED4D5}" destId="{CB4A345E-D777-4DF0-81AE-7813D8BB14AE}" srcOrd="0" destOrd="0" presId="urn:microsoft.com/office/officeart/2005/8/layout/default"/>
    <dgm:cxn modelId="{CEC52861-E0CC-4647-9F26-8592675B63C8}" srcId="{A0602E39-C126-4723-9297-7E42914C5665}" destId="{1F248A27-1405-41AF-815C-27786EDED4D5}" srcOrd="3" destOrd="0" parTransId="{907CDB7E-DEF1-4ED3-B513-191E51B5844A}" sibTransId="{34293834-BB6E-499F-8E6C-F8985C0557AF}"/>
    <dgm:cxn modelId="{71970066-4658-4B8E-9AFD-320CE25CE9EB}" srcId="{A0602E39-C126-4723-9297-7E42914C5665}" destId="{F5F1A3C2-2C07-40E1-B4B0-41EEE1DA73F3}" srcOrd="1" destOrd="0" parTransId="{38702CC9-3DEE-43A4-A8CD-63141D159E2D}" sibTransId="{9D634E58-67B1-44BC-BC47-FE976DFCFF81}"/>
    <dgm:cxn modelId="{E579B846-9795-4073-B742-309D7BEF7E51}" type="presOf" srcId="{1A6AB9E1-9F9E-453C-B535-4942CF90D308}" destId="{E653F629-43B0-4E83-982F-DC5E4A94DEC1}" srcOrd="0" destOrd="0" presId="urn:microsoft.com/office/officeart/2005/8/layout/default"/>
    <dgm:cxn modelId="{55334370-AB8B-444A-A9EB-8E3D69C848E1}" type="presOf" srcId="{DC3E29F0-2AC2-4FC7-A14A-D31F3F332E49}" destId="{4A7B8E97-81F1-4819-B3F1-DA41A75AA0CC}" srcOrd="0" destOrd="0" presId="urn:microsoft.com/office/officeart/2005/8/layout/default"/>
    <dgm:cxn modelId="{583C1C5A-3306-4583-8D96-4102285B4909}" srcId="{A0602E39-C126-4723-9297-7E42914C5665}" destId="{EA567D02-54B3-481A-A6E7-245D70D3A594}" srcOrd="6" destOrd="0" parTransId="{C2481CC9-0F06-41CB-B021-854D00DDD47D}" sibTransId="{C0704437-D622-495E-8148-3554FC836C7A}"/>
    <dgm:cxn modelId="{52E29390-6051-4410-A0A9-284634E3A2F8}" type="presOf" srcId="{3CC45AFF-FCF2-4DE6-B8BB-04B3E6C5AE09}" destId="{11311EB6-B616-49A1-B91D-CEC43D556A00}" srcOrd="0" destOrd="0" presId="urn:microsoft.com/office/officeart/2005/8/layout/default"/>
    <dgm:cxn modelId="{CD227392-D1F4-4D29-A2C9-B47233F19A5D}" type="presOf" srcId="{F5F1A3C2-2C07-40E1-B4B0-41EEE1DA73F3}" destId="{AE52F869-6A4C-4268-8ED2-5BF05D19ADC5}" srcOrd="0" destOrd="0" presId="urn:microsoft.com/office/officeart/2005/8/layout/default"/>
    <dgm:cxn modelId="{554C7BAF-466C-41A4-BF7B-657110E4BFCE}" type="presOf" srcId="{EA567D02-54B3-481A-A6E7-245D70D3A594}" destId="{D4EC9769-5F9C-47FA-9D60-E514BE620EBE}" srcOrd="0" destOrd="0" presId="urn:microsoft.com/office/officeart/2005/8/layout/default"/>
    <dgm:cxn modelId="{97E4A9B5-A86D-4D76-A0DF-392D4F4AF987}" srcId="{A0602E39-C126-4723-9297-7E42914C5665}" destId="{1A6AB9E1-9F9E-453C-B535-4942CF90D308}" srcOrd="2" destOrd="0" parTransId="{8FA76E67-4ED8-4237-933D-80EEF11D7106}" sibTransId="{B09272C8-C439-4497-93B1-99227973A21C}"/>
    <dgm:cxn modelId="{EDA08DBA-16A8-4FF0-8F7C-499A0A2B2BC0}" type="presOf" srcId="{56CF513D-80AB-48A3-8240-43CCF3D315FB}" destId="{87F6A9B1-26FB-409C-9822-48AE931B25F9}" srcOrd="0" destOrd="0" presId="urn:microsoft.com/office/officeart/2005/8/layout/default"/>
    <dgm:cxn modelId="{0444B5BC-AD15-4075-9382-63FE2BEAE94D}" type="presOf" srcId="{12990F9A-ABDC-4873-8AB0-D42EDCE7D1EB}" destId="{311C2801-E36E-44E7-920C-F2D636782DC8}" srcOrd="0" destOrd="0" presId="urn:microsoft.com/office/officeart/2005/8/layout/default"/>
    <dgm:cxn modelId="{329EA1C8-DF60-4667-AD09-EA4F702286AD}" type="presOf" srcId="{A0602E39-C126-4723-9297-7E42914C5665}" destId="{4719846B-1EFF-4544-9B68-2B768FD56BF5}" srcOrd="0" destOrd="0" presId="urn:microsoft.com/office/officeart/2005/8/layout/default"/>
    <dgm:cxn modelId="{AC33EECA-0902-4A5C-93F4-64972DC62AE6}" srcId="{A0602E39-C126-4723-9297-7E42914C5665}" destId="{56CF513D-80AB-48A3-8240-43CCF3D315FB}" srcOrd="4" destOrd="0" parTransId="{9FD00CEB-EA97-4E8E-AC14-3B3FEB5A8C18}" sibTransId="{F478A631-7C47-4BE7-A13C-5064D674156B}"/>
    <dgm:cxn modelId="{939F03D1-6F03-44AA-BFC1-6BF35F5F0129}" srcId="{A0602E39-C126-4723-9297-7E42914C5665}" destId="{12990F9A-ABDC-4873-8AB0-D42EDCE7D1EB}" srcOrd="5" destOrd="0" parTransId="{4C5AEDE0-E6BE-4B73-AB6F-4C95B6742478}" sibTransId="{BFFB0DDB-9DD9-439E-A297-510F71CFDCC6}"/>
    <dgm:cxn modelId="{00C34CEF-7C0A-4A98-B7AE-00491F32FF13}" srcId="{A0602E39-C126-4723-9297-7E42914C5665}" destId="{3CC45AFF-FCF2-4DE6-B8BB-04B3E6C5AE09}" srcOrd="0" destOrd="0" parTransId="{028D4BE6-6D70-484A-8C34-755E8B42455D}" sibTransId="{32AA759E-13E2-4F3D-BDCB-E213F4767FD8}"/>
    <dgm:cxn modelId="{A0A103F2-1B3C-47C3-A475-CC297980BA4C}" srcId="{A0602E39-C126-4723-9297-7E42914C5665}" destId="{DC3E29F0-2AC2-4FC7-A14A-D31F3F332E49}" srcOrd="7" destOrd="0" parTransId="{6D07FF9F-6F0C-4020-B6E6-F7052EA0A879}" sibTransId="{8AADC25C-FF76-4997-9E3C-A849EF5592CD}"/>
    <dgm:cxn modelId="{CCA1DC75-5859-4019-B49A-349B9C11A142}" type="presParOf" srcId="{4719846B-1EFF-4544-9B68-2B768FD56BF5}" destId="{11311EB6-B616-49A1-B91D-CEC43D556A00}" srcOrd="0" destOrd="0" presId="urn:microsoft.com/office/officeart/2005/8/layout/default"/>
    <dgm:cxn modelId="{41D46F7F-326B-48D7-96A9-8FF374414D38}" type="presParOf" srcId="{4719846B-1EFF-4544-9B68-2B768FD56BF5}" destId="{3A549CF2-7315-40EA-8504-479896C3F383}" srcOrd="1" destOrd="0" presId="urn:microsoft.com/office/officeart/2005/8/layout/default"/>
    <dgm:cxn modelId="{4A0B7705-586E-4DFD-8C10-0A4CEE67206E}" type="presParOf" srcId="{4719846B-1EFF-4544-9B68-2B768FD56BF5}" destId="{AE52F869-6A4C-4268-8ED2-5BF05D19ADC5}" srcOrd="2" destOrd="0" presId="urn:microsoft.com/office/officeart/2005/8/layout/default"/>
    <dgm:cxn modelId="{63EEF376-BE0B-4BED-AF2D-5CA69CA1ED71}" type="presParOf" srcId="{4719846B-1EFF-4544-9B68-2B768FD56BF5}" destId="{0E84FE76-60CB-4388-9C9B-5B2C11C609FC}" srcOrd="3" destOrd="0" presId="urn:microsoft.com/office/officeart/2005/8/layout/default"/>
    <dgm:cxn modelId="{0FA15BC4-8B8F-47B4-AE41-823E3E81F8C4}" type="presParOf" srcId="{4719846B-1EFF-4544-9B68-2B768FD56BF5}" destId="{E653F629-43B0-4E83-982F-DC5E4A94DEC1}" srcOrd="4" destOrd="0" presId="urn:microsoft.com/office/officeart/2005/8/layout/default"/>
    <dgm:cxn modelId="{5418860C-EDF5-491B-9839-665DAFEE52EC}" type="presParOf" srcId="{4719846B-1EFF-4544-9B68-2B768FD56BF5}" destId="{197A0691-7308-4FB5-BA98-1FF1E1B12E5D}" srcOrd="5" destOrd="0" presId="urn:microsoft.com/office/officeart/2005/8/layout/default"/>
    <dgm:cxn modelId="{D2AD74B5-8063-4DE9-BADA-B7F5365183B6}" type="presParOf" srcId="{4719846B-1EFF-4544-9B68-2B768FD56BF5}" destId="{CB4A345E-D777-4DF0-81AE-7813D8BB14AE}" srcOrd="6" destOrd="0" presId="urn:microsoft.com/office/officeart/2005/8/layout/default"/>
    <dgm:cxn modelId="{549E9F68-5178-4ADB-B637-B3C07DDCB887}" type="presParOf" srcId="{4719846B-1EFF-4544-9B68-2B768FD56BF5}" destId="{074FD5C0-08EE-46FA-B274-5003808702F4}" srcOrd="7" destOrd="0" presId="urn:microsoft.com/office/officeart/2005/8/layout/default"/>
    <dgm:cxn modelId="{DA14B3A8-87CF-43DC-916D-DCAB777F3C81}" type="presParOf" srcId="{4719846B-1EFF-4544-9B68-2B768FD56BF5}" destId="{87F6A9B1-26FB-409C-9822-48AE931B25F9}" srcOrd="8" destOrd="0" presId="urn:microsoft.com/office/officeart/2005/8/layout/default"/>
    <dgm:cxn modelId="{FF1811FD-F487-4A26-B553-3E91DCDFC2D0}" type="presParOf" srcId="{4719846B-1EFF-4544-9B68-2B768FD56BF5}" destId="{C718A359-27A3-4F1A-A831-3BFE4B8C306C}" srcOrd="9" destOrd="0" presId="urn:microsoft.com/office/officeart/2005/8/layout/default"/>
    <dgm:cxn modelId="{00D02F6A-3C82-4A3F-BDC3-26365D558644}" type="presParOf" srcId="{4719846B-1EFF-4544-9B68-2B768FD56BF5}" destId="{311C2801-E36E-44E7-920C-F2D636782DC8}" srcOrd="10" destOrd="0" presId="urn:microsoft.com/office/officeart/2005/8/layout/default"/>
    <dgm:cxn modelId="{03C1E0FC-C905-4835-B533-195BA44878F2}" type="presParOf" srcId="{4719846B-1EFF-4544-9B68-2B768FD56BF5}" destId="{A4583939-9DEF-4676-A6E6-8117B279A5C0}" srcOrd="11" destOrd="0" presId="urn:microsoft.com/office/officeart/2005/8/layout/default"/>
    <dgm:cxn modelId="{FC0C0176-AED3-4912-B5B8-D59FD6B83B89}" type="presParOf" srcId="{4719846B-1EFF-4544-9B68-2B768FD56BF5}" destId="{D4EC9769-5F9C-47FA-9D60-E514BE620EBE}" srcOrd="12" destOrd="0" presId="urn:microsoft.com/office/officeart/2005/8/layout/default"/>
    <dgm:cxn modelId="{9F858C73-296B-4544-9234-0B028E456B65}" type="presParOf" srcId="{4719846B-1EFF-4544-9B68-2B768FD56BF5}" destId="{ECBB41DF-361B-45AB-9A25-A3FD459EF26C}" srcOrd="13" destOrd="0" presId="urn:microsoft.com/office/officeart/2005/8/layout/default"/>
    <dgm:cxn modelId="{3CB442A8-5F67-441A-9396-C1BB4238D22F}" type="presParOf" srcId="{4719846B-1EFF-4544-9B68-2B768FD56BF5}" destId="{4A7B8E97-81F1-4819-B3F1-DA41A75AA0CC}"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E4F8BA-A332-4D07-8DD7-6E3951B78CEC}">
      <dsp:nvSpPr>
        <dsp:cNvPr id="0" name=""/>
        <dsp:cNvSpPr/>
      </dsp:nvSpPr>
      <dsp:spPr>
        <a:xfrm rot="16200000">
          <a:off x="-1545193" y="2624833"/>
          <a:ext cx="3778907" cy="35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10809" bIns="0" numCol="1" spcCol="1270" anchor="t" anchorCtr="0">
          <a:noAutofit/>
        </a:bodyPr>
        <a:lstStyle/>
        <a:p>
          <a:pPr marL="0" lvl="0" indent="0" algn="r" defTabSz="1066800">
            <a:lnSpc>
              <a:spcPct val="90000"/>
            </a:lnSpc>
            <a:spcBef>
              <a:spcPct val="0"/>
            </a:spcBef>
            <a:spcAft>
              <a:spcPct val="35000"/>
            </a:spcAft>
            <a:buNone/>
          </a:pPr>
          <a:r>
            <a:rPr lang="en-IN" sz="2400" kern="1200" dirty="0">
              <a:solidFill>
                <a:srgbClr val="B6FF42"/>
              </a:solidFill>
            </a:rPr>
            <a:t>Manufacturing </a:t>
          </a:r>
        </a:p>
      </dsp:txBody>
      <dsp:txXfrm>
        <a:off x="-1545193" y="2624833"/>
        <a:ext cx="3778907" cy="352413"/>
      </dsp:txXfrm>
    </dsp:sp>
    <dsp:sp modelId="{1A4957CE-B477-43D0-9BE6-790C3B6CBFB1}">
      <dsp:nvSpPr>
        <dsp:cNvPr id="0" name=""/>
        <dsp:cNvSpPr/>
      </dsp:nvSpPr>
      <dsp:spPr>
        <a:xfrm>
          <a:off x="635875" y="753269"/>
          <a:ext cx="2231470" cy="3910602"/>
        </a:xfrm>
        <a:prstGeom prst="rect">
          <a:avLst/>
        </a:prstGeom>
        <a:solidFill>
          <a:srgbClr val="1F366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310809" rIns="113792" bIns="113792" numCol="1" spcCol="1270" anchor="t" anchorCtr="0">
          <a:noAutofit/>
        </a:bodyPr>
        <a:lstStyle/>
        <a:p>
          <a:pPr marL="173038" lvl="1" indent="-173038" algn="l" defTabSz="711200">
            <a:lnSpc>
              <a:spcPct val="90000"/>
            </a:lnSpc>
            <a:spcBef>
              <a:spcPts val="600"/>
            </a:spcBef>
            <a:spcAft>
              <a:spcPct val="15000"/>
            </a:spcAft>
            <a:buChar char="•"/>
          </a:pPr>
          <a:r>
            <a:rPr lang="en-IN" sz="1600" kern="1200" dirty="0"/>
            <a:t>Sale Order Automation</a:t>
          </a:r>
        </a:p>
        <a:p>
          <a:pPr marL="173038" lvl="1" indent="-173038" algn="l" defTabSz="711200">
            <a:lnSpc>
              <a:spcPct val="90000"/>
            </a:lnSpc>
            <a:spcBef>
              <a:spcPts val="600"/>
            </a:spcBef>
            <a:spcAft>
              <a:spcPct val="15000"/>
            </a:spcAft>
            <a:buChar char="•"/>
          </a:pPr>
          <a:r>
            <a:rPr lang="en-IN" sz="1600" kern="1200" dirty="0"/>
            <a:t>Vendor  flow Automation</a:t>
          </a:r>
        </a:p>
        <a:p>
          <a:pPr marL="173038" lvl="1" indent="-173038" algn="l" defTabSz="711200">
            <a:lnSpc>
              <a:spcPct val="90000"/>
            </a:lnSpc>
            <a:spcBef>
              <a:spcPts val="600"/>
            </a:spcBef>
            <a:spcAft>
              <a:spcPct val="15000"/>
            </a:spcAft>
            <a:buChar char="•"/>
          </a:pPr>
          <a:r>
            <a:rPr lang="en-IN" sz="1600" kern="1200" dirty="0"/>
            <a:t>Supply Chain Management</a:t>
          </a:r>
        </a:p>
        <a:p>
          <a:pPr marL="173038" lvl="1" indent="-173038" algn="l" defTabSz="711200">
            <a:lnSpc>
              <a:spcPct val="90000"/>
            </a:lnSpc>
            <a:spcBef>
              <a:spcPts val="600"/>
            </a:spcBef>
            <a:spcAft>
              <a:spcPct val="15000"/>
            </a:spcAft>
            <a:buChar char="•"/>
          </a:pPr>
          <a:r>
            <a:rPr lang="en-IN" sz="1600" kern="1200" dirty="0"/>
            <a:t>Production line Flow Automation</a:t>
          </a:r>
        </a:p>
        <a:p>
          <a:pPr marL="173038" lvl="1" indent="-173038" algn="l" defTabSz="711200">
            <a:lnSpc>
              <a:spcPct val="90000"/>
            </a:lnSpc>
            <a:spcBef>
              <a:spcPts val="600"/>
            </a:spcBef>
            <a:spcAft>
              <a:spcPct val="15000"/>
            </a:spcAft>
            <a:buChar char="•"/>
          </a:pPr>
          <a:r>
            <a:rPr lang="en-IN" sz="1600" kern="1200" dirty="0"/>
            <a:t>Manufacturing Project Management</a:t>
          </a:r>
        </a:p>
        <a:p>
          <a:pPr marL="173038" lvl="1" indent="-173038" algn="l" defTabSz="711200">
            <a:lnSpc>
              <a:spcPct val="90000"/>
            </a:lnSpc>
            <a:spcBef>
              <a:spcPts val="600"/>
            </a:spcBef>
            <a:spcAft>
              <a:spcPct val="15000"/>
            </a:spcAft>
            <a:buChar char="•"/>
          </a:pPr>
          <a:r>
            <a:rPr lang="en-IN" sz="1600" kern="1200" dirty="0"/>
            <a:t>Safety and Risk Management</a:t>
          </a:r>
        </a:p>
      </dsp:txBody>
      <dsp:txXfrm>
        <a:off x="635875" y="753269"/>
        <a:ext cx="2231470" cy="3910602"/>
      </dsp:txXfrm>
    </dsp:sp>
    <dsp:sp modelId="{F8AD3C2D-EEF5-4C2C-A56D-C207E56CB53C}">
      <dsp:nvSpPr>
        <dsp:cNvPr id="0" name=""/>
        <dsp:cNvSpPr/>
      </dsp:nvSpPr>
      <dsp:spPr>
        <a:xfrm>
          <a:off x="71083" y="204046"/>
          <a:ext cx="898766" cy="958267"/>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09D70A6D-E70C-4944-BF8B-EEA4C7D2D3E8}">
      <dsp:nvSpPr>
        <dsp:cNvPr id="0" name=""/>
        <dsp:cNvSpPr/>
      </dsp:nvSpPr>
      <dsp:spPr>
        <a:xfrm rot="16200000">
          <a:off x="1360679" y="2555453"/>
          <a:ext cx="3778907" cy="35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10809" bIns="0" numCol="1" spcCol="1270" anchor="t" anchorCtr="0">
          <a:noAutofit/>
        </a:bodyPr>
        <a:lstStyle/>
        <a:p>
          <a:pPr marL="0" lvl="0" indent="0" algn="r" defTabSz="1111250">
            <a:lnSpc>
              <a:spcPct val="90000"/>
            </a:lnSpc>
            <a:spcBef>
              <a:spcPct val="0"/>
            </a:spcBef>
            <a:spcAft>
              <a:spcPct val="35000"/>
            </a:spcAft>
            <a:buNone/>
          </a:pPr>
          <a:r>
            <a:rPr lang="en-IN" sz="2500" kern="1200" dirty="0">
              <a:solidFill>
                <a:srgbClr val="B6FF42"/>
              </a:solidFill>
            </a:rPr>
            <a:t>Healthcare</a:t>
          </a:r>
        </a:p>
      </dsp:txBody>
      <dsp:txXfrm>
        <a:off x="1360679" y="2555453"/>
        <a:ext cx="3778907" cy="352413"/>
      </dsp:txXfrm>
    </dsp:sp>
    <dsp:sp modelId="{78520449-9F80-4700-B76C-6FC485DB018B}">
      <dsp:nvSpPr>
        <dsp:cNvPr id="0" name=""/>
        <dsp:cNvSpPr/>
      </dsp:nvSpPr>
      <dsp:spPr>
        <a:xfrm>
          <a:off x="3409707" y="853807"/>
          <a:ext cx="2311411" cy="3778907"/>
        </a:xfrm>
        <a:prstGeom prst="rect">
          <a:avLst/>
        </a:prstGeom>
        <a:solidFill>
          <a:srgbClr val="1F366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310809" rIns="106680" bIns="106680" numCol="1" spcCol="1270" anchor="t" anchorCtr="0">
          <a:noAutofit/>
        </a:bodyPr>
        <a:lstStyle/>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Clinical Trials Flow Automation</a:t>
          </a:r>
        </a:p>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Medical Transcription Automation</a:t>
          </a:r>
        </a:p>
      </dsp:txBody>
      <dsp:txXfrm>
        <a:off x="3409707" y="853807"/>
        <a:ext cx="2311411" cy="3778907"/>
      </dsp:txXfrm>
    </dsp:sp>
    <dsp:sp modelId="{7BF2AB52-5B05-4049-BD33-7BD5AE3743BB}">
      <dsp:nvSpPr>
        <dsp:cNvPr id="0" name=""/>
        <dsp:cNvSpPr/>
      </dsp:nvSpPr>
      <dsp:spPr>
        <a:xfrm>
          <a:off x="2976956" y="204046"/>
          <a:ext cx="898766" cy="958267"/>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499006F9-908C-407A-98B5-6DA54AB3507B}">
      <dsp:nvSpPr>
        <dsp:cNvPr id="0" name=""/>
        <dsp:cNvSpPr/>
      </dsp:nvSpPr>
      <dsp:spPr>
        <a:xfrm rot="16200000">
          <a:off x="4306522" y="2590143"/>
          <a:ext cx="3778907" cy="35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37757" bIns="0" numCol="1" spcCol="1270" anchor="t" anchorCtr="0">
          <a:noAutofit/>
        </a:bodyPr>
        <a:lstStyle/>
        <a:p>
          <a:pPr marL="0" lvl="0" indent="0" algn="r" defTabSz="1200150">
            <a:lnSpc>
              <a:spcPct val="90000"/>
            </a:lnSpc>
            <a:spcBef>
              <a:spcPct val="0"/>
            </a:spcBef>
            <a:spcAft>
              <a:spcPct val="35000"/>
            </a:spcAft>
            <a:buNone/>
          </a:pPr>
          <a:r>
            <a:rPr lang="en-IN" sz="2700" kern="1200" dirty="0">
              <a:solidFill>
                <a:srgbClr val="B6FF42"/>
              </a:solidFill>
              <a:latin typeface="Aptos" panose="02110004020202020204"/>
              <a:ea typeface="+mn-ea"/>
              <a:cs typeface="+mn-cs"/>
            </a:rPr>
            <a:t>Legal</a:t>
          </a:r>
          <a:r>
            <a:rPr lang="en-IN" sz="2700" kern="1200" dirty="0">
              <a:solidFill>
                <a:srgbClr val="B6FF42"/>
              </a:solidFill>
            </a:rPr>
            <a:t> &amp; Government</a:t>
          </a:r>
        </a:p>
      </dsp:txBody>
      <dsp:txXfrm>
        <a:off x="4306522" y="2590143"/>
        <a:ext cx="3778907" cy="352413"/>
      </dsp:txXfrm>
    </dsp:sp>
    <dsp:sp modelId="{E8544D3A-D2D2-4D0B-B08D-15C879315635}">
      <dsp:nvSpPr>
        <dsp:cNvPr id="0" name=""/>
        <dsp:cNvSpPr/>
      </dsp:nvSpPr>
      <dsp:spPr>
        <a:xfrm>
          <a:off x="6469290" y="830680"/>
          <a:ext cx="2076908" cy="3778907"/>
        </a:xfrm>
        <a:prstGeom prst="rect">
          <a:avLst/>
        </a:prstGeom>
        <a:solidFill>
          <a:srgbClr val="1F366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337757" rIns="135128" bIns="135128" numCol="1" spcCol="1270" anchor="t" anchorCtr="0">
          <a:noAutofit/>
        </a:bodyPr>
        <a:lstStyle/>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Bank statement Reconciliations</a:t>
          </a:r>
        </a:p>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Federal/ Government Grant flow </a:t>
          </a:r>
        </a:p>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Invoice entry Automation</a:t>
          </a:r>
        </a:p>
        <a:p>
          <a:pPr marL="173038" lvl="1" indent="-173038" algn="l" defTabSz="666750">
            <a:lnSpc>
              <a:spcPct val="90000"/>
            </a:lnSpc>
            <a:spcBef>
              <a:spcPts val="600"/>
            </a:spcBef>
            <a:spcAft>
              <a:spcPct val="15000"/>
            </a:spcAft>
            <a:buChar char="•"/>
          </a:pPr>
          <a:r>
            <a:rPr lang="fr-FR" sz="1500" kern="1200" dirty="0">
              <a:solidFill>
                <a:prstClr val="white"/>
              </a:solidFill>
              <a:latin typeface="Aptos" panose="02110004020202020204"/>
              <a:ea typeface="+mn-ea"/>
              <a:cs typeface="+mn-cs"/>
            </a:rPr>
            <a:t>Bulk Mortgage document information extraction</a:t>
          </a:r>
          <a:endParaRPr lang="en-IN" sz="1500" kern="1200" dirty="0">
            <a:solidFill>
              <a:prstClr val="white"/>
            </a:solidFill>
            <a:latin typeface="Aptos" panose="02110004020202020204"/>
            <a:ea typeface="+mn-ea"/>
            <a:cs typeface="+mn-cs"/>
          </a:endParaRPr>
        </a:p>
      </dsp:txBody>
      <dsp:txXfrm>
        <a:off x="6469290" y="830680"/>
        <a:ext cx="2076908" cy="3778907"/>
      </dsp:txXfrm>
    </dsp:sp>
    <dsp:sp modelId="{BEC6E25D-2848-4A4D-A84A-E3CB26E7129C}">
      <dsp:nvSpPr>
        <dsp:cNvPr id="0" name=""/>
        <dsp:cNvSpPr/>
      </dsp:nvSpPr>
      <dsp:spPr>
        <a:xfrm>
          <a:off x="5922799" y="204046"/>
          <a:ext cx="898766" cy="958267"/>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A226AAD7-A890-4506-A325-BE5FF1497C6C}">
      <dsp:nvSpPr>
        <dsp:cNvPr id="0" name=""/>
        <dsp:cNvSpPr/>
      </dsp:nvSpPr>
      <dsp:spPr>
        <a:xfrm rot="16200000">
          <a:off x="7135113" y="2682651"/>
          <a:ext cx="3778907" cy="35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10809" bIns="0" numCol="1" spcCol="1270" anchor="t" anchorCtr="0">
          <a:noAutofit/>
        </a:bodyPr>
        <a:lstStyle/>
        <a:p>
          <a:pPr marL="0" lvl="0" indent="0" algn="r" defTabSz="1111250">
            <a:lnSpc>
              <a:spcPct val="90000"/>
            </a:lnSpc>
            <a:spcBef>
              <a:spcPct val="0"/>
            </a:spcBef>
            <a:spcAft>
              <a:spcPct val="35000"/>
            </a:spcAft>
            <a:buNone/>
          </a:pPr>
          <a:r>
            <a:rPr lang="en-IN" sz="2500" kern="1200" dirty="0">
              <a:solidFill>
                <a:srgbClr val="B6FF42"/>
              </a:solidFill>
            </a:rPr>
            <a:t>Energy &amp; Utilities</a:t>
          </a:r>
        </a:p>
      </dsp:txBody>
      <dsp:txXfrm>
        <a:off x="7135113" y="2682651"/>
        <a:ext cx="3778907" cy="352413"/>
      </dsp:txXfrm>
    </dsp:sp>
    <dsp:sp modelId="{BD23B313-A7B3-4DE8-90B8-43667733C495}">
      <dsp:nvSpPr>
        <dsp:cNvPr id="0" name=""/>
        <dsp:cNvSpPr/>
      </dsp:nvSpPr>
      <dsp:spPr>
        <a:xfrm>
          <a:off x="9200773" y="795952"/>
          <a:ext cx="1755391" cy="3778907"/>
        </a:xfrm>
        <a:prstGeom prst="rect">
          <a:avLst/>
        </a:prstGeom>
        <a:solidFill>
          <a:srgbClr val="1F366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337757" rIns="135128" bIns="135128" numCol="1" spcCol="1270" anchor="t" anchorCtr="0">
          <a:noAutofit/>
        </a:bodyPr>
        <a:lstStyle/>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Customer Onboarding</a:t>
          </a:r>
        </a:p>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Field Operations</a:t>
          </a:r>
        </a:p>
        <a:p>
          <a:pPr marL="173038" lvl="1" indent="-173038" algn="l" defTabSz="666750">
            <a:lnSpc>
              <a:spcPct val="90000"/>
            </a:lnSpc>
            <a:spcBef>
              <a:spcPts val="600"/>
            </a:spcBef>
            <a:spcAft>
              <a:spcPct val="15000"/>
            </a:spcAft>
            <a:buChar char="•"/>
          </a:pPr>
          <a:r>
            <a:rPr lang="en-IN" sz="1500" kern="1200" dirty="0">
              <a:solidFill>
                <a:prstClr val="white"/>
              </a:solidFill>
              <a:latin typeface="Aptos" panose="02110004020202020204"/>
              <a:ea typeface="+mn-ea"/>
              <a:cs typeface="+mn-cs"/>
            </a:rPr>
            <a:t>Document Processing</a:t>
          </a:r>
        </a:p>
      </dsp:txBody>
      <dsp:txXfrm>
        <a:off x="9200773" y="795952"/>
        <a:ext cx="1755391" cy="3778907"/>
      </dsp:txXfrm>
    </dsp:sp>
    <dsp:sp modelId="{2D2FACEF-6B5C-4892-8518-E437E7760227}">
      <dsp:nvSpPr>
        <dsp:cNvPr id="0" name=""/>
        <dsp:cNvSpPr/>
      </dsp:nvSpPr>
      <dsp:spPr>
        <a:xfrm>
          <a:off x="8751390" y="204046"/>
          <a:ext cx="898766" cy="958267"/>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E4F8BA-A332-4D07-8DD7-6E3951B78CEC}">
      <dsp:nvSpPr>
        <dsp:cNvPr id="0" name=""/>
        <dsp:cNvSpPr/>
      </dsp:nvSpPr>
      <dsp:spPr>
        <a:xfrm rot="16200000">
          <a:off x="-1551808" y="2600107"/>
          <a:ext cx="3778907" cy="27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46629" bIns="0" numCol="1" spcCol="1270" anchor="t" anchorCtr="0">
          <a:noAutofit/>
        </a:bodyPr>
        <a:lstStyle/>
        <a:p>
          <a:pPr marL="0" lvl="0" indent="0" algn="r" defTabSz="1066800">
            <a:lnSpc>
              <a:spcPct val="90000"/>
            </a:lnSpc>
            <a:spcBef>
              <a:spcPct val="0"/>
            </a:spcBef>
            <a:spcAft>
              <a:spcPct val="35000"/>
            </a:spcAft>
            <a:buNone/>
          </a:pPr>
          <a:r>
            <a:rPr lang="en-IN" sz="2400" kern="1200" dirty="0">
              <a:solidFill>
                <a:srgbClr val="399AFF"/>
              </a:solidFill>
            </a:rPr>
            <a:t>Finance &amp; Accounting </a:t>
          </a:r>
        </a:p>
      </dsp:txBody>
      <dsp:txXfrm>
        <a:off x="-1551808" y="2600107"/>
        <a:ext cx="3778907" cy="279642"/>
      </dsp:txXfrm>
    </dsp:sp>
    <dsp:sp modelId="{1A4957CE-B477-43D0-9BE6-790C3B6CBFB1}">
      <dsp:nvSpPr>
        <dsp:cNvPr id="0" name=""/>
        <dsp:cNvSpPr/>
      </dsp:nvSpPr>
      <dsp:spPr>
        <a:xfrm>
          <a:off x="569044" y="692157"/>
          <a:ext cx="1770690" cy="3910602"/>
        </a:xfrm>
        <a:prstGeom prst="rect">
          <a:avLst/>
        </a:prstGeom>
        <a:solidFill>
          <a:srgbClr val="1F366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246629" rIns="113792" bIns="113792" numCol="1" spcCol="1270" anchor="t" anchorCtr="0">
          <a:noAutofit/>
        </a:bodyPr>
        <a:lstStyle/>
        <a:p>
          <a:pPr marL="173038" lvl="1" indent="-173038" algn="l" defTabSz="711200">
            <a:lnSpc>
              <a:spcPct val="90000"/>
            </a:lnSpc>
            <a:spcBef>
              <a:spcPts val="600"/>
            </a:spcBef>
            <a:spcAft>
              <a:spcPct val="15000"/>
            </a:spcAft>
            <a:buChar char="•"/>
          </a:pPr>
          <a:r>
            <a:rPr lang="en-IN" sz="1600" kern="1200" dirty="0"/>
            <a:t>Sale Order Automation</a:t>
          </a:r>
        </a:p>
        <a:p>
          <a:pPr marL="173038" lvl="1" indent="-173038" algn="l" defTabSz="711200">
            <a:lnSpc>
              <a:spcPct val="90000"/>
            </a:lnSpc>
            <a:spcBef>
              <a:spcPts val="600"/>
            </a:spcBef>
            <a:spcAft>
              <a:spcPct val="15000"/>
            </a:spcAft>
            <a:buChar char="•"/>
          </a:pPr>
          <a:r>
            <a:rPr lang="en-IN" sz="1600" kern="1200" dirty="0"/>
            <a:t>Invoice Processing</a:t>
          </a:r>
        </a:p>
        <a:p>
          <a:pPr marL="173038" lvl="1" indent="-173038" algn="l" defTabSz="711200">
            <a:lnSpc>
              <a:spcPct val="90000"/>
            </a:lnSpc>
            <a:spcBef>
              <a:spcPts val="600"/>
            </a:spcBef>
            <a:spcAft>
              <a:spcPct val="15000"/>
            </a:spcAft>
            <a:buChar char="•"/>
          </a:pPr>
          <a:r>
            <a:rPr lang="en-IN" sz="1600" kern="1200" dirty="0"/>
            <a:t>Purchase Order Automation</a:t>
          </a:r>
        </a:p>
        <a:p>
          <a:pPr marL="173038" lvl="1" indent="-173038" algn="l" defTabSz="711200">
            <a:lnSpc>
              <a:spcPct val="90000"/>
            </a:lnSpc>
            <a:spcBef>
              <a:spcPts val="600"/>
            </a:spcBef>
            <a:spcAft>
              <a:spcPct val="15000"/>
            </a:spcAft>
            <a:buChar char="•"/>
          </a:pPr>
          <a:r>
            <a:rPr lang="en-IN" sz="1600" kern="1200" dirty="0"/>
            <a:t>Bank Statement Reconciliation</a:t>
          </a:r>
        </a:p>
      </dsp:txBody>
      <dsp:txXfrm>
        <a:off x="569044" y="692157"/>
        <a:ext cx="1770690" cy="3910602"/>
      </dsp:txXfrm>
    </dsp:sp>
    <dsp:sp modelId="{F8AD3C2D-EEF5-4C2C-A56D-C207E56CB53C}">
      <dsp:nvSpPr>
        <dsp:cNvPr id="0" name=""/>
        <dsp:cNvSpPr/>
      </dsp:nvSpPr>
      <dsp:spPr>
        <a:xfrm>
          <a:off x="120877" y="265157"/>
          <a:ext cx="713178" cy="760393"/>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l="-3000" r="-3000"/>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09D70A6D-E70C-4944-BF8B-EEA4C7D2D3E8}">
      <dsp:nvSpPr>
        <dsp:cNvPr id="0" name=""/>
        <dsp:cNvSpPr/>
      </dsp:nvSpPr>
      <dsp:spPr>
        <a:xfrm rot="16200000">
          <a:off x="755192" y="2530726"/>
          <a:ext cx="3778907" cy="27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46629" bIns="0" numCol="1" spcCol="1270" anchor="t" anchorCtr="0">
          <a:noAutofit/>
        </a:bodyPr>
        <a:lstStyle/>
        <a:p>
          <a:pPr marL="0" lvl="0" indent="0" algn="r" defTabSz="1066800">
            <a:lnSpc>
              <a:spcPct val="90000"/>
            </a:lnSpc>
            <a:spcBef>
              <a:spcPct val="0"/>
            </a:spcBef>
            <a:spcAft>
              <a:spcPct val="35000"/>
            </a:spcAft>
            <a:buNone/>
          </a:pPr>
          <a:r>
            <a:rPr lang="en-IN" sz="2400" kern="1200" dirty="0">
              <a:solidFill>
                <a:srgbClr val="399AFF"/>
              </a:solidFill>
            </a:rPr>
            <a:t>Human Resources</a:t>
          </a:r>
        </a:p>
      </dsp:txBody>
      <dsp:txXfrm>
        <a:off x="755192" y="2530726"/>
        <a:ext cx="3778907" cy="279642"/>
      </dsp:txXfrm>
    </dsp:sp>
    <dsp:sp modelId="{78520449-9F80-4700-B76C-6FC485DB018B}">
      <dsp:nvSpPr>
        <dsp:cNvPr id="0" name=""/>
        <dsp:cNvSpPr/>
      </dsp:nvSpPr>
      <dsp:spPr>
        <a:xfrm>
          <a:off x="2771269" y="792695"/>
          <a:ext cx="1834123" cy="3778907"/>
        </a:xfrm>
        <a:prstGeom prst="rect">
          <a:avLst/>
        </a:prstGeom>
        <a:solidFill>
          <a:srgbClr val="1F366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246629" rIns="113792" bIns="113792" numCol="1" spcCol="1270" anchor="t" anchorCtr="0">
          <a:noAutofit/>
        </a:bodyPr>
        <a:lstStyle/>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Employee Onboarding</a:t>
          </a:r>
        </a:p>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Claim Processing</a:t>
          </a:r>
        </a:p>
      </dsp:txBody>
      <dsp:txXfrm>
        <a:off x="2771269" y="792695"/>
        <a:ext cx="1834123" cy="3778907"/>
      </dsp:txXfrm>
    </dsp:sp>
    <dsp:sp modelId="{7BF2AB52-5B05-4049-BD33-7BD5AE3743BB}">
      <dsp:nvSpPr>
        <dsp:cNvPr id="0" name=""/>
        <dsp:cNvSpPr/>
      </dsp:nvSpPr>
      <dsp:spPr>
        <a:xfrm>
          <a:off x="2427878" y="265157"/>
          <a:ext cx="713178" cy="760393"/>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l="-3000" r="-3000"/>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499006F9-908C-407A-98B5-6DA54AB3507B}">
      <dsp:nvSpPr>
        <dsp:cNvPr id="0" name=""/>
        <dsp:cNvSpPr/>
      </dsp:nvSpPr>
      <dsp:spPr>
        <a:xfrm rot="16200000">
          <a:off x="3093909" y="2565416"/>
          <a:ext cx="3778907" cy="27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37757" bIns="0" numCol="1" spcCol="1270" anchor="t" anchorCtr="0">
          <a:noAutofit/>
        </a:bodyPr>
        <a:lstStyle/>
        <a:p>
          <a:pPr marL="0" lvl="0" indent="0" algn="r" defTabSz="1066800">
            <a:lnSpc>
              <a:spcPct val="90000"/>
            </a:lnSpc>
            <a:spcBef>
              <a:spcPct val="0"/>
            </a:spcBef>
            <a:spcAft>
              <a:spcPct val="35000"/>
            </a:spcAft>
            <a:buNone/>
          </a:pPr>
          <a:r>
            <a:rPr lang="en-IN" sz="2400" kern="1200" dirty="0">
              <a:solidFill>
                <a:srgbClr val="399AFF"/>
              </a:solidFill>
              <a:latin typeface="Aptos" panose="02110004020202020204"/>
              <a:ea typeface="+mn-ea"/>
              <a:cs typeface="+mn-cs"/>
            </a:rPr>
            <a:t>Customer Service</a:t>
          </a:r>
          <a:endParaRPr lang="en-IN" sz="2400" kern="1200" dirty="0">
            <a:solidFill>
              <a:srgbClr val="399AFF"/>
            </a:solidFill>
          </a:endParaRPr>
        </a:p>
      </dsp:txBody>
      <dsp:txXfrm>
        <a:off x="3093909" y="2565416"/>
        <a:ext cx="3778907" cy="279642"/>
      </dsp:txXfrm>
    </dsp:sp>
    <dsp:sp modelId="{E8544D3A-D2D2-4D0B-B08D-15C879315635}">
      <dsp:nvSpPr>
        <dsp:cNvPr id="0" name=""/>
        <dsp:cNvSpPr/>
      </dsp:nvSpPr>
      <dsp:spPr>
        <a:xfrm>
          <a:off x="5200241" y="769568"/>
          <a:ext cx="1648043" cy="3778907"/>
        </a:xfrm>
        <a:prstGeom prst="rect">
          <a:avLst/>
        </a:prstGeom>
        <a:solidFill>
          <a:srgbClr val="1F366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337757" rIns="135128" bIns="135128" numCol="1" spcCol="1270" anchor="t" anchorCtr="0">
          <a:noAutofit/>
        </a:bodyPr>
        <a:lstStyle/>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Customer Care Centre</a:t>
          </a:r>
        </a:p>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Service Desk</a:t>
          </a:r>
        </a:p>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Order Management</a:t>
          </a:r>
        </a:p>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Feedback or Complaint processing</a:t>
          </a:r>
        </a:p>
      </dsp:txBody>
      <dsp:txXfrm>
        <a:off x="5200241" y="769568"/>
        <a:ext cx="1648043" cy="3778907"/>
      </dsp:txXfrm>
    </dsp:sp>
    <dsp:sp modelId="{BEC6E25D-2848-4A4D-A84A-E3CB26E7129C}">
      <dsp:nvSpPr>
        <dsp:cNvPr id="0" name=""/>
        <dsp:cNvSpPr/>
      </dsp:nvSpPr>
      <dsp:spPr>
        <a:xfrm>
          <a:off x="4766595" y="265157"/>
          <a:ext cx="713178" cy="760393"/>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l="-3000" r="-3000"/>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A226AAD7-A890-4506-A325-BE5FF1497C6C}">
      <dsp:nvSpPr>
        <dsp:cNvPr id="0" name=""/>
        <dsp:cNvSpPr/>
      </dsp:nvSpPr>
      <dsp:spPr>
        <a:xfrm rot="16200000">
          <a:off x="5339587" y="2657924"/>
          <a:ext cx="3778907" cy="27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46629" bIns="0" numCol="1" spcCol="1270" anchor="t" anchorCtr="0">
          <a:noAutofit/>
        </a:bodyPr>
        <a:lstStyle/>
        <a:p>
          <a:pPr marL="0" lvl="0" indent="0" algn="r" defTabSz="1066800">
            <a:lnSpc>
              <a:spcPct val="90000"/>
            </a:lnSpc>
            <a:spcBef>
              <a:spcPct val="0"/>
            </a:spcBef>
            <a:spcAft>
              <a:spcPct val="35000"/>
            </a:spcAft>
            <a:buNone/>
          </a:pPr>
          <a:r>
            <a:rPr lang="en-IN" sz="2400" kern="1200" dirty="0">
              <a:solidFill>
                <a:srgbClr val="399AFF"/>
              </a:solidFill>
            </a:rPr>
            <a:t>Service Operations</a:t>
          </a:r>
        </a:p>
      </dsp:txBody>
      <dsp:txXfrm>
        <a:off x="5339587" y="2657924"/>
        <a:ext cx="3778907" cy="279642"/>
      </dsp:txXfrm>
    </dsp:sp>
    <dsp:sp modelId="{BD23B313-A7B3-4DE8-90B8-43667733C495}">
      <dsp:nvSpPr>
        <dsp:cNvPr id="0" name=""/>
        <dsp:cNvSpPr/>
      </dsp:nvSpPr>
      <dsp:spPr>
        <a:xfrm>
          <a:off x="7429760" y="757967"/>
          <a:ext cx="1695458" cy="3778907"/>
        </a:xfrm>
        <a:prstGeom prst="rect">
          <a:avLst/>
        </a:prstGeom>
        <a:solidFill>
          <a:srgbClr val="1F366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337757" rIns="135128" bIns="135128" numCol="1" spcCol="1270" anchor="t" anchorCtr="0">
          <a:noAutofit/>
        </a:bodyPr>
        <a:lstStyle/>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Document Processing</a:t>
          </a:r>
        </a:p>
        <a:p>
          <a:pPr marL="173038" lvl="1" indent="-173038" algn="l" defTabSz="66675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Field Operations</a:t>
          </a:r>
        </a:p>
      </dsp:txBody>
      <dsp:txXfrm>
        <a:off x="7429760" y="757967"/>
        <a:ext cx="1695458" cy="3778907"/>
      </dsp:txXfrm>
    </dsp:sp>
    <dsp:sp modelId="{2D2FACEF-6B5C-4892-8518-E437E7760227}">
      <dsp:nvSpPr>
        <dsp:cNvPr id="0" name=""/>
        <dsp:cNvSpPr/>
      </dsp:nvSpPr>
      <dsp:spPr>
        <a:xfrm>
          <a:off x="7012273" y="265157"/>
          <a:ext cx="713178" cy="760393"/>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l="-3000" r="-3000"/>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DD8D6726-EEEF-4291-9B31-7C72B887E306}">
      <dsp:nvSpPr>
        <dsp:cNvPr id="0" name=""/>
        <dsp:cNvSpPr/>
      </dsp:nvSpPr>
      <dsp:spPr>
        <a:xfrm rot="5400000" flipV="1">
          <a:off x="7586424" y="2387900"/>
          <a:ext cx="3778907" cy="573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37757" bIns="0" numCol="1" spcCol="1270" anchor="t" anchorCtr="0">
          <a:noAutofit/>
        </a:bodyPr>
        <a:lstStyle/>
        <a:p>
          <a:pPr marL="173038" lvl="1" indent="-173038" algn="r" defTabSz="666750">
            <a:lnSpc>
              <a:spcPct val="90000"/>
            </a:lnSpc>
            <a:spcBef>
              <a:spcPts val="600"/>
            </a:spcBef>
            <a:spcAft>
              <a:spcPct val="15000"/>
            </a:spcAft>
            <a:buNone/>
          </a:pPr>
          <a:r>
            <a:rPr lang="en-IN" sz="2400" kern="1200" dirty="0">
              <a:solidFill>
                <a:srgbClr val="399AFF"/>
              </a:solidFill>
              <a:latin typeface="Aptos" panose="02110004020202020204"/>
              <a:ea typeface="+mn-ea"/>
              <a:cs typeface="+mn-cs"/>
            </a:rPr>
            <a:t>Technology</a:t>
          </a:r>
        </a:p>
      </dsp:txBody>
      <dsp:txXfrm rot="10800000">
        <a:off x="7586424" y="2387900"/>
        <a:ext cx="3778907" cy="573916"/>
      </dsp:txXfrm>
    </dsp:sp>
    <dsp:sp modelId="{0CEA6A9D-EE64-4E83-A55F-2C2FC1C2B953}">
      <dsp:nvSpPr>
        <dsp:cNvPr id="0" name=""/>
        <dsp:cNvSpPr/>
      </dsp:nvSpPr>
      <dsp:spPr>
        <a:xfrm>
          <a:off x="9525721" y="901776"/>
          <a:ext cx="1928925" cy="3619475"/>
        </a:xfrm>
        <a:prstGeom prst="rect">
          <a:avLst/>
        </a:prstGeom>
        <a:solidFill>
          <a:srgbClr val="1F366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255639" rIns="113792" bIns="113792" numCol="1" spcCol="1270" anchor="t" anchorCtr="0">
          <a:noAutofit/>
        </a:bodyPr>
        <a:lstStyle/>
        <a:p>
          <a:pPr marL="173038" lvl="1" indent="-173038" algn="l" defTabSz="71120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Robotic Process Automation</a:t>
          </a:r>
        </a:p>
        <a:p>
          <a:pPr marL="173038" lvl="1" indent="-173038" algn="l" defTabSz="71120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Alert Configuration</a:t>
          </a:r>
        </a:p>
        <a:p>
          <a:pPr marL="173038" lvl="1" indent="-173038" algn="l" defTabSz="71120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Integrations</a:t>
          </a:r>
        </a:p>
        <a:p>
          <a:pPr marL="173038" lvl="1" indent="-173038" algn="l" defTabSz="711200">
            <a:lnSpc>
              <a:spcPct val="90000"/>
            </a:lnSpc>
            <a:spcBef>
              <a:spcPts val="600"/>
            </a:spcBef>
            <a:spcAft>
              <a:spcPct val="15000"/>
            </a:spcAft>
            <a:buChar char="•"/>
          </a:pPr>
          <a:r>
            <a:rPr lang="en-IN" sz="1600" kern="1200" dirty="0">
              <a:solidFill>
                <a:prstClr val="white"/>
              </a:solidFill>
              <a:latin typeface="Aptos" panose="02110004020202020204"/>
              <a:ea typeface="+mn-ea"/>
              <a:cs typeface="+mn-cs"/>
            </a:rPr>
            <a:t>AI Bots</a:t>
          </a:r>
        </a:p>
        <a:p>
          <a:pPr marL="173038" lvl="1" indent="-173038" algn="l" defTabSz="711200">
            <a:lnSpc>
              <a:spcPct val="90000"/>
            </a:lnSpc>
            <a:spcBef>
              <a:spcPts val="600"/>
            </a:spcBef>
            <a:spcAft>
              <a:spcPct val="15000"/>
            </a:spcAft>
            <a:buChar char="•"/>
          </a:pPr>
          <a:endParaRPr lang="en-IN" sz="1600" kern="1200" dirty="0">
            <a:solidFill>
              <a:prstClr val="white"/>
            </a:solidFill>
            <a:latin typeface="Aptos" panose="02110004020202020204"/>
            <a:ea typeface="+mn-ea"/>
            <a:cs typeface="+mn-cs"/>
          </a:endParaRPr>
        </a:p>
      </dsp:txBody>
      <dsp:txXfrm>
        <a:off x="9525721" y="901776"/>
        <a:ext cx="1928925" cy="3619475"/>
      </dsp:txXfrm>
    </dsp:sp>
    <dsp:sp modelId="{5F2175DE-AC80-4B53-B09D-01DE21E71332}">
      <dsp:nvSpPr>
        <dsp:cNvPr id="0" name=""/>
        <dsp:cNvSpPr/>
      </dsp:nvSpPr>
      <dsp:spPr>
        <a:xfrm>
          <a:off x="9330548" y="265157"/>
          <a:ext cx="755779" cy="726539"/>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A95D50-BD73-4D5D-A7C3-A5DA4B1EFAD9}">
      <dsp:nvSpPr>
        <dsp:cNvPr id="0" name=""/>
        <dsp:cNvSpPr/>
      </dsp:nvSpPr>
      <dsp:spPr>
        <a:xfrm>
          <a:off x="2955" y="333905"/>
          <a:ext cx="582946" cy="582946"/>
        </a:xfrm>
        <a:prstGeom prst="ellipse">
          <a:avLst/>
        </a:prstGeom>
        <a:solidFill>
          <a:srgbClr val="B6FF42"/>
        </a:solidFill>
        <a:ln>
          <a:noFill/>
        </a:ln>
        <a:effectLst/>
      </dsp:spPr>
      <dsp:style>
        <a:lnRef idx="0">
          <a:scrgbClr r="0" g="0" b="0"/>
        </a:lnRef>
        <a:fillRef idx="1">
          <a:scrgbClr r="0" g="0" b="0"/>
        </a:fillRef>
        <a:effectRef idx="0">
          <a:scrgbClr r="0" g="0" b="0"/>
        </a:effectRef>
        <a:fontRef idx="minor"/>
      </dsp:style>
    </dsp:sp>
    <dsp:sp modelId="{5421EDF8-EDD8-4442-83EB-47687FC60221}">
      <dsp:nvSpPr>
        <dsp:cNvPr id="0" name=""/>
        <dsp:cNvSpPr/>
      </dsp:nvSpPr>
      <dsp:spPr>
        <a:xfrm>
          <a:off x="125373" y="456324"/>
          <a:ext cx="338109" cy="3381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BA2309-098D-4465-A140-717E2069A151}">
      <dsp:nvSpPr>
        <dsp:cNvPr id="0" name=""/>
        <dsp:cNvSpPr/>
      </dsp:nvSpPr>
      <dsp:spPr>
        <a:xfrm>
          <a:off x="710819" y="333905"/>
          <a:ext cx="1374089" cy="5829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0" kern="1200" dirty="0">
              <a:solidFill>
                <a:schemeClr val="bg1"/>
              </a:solidFill>
            </a:rPr>
            <a:t>AI-driven</a:t>
          </a:r>
          <a:r>
            <a:rPr lang="en-US" sz="1400" b="1" kern="1200" dirty="0">
              <a:solidFill>
                <a:schemeClr val="bg1"/>
              </a:solidFill>
            </a:rPr>
            <a:t> email parsing </a:t>
          </a:r>
          <a:r>
            <a:rPr lang="en-US" sz="1100" kern="1200" dirty="0">
              <a:solidFill>
                <a:schemeClr val="bg1"/>
              </a:solidFill>
            </a:rPr>
            <a:t>extracted sale order details (product, quantity, client info) from a dedicated mailbox.</a:t>
          </a:r>
          <a:endParaRPr lang="en-IN" sz="1100" kern="1200" dirty="0">
            <a:solidFill>
              <a:schemeClr val="bg1"/>
            </a:solidFill>
          </a:endParaRPr>
        </a:p>
      </dsp:txBody>
      <dsp:txXfrm>
        <a:off x="710819" y="333905"/>
        <a:ext cx="1374089" cy="582946"/>
      </dsp:txXfrm>
    </dsp:sp>
    <dsp:sp modelId="{6CC80EB8-64FC-4FDE-B2BA-6EAB07F3F183}">
      <dsp:nvSpPr>
        <dsp:cNvPr id="0" name=""/>
        <dsp:cNvSpPr/>
      </dsp:nvSpPr>
      <dsp:spPr>
        <a:xfrm>
          <a:off x="2324332" y="333905"/>
          <a:ext cx="582946" cy="582946"/>
        </a:xfrm>
        <a:prstGeom prst="ellipse">
          <a:avLst/>
        </a:prstGeom>
        <a:solidFill>
          <a:srgbClr val="B6FF42"/>
        </a:solidFill>
        <a:ln>
          <a:noFill/>
        </a:ln>
        <a:effectLst/>
      </dsp:spPr>
      <dsp:style>
        <a:lnRef idx="0">
          <a:scrgbClr r="0" g="0" b="0"/>
        </a:lnRef>
        <a:fillRef idx="1">
          <a:scrgbClr r="0" g="0" b="0"/>
        </a:fillRef>
        <a:effectRef idx="0">
          <a:scrgbClr r="0" g="0" b="0"/>
        </a:effectRef>
        <a:fontRef idx="minor"/>
      </dsp:style>
    </dsp:sp>
    <dsp:sp modelId="{184E40C9-67E9-4678-85AE-CE14D44DA9DD}">
      <dsp:nvSpPr>
        <dsp:cNvPr id="0" name=""/>
        <dsp:cNvSpPr/>
      </dsp:nvSpPr>
      <dsp:spPr>
        <a:xfrm>
          <a:off x="2446751" y="456324"/>
          <a:ext cx="338109" cy="3381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A55319-9DFA-4D0A-AA6D-A176BA3A009E}">
      <dsp:nvSpPr>
        <dsp:cNvPr id="0" name=""/>
        <dsp:cNvSpPr/>
      </dsp:nvSpPr>
      <dsp:spPr>
        <a:xfrm>
          <a:off x="2899549" y="333905"/>
          <a:ext cx="1639384" cy="582946"/>
        </a:xfrm>
        <a:prstGeom prst="rect">
          <a:avLst/>
        </a:prstGeom>
        <a:noFill/>
        <a:ln w="19050" cap="flat" cmpd="sng" algn="ctr">
          <a:noFill/>
          <a:prstDash val="solid"/>
          <a:miter lim="800000"/>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488950">
            <a:lnSpc>
              <a:spcPct val="100000"/>
            </a:lnSpc>
            <a:spcBef>
              <a:spcPct val="0"/>
            </a:spcBef>
            <a:spcAft>
              <a:spcPct val="35000"/>
            </a:spcAft>
            <a:buNone/>
          </a:pPr>
          <a:r>
            <a:rPr lang="en-US" sz="1100" kern="1200" dirty="0">
              <a:solidFill>
                <a:schemeClr val="bg1"/>
              </a:solidFill>
            </a:rPr>
            <a:t>Marketing reviewed requests, followed by </a:t>
          </a:r>
          <a:r>
            <a:rPr lang="en-US" sz="1600" b="1" kern="1200" dirty="0">
              <a:solidFill>
                <a:schemeClr val="bg1"/>
              </a:solidFill>
            </a:rPr>
            <a:t>Management approval </a:t>
          </a:r>
          <a:r>
            <a:rPr lang="en-US" sz="1200" kern="1200" dirty="0">
              <a:solidFill>
                <a:schemeClr val="bg1"/>
              </a:solidFill>
            </a:rPr>
            <a:t>through a real-time </a:t>
          </a:r>
          <a:r>
            <a:rPr lang="en-US" sz="1400" b="1" kern="1200" dirty="0">
              <a:solidFill>
                <a:schemeClr val="bg1"/>
              </a:solidFill>
              <a:latin typeface="Aptos" panose="02110004020202020204"/>
              <a:ea typeface="+mn-ea"/>
              <a:cs typeface="+mn-cs"/>
            </a:rPr>
            <a:t>portal</a:t>
          </a:r>
          <a:r>
            <a:rPr lang="en-US" sz="1200" kern="1200" dirty="0">
              <a:solidFill>
                <a:schemeClr val="bg1"/>
              </a:solidFill>
            </a:rPr>
            <a:t>.</a:t>
          </a:r>
        </a:p>
      </dsp:txBody>
      <dsp:txXfrm>
        <a:off x="2899549" y="333905"/>
        <a:ext cx="1639384" cy="582946"/>
      </dsp:txXfrm>
    </dsp:sp>
    <dsp:sp modelId="{103D9BAB-24C6-4B73-B04E-E901B55E4701}">
      <dsp:nvSpPr>
        <dsp:cNvPr id="0" name=""/>
        <dsp:cNvSpPr/>
      </dsp:nvSpPr>
      <dsp:spPr>
        <a:xfrm>
          <a:off x="4778358" y="333905"/>
          <a:ext cx="582946" cy="582946"/>
        </a:xfrm>
        <a:prstGeom prst="ellipse">
          <a:avLst/>
        </a:prstGeom>
        <a:solidFill>
          <a:srgbClr val="B6FF42"/>
        </a:solidFill>
        <a:ln>
          <a:noFill/>
        </a:ln>
        <a:effectLst/>
      </dsp:spPr>
      <dsp:style>
        <a:lnRef idx="0">
          <a:scrgbClr r="0" g="0" b="0"/>
        </a:lnRef>
        <a:fillRef idx="1">
          <a:scrgbClr r="0" g="0" b="0"/>
        </a:fillRef>
        <a:effectRef idx="0">
          <a:scrgbClr r="0" g="0" b="0"/>
        </a:effectRef>
        <a:fontRef idx="minor"/>
      </dsp:style>
    </dsp:sp>
    <dsp:sp modelId="{9289CDA8-9F9A-4E52-835B-1A373BD308CE}">
      <dsp:nvSpPr>
        <dsp:cNvPr id="0" name=""/>
        <dsp:cNvSpPr/>
      </dsp:nvSpPr>
      <dsp:spPr>
        <a:xfrm>
          <a:off x="4900777" y="456324"/>
          <a:ext cx="338109" cy="3381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C7775E-E204-4F16-9EDC-D88D8A4C4678}">
      <dsp:nvSpPr>
        <dsp:cNvPr id="0" name=""/>
        <dsp:cNvSpPr/>
      </dsp:nvSpPr>
      <dsp:spPr>
        <a:xfrm>
          <a:off x="5486222" y="432292"/>
          <a:ext cx="1374089" cy="386173"/>
        </a:xfrm>
        <a:prstGeom prst="rect">
          <a:avLst/>
        </a:prstGeom>
        <a:noFill/>
        <a:ln w="19050" cap="flat" cmpd="sng" algn="ctr">
          <a:noFill/>
          <a:prstDash val="solid"/>
          <a:miter lim="800000"/>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889000">
            <a:lnSpc>
              <a:spcPct val="100000"/>
            </a:lnSpc>
            <a:spcBef>
              <a:spcPct val="0"/>
            </a:spcBef>
            <a:spcAft>
              <a:spcPct val="35000"/>
            </a:spcAft>
            <a:buNone/>
          </a:pPr>
          <a:r>
            <a:rPr lang="en-US" sz="2000" b="0" kern="1200" dirty="0">
              <a:solidFill>
                <a:schemeClr val="bg1"/>
              </a:solidFill>
            </a:rPr>
            <a:t>BOT </a:t>
          </a:r>
          <a:r>
            <a:rPr lang="en-US" sz="1400" b="0" kern="1200" dirty="0">
              <a:solidFill>
                <a:schemeClr val="bg1"/>
              </a:solidFill>
            </a:rPr>
            <a:t>automated sale order creation </a:t>
          </a:r>
          <a:r>
            <a:rPr lang="en-US" sz="1200" kern="1200" dirty="0">
              <a:solidFill>
                <a:schemeClr val="bg1"/>
              </a:solidFill>
            </a:rPr>
            <a:t>eliminating manual entry.</a:t>
          </a:r>
        </a:p>
      </dsp:txBody>
      <dsp:txXfrm>
        <a:off x="5486222" y="432292"/>
        <a:ext cx="1374089" cy="386173"/>
      </dsp:txXfrm>
    </dsp:sp>
    <dsp:sp modelId="{FFBE9E90-D921-48E1-8799-68AFA3EFB2D6}">
      <dsp:nvSpPr>
        <dsp:cNvPr id="0" name=""/>
        <dsp:cNvSpPr/>
      </dsp:nvSpPr>
      <dsp:spPr>
        <a:xfrm>
          <a:off x="7099736" y="333905"/>
          <a:ext cx="582946" cy="582946"/>
        </a:xfrm>
        <a:prstGeom prst="ellipse">
          <a:avLst/>
        </a:prstGeom>
        <a:solidFill>
          <a:srgbClr val="B6FF42"/>
        </a:solidFill>
        <a:ln>
          <a:noFill/>
        </a:ln>
        <a:effectLst/>
      </dsp:spPr>
      <dsp:style>
        <a:lnRef idx="0">
          <a:scrgbClr r="0" g="0" b="0"/>
        </a:lnRef>
        <a:fillRef idx="1">
          <a:scrgbClr r="0" g="0" b="0"/>
        </a:fillRef>
        <a:effectRef idx="0">
          <a:scrgbClr r="0" g="0" b="0"/>
        </a:effectRef>
        <a:fontRef idx="minor"/>
      </dsp:style>
    </dsp:sp>
    <dsp:sp modelId="{F2864A1F-9EA9-405D-ACB8-E1CA27BC8D1E}">
      <dsp:nvSpPr>
        <dsp:cNvPr id="0" name=""/>
        <dsp:cNvSpPr/>
      </dsp:nvSpPr>
      <dsp:spPr>
        <a:xfrm>
          <a:off x="7222154" y="456324"/>
          <a:ext cx="338109" cy="3381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B2A9AA-615C-40F2-83FA-BE0E35315BDF}">
      <dsp:nvSpPr>
        <dsp:cNvPr id="0" name=""/>
        <dsp:cNvSpPr/>
      </dsp:nvSpPr>
      <dsp:spPr>
        <a:xfrm>
          <a:off x="7807600" y="333905"/>
          <a:ext cx="1374089" cy="582946"/>
        </a:xfrm>
        <a:prstGeom prst="rect">
          <a:avLst/>
        </a:prstGeom>
        <a:noFill/>
        <a:ln w="19050" cap="flat" cmpd="sng" algn="ctr">
          <a:noFill/>
          <a:prstDash val="solid"/>
          <a:miter lim="800000"/>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488950">
            <a:lnSpc>
              <a:spcPct val="100000"/>
            </a:lnSpc>
            <a:spcBef>
              <a:spcPct val="0"/>
            </a:spcBef>
            <a:spcAft>
              <a:spcPct val="35000"/>
            </a:spcAft>
            <a:buNone/>
          </a:pPr>
          <a:r>
            <a:rPr lang="en-US" sz="1100" kern="1200" dirty="0">
              <a:solidFill>
                <a:schemeClr val="bg1"/>
              </a:solidFill>
            </a:rPr>
            <a:t>Production and Quality teams handled manufacturing and inspections, </a:t>
          </a:r>
          <a:r>
            <a:rPr lang="en-US" sz="1400" b="1" kern="1200" dirty="0">
              <a:solidFill>
                <a:schemeClr val="bg1"/>
              </a:solidFill>
              <a:latin typeface="Aptos" panose="02110004020202020204"/>
              <a:ea typeface="+mn-ea"/>
              <a:cs typeface="+mn-cs"/>
            </a:rPr>
            <a:t>ensuring</a:t>
          </a:r>
          <a:r>
            <a:rPr lang="en-US" sz="1200" kern="1200" dirty="0">
              <a:solidFill>
                <a:schemeClr val="bg1"/>
              </a:solidFill>
            </a:rPr>
            <a:t> </a:t>
          </a:r>
          <a:r>
            <a:rPr lang="en-US" sz="1600" b="1" kern="1200" dirty="0">
              <a:solidFill>
                <a:schemeClr val="bg1"/>
              </a:solidFill>
            </a:rPr>
            <a:t>compliance</a:t>
          </a:r>
          <a:endParaRPr lang="en-US" sz="1200" b="1" kern="1200" dirty="0">
            <a:solidFill>
              <a:schemeClr val="bg1"/>
            </a:solidFill>
          </a:endParaRPr>
        </a:p>
      </dsp:txBody>
      <dsp:txXfrm>
        <a:off x="7807600" y="333905"/>
        <a:ext cx="1374089" cy="582946"/>
      </dsp:txXfrm>
    </dsp:sp>
    <dsp:sp modelId="{2EABFBE7-7E9E-46A8-B121-7EE1F72DA533}">
      <dsp:nvSpPr>
        <dsp:cNvPr id="0" name=""/>
        <dsp:cNvSpPr/>
      </dsp:nvSpPr>
      <dsp:spPr>
        <a:xfrm>
          <a:off x="9421113" y="333905"/>
          <a:ext cx="582946" cy="582946"/>
        </a:xfrm>
        <a:prstGeom prst="ellipse">
          <a:avLst/>
        </a:prstGeom>
        <a:solidFill>
          <a:srgbClr val="B6FF42"/>
        </a:solidFill>
        <a:ln>
          <a:noFill/>
        </a:ln>
        <a:effectLst/>
      </dsp:spPr>
      <dsp:style>
        <a:lnRef idx="0">
          <a:scrgbClr r="0" g="0" b="0"/>
        </a:lnRef>
        <a:fillRef idx="1">
          <a:scrgbClr r="0" g="0" b="0"/>
        </a:fillRef>
        <a:effectRef idx="0">
          <a:scrgbClr r="0" g="0" b="0"/>
        </a:effectRef>
        <a:fontRef idx="minor"/>
      </dsp:style>
    </dsp:sp>
    <dsp:sp modelId="{9EE47887-E6BA-467D-ACAF-1AABC0D2FF27}">
      <dsp:nvSpPr>
        <dsp:cNvPr id="0" name=""/>
        <dsp:cNvSpPr/>
      </dsp:nvSpPr>
      <dsp:spPr>
        <a:xfrm>
          <a:off x="9543532" y="456324"/>
          <a:ext cx="338109" cy="3381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173671-1EE7-4229-ADC5-FDFEF3F32F64}">
      <dsp:nvSpPr>
        <dsp:cNvPr id="0" name=""/>
        <dsp:cNvSpPr/>
      </dsp:nvSpPr>
      <dsp:spPr>
        <a:xfrm>
          <a:off x="10128977" y="333905"/>
          <a:ext cx="1374089" cy="582946"/>
        </a:xfrm>
        <a:prstGeom prst="rect">
          <a:avLst/>
        </a:prstGeom>
        <a:noFill/>
        <a:ln w="19050" cap="flat" cmpd="sng" algn="ctr">
          <a:noFill/>
          <a:prstDash val="solid"/>
          <a:miter lim="800000"/>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800100">
            <a:lnSpc>
              <a:spcPct val="100000"/>
            </a:lnSpc>
            <a:spcBef>
              <a:spcPct val="0"/>
            </a:spcBef>
            <a:spcAft>
              <a:spcPct val="35000"/>
            </a:spcAft>
            <a:buNone/>
          </a:pPr>
          <a:r>
            <a:rPr lang="en-US" sz="1800" b="0" kern="1200" dirty="0">
              <a:solidFill>
                <a:schemeClr val="bg1"/>
              </a:solidFill>
              <a:latin typeface="Aptos" panose="02110004020202020204"/>
              <a:ea typeface="+mn-ea"/>
              <a:cs typeface="+mn-cs"/>
            </a:rPr>
            <a:t>Digital records </a:t>
          </a:r>
          <a:r>
            <a:rPr lang="en-US" sz="1200" b="0" kern="1200" dirty="0">
              <a:solidFill>
                <a:schemeClr val="bg1"/>
              </a:solidFill>
              <a:latin typeface="Aptos" panose="02110004020202020204"/>
              <a:ea typeface="+mn-ea"/>
              <a:cs typeface="+mn-cs"/>
            </a:rPr>
            <a:t>provided complete traceability and regulatory compliance.</a:t>
          </a:r>
          <a:endParaRPr lang="en-US" sz="1400" b="0" kern="1200" dirty="0">
            <a:solidFill>
              <a:schemeClr val="bg1"/>
            </a:solidFill>
            <a:latin typeface="Aptos" panose="02110004020202020204"/>
            <a:ea typeface="+mn-ea"/>
            <a:cs typeface="+mn-cs"/>
          </a:endParaRPr>
        </a:p>
      </dsp:txBody>
      <dsp:txXfrm>
        <a:off x="10128977" y="333905"/>
        <a:ext cx="1374089" cy="5829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87BD6A-5294-4DD9-9C70-704C134A4F31}">
      <dsp:nvSpPr>
        <dsp:cNvPr id="0" name=""/>
        <dsp:cNvSpPr/>
      </dsp:nvSpPr>
      <dsp:spPr>
        <a:xfrm>
          <a:off x="3080" y="209136"/>
          <a:ext cx="1958978" cy="868008"/>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70% faster</a:t>
          </a:r>
          <a:r>
            <a:rPr lang="en-IN" sz="1800" b="0" i="0" kern="1200" dirty="0">
              <a:solidFill>
                <a:srgbClr val="B6FF42"/>
              </a:solidFill>
            </a:rPr>
            <a:t> </a:t>
          </a:r>
          <a:r>
            <a:rPr lang="en-IN" sz="1400" b="0" i="0" kern="1200" dirty="0"/>
            <a:t>order processing.</a:t>
          </a:r>
          <a:endParaRPr lang="en-IN" sz="1400" kern="1200" dirty="0"/>
        </a:p>
      </dsp:txBody>
      <dsp:txXfrm>
        <a:off x="3080" y="209136"/>
        <a:ext cx="1958978" cy="868008"/>
      </dsp:txXfrm>
    </dsp:sp>
    <dsp:sp modelId="{A3D6CB1E-626F-48F7-A961-E16615167BF7}">
      <dsp:nvSpPr>
        <dsp:cNvPr id="0" name=""/>
        <dsp:cNvSpPr/>
      </dsp:nvSpPr>
      <dsp:spPr>
        <a:xfrm>
          <a:off x="2106726" y="209136"/>
          <a:ext cx="1900503" cy="868008"/>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1" i="0" kern="1200" dirty="0">
              <a:solidFill>
                <a:srgbClr val="B6FF42"/>
              </a:solidFill>
            </a:rPr>
            <a:t>95% Accuracy </a:t>
          </a:r>
          <a:r>
            <a:rPr lang="en-US" sz="1400" b="0" i="0" kern="1200" dirty="0"/>
            <a:t>in sale orders.</a:t>
          </a:r>
          <a:endParaRPr lang="en-US" sz="1800" b="0" i="0" kern="1200" dirty="0"/>
        </a:p>
      </dsp:txBody>
      <dsp:txXfrm>
        <a:off x="2106726" y="209136"/>
        <a:ext cx="1900503" cy="868008"/>
      </dsp:txXfrm>
    </dsp:sp>
    <dsp:sp modelId="{F50F0844-8F05-42E4-8D9C-0725AF94D94E}">
      <dsp:nvSpPr>
        <dsp:cNvPr id="0" name=""/>
        <dsp:cNvSpPr/>
      </dsp:nvSpPr>
      <dsp:spPr>
        <a:xfrm>
          <a:off x="4151897" y="209136"/>
          <a:ext cx="2160500" cy="868008"/>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1" i="0" kern="1200" dirty="0">
              <a:solidFill>
                <a:srgbClr val="B6FF42"/>
              </a:solidFill>
            </a:rPr>
            <a:t>60% Reduction </a:t>
          </a:r>
          <a:r>
            <a:rPr lang="en-US" sz="1600" b="0" i="0" kern="1200" dirty="0"/>
            <a:t>in team effort.</a:t>
          </a:r>
        </a:p>
      </dsp:txBody>
      <dsp:txXfrm>
        <a:off x="4151897" y="209136"/>
        <a:ext cx="2160500" cy="868008"/>
      </dsp:txXfrm>
    </dsp:sp>
    <dsp:sp modelId="{C98CF24D-0E29-49B5-8FF1-65974499320B}">
      <dsp:nvSpPr>
        <dsp:cNvPr id="0" name=""/>
        <dsp:cNvSpPr/>
      </dsp:nvSpPr>
      <dsp:spPr>
        <a:xfrm>
          <a:off x="6457066" y="209136"/>
          <a:ext cx="2640509" cy="868008"/>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1" i="0" kern="1200" dirty="0">
              <a:solidFill>
                <a:srgbClr val="B6FF42"/>
              </a:solidFill>
            </a:rPr>
            <a:t>Real-time tracking </a:t>
          </a:r>
          <a:r>
            <a:rPr lang="en-US" sz="1400" b="0" i="0" kern="1200" dirty="0"/>
            <a:t>compliance with audit trails.</a:t>
          </a:r>
          <a:endParaRPr lang="en-US" sz="1800" b="1" i="0" kern="1200" dirty="0"/>
        </a:p>
      </dsp:txBody>
      <dsp:txXfrm>
        <a:off x="6457066" y="209136"/>
        <a:ext cx="2640509" cy="868008"/>
      </dsp:txXfrm>
    </dsp:sp>
    <dsp:sp modelId="{E831CBA3-0DF1-416D-BAA9-71EF3B6C849F}">
      <dsp:nvSpPr>
        <dsp:cNvPr id="0" name=""/>
        <dsp:cNvSpPr/>
      </dsp:nvSpPr>
      <dsp:spPr>
        <a:xfrm>
          <a:off x="9242244" y="209136"/>
          <a:ext cx="2260697" cy="868008"/>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Font typeface="Arial" panose="020B0604020202020204" pitchFamily="34" charset="0"/>
            <a:buNone/>
          </a:pPr>
          <a:r>
            <a:rPr lang="en-US" sz="1600" b="1" i="0" kern="1200" dirty="0">
              <a:solidFill>
                <a:srgbClr val="B6FF42"/>
              </a:solidFill>
            </a:rPr>
            <a:t>Scalable solution </a:t>
          </a:r>
          <a:r>
            <a:rPr lang="en-US" sz="1400" b="0" i="0" kern="1200" dirty="0"/>
            <a:t>for growing order volumes.</a:t>
          </a:r>
          <a:endParaRPr lang="en-US" sz="1400" b="1" i="0" kern="1200" dirty="0"/>
        </a:p>
      </dsp:txBody>
      <dsp:txXfrm>
        <a:off x="9242244" y="209136"/>
        <a:ext cx="2260697" cy="86800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A95D50-BD73-4D5D-A7C3-A5DA4B1EFAD9}">
      <dsp:nvSpPr>
        <dsp:cNvPr id="0" name=""/>
        <dsp:cNvSpPr/>
      </dsp:nvSpPr>
      <dsp:spPr>
        <a:xfrm>
          <a:off x="2955" y="418095"/>
          <a:ext cx="582946" cy="582946"/>
        </a:xfrm>
        <a:prstGeom prst="ellipse">
          <a:avLst/>
        </a:prstGeom>
        <a:solidFill>
          <a:srgbClr val="B6FF42"/>
        </a:solidFill>
        <a:ln>
          <a:noFill/>
        </a:ln>
        <a:effectLst/>
      </dsp:spPr>
      <dsp:style>
        <a:lnRef idx="0">
          <a:scrgbClr r="0" g="0" b="0"/>
        </a:lnRef>
        <a:fillRef idx="1">
          <a:scrgbClr r="0" g="0" b="0"/>
        </a:fillRef>
        <a:effectRef idx="0">
          <a:scrgbClr r="0" g="0" b="0"/>
        </a:effectRef>
        <a:fontRef idx="minor"/>
      </dsp:style>
    </dsp:sp>
    <dsp:sp modelId="{5421EDF8-EDD8-4442-83EB-47687FC60221}">
      <dsp:nvSpPr>
        <dsp:cNvPr id="0" name=""/>
        <dsp:cNvSpPr/>
      </dsp:nvSpPr>
      <dsp:spPr>
        <a:xfrm>
          <a:off x="125373" y="540513"/>
          <a:ext cx="338109" cy="3381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BA2309-098D-4465-A140-717E2069A151}">
      <dsp:nvSpPr>
        <dsp:cNvPr id="0" name=""/>
        <dsp:cNvSpPr/>
      </dsp:nvSpPr>
      <dsp:spPr>
        <a:xfrm>
          <a:off x="710819" y="418095"/>
          <a:ext cx="1374089" cy="5829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kern="1200" dirty="0">
              <a:solidFill>
                <a:schemeClr val="bg1"/>
              </a:solidFill>
            </a:rPr>
            <a:t>A digital platform integrated with Microsoft Dynamics Business Central.</a:t>
          </a:r>
          <a:endParaRPr lang="en-IN" sz="900" b="0" kern="1200" dirty="0">
            <a:solidFill>
              <a:schemeClr val="bg1"/>
            </a:solidFill>
          </a:endParaRPr>
        </a:p>
      </dsp:txBody>
      <dsp:txXfrm>
        <a:off x="710819" y="418095"/>
        <a:ext cx="1374089" cy="582946"/>
      </dsp:txXfrm>
    </dsp:sp>
    <dsp:sp modelId="{6CC80EB8-64FC-4FDE-B2BA-6EAB07F3F183}">
      <dsp:nvSpPr>
        <dsp:cNvPr id="0" name=""/>
        <dsp:cNvSpPr/>
      </dsp:nvSpPr>
      <dsp:spPr>
        <a:xfrm>
          <a:off x="2324332" y="418095"/>
          <a:ext cx="582946" cy="582946"/>
        </a:xfrm>
        <a:prstGeom prst="ellipse">
          <a:avLst/>
        </a:prstGeom>
        <a:solidFill>
          <a:srgbClr val="B6FF42"/>
        </a:solidFill>
        <a:ln>
          <a:noFill/>
        </a:ln>
        <a:effectLst/>
      </dsp:spPr>
      <dsp:style>
        <a:lnRef idx="0">
          <a:scrgbClr r="0" g="0" b="0"/>
        </a:lnRef>
        <a:fillRef idx="1">
          <a:scrgbClr r="0" g="0" b="0"/>
        </a:fillRef>
        <a:effectRef idx="0">
          <a:scrgbClr r="0" g="0" b="0"/>
        </a:effectRef>
        <a:fontRef idx="minor"/>
      </dsp:style>
    </dsp:sp>
    <dsp:sp modelId="{184E40C9-67E9-4678-85AE-CE14D44DA9DD}">
      <dsp:nvSpPr>
        <dsp:cNvPr id="0" name=""/>
        <dsp:cNvSpPr/>
      </dsp:nvSpPr>
      <dsp:spPr>
        <a:xfrm>
          <a:off x="2446751" y="540513"/>
          <a:ext cx="338109" cy="3381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A55319-9DFA-4D0A-AA6D-A176BA3A009E}">
      <dsp:nvSpPr>
        <dsp:cNvPr id="0" name=""/>
        <dsp:cNvSpPr/>
      </dsp:nvSpPr>
      <dsp:spPr>
        <a:xfrm>
          <a:off x="2899549" y="418095"/>
          <a:ext cx="1639384" cy="582946"/>
        </a:xfrm>
        <a:prstGeom prst="rect">
          <a:avLst/>
        </a:prstGeom>
        <a:noFill/>
        <a:ln w="19050" cap="flat" cmpd="sng" algn="ctr">
          <a:noFill/>
          <a:prstDash val="solid"/>
          <a:miter lim="800000"/>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488950">
            <a:lnSpc>
              <a:spcPct val="100000"/>
            </a:lnSpc>
            <a:spcBef>
              <a:spcPct val="0"/>
            </a:spcBef>
            <a:spcAft>
              <a:spcPct val="35000"/>
            </a:spcAft>
            <a:buNone/>
          </a:pPr>
          <a:r>
            <a:rPr lang="en-US" sz="1100" kern="1200" dirty="0">
              <a:solidFill>
                <a:schemeClr val="bg1"/>
              </a:solidFill>
            </a:rPr>
            <a:t>Vendors access POs directly from the portal </a:t>
          </a:r>
          <a:r>
            <a:rPr lang="en-US" sz="1600" kern="1200" dirty="0">
              <a:solidFill>
                <a:schemeClr val="bg1"/>
              </a:solidFill>
            </a:rPr>
            <a:t>Integrating to Business Central</a:t>
          </a:r>
          <a:endParaRPr lang="en-IN" sz="1600" kern="1200" dirty="0">
            <a:solidFill>
              <a:schemeClr val="bg1"/>
            </a:solidFill>
          </a:endParaRPr>
        </a:p>
      </dsp:txBody>
      <dsp:txXfrm>
        <a:off x="2899549" y="418095"/>
        <a:ext cx="1639384" cy="582946"/>
      </dsp:txXfrm>
    </dsp:sp>
    <dsp:sp modelId="{103D9BAB-24C6-4B73-B04E-E901B55E4701}">
      <dsp:nvSpPr>
        <dsp:cNvPr id="0" name=""/>
        <dsp:cNvSpPr/>
      </dsp:nvSpPr>
      <dsp:spPr>
        <a:xfrm>
          <a:off x="4778358" y="418095"/>
          <a:ext cx="582946" cy="582946"/>
        </a:xfrm>
        <a:prstGeom prst="ellipse">
          <a:avLst/>
        </a:prstGeom>
        <a:solidFill>
          <a:srgbClr val="B6FF42"/>
        </a:solidFill>
        <a:ln>
          <a:noFill/>
        </a:ln>
        <a:effectLst/>
      </dsp:spPr>
      <dsp:style>
        <a:lnRef idx="0">
          <a:scrgbClr r="0" g="0" b="0"/>
        </a:lnRef>
        <a:fillRef idx="1">
          <a:scrgbClr r="0" g="0" b="0"/>
        </a:fillRef>
        <a:effectRef idx="0">
          <a:scrgbClr r="0" g="0" b="0"/>
        </a:effectRef>
        <a:fontRef idx="minor"/>
      </dsp:style>
    </dsp:sp>
    <dsp:sp modelId="{9289CDA8-9F9A-4E52-835B-1A373BD308CE}">
      <dsp:nvSpPr>
        <dsp:cNvPr id="0" name=""/>
        <dsp:cNvSpPr/>
      </dsp:nvSpPr>
      <dsp:spPr>
        <a:xfrm>
          <a:off x="4900777" y="540513"/>
          <a:ext cx="338109" cy="3381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C7775E-E204-4F16-9EDC-D88D8A4C4678}">
      <dsp:nvSpPr>
        <dsp:cNvPr id="0" name=""/>
        <dsp:cNvSpPr/>
      </dsp:nvSpPr>
      <dsp:spPr>
        <a:xfrm>
          <a:off x="5486222" y="84188"/>
          <a:ext cx="1374089" cy="1250759"/>
        </a:xfrm>
        <a:prstGeom prst="rect">
          <a:avLst/>
        </a:prstGeom>
        <a:noFill/>
        <a:ln w="19050" cap="flat" cmpd="sng" algn="ctr">
          <a:noFill/>
          <a:prstDash val="solid"/>
          <a:miter lim="800000"/>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533400">
            <a:lnSpc>
              <a:spcPct val="100000"/>
            </a:lnSpc>
            <a:spcBef>
              <a:spcPct val="0"/>
            </a:spcBef>
            <a:spcAft>
              <a:spcPct val="35000"/>
            </a:spcAft>
            <a:buNone/>
          </a:pPr>
          <a:r>
            <a:rPr lang="en-US" sz="1200" kern="1200" dirty="0">
              <a:solidFill>
                <a:schemeClr val="bg1"/>
              </a:solidFill>
            </a:rPr>
            <a:t>Vendors select POs, to </a:t>
          </a:r>
          <a:r>
            <a:rPr lang="en-US" sz="1600" kern="1200" dirty="0">
              <a:solidFill>
                <a:schemeClr val="bg1"/>
              </a:solidFill>
            </a:rPr>
            <a:t>generate ASNs QR </a:t>
          </a:r>
          <a:r>
            <a:rPr lang="en-US" sz="1400" kern="1200" dirty="0">
              <a:solidFill>
                <a:schemeClr val="bg1"/>
              </a:solidFill>
            </a:rPr>
            <a:t>to print</a:t>
          </a:r>
          <a:endParaRPr lang="en-US" sz="1200" kern="1200" dirty="0">
            <a:solidFill>
              <a:schemeClr val="bg1"/>
            </a:solidFill>
          </a:endParaRPr>
        </a:p>
      </dsp:txBody>
      <dsp:txXfrm>
        <a:off x="5486222" y="84188"/>
        <a:ext cx="1374089" cy="1250759"/>
      </dsp:txXfrm>
    </dsp:sp>
    <dsp:sp modelId="{FFBE9E90-D921-48E1-8799-68AFA3EFB2D6}">
      <dsp:nvSpPr>
        <dsp:cNvPr id="0" name=""/>
        <dsp:cNvSpPr/>
      </dsp:nvSpPr>
      <dsp:spPr>
        <a:xfrm>
          <a:off x="7099736" y="418095"/>
          <a:ext cx="582946" cy="582946"/>
        </a:xfrm>
        <a:prstGeom prst="ellipse">
          <a:avLst/>
        </a:prstGeom>
        <a:solidFill>
          <a:srgbClr val="B6FF42"/>
        </a:solidFill>
        <a:ln>
          <a:noFill/>
        </a:ln>
        <a:effectLst/>
      </dsp:spPr>
      <dsp:style>
        <a:lnRef idx="0">
          <a:scrgbClr r="0" g="0" b="0"/>
        </a:lnRef>
        <a:fillRef idx="1">
          <a:scrgbClr r="0" g="0" b="0"/>
        </a:fillRef>
        <a:effectRef idx="0">
          <a:scrgbClr r="0" g="0" b="0"/>
        </a:effectRef>
        <a:fontRef idx="minor"/>
      </dsp:style>
    </dsp:sp>
    <dsp:sp modelId="{F2864A1F-9EA9-405D-ACB8-E1CA27BC8D1E}">
      <dsp:nvSpPr>
        <dsp:cNvPr id="0" name=""/>
        <dsp:cNvSpPr/>
      </dsp:nvSpPr>
      <dsp:spPr>
        <a:xfrm>
          <a:off x="7222154" y="540513"/>
          <a:ext cx="338109" cy="3381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B2A9AA-615C-40F2-83FA-BE0E35315BDF}">
      <dsp:nvSpPr>
        <dsp:cNvPr id="0" name=""/>
        <dsp:cNvSpPr/>
      </dsp:nvSpPr>
      <dsp:spPr>
        <a:xfrm>
          <a:off x="7807600" y="418095"/>
          <a:ext cx="1374089" cy="582946"/>
        </a:xfrm>
        <a:prstGeom prst="rect">
          <a:avLst/>
        </a:prstGeom>
        <a:noFill/>
        <a:ln w="19050" cap="flat" cmpd="sng" algn="ctr">
          <a:noFill/>
          <a:prstDash val="solid"/>
          <a:miter lim="800000"/>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488950">
            <a:lnSpc>
              <a:spcPct val="100000"/>
            </a:lnSpc>
            <a:spcBef>
              <a:spcPct val="0"/>
            </a:spcBef>
            <a:spcAft>
              <a:spcPct val="35000"/>
            </a:spcAft>
            <a:buNone/>
          </a:pPr>
          <a:r>
            <a:rPr lang="en-US" sz="1100" kern="1200" dirty="0">
              <a:solidFill>
                <a:schemeClr val="bg1"/>
              </a:solidFill>
            </a:rPr>
            <a:t>ASNs are sent to Business Central, enabling receipts team to </a:t>
          </a:r>
          <a:r>
            <a:rPr lang="en-US" sz="1600" kern="1200" dirty="0">
              <a:solidFill>
                <a:schemeClr val="bg1"/>
              </a:solidFill>
            </a:rPr>
            <a:t>verify shipments efficiently.</a:t>
          </a:r>
          <a:endParaRPr lang="en-US" sz="1600" b="1" kern="1200" dirty="0">
            <a:solidFill>
              <a:schemeClr val="bg1"/>
            </a:solidFill>
          </a:endParaRPr>
        </a:p>
      </dsp:txBody>
      <dsp:txXfrm>
        <a:off x="7807600" y="418095"/>
        <a:ext cx="1374089" cy="582946"/>
      </dsp:txXfrm>
    </dsp:sp>
    <dsp:sp modelId="{2EABFBE7-7E9E-46A8-B121-7EE1F72DA533}">
      <dsp:nvSpPr>
        <dsp:cNvPr id="0" name=""/>
        <dsp:cNvSpPr/>
      </dsp:nvSpPr>
      <dsp:spPr>
        <a:xfrm>
          <a:off x="9421113" y="418095"/>
          <a:ext cx="582946" cy="582946"/>
        </a:xfrm>
        <a:prstGeom prst="ellipse">
          <a:avLst/>
        </a:prstGeom>
        <a:solidFill>
          <a:srgbClr val="B6FF42"/>
        </a:solidFill>
        <a:ln>
          <a:noFill/>
        </a:ln>
        <a:effectLst/>
      </dsp:spPr>
      <dsp:style>
        <a:lnRef idx="0">
          <a:scrgbClr r="0" g="0" b="0"/>
        </a:lnRef>
        <a:fillRef idx="1">
          <a:scrgbClr r="0" g="0" b="0"/>
        </a:fillRef>
        <a:effectRef idx="0">
          <a:scrgbClr r="0" g="0" b="0"/>
        </a:effectRef>
        <a:fontRef idx="minor"/>
      </dsp:style>
    </dsp:sp>
    <dsp:sp modelId="{9EE47887-E6BA-467D-ACAF-1AABC0D2FF27}">
      <dsp:nvSpPr>
        <dsp:cNvPr id="0" name=""/>
        <dsp:cNvSpPr/>
      </dsp:nvSpPr>
      <dsp:spPr>
        <a:xfrm>
          <a:off x="9543532" y="540513"/>
          <a:ext cx="338109" cy="3381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173671-1EE7-4229-ADC5-FDFEF3F32F64}">
      <dsp:nvSpPr>
        <dsp:cNvPr id="0" name=""/>
        <dsp:cNvSpPr/>
      </dsp:nvSpPr>
      <dsp:spPr>
        <a:xfrm>
          <a:off x="10128977" y="418095"/>
          <a:ext cx="1374089" cy="582946"/>
        </a:xfrm>
        <a:prstGeom prst="rect">
          <a:avLst/>
        </a:prstGeom>
        <a:noFill/>
        <a:ln w="19050" cap="flat" cmpd="sng" algn="ctr">
          <a:noFill/>
          <a:prstDash val="solid"/>
          <a:miter lim="800000"/>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800100">
            <a:lnSpc>
              <a:spcPct val="100000"/>
            </a:lnSpc>
            <a:spcBef>
              <a:spcPct val="0"/>
            </a:spcBef>
            <a:spcAft>
              <a:spcPct val="35000"/>
            </a:spcAft>
            <a:buNone/>
          </a:pPr>
          <a:r>
            <a:rPr lang="en-US" sz="1800" b="0" kern="1200" dirty="0">
              <a:solidFill>
                <a:schemeClr val="bg1"/>
              </a:solidFill>
              <a:latin typeface="Aptos" panose="02110004020202020204"/>
              <a:ea typeface="+mn-ea"/>
              <a:cs typeface="+mn-cs"/>
            </a:rPr>
            <a:t>Digital records </a:t>
          </a:r>
          <a:r>
            <a:rPr lang="en-US" sz="1200" b="0" kern="1200" dirty="0">
              <a:solidFill>
                <a:schemeClr val="bg1"/>
              </a:solidFill>
              <a:latin typeface="Aptos" panose="02110004020202020204"/>
              <a:ea typeface="+mn-ea"/>
              <a:cs typeface="+mn-cs"/>
            </a:rPr>
            <a:t>provided full traceability and regulatory compliance.</a:t>
          </a:r>
          <a:endParaRPr lang="en-US" sz="1400" b="0" kern="1200" dirty="0">
            <a:solidFill>
              <a:schemeClr val="bg1"/>
            </a:solidFill>
            <a:latin typeface="Aptos" panose="02110004020202020204"/>
            <a:ea typeface="+mn-ea"/>
            <a:cs typeface="+mn-cs"/>
          </a:endParaRPr>
        </a:p>
      </dsp:txBody>
      <dsp:txXfrm>
        <a:off x="10128977" y="418095"/>
        <a:ext cx="1374089" cy="58294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87BD6A-5294-4DD9-9C70-704C134A4F31}">
      <dsp:nvSpPr>
        <dsp:cNvPr id="0" name=""/>
        <dsp:cNvSpPr/>
      </dsp:nvSpPr>
      <dsp:spPr>
        <a:xfrm>
          <a:off x="9899" y="174585"/>
          <a:ext cx="2114935"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90% Reduction </a:t>
          </a:r>
          <a:r>
            <a:rPr lang="en-US" sz="1400" b="0" i="0" kern="1200" dirty="0"/>
            <a:t>in Manual Errors</a:t>
          </a:r>
          <a:endParaRPr lang="en-IN" sz="1400" kern="1200" dirty="0"/>
        </a:p>
      </dsp:txBody>
      <dsp:txXfrm>
        <a:off x="9899" y="174585"/>
        <a:ext cx="2114935" cy="937111"/>
      </dsp:txXfrm>
    </dsp:sp>
    <dsp:sp modelId="{A3D6CB1E-626F-48F7-A961-E16615167BF7}">
      <dsp:nvSpPr>
        <dsp:cNvPr id="0" name=""/>
        <dsp:cNvSpPr/>
      </dsp:nvSpPr>
      <dsp:spPr>
        <a:xfrm>
          <a:off x="2281020" y="174585"/>
          <a:ext cx="2674735"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75% Improvement </a:t>
          </a:r>
          <a:r>
            <a:rPr lang="en-US" sz="1400" b="0" i="0" kern="1200" dirty="0"/>
            <a:t>in Vendor Transparency</a:t>
          </a:r>
          <a:endParaRPr lang="en-US" sz="1800" b="0" i="0" kern="1200" dirty="0"/>
        </a:p>
      </dsp:txBody>
      <dsp:txXfrm>
        <a:off x="2281020" y="174585"/>
        <a:ext cx="2674735" cy="937111"/>
      </dsp:txXfrm>
    </dsp:sp>
    <dsp:sp modelId="{F50F0844-8F05-42E4-8D9C-0725AF94D94E}">
      <dsp:nvSpPr>
        <dsp:cNvPr id="0" name=""/>
        <dsp:cNvSpPr/>
      </dsp:nvSpPr>
      <dsp:spPr>
        <a:xfrm>
          <a:off x="5111940" y="174585"/>
          <a:ext cx="3377271"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Increased Operational stability </a:t>
          </a:r>
          <a:r>
            <a:rPr lang="en-US" sz="1600" b="0" i="0" kern="1200" dirty="0"/>
            <a:t>by reducing dependency on emails.</a:t>
          </a:r>
        </a:p>
      </dsp:txBody>
      <dsp:txXfrm>
        <a:off x="5111940" y="174585"/>
        <a:ext cx="3377271" cy="937111"/>
      </dsp:txXfrm>
    </dsp:sp>
    <dsp:sp modelId="{C98CF24D-0E29-49B5-8FF1-65974499320B}">
      <dsp:nvSpPr>
        <dsp:cNvPr id="0" name=""/>
        <dsp:cNvSpPr/>
      </dsp:nvSpPr>
      <dsp:spPr>
        <a:xfrm>
          <a:off x="8645398" y="174585"/>
          <a:ext cx="2850724"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100% Scalability </a:t>
          </a:r>
          <a:r>
            <a:rPr lang="en-US" sz="1400" b="0" i="0" kern="1200" dirty="0"/>
            <a:t>for future business needs and additional functionalities</a:t>
          </a:r>
          <a:endParaRPr lang="en-US" sz="1800" b="1" i="0" kern="1200" dirty="0"/>
        </a:p>
      </dsp:txBody>
      <dsp:txXfrm>
        <a:off x="8645398" y="174585"/>
        <a:ext cx="2850724" cy="93711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87BD6A-5294-4DD9-9C70-704C134A4F31}">
      <dsp:nvSpPr>
        <dsp:cNvPr id="0" name=""/>
        <dsp:cNvSpPr/>
      </dsp:nvSpPr>
      <dsp:spPr>
        <a:xfrm>
          <a:off x="9899" y="174585"/>
          <a:ext cx="2114935"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85% Reduction </a:t>
          </a:r>
          <a:r>
            <a:rPr lang="en-US" sz="1400" b="0" i="0" kern="1200" dirty="0"/>
            <a:t>in Resolution Time</a:t>
          </a:r>
          <a:endParaRPr lang="en-IN" sz="1400" kern="1200" dirty="0"/>
        </a:p>
      </dsp:txBody>
      <dsp:txXfrm>
        <a:off x="9899" y="174585"/>
        <a:ext cx="2114935" cy="937111"/>
      </dsp:txXfrm>
    </dsp:sp>
    <dsp:sp modelId="{A3D6CB1E-626F-48F7-A961-E16615167BF7}">
      <dsp:nvSpPr>
        <dsp:cNvPr id="0" name=""/>
        <dsp:cNvSpPr/>
      </dsp:nvSpPr>
      <dsp:spPr>
        <a:xfrm>
          <a:off x="2281020" y="174585"/>
          <a:ext cx="2674735"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100% Ticket Traceability </a:t>
          </a:r>
          <a:r>
            <a:rPr lang="en-US" sz="1400" b="0" i="0" kern="1200" dirty="0"/>
            <a:t>Across Departments</a:t>
          </a:r>
          <a:endParaRPr lang="en-US" sz="1800" b="0" i="0" kern="1200" dirty="0"/>
        </a:p>
      </dsp:txBody>
      <dsp:txXfrm>
        <a:off x="2281020" y="174585"/>
        <a:ext cx="2674735" cy="937111"/>
      </dsp:txXfrm>
    </dsp:sp>
    <dsp:sp modelId="{F50F0844-8F05-42E4-8D9C-0725AF94D94E}">
      <dsp:nvSpPr>
        <dsp:cNvPr id="0" name=""/>
        <dsp:cNvSpPr/>
      </dsp:nvSpPr>
      <dsp:spPr>
        <a:xfrm>
          <a:off x="5111940" y="174585"/>
          <a:ext cx="3377271"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Streamlined </a:t>
          </a:r>
          <a:r>
            <a:rPr lang="en-US" sz="1600" b="0" i="0" kern="1200" dirty="0"/>
            <a:t>Inter Department Communications.</a:t>
          </a:r>
        </a:p>
      </dsp:txBody>
      <dsp:txXfrm>
        <a:off x="5111940" y="174585"/>
        <a:ext cx="3377271" cy="937111"/>
      </dsp:txXfrm>
    </dsp:sp>
    <dsp:sp modelId="{C98CF24D-0E29-49B5-8FF1-65974499320B}">
      <dsp:nvSpPr>
        <dsp:cNvPr id="0" name=""/>
        <dsp:cNvSpPr/>
      </dsp:nvSpPr>
      <dsp:spPr>
        <a:xfrm>
          <a:off x="8645398" y="174585"/>
          <a:ext cx="2850724"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Improved</a:t>
          </a:r>
        </a:p>
        <a:p>
          <a:pPr marL="0" lvl="0" indent="0" algn="ctr" defTabSz="800100">
            <a:lnSpc>
              <a:spcPct val="90000"/>
            </a:lnSpc>
            <a:spcBef>
              <a:spcPct val="0"/>
            </a:spcBef>
            <a:spcAft>
              <a:spcPct val="35000"/>
            </a:spcAft>
            <a:buFont typeface="Arial" panose="020B0604020202020204" pitchFamily="34" charset="0"/>
            <a:buNone/>
          </a:pPr>
          <a:r>
            <a:rPr lang="en-US" sz="1400" b="0" i="0" kern="1200" dirty="0"/>
            <a:t>Employee Satisfactions</a:t>
          </a:r>
          <a:endParaRPr lang="en-US" sz="1800" b="1" i="0" kern="1200" dirty="0"/>
        </a:p>
      </dsp:txBody>
      <dsp:txXfrm>
        <a:off x="8645398" y="174585"/>
        <a:ext cx="2850724" cy="93711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87BD6A-5294-4DD9-9C70-704C134A4F31}">
      <dsp:nvSpPr>
        <dsp:cNvPr id="0" name=""/>
        <dsp:cNvSpPr/>
      </dsp:nvSpPr>
      <dsp:spPr>
        <a:xfrm>
          <a:off x="9899" y="174585"/>
          <a:ext cx="2114935"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90% Reduction </a:t>
          </a:r>
          <a:r>
            <a:rPr lang="en-US" sz="1400" b="0" i="0" kern="1200" dirty="0"/>
            <a:t>in approval delays</a:t>
          </a:r>
          <a:endParaRPr lang="en-IN" sz="1400" kern="1200" dirty="0"/>
        </a:p>
      </dsp:txBody>
      <dsp:txXfrm>
        <a:off x="9899" y="174585"/>
        <a:ext cx="2114935" cy="937111"/>
      </dsp:txXfrm>
    </dsp:sp>
    <dsp:sp modelId="{A3D6CB1E-626F-48F7-A961-E16615167BF7}">
      <dsp:nvSpPr>
        <dsp:cNvPr id="0" name=""/>
        <dsp:cNvSpPr/>
      </dsp:nvSpPr>
      <dsp:spPr>
        <a:xfrm>
          <a:off x="2281020" y="174585"/>
          <a:ext cx="2674735"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90% Increase </a:t>
          </a:r>
          <a:r>
            <a:rPr lang="en-US" sz="1400" b="0" i="0" kern="1200" dirty="0"/>
            <a:t>in Procurement Transparency</a:t>
          </a:r>
          <a:endParaRPr lang="en-US" sz="1800" b="0" i="0" kern="1200" dirty="0"/>
        </a:p>
      </dsp:txBody>
      <dsp:txXfrm>
        <a:off x="2281020" y="174585"/>
        <a:ext cx="2674735" cy="937111"/>
      </dsp:txXfrm>
    </dsp:sp>
    <dsp:sp modelId="{F50F0844-8F05-42E4-8D9C-0725AF94D94E}">
      <dsp:nvSpPr>
        <dsp:cNvPr id="0" name=""/>
        <dsp:cNvSpPr/>
      </dsp:nvSpPr>
      <dsp:spPr>
        <a:xfrm>
          <a:off x="5111940" y="174585"/>
          <a:ext cx="3377271"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Improved operational controls </a:t>
          </a:r>
          <a:r>
            <a:rPr lang="en-US" sz="1600" b="0" i="0" kern="1200" dirty="0"/>
            <a:t>Through centralized Dashboards.</a:t>
          </a:r>
        </a:p>
      </dsp:txBody>
      <dsp:txXfrm>
        <a:off x="5111940" y="174585"/>
        <a:ext cx="3377271" cy="937111"/>
      </dsp:txXfrm>
    </dsp:sp>
    <dsp:sp modelId="{C98CF24D-0E29-49B5-8FF1-65974499320B}">
      <dsp:nvSpPr>
        <dsp:cNvPr id="0" name=""/>
        <dsp:cNvSpPr/>
      </dsp:nvSpPr>
      <dsp:spPr>
        <a:xfrm>
          <a:off x="8645398" y="174585"/>
          <a:ext cx="2850724"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100% Audit-ready </a:t>
          </a:r>
        </a:p>
        <a:p>
          <a:pPr marL="0" lvl="0" indent="0" algn="ctr" defTabSz="800100">
            <a:lnSpc>
              <a:spcPct val="90000"/>
            </a:lnSpc>
            <a:spcBef>
              <a:spcPct val="0"/>
            </a:spcBef>
            <a:spcAft>
              <a:spcPct val="35000"/>
            </a:spcAft>
            <a:buFont typeface="Arial" panose="020B0604020202020204" pitchFamily="34" charset="0"/>
            <a:buNone/>
          </a:pPr>
          <a:r>
            <a:rPr lang="en-US" sz="1400" b="0" i="0" kern="1200" dirty="0"/>
            <a:t>Digital Documents</a:t>
          </a:r>
          <a:endParaRPr lang="en-US" sz="1800" b="1" i="0" kern="1200" dirty="0"/>
        </a:p>
      </dsp:txBody>
      <dsp:txXfrm>
        <a:off x="8645398" y="174585"/>
        <a:ext cx="2850724" cy="93711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87BD6A-5294-4DD9-9C70-704C134A4F31}">
      <dsp:nvSpPr>
        <dsp:cNvPr id="0" name=""/>
        <dsp:cNvSpPr/>
      </dsp:nvSpPr>
      <dsp:spPr>
        <a:xfrm>
          <a:off x="9899" y="174585"/>
          <a:ext cx="2114935"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85% Reduction </a:t>
          </a:r>
          <a:r>
            <a:rPr lang="en-US" sz="1400" b="0" i="0" kern="1200" dirty="0"/>
            <a:t>in Resolution Time</a:t>
          </a:r>
          <a:endParaRPr lang="en-IN" sz="1400" kern="1200" dirty="0"/>
        </a:p>
      </dsp:txBody>
      <dsp:txXfrm>
        <a:off x="9899" y="174585"/>
        <a:ext cx="2114935" cy="937111"/>
      </dsp:txXfrm>
    </dsp:sp>
    <dsp:sp modelId="{A3D6CB1E-626F-48F7-A961-E16615167BF7}">
      <dsp:nvSpPr>
        <dsp:cNvPr id="0" name=""/>
        <dsp:cNvSpPr/>
      </dsp:nvSpPr>
      <dsp:spPr>
        <a:xfrm>
          <a:off x="2281020" y="174585"/>
          <a:ext cx="2674735"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Centralized, Searchable</a:t>
          </a:r>
        </a:p>
        <a:p>
          <a:pPr marL="0" lvl="0" indent="0" algn="ctr" defTabSz="800100">
            <a:lnSpc>
              <a:spcPct val="90000"/>
            </a:lnSpc>
            <a:spcBef>
              <a:spcPct val="0"/>
            </a:spcBef>
            <a:spcAft>
              <a:spcPct val="35000"/>
            </a:spcAft>
            <a:buFont typeface="Arial" panose="020B0604020202020204" pitchFamily="34" charset="0"/>
            <a:buNone/>
          </a:pPr>
          <a:r>
            <a:rPr lang="en-IN" sz="1400" b="0" i="0" kern="1200" dirty="0"/>
            <a:t>Record keeping</a:t>
          </a:r>
          <a:endParaRPr lang="en-US" sz="1800" b="0" i="0" kern="1200" dirty="0"/>
        </a:p>
      </dsp:txBody>
      <dsp:txXfrm>
        <a:off x="2281020" y="174585"/>
        <a:ext cx="2674735" cy="937111"/>
      </dsp:txXfrm>
    </dsp:sp>
    <dsp:sp modelId="{F50F0844-8F05-42E4-8D9C-0725AF94D94E}">
      <dsp:nvSpPr>
        <dsp:cNvPr id="0" name=""/>
        <dsp:cNvSpPr/>
      </dsp:nvSpPr>
      <dsp:spPr>
        <a:xfrm>
          <a:off x="5111940" y="174585"/>
          <a:ext cx="3377271"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Faster Turnaround </a:t>
          </a:r>
          <a:r>
            <a:rPr lang="en-IN" sz="1600" b="0" i="0" kern="1200" dirty="0"/>
            <a:t>on reimbursements and payments</a:t>
          </a:r>
          <a:r>
            <a:rPr lang="en-US" sz="1600" b="0" i="0" kern="1200" dirty="0"/>
            <a:t>.</a:t>
          </a:r>
        </a:p>
      </dsp:txBody>
      <dsp:txXfrm>
        <a:off x="5111940" y="174585"/>
        <a:ext cx="3377271" cy="937111"/>
      </dsp:txXfrm>
    </dsp:sp>
    <dsp:sp modelId="{C98CF24D-0E29-49B5-8FF1-65974499320B}">
      <dsp:nvSpPr>
        <dsp:cNvPr id="0" name=""/>
        <dsp:cNvSpPr/>
      </dsp:nvSpPr>
      <dsp:spPr>
        <a:xfrm>
          <a:off x="8645398" y="174585"/>
          <a:ext cx="2850724"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Seamless Finance Control </a:t>
          </a:r>
          <a:r>
            <a:rPr lang="en-IN" sz="1400" b="0" i="0" kern="1200" dirty="0"/>
            <a:t>via PO linkage</a:t>
          </a:r>
          <a:endParaRPr lang="en-US" sz="1800" b="1" i="0" kern="1200" dirty="0"/>
        </a:p>
      </dsp:txBody>
      <dsp:txXfrm>
        <a:off x="8645398" y="174585"/>
        <a:ext cx="2850724" cy="93711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87BD6A-5294-4DD9-9C70-704C134A4F31}">
      <dsp:nvSpPr>
        <dsp:cNvPr id="0" name=""/>
        <dsp:cNvSpPr/>
      </dsp:nvSpPr>
      <dsp:spPr>
        <a:xfrm>
          <a:off x="9899" y="174585"/>
          <a:ext cx="2114935"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80% Faster </a:t>
          </a:r>
          <a:r>
            <a:rPr lang="en-US" sz="1400" b="0" i="0" kern="1200" dirty="0"/>
            <a:t>lab test Processing</a:t>
          </a:r>
          <a:endParaRPr lang="en-IN" sz="1400" kern="1200" dirty="0"/>
        </a:p>
      </dsp:txBody>
      <dsp:txXfrm>
        <a:off x="9899" y="174585"/>
        <a:ext cx="2114935" cy="937111"/>
      </dsp:txXfrm>
    </dsp:sp>
    <dsp:sp modelId="{A3D6CB1E-626F-48F7-A961-E16615167BF7}">
      <dsp:nvSpPr>
        <dsp:cNvPr id="0" name=""/>
        <dsp:cNvSpPr/>
      </dsp:nvSpPr>
      <dsp:spPr>
        <a:xfrm>
          <a:off x="2281020" y="174585"/>
          <a:ext cx="2674735"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100% Digital traceability </a:t>
          </a:r>
        </a:p>
        <a:p>
          <a:pPr marL="0" lvl="0" indent="0" algn="ctr" defTabSz="800100">
            <a:lnSpc>
              <a:spcPct val="90000"/>
            </a:lnSpc>
            <a:spcBef>
              <a:spcPct val="0"/>
            </a:spcBef>
            <a:spcAft>
              <a:spcPct val="35000"/>
            </a:spcAft>
            <a:buFont typeface="Arial" panose="020B0604020202020204" pitchFamily="34" charset="0"/>
            <a:buNone/>
          </a:pPr>
          <a:r>
            <a:rPr lang="en-IN" sz="1400" b="0" i="0" kern="1200" dirty="0"/>
            <a:t>Of requests and reports</a:t>
          </a:r>
          <a:endParaRPr lang="en-US" sz="1800" b="0" i="0" kern="1200" dirty="0"/>
        </a:p>
      </dsp:txBody>
      <dsp:txXfrm>
        <a:off x="2281020" y="174585"/>
        <a:ext cx="2674735" cy="937111"/>
      </dsp:txXfrm>
    </dsp:sp>
    <dsp:sp modelId="{F50F0844-8F05-42E4-8D9C-0725AF94D94E}">
      <dsp:nvSpPr>
        <dsp:cNvPr id="0" name=""/>
        <dsp:cNvSpPr/>
      </dsp:nvSpPr>
      <dsp:spPr>
        <a:xfrm>
          <a:off x="5111940" y="174585"/>
          <a:ext cx="3377271"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Improved Efficiency</a:t>
          </a:r>
          <a:r>
            <a:rPr lang="en-IN" sz="1600" b="0" i="0" kern="1200" dirty="0"/>
            <a:t> </a:t>
          </a:r>
        </a:p>
        <a:p>
          <a:pPr marL="0" lvl="0" indent="0" algn="ctr" defTabSz="800100">
            <a:lnSpc>
              <a:spcPct val="90000"/>
            </a:lnSpc>
            <a:spcBef>
              <a:spcPct val="0"/>
            </a:spcBef>
            <a:spcAft>
              <a:spcPct val="35000"/>
            </a:spcAft>
            <a:buFont typeface="Arial" panose="020B0604020202020204" pitchFamily="34" charset="0"/>
            <a:buNone/>
          </a:pPr>
          <a:r>
            <a:rPr lang="en-IN" sz="1600" b="0" i="0" kern="1200" dirty="0"/>
            <a:t>Requestors and Lab Team</a:t>
          </a:r>
          <a:endParaRPr lang="en-US" sz="1600" b="0" i="0" kern="1200" dirty="0"/>
        </a:p>
      </dsp:txBody>
      <dsp:txXfrm>
        <a:off x="5111940" y="174585"/>
        <a:ext cx="3377271" cy="937111"/>
      </dsp:txXfrm>
    </dsp:sp>
    <dsp:sp modelId="{C98CF24D-0E29-49B5-8FF1-65974499320B}">
      <dsp:nvSpPr>
        <dsp:cNvPr id="0" name=""/>
        <dsp:cNvSpPr/>
      </dsp:nvSpPr>
      <dsp:spPr>
        <a:xfrm>
          <a:off x="8645398" y="174585"/>
          <a:ext cx="2850724" cy="937111"/>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Scalable </a:t>
          </a:r>
        </a:p>
        <a:p>
          <a:pPr marL="0" lvl="0" indent="0" algn="ctr" defTabSz="800100">
            <a:lnSpc>
              <a:spcPct val="90000"/>
            </a:lnSpc>
            <a:spcBef>
              <a:spcPct val="0"/>
            </a:spcBef>
            <a:spcAft>
              <a:spcPct val="35000"/>
            </a:spcAft>
            <a:buFont typeface="Arial" panose="020B0604020202020204" pitchFamily="34" charset="0"/>
            <a:buNone/>
          </a:pPr>
          <a:r>
            <a:rPr lang="en-IN" sz="1400" b="0" i="0" kern="1200" dirty="0"/>
            <a:t>Across Divisions and Test Types</a:t>
          </a:r>
          <a:endParaRPr lang="en-US" sz="1800" b="1" i="0" kern="1200" dirty="0"/>
        </a:p>
      </dsp:txBody>
      <dsp:txXfrm>
        <a:off x="8645398" y="174585"/>
        <a:ext cx="2850724" cy="93711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87BD6A-5294-4DD9-9C70-704C134A4F31}">
      <dsp:nvSpPr>
        <dsp:cNvPr id="0" name=""/>
        <dsp:cNvSpPr/>
      </dsp:nvSpPr>
      <dsp:spPr>
        <a:xfrm>
          <a:off x="10151" y="173080"/>
          <a:ext cx="2168755" cy="960958"/>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95% Reduction </a:t>
          </a:r>
          <a:r>
            <a:rPr lang="en-US" sz="1400" b="0" i="0" kern="1200" dirty="0"/>
            <a:t>in Manual data Entry efforts</a:t>
          </a:r>
          <a:endParaRPr lang="en-IN" sz="1400" kern="1200" dirty="0"/>
        </a:p>
      </dsp:txBody>
      <dsp:txXfrm>
        <a:off x="10151" y="173080"/>
        <a:ext cx="2168755" cy="960958"/>
      </dsp:txXfrm>
    </dsp:sp>
    <dsp:sp modelId="{A3D6CB1E-626F-48F7-A961-E16615167BF7}">
      <dsp:nvSpPr>
        <dsp:cNvPr id="0" name=""/>
        <dsp:cNvSpPr/>
      </dsp:nvSpPr>
      <dsp:spPr>
        <a:xfrm>
          <a:off x="2339066" y="173080"/>
          <a:ext cx="2742799" cy="960958"/>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Real-Time Synchronization</a:t>
          </a:r>
        </a:p>
        <a:p>
          <a:pPr marL="0" lvl="0" indent="0" algn="ctr" defTabSz="800100">
            <a:lnSpc>
              <a:spcPct val="90000"/>
            </a:lnSpc>
            <a:spcBef>
              <a:spcPct val="0"/>
            </a:spcBef>
            <a:spcAft>
              <a:spcPct val="35000"/>
            </a:spcAft>
            <a:buFont typeface="Arial" panose="020B0604020202020204" pitchFamily="34" charset="0"/>
            <a:buNone/>
          </a:pPr>
          <a:r>
            <a:rPr lang="en-IN" sz="1400" b="0" i="0" kern="1200" dirty="0"/>
            <a:t>between Excel and Oracle</a:t>
          </a:r>
          <a:endParaRPr lang="en-US" sz="1800" b="0" i="0" kern="1200" dirty="0"/>
        </a:p>
      </dsp:txBody>
      <dsp:txXfrm>
        <a:off x="2339066" y="173080"/>
        <a:ext cx="2742799" cy="960958"/>
      </dsp:txXfrm>
    </dsp:sp>
    <dsp:sp modelId="{F50F0844-8F05-42E4-8D9C-0725AF94D94E}">
      <dsp:nvSpPr>
        <dsp:cNvPr id="0" name=""/>
        <dsp:cNvSpPr/>
      </dsp:nvSpPr>
      <dsp:spPr>
        <a:xfrm>
          <a:off x="5242025" y="173080"/>
          <a:ext cx="3463214" cy="960958"/>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 Improved Inventory Accuracy</a:t>
          </a:r>
        </a:p>
        <a:p>
          <a:pPr marL="0" lvl="0" indent="0" algn="ctr" defTabSz="800100">
            <a:lnSpc>
              <a:spcPct val="90000"/>
            </a:lnSpc>
            <a:spcBef>
              <a:spcPct val="0"/>
            </a:spcBef>
            <a:spcAft>
              <a:spcPct val="35000"/>
            </a:spcAft>
            <a:buFont typeface="Arial" panose="020B0604020202020204" pitchFamily="34" charset="0"/>
            <a:buNone/>
          </a:pPr>
          <a:r>
            <a:rPr lang="en-IN" sz="1600" b="0" i="0" kern="1200" dirty="0"/>
            <a:t>across systems</a:t>
          </a:r>
          <a:endParaRPr lang="en-US" sz="1600" b="0" i="0" kern="1200" dirty="0"/>
        </a:p>
      </dsp:txBody>
      <dsp:txXfrm>
        <a:off x="5242025" y="173080"/>
        <a:ext cx="3463214" cy="960958"/>
      </dsp:txXfrm>
    </dsp:sp>
    <dsp:sp modelId="{C98CF24D-0E29-49B5-8FF1-65974499320B}">
      <dsp:nvSpPr>
        <dsp:cNvPr id="0" name=""/>
        <dsp:cNvSpPr/>
      </dsp:nvSpPr>
      <dsp:spPr>
        <a:xfrm>
          <a:off x="8865399" y="173080"/>
          <a:ext cx="2923267" cy="960958"/>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Scalable Automation </a:t>
          </a:r>
        </a:p>
        <a:p>
          <a:pPr marL="0" lvl="0" indent="0" algn="ctr" defTabSz="800100">
            <a:lnSpc>
              <a:spcPct val="90000"/>
            </a:lnSpc>
            <a:spcBef>
              <a:spcPct val="0"/>
            </a:spcBef>
            <a:spcAft>
              <a:spcPct val="35000"/>
            </a:spcAft>
            <a:buFont typeface="Arial" panose="020B0604020202020204" pitchFamily="34" charset="0"/>
            <a:buNone/>
          </a:pPr>
          <a:r>
            <a:rPr lang="en-IN" sz="1400" b="0" i="0" kern="1200" dirty="0"/>
            <a:t>for future ERP modules</a:t>
          </a:r>
          <a:endParaRPr lang="en-US" sz="1800" b="1" i="0" kern="1200" dirty="0"/>
        </a:p>
      </dsp:txBody>
      <dsp:txXfrm>
        <a:off x="8865399" y="173080"/>
        <a:ext cx="2923267" cy="96095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87BD6A-5294-4DD9-9C70-704C134A4F31}">
      <dsp:nvSpPr>
        <dsp:cNvPr id="0" name=""/>
        <dsp:cNvSpPr/>
      </dsp:nvSpPr>
      <dsp:spPr>
        <a:xfrm>
          <a:off x="5223" y="163574"/>
          <a:ext cx="2211662" cy="979970"/>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Improved Recovery Rate </a:t>
          </a:r>
        </a:p>
        <a:p>
          <a:pPr marL="0" lvl="0" indent="0" algn="ctr" defTabSz="800100">
            <a:lnSpc>
              <a:spcPct val="90000"/>
            </a:lnSpc>
            <a:spcBef>
              <a:spcPct val="0"/>
            </a:spcBef>
            <a:spcAft>
              <a:spcPct val="35000"/>
            </a:spcAft>
            <a:buFont typeface="Arial" panose="020B0604020202020204" pitchFamily="34" charset="0"/>
            <a:buNone/>
          </a:pPr>
          <a:r>
            <a:rPr lang="en-IN" sz="1400" b="0" i="0" kern="1200" dirty="0"/>
            <a:t>with timely reminders</a:t>
          </a:r>
          <a:endParaRPr lang="en-IN" sz="1400" kern="1200" dirty="0"/>
        </a:p>
      </dsp:txBody>
      <dsp:txXfrm>
        <a:off x="5223" y="163574"/>
        <a:ext cx="2211662" cy="979970"/>
      </dsp:txXfrm>
    </dsp:sp>
    <dsp:sp modelId="{A3D6CB1E-626F-48F7-A961-E16615167BF7}">
      <dsp:nvSpPr>
        <dsp:cNvPr id="0" name=""/>
        <dsp:cNvSpPr/>
      </dsp:nvSpPr>
      <dsp:spPr>
        <a:xfrm>
          <a:off x="2380213" y="163574"/>
          <a:ext cx="2797063" cy="979970"/>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Structured Legal Escalation</a:t>
          </a:r>
        </a:p>
        <a:p>
          <a:pPr marL="0" lvl="0" indent="0" algn="ctr" defTabSz="800100">
            <a:lnSpc>
              <a:spcPct val="90000"/>
            </a:lnSpc>
            <a:spcBef>
              <a:spcPct val="0"/>
            </a:spcBef>
            <a:spcAft>
              <a:spcPct val="35000"/>
            </a:spcAft>
            <a:buFont typeface="Arial" panose="020B0604020202020204" pitchFamily="34" charset="0"/>
            <a:buNone/>
          </a:pPr>
          <a:r>
            <a:rPr lang="en-IN" sz="1400" b="0" i="0" kern="1200" dirty="0"/>
            <a:t>reducing manual coordination</a:t>
          </a:r>
          <a:endParaRPr lang="en-US" sz="1800" b="0" i="0" kern="1200" dirty="0"/>
        </a:p>
      </dsp:txBody>
      <dsp:txXfrm>
        <a:off x="2380213" y="163574"/>
        <a:ext cx="2797063" cy="979970"/>
      </dsp:txXfrm>
    </dsp:sp>
    <dsp:sp modelId="{F50F0844-8F05-42E4-8D9C-0725AF94D94E}">
      <dsp:nvSpPr>
        <dsp:cNvPr id="0" name=""/>
        <dsp:cNvSpPr/>
      </dsp:nvSpPr>
      <dsp:spPr>
        <a:xfrm>
          <a:off x="5340605" y="163574"/>
          <a:ext cx="3308559" cy="979970"/>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 Complete Visibility</a:t>
          </a:r>
        </a:p>
        <a:p>
          <a:pPr marL="0" lvl="0" indent="0" algn="ctr" defTabSz="800100">
            <a:lnSpc>
              <a:spcPct val="90000"/>
            </a:lnSpc>
            <a:spcBef>
              <a:spcPct val="0"/>
            </a:spcBef>
            <a:spcAft>
              <a:spcPct val="35000"/>
            </a:spcAft>
            <a:buFont typeface="Arial" panose="020B0604020202020204" pitchFamily="34" charset="0"/>
            <a:buNone/>
          </a:pPr>
          <a:r>
            <a:rPr lang="en-US" sz="1600" b="0" i="0" kern="1200" dirty="0"/>
            <a:t>of defaulter status and case progress</a:t>
          </a:r>
        </a:p>
      </dsp:txBody>
      <dsp:txXfrm>
        <a:off x="5340605" y="163574"/>
        <a:ext cx="3308559" cy="979970"/>
      </dsp:txXfrm>
    </dsp:sp>
    <dsp:sp modelId="{C98CF24D-0E29-49B5-8FF1-65974499320B}">
      <dsp:nvSpPr>
        <dsp:cNvPr id="0" name=""/>
        <dsp:cNvSpPr/>
      </dsp:nvSpPr>
      <dsp:spPr>
        <a:xfrm>
          <a:off x="8812493" y="163574"/>
          <a:ext cx="2981102" cy="979970"/>
        </a:xfrm>
        <a:prstGeom prst="rect">
          <a:avLst/>
        </a:prstGeom>
        <a:noFill/>
        <a:ln w="19050" cap="flat" cmpd="sng" algn="ctr">
          <a:solidFill>
            <a:srgbClr val="399AFF">
              <a:alpha val="14118"/>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IN" sz="1800" b="1" i="0" kern="1200" dirty="0">
              <a:solidFill>
                <a:srgbClr val="B6FF42"/>
              </a:solidFill>
            </a:rPr>
            <a:t>Audit-Ready</a:t>
          </a:r>
        </a:p>
        <a:p>
          <a:pPr marL="0" lvl="0" indent="0" algn="ctr" defTabSz="800100">
            <a:lnSpc>
              <a:spcPct val="90000"/>
            </a:lnSpc>
            <a:spcBef>
              <a:spcPct val="0"/>
            </a:spcBef>
            <a:spcAft>
              <a:spcPct val="35000"/>
            </a:spcAft>
            <a:buFont typeface="Arial" panose="020B0604020202020204" pitchFamily="34" charset="0"/>
            <a:buNone/>
          </a:pPr>
          <a:r>
            <a:rPr lang="en-US" sz="1400" kern="1200" dirty="0"/>
            <a:t>documentation for legal and finance compliance</a:t>
          </a:r>
          <a:endParaRPr lang="en-US" sz="1800" b="1" i="0" kern="1200" dirty="0"/>
        </a:p>
      </dsp:txBody>
      <dsp:txXfrm>
        <a:off x="8812493" y="163574"/>
        <a:ext cx="2981102" cy="97997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311EB6-B616-49A1-B91D-CEC43D556A00}">
      <dsp:nvSpPr>
        <dsp:cNvPr id="0" name=""/>
        <dsp:cNvSpPr/>
      </dsp:nvSpPr>
      <dsp:spPr>
        <a:xfrm>
          <a:off x="3170" y="593152"/>
          <a:ext cx="2515345" cy="1509207"/>
        </a:xfrm>
        <a:prstGeom prst="rect">
          <a:avLst/>
        </a:prstGeom>
        <a:solidFill>
          <a:schemeClr val="accent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Tailored low-code features for GenX citizen developers.</a:t>
          </a:r>
          <a:endParaRPr lang="en-IN" sz="1600" kern="1200" dirty="0"/>
        </a:p>
      </dsp:txBody>
      <dsp:txXfrm>
        <a:off x="3170" y="593152"/>
        <a:ext cx="2515345" cy="1509207"/>
      </dsp:txXfrm>
    </dsp:sp>
    <dsp:sp modelId="{AE52F869-6A4C-4268-8ED2-5BF05D19ADC5}">
      <dsp:nvSpPr>
        <dsp:cNvPr id="0" name=""/>
        <dsp:cNvSpPr/>
      </dsp:nvSpPr>
      <dsp:spPr>
        <a:xfrm>
          <a:off x="2770051" y="593152"/>
          <a:ext cx="2515345" cy="1509207"/>
        </a:xfrm>
        <a:prstGeom prst="rect">
          <a:avLst/>
        </a:prstGeom>
        <a:solidFill>
          <a:schemeClr val="accent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Simplified, process-oriented data architecture.</a:t>
          </a:r>
          <a:endParaRPr lang="en-IN" sz="1600" kern="1200" dirty="0"/>
        </a:p>
      </dsp:txBody>
      <dsp:txXfrm>
        <a:off x="2770051" y="593152"/>
        <a:ext cx="2515345" cy="1509207"/>
      </dsp:txXfrm>
    </dsp:sp>
    <dsp:sp modelId="{E653F629-43B0-4E83-982F-DC5E4A94DEC1}">
      <dsp:nvSpPr>
        <dsp:cNvPr id="0" name=""/>
        <dsp:cNvSpPr/>
      </dsp:nvSpPr>
      <dsp:spPr>
        <a:xfrm>
          <a:off x="5536931" y="593152"/>
          <a:ext cx="2515345" cy="1509207"/>
        </a:xfrm>
        <a:prstGeom prst="rect">
          <a:avLst/>
        </a:prstGeom>
        <a:solidFill>
          <a:schemeClr val="accent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RPA and integrations optimized for strategic solutions.</a:t>
          </a:r>
          <a:endParaRPr lang="en-IN" sz="1600" kern="1200" dirty="0"/>
        </a:p>
      </dsp:txBody>
      <dsp:txXfrm>
        <a:off x="5536931" y="593152"/>
        <a:ext cx="2515345" cy="1509207"/>
      </dsp:txXfrm>
    </dsp:sp>
    <dsp:sp modelId="{CB4A345E-D777-4DF0-81AE-7813D8BB14AE}">
      <dsp:nvSpPr>
        <dsp:cNvPr id="0" name=""/>
        <dsp:cNvSpPr/>
      </dsp:nvSpPr>
      <dsp:spPr>
        <a:xfrm>
          <a:off x="8303812" y="593152"/>
          <a:ext cx="2515345" cy="1509207"/>
        </a:xfrm>
        <a:prstGeom prst="rect">
          <a:avLst/>
        </a:prstGeom>
        <a:solidFill>
          <a:schemeClr val="accent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Customizable </a:t>
          </a:r>
          <a:r>
            <a:rPr lang="en-US" sz="1600" kern="1200" dirty="0"/>
            <a:t>dashboards.</a:t>
          </a:r>
          <a:endParaRPr lang="en-IN" sz="1600" kern="1200" dirty="0"/>
        </a:p>
      </dsp:txBody>
      <dsp:txXfrm>
        <a:off x="8303812" y="593152"/>
        <a:ext cx="2515345" cy="1509207"/>
      </dsp:txXfrm>
    </dsp:sp>
    <dsp:sp modelId="{87F6A9B1-26FB-409C-9822-48AE931B25F9}">
      <dsp:nvSpPr>
        <dsp:cNvPr id="0" name=""/>
        <dsp:cNvSpPr/>
      </dsp:nvSpPr>
      <dsp:spPr>
        <a:xfrm>
          <a:off x="3170" y="2947046"/>
          <a:ext cx="2515345" cy="1509207"/>
        </a:xfrm>
        <a:prstGeom prst="rect">
          <a:avLst/>
        </a:prstGeom>
        <a:solidFill>
          <a:schemeClr val="accent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Specialized LLM and image models for common use cases.</a:t>
          </a:r>
          <a:endParaRPr lang="en-IN" sz="1600" kern="1200" dirty="0"/>
        </a:p>
      </dsp:txBody>
      <dsp:txXfrm>
        <a:off x="3170" y="2947046"/>
        <a:ext cx="2515345" cy="1509207"/>
      </dsp:txXfrm>
    </dsp:sp>
    <dsp:sp modelId="{311C2801-E36E-44E7-920C-F2D636782DC8}">
      <dsp:nvSpPr>
        <dsp:cNvPr id="0" name=""/>
        <dsp:cNvSpPr/>
      </dsp:nvSpPr>
      <dsp:spPr>
        <a:xfrm>
          <a:off x="2770051" y="2947046"/>
          <a:ext cx="2515345" cy="1509207"/>
        </a:xfrm>
        <a:prstGeom prst="rect">
          <a:avLst/>
        </a:prstGeom>
        <a:solidFill>
          <a:schemeClr val="accent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Multi-tenant DMS supporting S3, OneDrive, Google Drive, local, or FTP storage.</a:t>
          </a:r>
          <a:endParaRPr lang="en-IN" sz="1600" kern="1200" dirty="0"/>
        </a:p>
      </dsp:txBody>
      <dsp:txXfrm>
        <a:off x="2770051" y="2947046"/>
        <a:ext cx="2515345" cy="1509207"/>
      </dsp:txXfrm>
    </dsp:sp>
    <dsp:sp modelId="{D4EC9769-5F9C-47FA-9D60-E514BE620EBE}">
      <dsp:nvSpPr>
        <dsp:cNvPr id="0" name=""/>
        <dsp:cNvSpPr/>
      </dsp:nvSpPr>
      <dsp:spPr>
        <a:xfrm>
          <a:off x="5536931" y="2947046"/>
          <a:ext cx="2515345" cy="1509207"/>
        </a:xfrm>
        <a:prstGeom prst="rect">
          <a:avLst/>
        </a:prstGeom>
        <a:solidFill>
          <a:schemeClr val="accent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State management for deploying BOTs within workflows.</a:t>
          </a:r>
          <a:endParaRPr lang="en-IN" sz="1600" kern="1200" dirty="0"/>
        </a:p>
      </dsp:txBody>
      <dsp:txXfrm>
        <a:off x="5536931" y="2947046"/>
        <a:ext cx="2515345" cy="1509207"/>
      </dsp:txXfrm>
    </dsp:sp>
    <dsp:sp modelId="{4A7B8E97-81F1-4819-B3F1-DA41A75AA0CC}">
      <dsp:nvSpPr>
        <dsp:cNvPr id="0" name=""/>
        <dsp:cNvSpPr/>
      </dsp:nvSpPr>
      <dsp:spPr>
        <a:xfrm>
          <a:off x="8306983" y="2900740"/>
          <a:ext cx="2515345" cy="1509207"/>
        </a:xfrm>
        <a:prstGeom prst="rect">
          <a:avLst/>
        </a:prstGeom>
        <a:solidFill>
          <a:schemeClr val="accent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Supports </a:t>
          </a:r>
          <a:r>
            <a:rPr lang="en-US" sz="1600" kern="1200" dirty="0"/>
            <a:t>both stateful and stateless process flows.</a:t>
          </a:r>
          <a:endParaRPr lang="en-IN" sz="1600" kern="1200" dirty="0"/>
        </a:p>
      </dsp:txBody>
      <dsp:txXfrm>
        <a:off x="8306983" y="2900740"/>
        <a:ext cx="2515345" cy="1509207"/>
      </dsp:txXfrm>
    </dsp:sp>
  </dsp:spTree>
</dsp:drawing>
</file>

<file path=ppt/diagrams/layout1.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762437-FEDC-4F15-802F-49B5D779B76C}" type="datetimeFigureOut">
              <a:rPr lang="en-IN" smtClean="0"/>
              <a:t>08-06-2026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BF67F-0065-4424-A118-989B6A5F9FB4}" type="slidenum">
              <a:rPr lang="en-IN" smtClean="0"/>
              <a:t>‹#›</a:t>
            </a:fld>
            <a:endParaRPr lang="en-IN"/>
          </a:p>
        </p:txBody>
      </p:sp>
    </p:spTree>
    <p:extLst>
      <p:ext uri="{BB962C8B-B14F-4D97-AF65-F5344CB8AC3E}">
        <p14:creationId xmlns:p14="http://schemas.microsoft.com/office/powerpoint/2010/main" val="1380554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62A9518-4FA4-49DB-9935-84BE8C8DEFD8}" type="slidenum">
              <a:rPr lang="en-IN" smtClean="0"/>
              <a:t>1</a:t>
            </a:fld>
            <a:endParaRPr lang="en-IN"/>
          </a:p>
        </p:txBody>
      </p:sp>
    </p:spTree>
    <p:extLst>
      <p:ext uri="{BB962C8B-B14F-4D97-AF65-F5344CB8AC3E}">
        <p14:creationId xmlns:p14="http://schemas.microsoft.com/office/powerpoint/2010/main" val="792329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315A2-DBDE-8B64-2CFE-CBA27F8FB3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719D6-0D44-A9F1-E232-BF155BBBD20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C9BAE2A-9E38-5661-9EB0-6E98C0E37F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4C19198-9E04-D905-5F19-A76F3F946CCE}"/>
              </a:ext>
            </a:extLst>
          </p:cNvPr>
          <p:cNvSpPr>
            <a:spLocks noGrp="1"/>
          </p:cNvSpPr>
          <p:nvPr>
            <p:ph type="sldNum" sz="quarter" idx="5"/>
          </p:nvPr>
        </p:nvSpPr>
        <p:spPr/>
        <p:txBody>
          <a:bodyPr/>
          <a:lstStyle/>
          <a:p>
            <a:fld id="{DB3BF67F-0065-4424-A118-989B6A5F9FB4}" type="slidenum">
              <a:rPr lang="en-IN" smtClean="0"/>
              <a:t>6</a:t>
            </a:fld>
            <a:endParaRPr lang="en-IN"/>
          </a:p>
        </p:txBody>
      </p:sp>
    </p:spTree>
    <p:extLst>
      <p:ext uri="{BB962C8B-B14F-4D97-AF65-F5344CB8AC3E}">
        <p14:creationId xmlns:p14="http://schemas.microsoft.com/office/powerpoint/2010/main" val="309368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0EEFD-4DC9-DF5E-3999-9085BF9C5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71ACE-D011-B3D0-87E4-4D57DCEF509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3B7F43F-5505-9EE6-1C61-A710E1D265D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0917BBB-9DCD-91DE-63FB-5EC9F6B2186A}"/>
              </a:ext>
            </a:extLst>
          </p:cNvPr>
          <p:cNvSpPr>
            <a:spLocks noGrp="1"/>
          </p:cNvSpPr>
          <p:nvPr>
            <p:ph type="sldNum" sz="quarter" idx="5"/>
          </p:nvPr>
        </p:nvSpPr>
        <p:spPr/>
        <p:txBody>
          <a:bodyPr/>
          <a:lstStyle/>
          <a:p>
            <a:fld id="{DB3BF67F-0065-4424-A118-989B6A5F9FB4}" type="slidenum">
              <a:rPr lang="en-IN" smtClean="0"/>
              <a:t>7</a:t>
            </a:fld>
            <a:endParaRPr lang="en-IN"/>
          </a:p>
        </p:txBody>
      </p:sp>
    </p:spTree>
    <p:extLst>
      <p:ext uri="{BB962C8B-B14F-4D97-AF65-F5344CB8AC3E}">
        <p14:creationId xmlns:p14="http://schemas.microsoft.com/office/powerpoint/2010/main" val="2861021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A6D23-FFE5-C726-DB9C-BA631542C3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7CEF3-DA48-83E8-A258-7BFA93993C6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CABB6BB-BA86-43D0-9B45-FCB023548BB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DC9E60A-1D41-4CB9-3BA1-696DC97EB968}"/>
              </a:ext>
            </a:extLst>
          </p:cNvPr>
          <p:cNvSpPr>
            <a:spLocks noGrp="1"/>
          </p:cNvSpPr>
          <p:nvPr>
            <p:ph type="sldNum" sz="quarter" idx="5"/>
          </p:nvPr>
        </p:nvSpPr>
        <p:spPr/>
        <p:txBody>
          <a:bodyPr/>
          <a:lstStyle/>
          <a:p>
            <a:fld id="{DB3BF67F-0065-4424-A118-989B6A5F9FB4}" type="slidenum">
              <a:rPr lang="en-IN" smtClean="0"/>
              <a:t>8</a:t>
            </a:fld>
            <a:endParaRPr lang="en-IN"/>
          </a:p>
        </p:txBody>
      </p:sp>
    </p:spTree>
    <p:extLst>
      <p:ext uri="{BB962C8B-B14F-4D97-AF65-F5344CB8AC3E}">
        <p14:creationId xmlns:p14="http://schemas.microsoft.com/office/powerpoint/2010/main" val="2600284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DF2EA-49AF-FAA9-A43B-3563775D2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1668B-7DA4-27AD-45DE-073160D39A7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F8B5D28-F32A-5E8F-1508-E6186309148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9B6C533-E38E-AAE0-9617-D926B87892CD}"/>
              </a:ext>
            </a:extLst>
          </p:cNvPr>
          <p:cNvSpPr>
            <a:spLocks noGrp="1"/>
          </p:cNvSpPr>
          <p:nvPr>
            <p:ph type="sldNum" sz="quarter" idx="5"/>
          </p:nvPr>
        </p:nvSpPr>
        <p:spPr/>
        <p:txBody>
          <a:bodyPr/>
          <a:lstStyle/>
          <a:p>
            <a:fld id="{DB3BF67F-0065-4424-A118-989B6A5F9FB4}" type="slidenum">
              <a:rPr lang="en-IN" smtClean="0"/>
              <a:t>9</a:t>
            </a:fld>
            <a:endParaRPr lang="en-IN"/>
          </a:p>
        </p:txBody>
      </p:sp>
    </p:spTree>
    <p:extLst>
      <p:ext uri="{BB962C8B-B14F-4D97-AF65-F5344CB8AC3E}">
        <p14:creationId xmlns:p14="http://schemas.microsoft.com/office/powerpoint/2010/main" val="1930153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A2A54-3AA3-DD0A-271A-97D15AB45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248109-3CB9-447F-E772-5A7E47685E0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99995F4-5FDA-1F04-8903-DBAD35DDE68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A197415-E028-8B21-B80F-4EF506F58C3C}"/>
              </a:ext>
            </a:extLst>
          </p:cNvPr>
          <p:cNvSpPr>
            <a:spLocks noGrp="1"/>
          </p:cNvSpPr>
          <p:nvPr>
            <p:ph type="sldNum" sz="quarter" idx="5"/>
          </p:nvPr>
        </p:nvSpPr>
        <p:spPr/>
        <p:txBody>
          <a:bodyPr/>
          <a:lstStyle/>
          <a:p>
            <a:fld id="{DB3BF67F-0065-4424-A118-989B6A5F9FB4}" type="slidenum">
              <a:rPr lang="en-IN" smtClean="0"/>
              <a:t>10</a:t>
            </a:fld>
            <a:endParaRPr lang="en-IN"/>
          </a:p>
        </p:txBody>
      </p:sp>
    </p:spTree>
    <p:extLst>
      <p:ext uri="{BB962C8B-B14F-4D97-AF65-F5344CB8AC3E}">
        <p14:creationId xmlns:p14="http://schemas.microsoft.com/office/powerpoint/2010/main" val="1397009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EDB4-7DC8-0813-7505-B09BF8DDB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04924-F835-7976-CC01-C997C91D1C7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BDC08CC-413D-BD18-3A77-ABD48176CAA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88B8663-49E3-8D86-94DE-886D8851FD5F}"/>
              </a:ext>
            </a:extLst>
          </p:cNvPr>
          <p:cNvSpPr>
            <a:spLocks noGrp="1"/>
          </p:cNvSpPr>
          <p:nvPr>
            <p:ph type="sldNum" sz="quarter" idx="5"/>
          </p:nvPr>
        </p:nvSpPr>
        <p:spPr/>
        <p:txBody>
          <a:bodyPr/>
          <a:lstStyle/>
          <a:p>
            <a:fld id="{DB3BF67F-0065-4424-A118-989B6A5F9FB4}" type="slidenum">
              <a:rPr lang="en-IN" smtClean="0"/>
              <a:t>11</a:t>
            </a:fld>
            <a:endParaRPr lang="en-IN"/>
          </a:p>
        </p:txBody>
      </p:sp>
    </p:spTree>
    <p:extLst>
      <p:ext uri="{BB962C8B-B14F-4D97-AF65-F5344CB8AC3E}">
        <p14:creationId xmlns:p14="http://schemas.microsoft.com/office/powerpoint/2010/main" val="3418244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CA675-EA9F-8B24-5F23-2B7892906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9F9BF-0E00-E93C-5710-3C85AB28420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9619076-4D6E-EF07-C822-30F3CCB529F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D73D35D-3C52-7784-AF66-E38B7EC668C3}"/>
              </a:ext>
            </a:extLst>
          </p:cNvPr>
          <p:cNvSpPr>
            <a:spLocks noGrp="1"/>
          </p:cNvSpPr>
          <p:nvPr>
            <p:ph type="sldNum" sz="quarter" idx="5"/>
          </p:nvPr>
        </p:nvSpPr>
        <p:spPr/>
        <p:txBody>
          <a:bodyPr/>
          <a:lstStyle/>
          <a:p>
            <a:fld id="{DB3BF67F-0065-4424-A118-989B6A5F9FB4}" type="slidenum">
              <a:rPr lang="en-IN" smtClean="0"/>
              <a:t>12</a:t>
            </a:fld>
            <a:endParaRPr lang="en-IN"/>
          </a:p>
        </p:txBody>
      </p:sp>
    </p:spTree>
    <p:extLst>
      <p:ext uri="{BB962C8B-B14F-4D97-AF65-F5344CB8AC3E}">
        <p14:creationId xmlns:p14="http://schemas.microsoft.com/office/powerpoint/2010/main" val="1555681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58325-2981-A984-49CB-D8442401F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2DD1A8-A1D1-DA73-1382-E870EC27201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D06F14F-D091-8D0D-AB22-0353FC3B225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49B2385-623C-B159-560D-C9D4A4BAF298}"/>
              </a:ext>
            </a:extLst>
          </p:cNvPr>
          <p:cNvSpPr>
            <a:spLocks noGrp="1"/>
          </p:cNvSpPr>
          <p:nvPr>
            <p:ph type="sldNum" sz="quarter" idx="5"/>
          </p:nvPr>
        </p:nvSpPr>
        <p:spPr/>
        <p:txBody>
          <a:bodyPr/>
          <a:lstStyle/>
          <a:p>
            <a:fld id="{862A9518-4FA4-49DB-9935-84BE8C8DEFD8}" type="slidenum">
              <a:rPr lang="en-IN" smtClean="0"/>
              <a:t>23</a:t>
            </a:fld>
            <a:endParaRPr lang="en-IN"/>
          </a:p>
        </p:txBody>
      </p:sp>
    </p:spTree>
    <p:extLst>
      <p:ext uri="{BB962C8B-B14F-4D97-AF65-F5344CB8AC3E}">
        <p14:creationId xmlns:p14="http://schemas.microsoft.com/office/powerpoint/2010/main" val="856441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2250-D63A-F540-CD4C-B7248BC1F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164C9-5C24-56EB-D808-AF04617FA4B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B53E9B3-CCF2-C9EA-6B51-A6F4E5D91EF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9D1F996-EA15-1640-4E48-A1812584E5AA}"/>
              </a:ext>
            </a:extLst>
          </p:cNvPr>
          <p:cNvSpPr>
            <a:spLocks noGrp="1"/>
          </p:cNvSpPr>
          <p:nvPr>
            <p:ph type="sldNum" sz="quarter" idx="5"/>
          </p:nvPr>
        </p:nvSpPr>
        <p:spPr/>
        <p:txBody>
          <a:bodyPr/>
          <a:lstStyle/>
          <a:p>
            <a:fld id="{862A9518-4FA4-49DB-9935-84BE8C8DEFD8}" type="slidenum">
              <a:rPr lang="en-IN" smtClean="0"/>
              <a:t>25</a:t>
            </a:fld>
            <a:endParaRPr lang="en-IN"/>
          </a:p>
        </p:txBody>
      </p:sp>
    </p:spTree>
    <p:extLst>
      <p:ext uri="{BB962C8B-B14F-4D97-AF65-F5344CB8AC3E}">
        <p14:creationId xmlns:p14="http://schemas.microsoft.com/office/powerpoint/2010/main" val="1397134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9BA93-12CD-C676-6946-1D5284B38E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03BFCB-E1D0-6359-2F34-6F46E1FBE9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5B7954-843B-0A5E-1B63-E80ECD7B04D3}"/>
              </a:ext>
            </a:extLst>
          </p:cNvPr>
          <p:cNvSpPr>
            <a:spLocks noGrp="1"/>
          </p:cNvSpPr>
          <p:nvPr>
            <p:ph type="dt" sz="half" idx="10"/>
          </p:nvPr>
        </p:nvSpPr>
        <p:spPr/>
        <p:txBody>
          <a:bodyPr/>
          <a:lstStyle/>
          <a:p>
            <a:fld id="{28B90799-141E-441E-AA9C-3CA8FF8B11EE}" type="datetimeFigureOut">
              <a:rPr lang="en-IN" smtClean="0"/>
              <a:t>08-06-2026</a:t>
            </a:fld>
            <a:endParaRPr lang="en-IN"/>
          </a:p>
        </p:txBody>
      </p:sp>
      <p:sp>
        <p:nvSpPr>
          <p:cNvPr id="5" name="Footer Placeholder 4">
            <a:extLst>
              <a:ext uri="{FF2B5EF4-FFF2-40B4-BE49-F238E27FC236}">
                <a16:creationId xmlns:a16="http://schemas.microsoft.com/office/drawing/2014/main" id="{48DCDA61-160E-7F53-6831-648C5CBB7B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B4FA00-9FCB-C8F9-A94A-2B9C1CDC9BD9}"/>
              </a:ext>
            </a:extLst>
          </p:cNvPr>
          <p:cNvSpPr>
            <a:spLocks noGrp="1"/>
          </p:cNvSpPr>
          <p:nvPr>
            <p:ph type="sldNum" sz="quarter" idx="12"/>
          </p:nvPr>
        </p:nvSpPr>
        <p:spPr/>
        <p:txBody>
          <a:bodyPr/>
          <a:lstStyle/>
          <a:p>
            <a:fld id="{5E066BE7-7C56-4B11-8110-A1B6FEF76AC5}" type="slidenum">
              <a:rPr lang="en-IN" smtClean="0"/>
              <a:t>‹#›</a:t>
            </a:fld>
            <a:endParaRPr lang="en-IN"/>
          </a:p>
        </p:txBody>
      </p:sp>
    </p:spTree>
    <p:extLst>
      <p:ext uri="{BB962C8B-B14F-4D97-AF65-F5344CB8AC3E}">
        <p14:creationId xmlns:p14="http://schemas.microsoft.com/office/powerpoint/2010/main" val="2390322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FC863-2F3C-5581-9957-1A2326B4A5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527D04-68AD-D1F3-B707-20F3C0ED51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5FC319-E60A-917F-6F1C-158CD0156B4A}"/>
              </a:ext>
            </a:extLst>
          </p:cNvPr>
          <p:cNvSpPr>
            <a:spLocks noGrp="1"/>
          </p:cNvSpPr>
          <p:nvPr>
            <p:ph type="dt" sz="half" idx="10"/>
          </p:nvPr>
        </p:nvSpPr>
        <p:spPr/>
        <p:txBody>
          <a:bodyPr/>
          <a:lstStyle/>
          <a:p>
            <a:fld id="{28B90799-141E-441E-AA9C-3CA8FF8B11EE}" type="datetimeFigureOut">
              <a:rPr lang="en-IN" smtClean="0"/>
              <a:t>08-06-2026</a:t>
            </a:fld>
            <a:endParaRPr lang="en-IN"/>
          </a:p>
        </p:txBody>
      </p:sp>
      <p:sp>
        <p:nvSpPr>
          <p:cNvPr id="5" name="Footer Placeholder 4">
            <a:extLst>
              <a:ext uri="{FF2B5EF4-FFF2-40B4-BE49-F238E27FC236}">
                <a16:creationId xmlns:a16="http://schemas.microsoft.com/office/drawing/2014/main" id="{1A746085-0DAF-AFDF-9F97-871324EDB0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27174E-9356-40E6-E52D-5F042F4B6CB9}"/>
              </a:ext>
            </a:extLst>
          </p:cNvPr>
          <p:cNvSpPr>
            <a:spLocks noGrp="1"/>
          </p:cNvSpPr>
          <p:nvPr>
            <p:ph type="sldNum" sz="quarter" idx="12"/>
          </p:nvPr>
        </p:nvSpPr>
        <p:spPr/>
        <p:txBody>
          <a:bodyPr/>
          <a:lstStyle/>
          <a:p>
            <a:fld id="{5E066BE7-7C56-4B11-8110-A1B6FEF76AC5}" type="slidenum">
              <a:rPr lang="en-IN" smtClean="0"/>
              <a:t>‹#›</a:t>
            </a:fld>
            <a:endParaRPr lang="en-IN"/>
          </a:p>
        </p:txBody>
      </p:sp>
    </p:spTree>
    <p:extLst>
      <p:ext uri="{BB962C8B-B14F-4D97-AF65-F5344CB8AC3E}">
        <p14:creationId xmlns:p14="http://schemas.microsoft.com/office/powerpoint/2010/main" val="1761049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23FC-33ED-CCCC-41A7-A08CCC5E0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14B981D-77D8-E303-4962-FE6CB84077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9283FB-A3B0-3F02-E0BD-BC1B50688B7D}"/>
              </a:ext>
            </a:extLst>
          </p:cNvPr>
          <p:cNvSpPr>
            <a:spLocks noGrp="1"/>
          </p:cNvSpPr>
          <p:nvPr>
            <p:ph type="dt" sz="half" idx="10"/>
          </p:nvPr>
        </p:nvSpPr>
        <p:spPr/>
        <p:txBody>
          <a:bodyPr/>
          <a:lstStyle/>
          <a:p>
            <a:fld id="{28B90799-141E-441E-AA9C-3CA8FF8B11EE}" type="datetimeFigureOut">
              <a:rPr lang="en-IN" smtClean="0"/>
              <a:t>08-06-2026</a:t>
            </a:fld>
            <a:endParaRPr lang="en-IN"/>
          </a:p>
        </p:txBody>
      </p:sp>
      <p:sp>
        <p:nvSpPr>
          <p:cNvPr id="5" name="Footer Placeholder 4">
            <a:extLst>
              <a:ext uri="{FF2B5EF4-FFF2-40B4-BE49-F238E27FC236}">
                <a16:creationId xmlns:a16="http://schemas.microsoft.com/office/drawing/2014/main" id="{7C956821-62D4-4207-C07E-86E5E2C017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F2B261-BD2E-3C29-27F4-6235AE8A0308}"/>
              </a:ext>
            </a:extLst>
          </p:cNvPr>
          <p:cNvSpPr>
            <a:spLocks noGrp="1"/>
          </p:cNvSpPr>
          <p:nvPr>
            <p:ph type="sldNum" sz="quarter" idx="12"/>
          </p:nvPr>
        </p:nvSpPr>
        <p:spPr/>
        <p:txBody>
          <a:bodyPr/>
          <a:lstStyle/>
          <a:p>
            <a:fld id="{5E066BE7-7C56-4B11-8110-A1B6FEF76AC5}" type="slidenum">
              <a:rPr lang="en-IN" smtClean="0"/>
              <a:t>‹#›</a:t>
            </a:fld>
            <a:endParaRPr lang="en-IN"/>
          </a:p>
        </p:txBody>
      </p:sp>
    </p:spTree>
    <p:extLst>
      <p:ext uri="{BB962C8B-B14F-4D97-AF65-F5344CB8AC3E}">
        <p14:creationId xmlns:p14="http://schemas.microsoft.com/office/powerpoint/2010/main" val="2950790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12850-36A5-7D7A-752F-2D5E60B129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10092C-98B7-52A0-C9F5-33ABF6AEDB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431922-01CB-1385-7734-3AB059D7CA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41A4FD5-31C8-85BF-8BD2-37A40BBD184B}"/>
              </a:ext>
            </a:extLst>
          </p:cNvPr>
          <p:cNvSpPr>
            <a:spLocks noGrp="1"/>
          </p:cNvSpPr>
          <p:nvPr>
            <p:ph type="dt" sz="half" idx="10"/>
          </p:nvPr>
        </p:nvSpPr>
        <p:spPr/>
        <p:txBody>
          <a:bodyPr/>
          <a:lstStyle/>
          <a:p>
            <a:fld id="{28B90799-141E-441E-AA9C-3CA8FF8B11EE}" type="datetimeFigureOut">
              <a:rPr lang="en-IN" smtClean="0"/>
              <a:t>08-06-2026</a:t>
            </a:fld>
            <a:endParaRPr lang="en-IN"/>
          </a:p>
        </p:txBody>
      </p:sp>
      <p:sp>
        <p:nvSpPr>
          <p:cNvPr id="6" name="Footer Placeholder 5">
            <a:extLst>
              <a:ext uri="{FF2B5EF4-FFF2-40B4-BE49-F238E27FC236}">
                <a16:creationId xmlns:a16="http://schemas.microsoft.com/office/drawing/2014/main" id="{6658935B-20AB-EFCF-F5CF-AA7389059F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FC0D8B-66FE-74DD-09C0-ED85089C3FD9}"/>
              </a:ext>
            </a:extLst>
          </p:cNvPr>
          <p:cNvSpPr>
            <a:spLocks noGrp="1"/>
          </p:cNvSpPr>
          <p:nvPr>
            <p:ph type="sldNum" sz="quarter" idx="12"/>
          </p:nvPr>
        </p:nvSpPr>
        <p:spPr/>
        <p:txBody>
          <a:bodyPr/>
          <a:lstStyle/>
          <a:p>
            <a:fld id="{5E066BE7-7C56-4B11-8110-A1B6FEF76AC5}" type="slidenum">
              <a:rPr lang="en-IN" smtClean="0"/>
              <a:t>‹#›</a:t>
            </a:fld>
            <a:endParaRPr lang="en-IN"/>
          </a:p>
        </p:txBody>
      </p:sp>
    </p:spTree>
    <p:extLst>
      <p:ext uri="{BB962C8B-B14F-4D97-AF65-F5344CB8AC3E}">
        <p14:creationId xmlns:p14="http://schemas.microsoft.com/office/powerpoint/2010/main" val="2904822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448E-535F-5B08-6086-253E148E3B0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56BE95-42D1-EF6D-CACB-7330C12C94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2B38DB-E25A-BB05-2397-BDEA835869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8435965-98C3-DDFA-B482-E6404469B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E2FC72-CE40-7674-A67A-347160B231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0E8200-D313-ED76-D6CB-3DDCF45FC5BA}"/>
              </a:ext>
            </a:extLst>
          </p:cNvPr>
          <p:cNvSpPr>
            <a:spLocks noGrp="1"/>
          </p:cNvSpPr>
          <p:nvPr>
            <p:ph type="dt" sz="half" idx="10"/>
          </p:nvPr>
        </p:nvSpPr>
        <p:spPr/>
        <p:txBody>
          <a:bodyPr/>
          <a:lstStyle/>
          <a:p>
            <a:fld id="{28B90799-141E-441E-AA9C-3CA8FF8B11EE}" type="datetimeFigureOut">
              <a:rPr lang="en-IN" smtClean="0"/>
              <a:t>08-06-2026</a:t>
            </a:fld>
            <a:endParaRPr lang="en-IN"/>
          </a:p>
        </p:txBody>
      </p:sp>
      <p:sp>
        <p:nvSpPr>
          <p:cNvPr id="8" name="Footer Placeholder 7">
            <a:extLst>
              <a:ext uri="{FF2B5EF4-FFF2-40B4-BE49-F238E27FC236}">
                <a16:creationId xmlns:a16="http://schemas.microsoft.com/office/drawing/2014/main" id="{3A9E1267-179C-98AA-6B77-06B3C3F893B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768151D-ECBC-4A8D-0628-989A4A532379}"/>
              </a:ext>
            </a:extLst>
          </p:cNvPr>
          <p:cNvSpPr>
            <a:spLocks noGrp="1"/>
          </p:cNvSpPr>
          <p:nvPr>
            <p:ph type="sldNum" sz="quarter" idx="12"/>
          </p:nvPr>
        </p:nvSpPr>
        <p:spPr/>
        <p:txBody>
          <a:bodyPr/>
          <a:lstStyle/>
          <a:p>
            <a:fld id="{5E066BE7-7C56-4B11-8110-A1B6FEF76AC5}" type="slidenum">
              <a:rPr lang="en-IN" smtClean="0"/>
              <a:t>‹#›</a:t>
            </a:fld>
            <a:endParaRPr lang="en-IN"/>
          </a:p>
        </p:txBody>
      </p:sp>
    </p:spTree>
    <p:extLst>
      <p:ext uri="{BB962C8B-B14F-4D97-AF65-F5344CB8AC3E}">
        <p14:creationId xmlns:p14="http://schemas.microsoft.com/office/powerpoint/2010/main" val="2926577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A1B3B-D0EE-F949-A74C-AE1C6365DE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15D7B0-9F0D-6477-FC4F-F2FC8F77337D}"/>
              </a:ext>
            </a:extLst>
          </p:cNvPr>
          <p:cNvSpPr>
            <a:spLocks noGrp="1"/>
          </p:cNvSpPr>
          <p:nvPr>
            <p:ph type="dt" sz="half" idx="10"/>
          </p:nvPr>
        </p:nvSpPr>
        <p:spPr/>
        <p:txBody>
          <a:bodyPr/>
          <a:lstStyle/>
          <a:p>
            <a:fld id="{28B90799-141E-441E-AA9C-3CA8FF8B11EE}" type="datetimeFigureOut">
              <a:rPr lang="en-IN" smtClean="0"/>
              <a:t>08-06-2026</a:t>
            </a:fld>
            <a:endParaRPr lang="en-IN"/>
          </a:p>
        </p:txBody>
      </p:sp>
      <p:sp>
        <p:nvSpPr>
          <p:cNvPr id="4" name="Footer Placeholder 3">
            <a:extLst>
              <a:ext uri="{FF2B5EF4-FFF2-40B4-BE49-F238E27FC236}">
                <a16:creationId xmlns:a16="http://schemas.microsoft.com/office/drawing/2014/main" id="{C0AD7B98-6A31-FCCD-0EDC-C8972C67E77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C4CC8BB-C27E-E2F7-68CA-5058DAB070C6}"/>
              </a:ext>
            </a:extLst>
          </p:cNvPr>
          <p:cNvSpPr>
            <a:spLocks noGrp="1"/>
          </p:cNvSpPr>
          <p:nvPr>
            <p:ph type="sldNum" sz="quarter" idx="12"/>
          </p:nvPr>
        </p:nvSpPr>
        <p:spPr/>
        <p:txBody>
          <a:bodyPr/>
          <a:lstStyle/>
          <a:p>
            <a:fld id="{5E066BE7-7C56-4B11-8110-A1B6FEF76AC5}" type="slidenum">
              <a:rPr lang="en-IN" smtClean="0"/>
              <a:t>‹#›</a:t>
            </a:fld>
            <a:endParaRPr lang="en-IN"/>
          </a:p>
        </p:txBody>
      </p:sp>
    </p:spTree>
    <p:extLst>
      <p:ext uri="{BB962C8B-B14F-4D97-AF65-F5344CB8AC3E}">
        <p14:creationId xmlns:p14="http://schemas.microsoft.com/office/powerpoint/2010/main" val="1503894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A160AE-1A9A-2185-9C4E-CACAFA1633AB}"/>
              </a:ext>
            </a:extLst>
          </p:cNvPr>
          <p:cNvSpPr>
            <a:spLocks noGrp="1"/>
          </p:cNvSpPr>
          <p:nvPr>
            <p:ph type="dt" sz="half" idx="10"/>
          </p:nvPr>
        </p:nvSpPr>
        <p:spPr/>
        <p:txBody>
          <a:bodyPr/>
          <a:lstStyle/>
          <a:p>
            <a:fld id="{28B90799-141E-441E-AA9C-3CA8FF8B11EE}" type="datetimeFigureOut">
              <a:rPr lang="en-IN" smtClean="0"/>
              <a:t>08-06-2026</a:t>
            </a:fld>
            <a:endParaRPr lang="en-IN"/>
          </a:p>
        </p:txBody>
      </p:sp>
      <p:sp>
        <p:nvSpPr>
          <p:cNvPr id="3" name="Footer Placeholder 2">
            <a:extLst>
              <a:ext uri="{FF2B5EF4-FFF2-40B4-BE49-F238E27FC236}">
                <a16:creationId xmlns:a16="http://schemas.microsoft.com/office/drawing/2014/main" id="{848D89F1-8463-FCCA-64C7-4C09C2BC1A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08EDD67-E405-5D4E-FFFB-62EC17841B17}"/>
              </a:ext>
            </a:extLst>
          </p:cNvPr>
          <p:cNvSpPr>
            <a:spLocks noGrp="1"/>
          </p:cNvSpPr>
          <p:nvPr>
            <p:ph type="sldNum" sz="quarter" idx="12"/>
          </p:nvPr>
        </p:nvSpPr>
        <p:spPr/>
        <p:txBody>
          <a:bodyPr/>
          <a:lstStyle/>
          <a:p>
            <a:fld id="{5E066BE7-7C56-4B11-8110-A1B6FEF76AC5}" type="slidenum">
              <a:rPr lang="en-IN" smtClean="0"/>
              <a:t>‹#›</a:t>
            </a:fld>
            <a:endParaRPr lang="en-IN"/>
          </a:p>
        </p:txBody>
      </p:sp>
    </p:spTree>
    <p:extLst>
      <p:ext uri="{BB962C8B-B14F-4D97-AF65-F5344CB8AC3E}">
        <p14:creationId xmlns:p14="http://schemas.microsoft.com/office/powerpoint/2010/main" val="3006262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68124-C8C3-4F12-B406-F47F8F1546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E2FEA72-3107-6071-9320-3AD6A5E277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F4EB8C9-5518-26C1-8E9E-4321831FD0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E28065-B120-C2DB-E3D4-07D3FFBF9240}"/>
              </a:ext>
            </a:extLst>
          </p:cNvPr>
          <p:cNvSpPr>
            <a:spLocks noGrp="1"/>
          </p:cNvSpPr>
          <p:nvPr>
            <p:ph type="dt" sz="half" idx="10"/>
          </p:nvPr>
        </p:nvSpPr>
        <p:spPr/>
        <p:txBody>
          <a:bodyPr/>
          <a:lstStyle/>
          <a:p>
            <a:fld id="{28B90799-141E-441E-AA9C-3CA8FF8B11EE}" type="datetimeFigureOut">
              <a:rPr lang="en-IN" smtClean="0"/>
              <a:t>08-06-2026</a:t>
            </a:fld>
            <a:endParaRPr lang="en-IN"/>
          </a:p>
        </p:txBody>
      </p:sp>
      <p:sp>
        <p:nvSpPr>
          <p:cNvPr id="6" name="Footer Placeholder 5">
            <a:extLst>
              <a:ext uri="{FF2B5EF4-FFF2-40B4-BE49-F238E27FC236}">
                <a16:creationId xmlns:a16="http://schemas.microsoft.com/office/drawing/2014/main" id="{63B611BC-223E-9682-4046-60E71E63AD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0B5BB6-DE4B-B16D-8D31-58735DC0B980}"/>
              </a:ext>
            </a:extLst>
          </p:cNvPr>
          <p:cNvSpPr>
            <a:spLocks noGrp="1"/>
          </p:cNvSpPr>
          <p:nvPr>
            <p:ph type="sldNum" sz="quarter" idx="12"/>
          </p:nvPr>
        </p:nvSpPr>
        <p:spPr/>
        <p:txBody>
          <a:bodyPr/>
          <a:lstStyle/>
          <a:p>
            <a:fld id="{5E066BE7-7C56-4B11-8110-A1B6FEF76AC5}" type="slidenum">
              <a:rPr lang="en-IN" smtClean="0"/>
              <a:t>‹#›</a:t>
            </a:fld>
            <a:endParaRPr lang="en-IN"/>
          </a:p>
        </p:txBody>
      </p:sp>
    </p:spTree>
    <p:extLst>
      <p:ext uri="{BB962C8B-B14F-4D97-AF65-F5344CB8AC3E}">
        <p14:creationId xmlns:p14="http://schemas.microsoft.com/office/powerpoint/2010/main" val="2703292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06E62-0FDA-6561-5CDE-ADED1070FB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656503-43D0-5F91-BF5A-668B5C69ED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1669590-816E-859C-DC9C-53A4F7AC86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E36893-F9E1-93E5-094B-FF1BAB7049DF}"/>
              </a:ext>
            </a:extLst>
          </p:cNvPr>
          <p:cNvSpPr>
            <a:spLocks noGrp="1"/>
          </p:cNvSpPr>
          <p:nvPr>
            <p:ph type="dt" sz="half" idx="10"/>
          </p:nvPr>
        </p:nvSpPr>
        <p:spPr/>
        <p:txBody>
          <a:bodyPr/>
          <a:lstStyle/>
          <a:p>
            <a:fld id="{28B90799-141E-441E-AA9C-3CA8FF8B11EE}" type="datetimeFigureOut">
              <a:rPr lang="en-IN" smtClean="0"/>
              <a:t>08-06-2026</a:t>
            </a:fld>
            <a:endParaRPr lang="en-IN"/>
          </a:p>
        </p:txBody>
      </p:sp>
      <p:sp>
        <p:nvSpPr>
          <p:cNvPr id="6" name="Footer Placeholder 5">
            <a:extLst>
              <a:ext uri="{FF2B5EF4-FFF2-40B4-BE49-F238E27FC236}">
                <a16:creationId xmlns:a16="http://schemas.microsoft.com/office/drawing/2014/main" id="{D3409E95-8205-01BA-4D9D-A82A954BBD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C7B947-6F47-5DBE-78B4-EAE7F4501D6A}"/>
              </a:ext>
            </a:extLst>
          </p:cNvPr>
          <p:cNvSpPr>
            <a:spLocks noGrp="1"/>
          </p:cNvSpPr>
          <p:nvPr>
            <p:ph type="sldNum" sz="quarter" idx="12"/>
          </p:nvPr>
        </p:nvSpPr>
        <p:spPr/>
        <p:txBody>
          <a:bodyPr/>
          <a:lstStyle/>
          <a:p>
            <a:fld id="{5E066BE7-7C56-4B11-8110-A1B6FEF76AC5}" type="slidenum">
              <a:rPr lang="en-IN" smtClean="0"/>
              <a:t>‹#›</a:t>
            </a:fld>
            <a:endParaRPr lang="en-IN"/>
          </a:p>
        </p:txBody>
      </p:sp>
    </p:spTree>
    <p:extLst>
      <p:ext uri="{BB962C8B-B14F-4D97-AF65-F5344CB8AC3E}">
        <p14:creationId xmlns:p14="http://schemas.microsoft.com/office/powerpoint/2010/main" val="368020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D3216-F4AD-5BEB-4DF6-0DDCD175A54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810FC6-0201-59CA-0EA8-C82C3E2E87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5D02AB-9824-F8DA-17D8-3E8B7F766EAA}"/>
              </a:ext>
            </a:extLst>
          </p:cNvPr>
          <p:cNvSpPr>
            <a:spLocks noGrp="1"/>
          </p:cNvSpPr>
          <p:nvPr>
            <p:ph type="dt" sz="half" idx="10"/>
          </p:nvPr>
        </p:nvSpPr>
        <p:spPr/>
        <p:txBody>
          <a:bodyPr/>
          <a:lstStyle/>
          <a:p>
            <a:fld id="{28B90799-141E-441E-AA9C-3CA8FF8B11EE}" type="datetimeFigureOut">
              <a:rPr lang="en-IN" smtClean="0"/>
              <a:t>08-06-2026</a:t>
            </a:fld>
            <a:endParaRPr lang="en-IN"/>
          </a:p>
        </p:txBody>
      </p:sp>
      <p:sp>
        <p:nvSpPr>
          <p:cNvPr id="5" name="Footer Placeholder 4">
            <a:extLst>
              <a:ext uri="{FF2B5EF4-FFF2-40B4-BE49-F238E27FC236}">
                <a16:creationId xmlns:a16="http://schemas.microsoft.com/office/drawing/2014/main" id="{88B79E5F-41BE-F278-403E-B538422F9A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ED3B8C-1FF5-6094-582A-62D45D2E6B67}"/>
              </a:ext>
            </a:extLst>
          </p:cNvPr>
          <p:cNvSpPr>
            <a:spLocks noGrp="1"/>
          </p:cNvSpPr>
          <p:nvPr>
            <p:ph type="sldNum" sz="quarter" idx="12"/>
          </p:nvPr>
        </p:nvSpPr>
        <p:spPr/>
        <p:txBody>
          <a:bodyPr/>
          <a:lstStyle/>
          <a:p>
            <a:fld id="{5E066BE7-7C56-4B11-8110-A1B6FEF76AC5}" type="slidenum">
              <a:rPr lang="en-IN" smtClean="0"/>
              <a:t>‹#›</a:t>
            </a:fld>
            <a:endParaRPr lang="en-IN"/>
          </a:p>
        </p:txBody>
      </p:sp>
    </p:spTree>
    <p:extLst>
      <p:ext uri="{BB962C8B-B14F-4D97-AF65-F5344CB8AC3E}">
        <p14:creationId xmlns:p14="http://schemas.microsoft.com/office/powerpoint/2010/main" val="1970000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8FA75C-CF98-00EA-1367-1BEFA47D11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90431B-6B18-2A5C-D72B-E081C81310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427A66-B912-6D11-083D-F24E958B23BA}"/>
              </a:ext>
            </a:extLst>
          </p:cNvPr>
          <p:cNvSpPr>
            <a:spLocks noGrp="1"/>
          </p:cNvSpPr>
          <p:nvPr>
            <p:ph type="dt" sz="half" idx="10"/>
          </p:nvPr>
        </p:nvSpPr>
        <p:spPr/>
        <p:txBody>
          <a:bodyPr/>
          <a:lstStyle/>
          <a:p>
            <a:fld id="{28B90799-141E-441E-AA9C-3CA8FF8B11EE}" type="datetimeFigureOut">
              <a:rPr lang="en-IN" smtClean="0"/>
              <a:t>08-06-2026</a:t>
            </a:fld>
            <a:endParaRPr lang="en-IN"/>
          </a:p>
        </p:txBody>
      </p:sp>
      <p:sp>
        <p:nvSpPr>
          <p:cNvPr id="5" name="Footer Placeholder 4">
            <a:extLst>
              <a:ext uri="{FF2B5EF4-FFF2-40B4-BE49-F238E27FC236}">
                <a16:creationId xmlns:a16="http://schemas.microsoft.com/office/drawing/2014/main" id="{9DB9F71A-E61F-D185-5777-EDD9A0C787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EF86D6-4505-2CDA-7B15-AE8A5BBEA153}"/>
              </a:ext>
            </a:extLst>
          </p:cNvPr>
          <p:cNvSpPr>
            <a:spLocks noGrp="1"/>
          </p:cNvSpPr>
          <p:nvPr>
            <p:ph type="sldNum" sz="quarter" idx="12"/>
          </p:nvPr>
        </p:nvSpPr>
        <p:spPr/>
        <p:txBody>
          <a:bodyPr/>
          <a:lstStyle/>
          <a:p>
            <a:fld id="{5E066BE7-7C56-4B11-8110-A1B6FEF76AC5}" type="slidenum">
              <a:rPr lang="en-IN" smtClean="0"/>
              <a:t>‹#›</a:t>
            </a:fld>
            <a:endParaRPr lang="en-IN"/>
          </a:p>
        </p:txBody>
      </p:sp>
    </p:spTree>
    <p:extLst>
      <p:ext uri="{BB962C8B-B14F-4D97-AF65-F5344CB8AC3E}">
        <p14:creationId xmlns:p14="http://schemas.microsoft.com/office/powerpoint/2010/main" val="1310144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25B60C-3D50-1327-CAC5-9972BF7C23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41294A-181C-788F-6629-6761B31E66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3C0378-B17D-BC9F-0357-CD98683C52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B90799-141E-441E-AA9C-3CA8FF8B11EE}" type="datetimeFigureOut">
              <a:rPr lang="en-IN" smtClean="0"/>
              <a:t>08-06-2026</a:t>
            </a:fld>
            <a:endParaRPr lang="en-IN"/>
          </a:p>
        </p:txBody>
      </p:sp>
      <p:sp>
        <p:nvSpPr>
          <p:cNvPr id="5" name="Footer Placeholder 4">
            <a:extLst>
              <a:ext uri="{FF2B5EF4-FFF2-40B4-BE49-F238E27FC236}">
                <a16:creationId xmlns:a16="http://schemas.microsoft.com/office/drawing/2014/main" id="{1FBEAC68-1107-E24C-2288-4FDDF3BA2E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C8B9635-21D5-BD21-0085-B30A10A105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066BE7-7C56-4B11-8110-A1B6FEF76AC5}" type="slidenum">
              <a:rPr lang="en-IN" smtClean="0"/>
              <a:t>‹#›</a:t>
            </a:fld>
            <a:endParaRPr lang="en-IN"/>
          </a:p>
        </p:txBody>
      </p:sp>
    </p:spTree>
    <p:extLst>
      <p:ext uri="{BB962C8B-B14F-4D97-AF65-F5344CB8AC3E}">
        <p14:creationId xmlns:p14="http://schemas.microsoft.com/office/powerpoint/2010/main" val="36609443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1.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12" Type="http://schemas.openxmlformats.org/officeDocument/2006/relationships/image" Target="../media/image23.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image" Target="../media/image29.jpe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15.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35.svg"/><Relationship Id="rId3" Type="http://schemas.openxmlformats.org/officeDocument/2006/relationships/diagramLayout" Target="../diagrams/layout7.xml"/><Relationship Id="rId7" Type="http://schemas.openxmlformats.org/officeDocument/2006/relationships/image" Target="../media/image30.png"/><Relationship Id="rId12" Type="http://schemas.openxmlformats.org/officeDocument/2006/relationships/image" Target="../media/image34.sv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11" Type="http://schemas.openxmlformats.org/officeDocument/2006/relationships/image" Target="../media/image33.svg"/><Relationship Id="rId5" Type="http://schemas.openxmlformats.org/officeDocument/2006/relationships/diagramColors" Target="../diagrams/colors7.xml"/><Relationship Id="rId10" Type="http://schemas.openxmlformats.org/officeDocument/2006/relationships/image" Target="../media/image32.svg"/><Relationship Id="rId4" Type="http://schemas.openxmlformats.org/officeDocument/2006/relationships/diagramQuickStyle" Target="../diagrams/quickStyle7.xml"/><Relationship Id="rId9" Type="http://schemas.openxmlformats.org/officeDocument/2006/relationships/image" Target="../media/image31.svg"/></Relationships>
</file>

<file path=ppt/slides/_rels/slide16.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39.svg"/><Relationship Id="rId3" Type="http://schemas.openxmlformats.org/officeDocument/2006/relationships/diagramLayout" Target="../diagrams/layout8.xml"/><Relationship Id="rId7" Type="http://schemas.openxmlformats.org/officeDocument/2006/relationships/image" Target="../media/image36.png"/><Relationship Id="rId12" Type="http://schemas.openxmlformats.org/officeDocument/2006/relationships/image" Target="../media/image38.sv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11" Type="http://schemas.openxmlformats.org/officeDocument/2006/relationships/image" Target="../media/image37.svg"/><Relationship Id="rId5" Type="http://schemas.openxmlformats.org/officeDocument/2006/relationships/diagramColors" Target="../diagrams/colors8.xml"/><Relationship Id="rId10" Type="http://schemas.openxmlformats.org/officeDocument/2006/relationships/image" Target="../media/image25.svg"/><Relationship Id="rId4" Type="http://schemas.openxmlformats.org/officeDocument/2006/relationships/diagramQuickStyle" Target="../diagrams/quickStyle8.xml"/><Relationship Id="rId9" Type="http://schemas.openxmlformats.org/officeDocument/2006/relationships/image" Target="../media/image24.svg"/></Relationships>
</file>

<file path=ppt/slides/_rels/slide17.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44.svg"/><Relationship Id="rId3" Type="http://schemas.openxmlformats.org/officeDocument/2006/relationships/diagramLayout" Target="../diagrams/layout9.xml"/><Relationship Id="rId7" Type="http://schemas.openxmlformats.org/officeDocument/2006/relationships/image" Target="../media/image40.png"/><Relationship Id="rId12" Type="http://schemas.openxmlformats.org/officeDocument/2006/relationships/image" Target="../media/image35.sv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11" Type="http://schemas.openxmlformats.org/officeDocument/2006/relationships/image" Target="../media/image43.png"/><Relationship Id="rId5" Type="http://schemas.openxmlformats.org/officeDocument/2006/relationships/diagramColors" Target="../diagrams/colors9.xml"/><Relationship Id="rId10" Type="http://schemas.openxmlformats.org/officeDocument/2006/relationships/image" Target="../media/image42.png"/><Relationship Id="rId4" Type="http://schemas.openxmlformats.org/officeDocument/2006/relationships/diagramQuickStyle" Target="../diagrams/quickStyle9.xml"/><Relationship Id="rId9" Type="http://schemas.openxmlformats.org/officeDocument/2006/relationships/image" Target="../media/image41.svg"/></Relationships>
</file>

<file path=ppt/slides/_rels/slide1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diagramLayout" Target="../diagrams/layout10.xml"/><Relationship Id="rId7" Type="http://schemas.openxmlformats.org/officeDocument/2006/relationships/image" Target="../media/image45.jpeg"/><Relationship Id="rId12" Type="http://schemas.openxmlformats.org/officeDocument/2006/relationships/image" Target="../media/image49.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11" Type="http://schemas.openxmlformats.org/officeDocument/2006/relationships/image" Target="../media/image48.svg"/><Relationship Id="rId5" Type="http://schemas.openxmlformats.org/officeDocument/2006/relationships/diagramColors" Target="../diagrams/colors10.xml"/><Relationship Id="rId10" Type="http://schemas.openxmlformats.org/officeDocument/2006/relationships/image" Target="../media/image34.svg"/><Relationship Id="rId4" Type="http://schemas.openxmlformats.org/officeDocument/2006/relationships/diagramQuickStyle" Target="../diagrams/quickStyle10.xml"/><Relationship Id="rId9" Type="http://schemas.openxmlformats.org/officeDocument/2006/relationships/image" Target="../media/image47.png"/></Relationships>
</file>

<file path=ppt/slides/_rels/slide19.xml.rels><?xml version="1.0" encoding="UTF-8" standalone="yes"?>
<Relationships xmlns="http://schemas.openxmlformats.org/package/2006/relationships"><Relationship Id="rId8" Type="http://schemas.openxmlformats.org/officeDocument/2006/relationships/image" Target="../media/image50.svg"/><Relationship Id="rId13" Type="http://schemas.microsoft.com/office/2007/relationships/hdphoto" Target="../media/hdphoto5.wdp"/><Relationship Id="rId3" Type="http://schemas.openxmlformats.org/officeDocument/2006/relationships/diagramData" Target="../diagrams/data11.xml"/><Relationship Id="rId7" Type="http://schemas.microsoft.com/office/2007/relationships/diagramDrawing" Target="../diagrams/drawing11.xml"/><Relationship Id="rId12" Type="http://schemas.openxmlformats.org/officeDocument/2006/relationships/image" Target="../media/image54.png"/><Relationship Id="rId2" Type="http://schemas.openxmlformats.org/officeDocument/2006/relationships/image" Target="../media/image28.svg"/><Relationship Id="rId1" Type="http://schemas.openxmlformats.org/officeDocument/2006/relationships/slideLayout" Target="../slideLayouts/slideLayout2.xml"/><Relationship Id="rId6" Type="http://schemas.openxmlformats.org/officeDocument/2006/relationships/diagramColors" Target="../diagrams/colors11.xml"/><Relationship Id="rId11" Type="http://schemas.openxmlformats.org/officeDocument/2006/relationships/image" Target="../media/image53.svg"/><Relationship Id="rId5" Type="http://schemas.openxmlformats.org/officeDocument/2006/relationships/diagramQuickStyle" Target="../diagrams/quickStyle11.xml"/><Relationship Id="rId10" Type="http://schemas.openxmlformats.org/officeDocument/2006/relationships/image" Target="../media/image52.svg"/><Relationship Id="rId4" Type="http://schemas.openxmlformats.org/officeDocument/2006/relationships/diagramLayout" Target="../diagrams/layout11.xml"/><Relationship Id="rId9" Type="http://schemas.openxmlformats.org/officeDocument/2006/relationships/image" Target="../media/image51.png"/></Relationships>
</file>

<file path=ppt/slides/_rels/slide20.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34.svg"/><Relationship Id="rId3" Type="http://schemas.openxmlformats.org/officeDocument/2006/relationships/diagramLayout" Target="../diagrams/layout12.xml"/><Relationship Id="rId7" Type="http://schemas.openxmlformats.org/officeDocument/2006/relationships/image" Target="../media/image55.jpeg"/><Relationship Id="rId12" Type="http://schemas.openxmlformats.org/officeDocument/2006/relationships/image" Target="../media/image35.sv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11" Type="http://schemas.openxmlformats.org/officeDocument/2006/relationships/image" Target="../media/image59.png"/><Relationship Id="rId5" Type="http://schemas.openxmlformats.org/officeDocument/2006/relationships/diagramColors" Target="../diagrams/colors12.xml"/><Relationship Id="rId10" Type="http://schemas.openxmlformats.org/officeDocument/2006/relationships/image" Target="../media/image58.svg"/><Relationship Id="rId4" Type="http://schemas.openxmlformats.org/officeDocument/2006/relationships/diagramQuickStyle" Target="../diagrams/quickStyle12.xml"/><Relationship Id="rId9" Type="http://schemas.openxmlformats.org/officeDocument/2006/relationships/image" Target="../media/image57.svg"/></Relationships>
</file>

<file path=ppt/slides/_rels/slide2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2.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sv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image" Target="../media/image60.svg"/><Relationship Id="rId1" Type="http://schemas.openxmlformats.org/officeDocument/2006/relationships/slideLayout" Target="../slideLayouts/slideLayout2.xml"/><Relationship Id="rId6" Type="http://schemas.openxmlformats.org/officeDocument/2006/relationships/image" Target="../media/image64.png"/><Relationship Id="rId11" Type="http://schemas.openxmlformats.org/officeDocument/2006/relationships/image" Target="../media/image69.jpeg"/><Relationship Id="rId5" Type="http://schemas.openxmlformats.org/officeDocument/2006/relationships/image" Target="../media/image63.png"/><Relationship Id="rId10" Type="http://schemas.openxmlformats.org/officeDocument/2006/relationships/image" Target="../media/image68.jpeg"/><Relationship Id="rId4" Type="http://schemas.openxmlformats.org/officeDocument/2006/relationships/image" Target="../media/image62.jpeg"/><Relationship Id="rId9" Type="http://schemas.openxmlformats.org/officeDocument/2006/relationships/image" Target="../media/image67.png"/></Relationships>
</file>

<file path=ppt/slides/_rels/slide23.xml.rels><?xml version="1.0" encoding="UTF-8" standalone="yes"?>
<Relationships xmlns="http://schemas.openxmlformats.org/package/2006/relationships"><Relationship Id="rId8" Type="http://schemas.openxmlformats.org/officeDocument/2006/relationships/image" Target="../media/image77.jpeg"/><Relationship Id="rId13" Type="http://schemas.openxmlformats.org/officeDocument/2006/relationships/image" Target="../media/image82.emf"/><Relationship Id="rId18" Type="http://schemas.openxmlformats.org/officeDocument/2006/relationships/image" Target="../media/image87.png"/><Relationship Id="rId26" Type="http://schemas.openxmlformats.org/officeDocument/2006/relationships/image" Target="../media/image95.png"/><Relationship Id="rId3" Type="http://schemas.openxmlformats.org/officeDocument/2006/relationships/image" Target="../media/image72.png"/><Relationship Id="rId21" Type="http://schemas.openxmlformats.org/officeDocument/2006/relationships/image" Target="../media/image90.jpeg"/><Relationship Id="rId7" Type="http://schemas.openxmlformats.org/officeDocument/2006/relationships/image" Target="../media/image76.png"/><Relationship Id="rId12" Type="http://schemas.openxmlformats.org/officeDocument/2006/relationships/image" Target="../media/image81.jpeg"/><Relationship Id="rId17" Type="http://schemas.openxmlformats.org/officeDocument/2006/relationships/image" Target="../media/image86.png"/><Relationship Id="rId25" Type="http://schemas.openxmlformats.org/officeDocument/2006/relationships/image" Target="../media/image94.png"/><Relationship Id="rId2" Type="http://schemas.openxmlformats.org/officeDocument/2006/relationships/notesSlide" Target="../notesSlides/notesSlide9.xml"/><Relationship Id="rId16" Type="http://schemas.openxmlformats.org/officeDocument/2006/relationships/image" Target="../media/image85.png"/><Relationship Id="rId20" Type="http://schemas.openxmlformats.org/officeDocument/2006/relationships/image" Target="../media/image89.png"/><Relationship Id="rId1" Type="http://schemas.openxmlformats.org/officeDocument/2006/relationships/slideLayout" Target="../slideLayouts/slideLayout1.xml"/><Relationship Id="rId6" Type="http://schemas.openxmlformats.org/officeDocument/2006/relationships/image" Target="../media/image75.png"/><Relationship Id="rId11" Type="http://schemas.openxmlformats.org/officeDocument/2006/relationships/image" Target="../media/image80.png"/><Relationship Id="rId24" Type="http://schemas.openxmlformats.org/officeDocument/2006/relationships/image" Target="../media/image93.jpeg"/><Relationship Id="rId5" Type="http://schemas.openxmlformats.org/officeDocument/2006/relationships/image" Target="../media/image74.jpeg"/><Relationship Id="rId15" Type="http://schemas.openxmlformats.org/officeDocument/2006/relationships/image" Target="../media/image84.png"/><Relationship Id="rId23" Type="http://schemas.openxmlformats.org/officeDocument/2006/relationships/image" Target="../media/image92.jpeg"/><Relationship Id="rId10" Type="http://schemas.openxmlformats.org/officeDocument/2006/relationships/image" Target="../media/image79.jpeg"/><Relationship Id="rId19" Type="http://schemas.openxmlformats.org/officeDocument/2006/relationships/image" Target="../media/image88.jpeg"/><Relationship Id="rId4" Type="http://schemas.openxmlformats.org/officeDocument/2006/relationships/image" Target="../media/image73.jpeg"/><Relationship Id="rId9" Type="http://schemas.openxmlformats.org/officeDocument/2006/relationships/image" Target="../media/image78.png"/><Relationship Id="rId14" Type="http://schemas.openxmlformats.org/officeDocument/2006/relationships/image" Target="../media/image83.jpeg"/><Relationship Id="rId22" Type="http://schemas.openxmlformats.org/officeDocument/2006/relationships/image" Target="../media/image91.png"/><Relationship Id="rId27"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96.sv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BC01D7-2F1E-FE01-97D4-F41DCC59146C}"/>
              </a:ext>
            </a:extLst>
          </p:cNvPr>
          <p:cNvSpPr/>
          <p:nvPr/>
        </p:nvSpPr>
        <p:spPr>
          <a:xfrm>
            <a:off x="-29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B5759CA4-6058-C8D9-A5BE-BE80BC9834A9}"/>
              </a:ext>
            </a:extLst>
          </p:cNvPr>
          <p:cNvSpPr txBox="1"/>
          <p:nvPr/>
        </p:nvSpPr>
        <p:spPr>
          <a:xfrm>
            <a:off x="3722335" y="2998612"/>
            <a:ext cx="4746749"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0" i="0" u="none" strike="noStrike" kern="1200" cap="none" spc="0" normalizeH="0" baseline="0" noProof="0" dirty="0">
                <a:ln>
                  <a:noFill/>
                </a:ln>
                <a:solidFill>
                  <a:prstClr val="white"/>
                </a:solidFill>
                <a:effectLst/>
                <a:uLnTx/>
                <a:uFillTx/>
                <a:latin typeface="Calibri" panose="020F0502020204030204"/>
                <a:ea typeface="+mn-ea"/>
                <a:cs typeface="+mn-cs"/>
              </a:rPr>
              <a:t>AI led </a:t>
            </a:r>
            <a:r>
              <a:rPr kumimoji="0" lang="en-IN" sz="3600" b="0" i="0" u="none" strike="noStrike" kern="1200" cap="none" spc="0" normalizeH="0" baseline="0" noProof="0" dirty="0">
                <a:ln>
                  <a:noFill/>
                </a:ln>
                <a:solidFill>
                  <a:srgbClr val="B6FF42"/>
                </a:solidFill>
                <a:effectLst/>
                <a:uLnTx/>
                <a:uFillTx/>
                <a:latin typeface="Calibri" panose="020F0502020204030204"/>
                <a:ea typeface="+mn-ea"/>
                <a:cs typeface="+mn-cs"/>
              </a:rPr>
              <a:t>Lowcode</a:t>
            </a:r>
            <a:r>
              <a:rPr kumimoji="0" lang="en-IN" sz="3600" b="0" i="0" u="none" strike="noStrike" kern="1200" cap="none" spc="0" normalizeH="0" baseline="0" noProof="0" dirty="0">
                <a:ln>
                  <a:noFill/>
                </a:ln>
                <a:solidFill>
                  <a:prstClr val="white"/>
                </a:solidFill>
                <a:effectLst/>
                <a:uLnTx/>
                <a:uFillTx/>
                <a:latin typeface="Calibri" panose="020F0502020204030204"/>
                <a:ea typeface="+mn-ea"/>
                <a:cs typeface="+mn-cs"/>
              </a:rPr>
              <a:t> Platform</a:t>
            </a:r>
          </a:p>
        </p:txBody>
      </p:sp>
      <p:sp>
        <p:nvSpPr>
          <p:cNvPr id="2" name="TextBox 1">
            <a:extLst>
              <a:ext uri="{FF2B5EF4-FFF2-40B4-BE49-F238E27FC236}">
                <a16:creationId xmlns:a16="http://schemas.microsoft.com/office/drawing/2014/main" id="{5ED1B305-78CD-C66A-9975-2B16125AD9C2}"/>
              </a:ext>
            </a:extLst>
          </p:cNvPr>
          <p:cNvSpPr txBox="1"/>
          <p:nvPr/>
        </p:nvSpPr>
        <p:spPr>
          <a:xfrm>
            <a:off x="98769" y="4620030"/>
            <a:ext cx="11993880" cy="830997"/>
          </a:xfrm>
          <a:prstGeom prst="rect">
            <a:avLst/>
          </a:prstGeom>
          <a:noFill/>
        </p:spPr>
        <p:txBody>
          <a:bodyPr wrap="square" rtlCol="0">
            <a:spAutoFit/>
          </a:bodyPr>
          <a:lstStyle/>
          <a:p>
            <a:pPr algn="ctr"/>
            <a:r>
              <a:rPr lang="en-US" sz="2400" b="1" dirty="0">
                <a:solidFill>
                  <a:srgbClr val="3795FE"/>
                </a:solidFill>
                <a:latin typeface="Biome Light" panose="020B0502040204020203" pitchFamily="34" charset="0"/>
                <a:cs typeface="Biome Light" panose="020B0502040204020203" pitchFamily="34" charset="0"/>
              </a:rPr>
              <a:t>an AI led platform built to simplify the enterprise business</a:t>
            </a:r>
          </a:p>
          <a:p>
            <a:pPr algn="ctr"/>
            <a:r>
              <a:rPr lang="en-US" sz="2400" b="1" dirty="0">
                <a:solidFill>
                  <a:srgbClr val="3795FE"/>
                </a:solidFill>
                <a:latin typeface="Biome Light" panose="020B0502040204020203" pitchFamily="34" charset="0"/>
                <a:cs typeface="Biome Light" panose="020B0502040204020203" pitchFamily="34" charset="0"/>
              </a:rPr>
              <a:t>harnessing the power low code</a:t>
            </a:r>
          </a:p>
        </p:txBody>
      </p:sp>
      <p:sp>
        <p:nvSpPr>
          <p:cNvPr id="27" name="TextBox 26">
            <a:extLst>
              <a:ext uri="{FF2B5EF4-FFF2-40B4-BE49-F238E27FC236}">
                <a16:creationId xmlns:a16="http://schemas.microsoft.com/office/drawing/2014/main" id="{926BDD74-60C9-944D-82F8-AC742AA817E7}"/>
              </a:ext>
            </a:extLst>
          </p:cNvPr>
          <p:cNvSpPr txBox="1"/>
          <p:nvPr/>
        </p:nvSpPr>
        <p:spPr>
          <a:xfrm>
            <a:off x="3203732" y="997067"/>
            <a:ext cx="5783956" cy="2215991"/>
          </a:xfrm>
          <a:prstGeom prst="rect">
            <a:avLst/>
          </a:prstGeom>
          <a:noFill/>
        </p:spPr>
        <p:txBody>
          <a:bodyPr wrap="none" rtlCol="0">
            <a:spAutoFit/>
          </a:bodyPr>
          <a:lstStyle/>
          <a:p>
            <a:r>
              <a:rPr lang="en-IN" sz="13800" b="1" spc="300" dirty="0">
                <a:solidFill>
                  <a:schemeClr val="bg1"/>
                </a:solidFill>
              </a:rPr>
              <a:t>skiode</a:t>
            </a:r>
          </a:p>
        </p:txBody>
      </p:sp>
      <p:sp>
        <p:nvSpPr>
          <p:cNvPr id="3" name="Oval 2">
            <a:extLst>
              <a:ext uri="{FF2B5EF4-FFF2-40B4-BE49-F238E27FC236}">
                <a16:creationId xmlns:a16="http://schemas.microsoft.com/office/drawing/2014/main" id="{27D37963-BB91-76CD-E875-B7F97CD54C77}"/>
              </a:ext>
            </a:extLst>
          </p:cNvPr>
          <p:cNvSpPr/>
          <p:nvPr/>
        </p:nvSpPr>
        <p:spPr>
          <a:xfrm>
            <a:off x="5275580" y="1384551"/>
            <a:ext cx="345440" cy="345440"/>
          </a:xfrm>
          <a:prstGeom prst="ellipse">
            <a:avLst/>
          </a:prstGeom>
          <a:solidFill>
            <a:srgbClr val="B6FF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ustDataLst>
      <p:tags r:id="rId1"/>
    </p:custDataLst>
    <p:extLst>
      <p:ext uri="{BB962C8B-B14F-4D97-AF65-F5344CB8AC3E}">
        <p14:creationId xmlns:p14="http://schemas.microsoft.com/office/powerpoint/2010/main" val="1954231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1F28B-05FD-BDE4-677F-67A78ED8173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1EBEAE7-EDB0-1FE6-18C4-59CA3AB55441}"/>
              </a:ext>
            </a:extLst>
          </p:cNvPr>
          <p:cNvSpPr/>
          <p:nvPr/>
        </p:nvSpPr>
        <p:spPr>
          <a:xfrm>
            <a:off x="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388391A7-1251-1AB8-9876-3E899B1606D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08763" y="878467"/>
            <a:ext cx="2576543" cy="1243141"/>
          </a:xfrm>
          <a:prstGeom prst="rect">
            <a:avLst/>
          </a:prstGeom>
        </p:spPr>
      </p:pic>
      <p:sp>
        <p:nvSpPr>
          <p:cNvPr id="7" name="TextBox 6">
            <a:extLst>
              <a:ext uri="{FF2B5EF4-FFF2-40B4-BE49-F238E27FC236}">
                <a16:creationId xmlns:a16="http://schemas.microsoft.com/office/drawing/2014/main" id="{8E95BD86-681D-77E2-4E0B-519F8D22D55D}"/>
              </a:ext>
            </a:extLst>
          </p:cNvPr>
          <p:cNvSpPr txBox="1"/>
          <p:nvPr/>
        </p:nvSpPr>
        <p:spPr>
          <a:xfrm>
            <a:off x="5561847" y="1859927"/>
            <a:ext cx="67037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rPr>
              <a:t>Will</a:t>
            </a:r>
          </a:p>
        </p:txBody>
      </p:sp>
      <p:sp>
        <p:nvSpPr>
          <p:cNvPr id="8" name="Freeform: Shape 7">
            <a:extLst>
              <a:ext uri="{FF2B5EF4-FFF2-40B4-BE49-F238E27FC236}">
                <a16:creationId xmlns:a16="http://schemas.microsoft.com/office/drawing/2014/main" id="{3450C18A-1CF4-7B72-8580-6182BCC279CD}"/>
              </a:ext>
            </a:extLst>
          </p:cNvPr>
          <p:cNvSpPr/>
          <p:nvPr/>
        </p:nvSpPr>
        <p:spPr>
          <a:xfrm>
            <a:off x="1185275" y="2738499"/>
            <a:ext cx="1777597" cy="1066558"/>
          </a:xfrm>
          <a:custGeom>
            <a:avLst/>
            <a:gdLst>
              <a:gd name="connsiteX0" fmla="*/ 0 w 1777597"/>
              <a:gd name="connsiteY0" fmla="*/ 0 h 1066558"/>
              <a:gd name="connsiteX1" fmla="*/ 1777597 w 1777597"/>
              <a:gd name="connsiteY1" fmla="*/ 0 h 1066558"/>
              <a:gd name="connsiteX2" fmla="*/ 1777597 w 1777597"/>
              <a:gd name="connsiteY2" fmla="*/ 1066558 h 1066558"/>
              <a:gd name="connsiteX3" fmla="*/ 0 w 1777597"/>
              <a:gd name="connsiteY3" fmla="*/ 1066558 h 1066558"/>
              <a:gd name="connsiteX4" fmla="*/ 0 w 1777597"/>
              <a:gd name="connsiteY4" fmla="*/ 0 h 1066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7597" h="1066558">
                <a:moveTo>
                  <a:pt x="0" y="0"/>
                </a:moveTo>
                <a:lnTo>
                  <a:pt x="1777597" y="0"/>
                </a:lnTo>
                <a:lnTo>
                  <a:pt x="1777597" y="1066558"/>
                </a:lnTo>
                <a:lnTo>
                  <a:pt x="0" y="1066558"/>
                </a:lnTo>
                <a:lnTo>
                  <a:pt x="0" y="0"/>
                </a:lnTo>
                <a:close/>
              </a:path>
            </a:pathLst>
          </a:custGeom>
          <a:solidFill>
            <a:srgbClr val="BFFF45"/>
          </a:solid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Simplify Processes </a:t>
            </a:r>
            <a:endParaRPr lang="en-IN" sz="1800" kern="1200" dirty="0">
              <a:solidFill>
                <a:schemeClr val="tx1"/>
              </a:solidFill>
            </a:endParaRPr>
          </a:p>
        </p:txBody>
      </p:sp>
      <p:sp>
        <p:nvSpPr>
          <p:cNvPr id="9" name="Freeform: Shape 8">
            <a:extLst>
              <a:ext uri="{FF2B5EF4-FFF2-40B4-BE49-F238E27FC236}">
                <a16:creationId xmlns:a16="http://schemas.microsoft.com/office/drawing/2014/main" id="{13555AF2-421B-D708-4099-116B07E11E0F}"/>
              </a:ext>
            </a:extLst>
          </p:cNvPr>
          <p:cNvSpPr/>
          <p:nvPr/>
        </p:nvSpPr>
        <p:spPr>
          <a:xfrm>
            <a:off x="3140631" y="2738499"/>
            <a:ext cx="1777597" cy="1066558"/>
          </a:xfrm>
          <a:custGeom>
            <a:avLst/>
            <a:gdLst>
              <a:gd name="connsiteX0" fmla="*/ 0 w 1777597"/>
              <a:gd name="connsiteY0" fmla="*/ 0 h 1066558"/>
              <a:gd name="connsiteX1" fmla="*/ 1777597 w 1777597"/>
              <a:gd name="connsiteY1" fmla="*/ 0 h 1066558"/>
              <a:gd name="connsiteX2" fmla="*/ 1777597 w 1777597"/>
              <a:gd name="connsiteY2" fmla="*/ 1066558 h 1066558"/>
              <a:gd name="connsiteX3" fmla="*/ 0 w 1777597"/>
              <a:gd name="connsiteY3" fmla="*/ 1066558 h 1066558"/>
              <a:gd name="connsiteX4" fmla="*/ 0 w 1777597"/>
              <a:gd name="connsiteY4" fmla="*/ 0 h 1066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7597" h="1066558">
                <a:moveTo>
                  <a:pt x="0" y="0"/>
                </a:moveTo>
                <a:lnTo>
                  <a:pt x="1777597" y="0"/>
                </a:lnTo>
                <a:lnTo>
                  <a:pt x="1777597" y="1066558"/>
                </a:lnTo>
                <a:lnTo>
                  <a:pt x="0" y="1066558"/>
                </a:lnTo>
                <a:lnTo>
                  <a:pt x="0" y="0"/>
                </a:lnTo>
                <a:close/>
              </a:path>
            </a:pathLst>
          </a:custGeom>
          <a:solidFill>
            <a:srgbClr val="BFFF45"/>
          </a:solidFill>
        </p:spPr>
        <p:style>
          <a:lnRef idx="2">
            <a:schemeClr val="lt1">
              <a:hueOff val="0"/>
              <a:satOff val="0"/>
              <a:lumOff val="0"/>
              <a:alphaOff val="0"/>
            </a:schemeClr>
          </a:lnRef>
          <a:fillRef idx="1">
            <a:scrgbClr r="0" g="0" b="0"/>
          </a:fillRef>
          <a:effectRef idx="0">
            <a:schemeClr val="accent4">
              <a:hueOff val="3299968"/>
              <a:satOff val="-14601"/>
              <a:lumOff val="-2452"/>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Boost Productivity</a:t>
            </a:r>
            <a:endParaRPr lang="en-IN" sz="1800" kern="1200" dirty="0">
              <a:solidFill>
                <a:schemeClr val="tx1"/>
              </a:solidFill>
            </a:endParaRPr>
          </a:p>
        </p:txBody>
      </p:sp>
      <p:sp>
        <p:nvSpPr>
          <p:cNvPr id="10" name="Freeform: Shape 9">
            <a:extLst>
              <a:ext uri="{FF2B5EF4-FFF2-40B4-BE49-F238E27FC236}">
                <a16:creationId xmlns:a16="http://schemas.microsoft.com/office/drawing/2014/main" id="{DB3D80F0-C596-5538-CA53-B4EBFCDC926E}"/>
              </a:ext>
            </a:extLst>
          </p:cNvPr>
          <p:cNvSpPr/>
          <p:nvPr/>
        </p:nvSpPr>
        <p:spPr>
          <a:xfrm>
            <a:off x="5095988" y="2738499"/>
            <a:ext cx="1777597" cy="1066558"/>
          </a:xfrm>
          <a:custGeom>
            <a:avLst/>
            <a:gdLst>
              <a:gd name="connsiteX0" fmla="*/ 0 w 1777597"/>
              <a:gd name="connsiteY0" fmla="*/ 0 h 1066558"/>
              <a:gd name="connsiteX1" fmla="*/ 1777597 w 1777597"/>
              <a:gd name="connsiteY1" fmla="*/ 0 h 1066558"/>
              <a:gd name="connsiteX2" fmla="*/ 1777597 w 1777597"/>
              <a:gd name="connsiteY2" fmla="*/ 1066558 h 1066558"/>
              <a:gd name="connsiteX3" fmla="*/ 0 w 1777597"/>
              <a:gd name="connsiteY3" fmla="*/ 1066558 h 1066558"/>
              <a:gd name="connsiteX4" fmla="*/ 0 w 1777597"/>
              <a:gd name="connsiteY4" fmla="*/ 0 h 1066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7597" h="1066558">
                <a:moveTo>
                  <a:pt x="0" y="0"/>
                </a:moveTo>
                <a:lnTo>
                  <a:pt x="1777597" y="0"/>
                </a:lnTo>
                <a:lnTo>
                  <a:pt x="1777597" y="1066558"/>
                </a:lnTo>
                <a:lnTo>
                  <a:pt x="0" y="1066558"/>
                </a:lnTo>
                <a:lnTo>
                  <a:pt x="0" y="0"/>
                </a:lnTo>
                <a:close/>
              </a:path>
            </a:pathLst>
          </a:custGeom>
          <a:solidFill>
            <a:srgbClr val="BFFF45"/>
          </a:solidFill>
        </p:spPr>
        <p:style>
          <a:lnRef idx="2">
            <a:schemeClr val="lt1">
              <a:hueOff val="0"/>
              <a:satOff val="0"/>
              <a:lumOff val="0"/>
              <a:alphaOff val="0"/>
            </a:schemeClr>
          </a:lnRef>
          <a:fillRef idx="1">
            <a:scrgbClr r="0" g="0" b="0"/>
          </a:fillRef>
          <a:effectRef idx="0">
            <a:schemeClr val="accent4">
              <a:hueOff val="6599937"/>
              <a:satOff val="-29202"/>
              <a:lumOff val="-4903"/>
              <a:alphaOff val="0"/>
            </a:schemeClr>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dirty="0">
                <a:solidFill>
                  <a:schemeClr val="tx1"/>
                </a:solidFill>
              </a:rPr>
              <a:t>Amplify </a:t>
            </a:r>
            <a:r>
              <a:rPr lang="en-US" sz="1800" kern="1200" dirty="0">
                <a:solidFill>
                  <a:schemeClr val="tx1"/>
                </a:solidFill>
              </a:rPr>
              <a:t>ROI</a:t>
            </a:r>
            <a:endParaRPr lang="en-IN" sz="1800" kern="1200" dirty="0">
              <a:solidFill>
                <a:schemeClr val="tx1"/>
              </a:solidFill>
            </a:endParaRPr>
          </a:p>
        </p:txBody>
      </p:sp>
      <p:sp>
        <p:nvSpPr>
          <p:cNvPr id="14" name="Rectangle: Top Corners Rounded 13">
            <a:extLst>
              <a:ext uri="{FF2B5EF4-FFF2-40B4-BE49-F238E27FC236}">
                <a16:creationId xmlns:a16="http://schemas.microsoft.com/office/drawing/2014/main" id="{F7AB76F7-7FB7-6CB2-688D-7CF478728AE5}"/>
              </a:ext>
            </a:extLst>
          </p:cNvPr>
          <p:cNvSpPr/>
          <p:nvPr/>
        </p:nvSpPr>
        <p:spPr>
          <a:xfrm rot="10800000">
            <a:off x="174820" y="0"/>
            <a:ext cx="2953050"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extBox 14">
            <a:extLst>
              <a:ext uri="{FF2B5EF4-FFF2-40B4-BE49-F238E27FC236}">
                <a16:creationId xmlns:a16="http://schemas.microsoft.com/office/drawing/2014/main" id="{BB34CB37-A942-DEE6-9345-6ADA48040B15}"/>
              </a:ext>
            </a:extLst>
          </p:cNvPr>
          <p:cNvSpPr txBox="1"/>
          <p:nvPr/>
        </p:nvSpPr>
        <p:spPr>
          <a:xfrm>
            <a:off x="819515" y="30387"/>
            <a:ext cx="1487202" cy="338554"/>
          </a:xfrm>
          <a:prstGeom prst="rect">
            <a:avLst/>
          </a:prstGeom>
          <a:noFill/>
        </p:spPr>
        <p:txBody>
          <a:bodyPr wrap="none" rtlCol="0">
            <a:spAutoFit/>
          </a:bodyPr>
          <a:lstStyle/>
          <a:p>
            <a:r>
              <a:rPr lang="en-IN" sz="1600" dirty="0">
                <a:solidFill>
                  <a:schemeClr val="bg1"/>
                </a:solidFill>
              </a:rPr>
              <a:t>Value Creation</a:t>
            </a:r>
          </a:p>
        </p:txBody>
      </p:sp>
      <p:sp>
        <p:nvSpPr>
          <p:cNvPr id="2" name="Freeform: Shape 1">
            <a:extLst>
              <a:ext uri="{FF2B5EF4-FFF2-40B4-BE49-F238E27FC236}">
                <a16:creationId xmlns:a16="http://schemas.microsoft.com/office/drawing/2014/main" id="{6086F246-FDDD-2749-8AB7-98BCC842D4CF}"/>
              </a:ext>
            </a:extLst>
          </p:cNvPr>
          <p:cNvSpPr/>
          <p:nvPr/>
        </p:nvSpPr>
        <p:spPr>
          <a:xfrm>
            <a:off x="7051345" y="2738499"/>
            <a:ext cx="1777597" cy="1066558"/>
          </a:xfrm>
          <a:custGeom>
            <a:avLst/>
            <a:gdLst>
              <a:gd name="connsiteX0" fmla="*/ 0 w 1777597"/>
              <a:gd name="connsiteY0" fmla="*/ 0 h 1066558"/>
              <a:gd name="connsiteX1" fmla="*/ 1777597 w 1777597"/>
              <a:gd name="connsiteY1" fmla="*/ 0 h 1066558"/>
              <a:gd name="connsiteX2" fmla="*/ 1777597 w 1777597"/>
              <a:gd name="connsiteY2" fmla="*/ 1066558 h 1066558"/>
              <a:gd name="connsiteX3" fmla="*/ 0 w 1777597"/>
              <a:gd name="connsiteY3" fmla="*/ 1066558 h 1066558"/>
              <a:gd name="connsiteX4" fmla="*/ 0 w 1777597"/>
              <a:gd name="connsiteY4" fmla="*/ 0 h 1066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7597" h="1066558">
                <a:moveTo>
                  <a:pt x="0" y="0"/>
                </a:moveTo>
                <a:lnTo>
                  <a:pt x="1777597" y="0"/>
                </a:lnTo>
                <a:lnTo>
                  <a:pt x="1777597" y="1066558"/>
                </a:lnTo>
                <a:lnTo>
                  <a:pt x="0" y="1066558"/>
                </a:lnTo>
                <a:lnTo>
                  <a:pt x="0" y="0"/>
                </a:lnTo>
                <a:close/>
              </a:path>
            </a:pathLst>
          </a:custGeom>
          <a:solidFill>
            <a:srgbClr val="BFFF45"/>
          </a:solidFill>
        </p:spPr>
        <p:style>
          <a:lnRef idx="2">
            <a:schemeClr val="lt1">
              <a:hueOff val="0"/>
              <a:satOff val="0"/>
              <a:lumOff val="0"/>
              <a:alphaOff val="0"/>
            </a:schemeClr>
          </a:lnRef>
          <a:fillRef idx="1">
            <a:scrgbClr r="0" g="0" b="0"/>
          </a:fillRef>
          <a:effectRef idx="0">
            <a:schemeClr val="accent4">
              <a:hueOff val="3299968"/>
              <a:satOff val="-14601"/>
              <a:lumOff val="-2452"/>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Multiply Cost  </a:t>
            </a:r>
            <a:r>
              <a:rPr lang="en-IN" dirty="0">
                <a:solidFill>
                  <a:schemeClr val="tx1"/>
                </a:solidFill>
              </a:rPr>
              <a:t>   Savings</a:t>
            </a:r>
            <a:endParaRPr lang="en-US" sz="1800" kern="1200" dirty="0">
              <a:solidFill>
                <a:schemeClr val="tx1"/>
              </a:solidFill>
            </a:endParaRPr>
          </a:p>
        </p:txBody>
      </p:sp>
      <p:sp>
        <p:nvSpPr>
          <p:cNvPr id="3" name="Freeform: Shape 2">
            <a:extLst>
              <a:ext uri="{FF2B5EF4-FFF2-40B4-BE49-F238E27FC236}">
                <a16:creationId xmlns:a16="http://schemas.microsoft.com/office/drawing/2014/main" id="{DE518286-9327-5C9C-4627-33B4D2B39B29}"/>
              </a:ext>
            </a:extLst>
          </p:cNvPr>
          <p:cNvSpPr/>
          <p:nvPr/>
        </p:nvSpPr>
        <p:spPr>
          <a:xfrm>
            <a:off x="9006702" y="2738499"/>
            <a:ext cx="1777597" cy="1066558"/>
          </a:xfrm>
          <a:custGeom>
            <a:avLst/>
            <a:gdLst>
              <a:gd name="connsiteX0" fmla="*/ 0 w 1777597"/>
              <a:gd name="connsiteY0" fmla="*/ 0 h 1066558"/>
              <a:gd name="connsiteX1" fmla="*/ 1777597 w 1777597"/>
              <a:gd name="connsiteY1" fmla="*/ 0 h 1066558"/>
              <a:gd name="connsiteX2" fmla="*/ 1777597 w 1777597"/>
              <a:gd name="connsiteY2" fmla="*/ 1066558 h 1066558"/>
              <a:gd name="connsiteX3" fmla="*/ 0 w 1777597"/>
              <a:gd name="connsiteY3" fmla="*/ 1066558 h 1066558"/>
              <a:gd name="connsiteX4" fmla="*/ 0 w 1777597"/>
              <a:gd name="connsiteY4" fmla="*/ 0 h 1066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7597" h="1066558">
                <a:moveTo>
                  <a:pt x="0" y="0"/>
                </a:moveTo>
                <a:lnTo>
                  <a:pt x="1777597" y="0"/>
                </a:lnTo>
                <a:lnTo>
                  <a:pt x="1777597" y="1066558"/>
                </a:lnTo>
                <a:lnTo>
                  <a:pt x="0" y="1066558"/>
                </a:lnTo>
                <a:lnTo>
                  <a:pt x="0" y="0"/>
                </a:lnTo>
                <a:close/>
              </a:path>
            </a:pathLst>
          </a:custGeom>
          <a:solidFill>
            <a:srgbClr val="BFFF45"/>
          </a:solidFill>
        </p:spPr>
        <p:style>
          <a:lnRef idx="2">
            <a:schemeClr val="lt1">
              <a:hueOff val="0"/>
              <a:satOff val="0"/>
              <a:lumOff val="0"/>
              <a:alphaOff val="0"/>
            </a:schemeClr>
          </a:lnRef>
          <a:fillRef idx="1">
            <a:scrgbClr r="0" g="0" b="0"/>
          </a:fillRef>
          <a:effectRef idx="0">
            <a:schemeClr val="accent4">
              <a:hueOff val="6599937"/>
              <a:satOff val="-29202"/>
              <a:lumOff val="-4903"/>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Drive   innovation</a:t>
            </a:r>
            <a:endParaRPr lang="en-IN" sz="1800" kern="1200" dirty="0">
              <a:solidFill>
                <a:schemeClr val="tx1"/>
              </a:solidFill>
            </a:endParaRPr>
          </a:p>
        </p:txBody>
      </p:sp>
      <p:sp>
        <p:nvSpPr>
          <p:cNvPr id="4" name="TextBox 3">
            <a:extLst>
              <a:ext uri="{FF2B5EF4-FFF2-40B4-BE49-F238E27FC236}">
                <a16:creationId xmlns:a16="http://schemas.microsoft.com/office/drawing/2014/main" id="{F7157CFE-B28F-7AD0-3BCC-4303C4643DE7}"/>
              </a:ext>
            </a:extLst>
          </p:cNvPr>
          <p:cNvSpPr txBox="1"/>
          <p:nvPr/>
        </p:nvSpPr>
        <p:spPr>
          <a:xfrm>
            <a:off x="3469063" y="4161803"/>
            <a:ext cx="5253874"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prstClr val="white"/>
                </a:solidFill>
                <a:effectLst/>
                <a:uLnTx/>
                <a:uFillTx/>
                <a:latin typeface="Calibri" panose="020F0502020204030204"/>
                <a:ea typeface="+mn-ea"/>
                <a:cs typeface="+mn-cs"/>
              </a:rPr>
              <a:t>AI led </a:t>
            </a:r>
            <a:r>
              <a:rPr kumimoji="0" lang="en-IN" sz="4000" b="0" i="0" u="none" strike="noStrike" kern="1200" cap="none" spc="0" normalizeH="0" baseline="0" noProof="0" dirty="0">
                <a:ln>
                  <a:noFill/>
                </a:ln>
                <a:solidFill>
                  <a:srgbClr val="BFFF45"/>
                </a:solidFill>
                <a:effectLst/>
                <a:uLnTx/>
                <a:uFillTx/>
                <a:latin typeface="Calibri" panose="020F0502020204030204"/>
                <a:ea typeface="+mn-ea"/>
                <a:cs typeface="+mn-cs"/>
              </a:rPr>
              <a:t>Lowcode</a:t>
            </a:r>
            <a:r>
              <a:rPr kumimoji="0" lang="en-IN" sz="4000" b="0" i="0" u="none" strike="noStrike" kern="1200" cap="none" spc="0" normalizeH="0" baseline="0" noProof="0" dirty="0">
                <a:ln>
                  <a:noFill/>
                </a:ln>
                <a:solidFill>
                  <a:prstClr val="white"/>
                </a:solidFill>
                <a:effectLst/>
                <a:uLnTx/>
                <a:uFillTx/>
                <a:latin typeface="Calibri" panose="020F0502020204030204"/>
                <a:ea typeface="+mn-ea"/>
                <a:cs typeface="+mn-cs"/>
              </a:rPr>
              <a:t> Platform</a:t>
            </a:r>
          </a:p>
        </p:txBody>
      </p:sp>
      <p:sp>
        <p:nvSpPr>
          <p:cNvPr id="11" name="TextBox 10">
            <a:extLst>
              <a:ext uri="{FF2B5EF4-FFF2-40B4-BE49-F238E27FC236}">
                <a16:creationId xmlns:a16="http://schemas.microsoft.com/office/drawing/2014/main" id="{528B9A34-B2C5-19DD-3335-114B43EBB40D}"/>
              </a:ext>
            </a:extLst>
          </p:cNvPr>
          <p:cNvSpPr txBox="1"/>
          <p:nvPr/>
        </p:nvSpPr>
        <p:spPr>
          <a:xfrm>
            <a:off x="752468" y="5323532"/>
            <a:ext cx="186788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A3D1FF"/>
                </a:solidFill>
                <a:effectLst/>
                <a:uLnTx/>
                <a:uFillTx/>
                <a:latin typeface="Calibri" panose="020F0502020204030204"/>
                <a:ea typeface="+mn-ea"/>
                <a:cs typeface="+mn-cs"/>
              </a:rPr>
              <a:t>Digital Solutions</a:t>
            </a:r>
          </a:p>
        </p:txBody>
      </p:sp>
      <p:sp>
        <p:nvSpPr>
          <p:cNvPr id="12" name="TextBox 11">
            <a:extLst>
              <a:ext uri="{FF2B5EF4-FFF2-40B4-BE49-F238E27FC236}">
                <a16:creationId xmlns:a16="http://schemas.microsoft.com/office/drawing/2014/main" id="{D23C4AF1-9858-D38D-1627-DD520CD3A22F}"/>
              </a:ext>
            </a:extLst>
          </p:cNvPr>
          <p:cNvSpPr txBox="1"/>
          <p:nvPr/>
        </p:nvSpPr>
        <p:spPr>
          <a:xfrm>
            <a:off x="3038185" y="5323532"/>
            <a:ext cx="2558329" cy="400110"/>
          </a:xfrm>
          <a:prstGeom prst="rect">
            <a:avLst/>
          </a:prstGeom>
          <a:noFill/>
        </p:spPr>
        <p:txBody>
          <a:bodyPr wrap="none" rtlCol="0">
            <a:spAutoFit/>
          </a:bodyPr>
          <a:lstStyle/>
          <a:p>
            <a:pPr lvl="0" algn="ctr">
              <a:defRPr/>
            </a:pPr>
            <a:r>
              <a:rPr lang="en-IN" sz="2000" dirty="0">
                <a:solidFill>
                  <a:srgbClr val="A3D1FF"/>
                </a:solidFill>
                <a:latin typeface="Calibri" panose="020F0502020204030204"/>
              </a:rPr>
              <a:t>Enterprise Automation</a:t>
            </a:r>
          </a:p>
        </p:txBody>
      </p:sp>
      <p:sp>
        <p:nvSpPr>
          <p:cNvPr id="13" name="TextBox 12">
            <a:extLst>
              <a:ext uri="{FF2B5EF4-FFF2-40B4-BE49-F238E27FC236}">
                <a16:creationId xmlns:a16="http://schemas.microsoft.com/office/drawing/2014/main" id="{59512505-7219-8243-76A8-E05A056C19F4}"/>
              </a:ext>
            </a:extLst>
          </p:cNvPr>
          <p:cNvSpPr txBox="1"/>
          <p:nvPr/>
        </p:nvSpPr>
        <p:spPr>
          <a:xfrm>
            <a:off x="6014347" y="5323532"/>
            <a:ext cx="2529027" cy="400110"/>
          </a:xfrm>
          <a:prstGeom prst="rect">
            <a:avLst/>
          </a:prstGeom>
          <a:noFill/>
        </p:spPr>
        <p:txBody>
          <a:bodyPr wrap="none" rtlCol="0">
            <a:spAutoFit/>
          </a:bodyPr>
          <a:lstStyle>
            <a:defPPr>
              <a:defRPr lang="en-US"/>
            </a:defPPr>
            <a:lvl1pPr lvl="0" algn="ctr">
              <a:defRPr sz="2400">
                <a:solidFill>
                  <a:prstClr val="white"/>
                </a:solidFill>
                <a:latin typeface="Calibri" panose="020F0502020204030204"/>
              </a:defRPr>
            </a:lvl1pPr>
          </a:lstStyle>
          <a:p>
            <a:r>
              <a:rPr lang="en-IN" sz="2000" dirty="0">
                <a:solidFill>
                  <a:srgbClr val="A3D1FF"/>
                </a:solidFill>
              </a:rPr>
              <a:t>Automated Workflows</a:t>
            </a:r>
          </a:p>
        </p:txBody>
      </p:sp>
      <p:sp>
        <p:nvSpPr>
          <p:cNvPr id="16" name="TextBox 15">
            <a:extLst>
              <a:ext uri="{FF2B5EF4-FFF2-40B4-BE49-F238E27FC236}">
                <a16:creationId xmlns:a16="http://schemas.microsoft.com/office/drawing/2014/main" id="{25B3AB1A-2AAD-1883-FD14-C68A481BCB4B}"/>
              </a:ext>
            </a:extLst>
          </p:cNvPr>
          <p:cNvSpPr txBox="1"/>
          <p:nvPr/>
        </p:nvSpPr>
        <p:spPr>
          <a:xfrm>
            <a:off x="8961206" y="5323532"/>
            <a:ext cx="2278830" cy="400110"/>
          </a:xfrm>
          <a:prstGeom prst="rect">
            <a:avLst/>
          </a:prstGeom>
          <a:noFill/>
        </p:spPr>
        <p:txBody>
          <a:bodyPr wrap="none" rtlCol="0">
            <a:spAutoFit/>
          </a:bodyPr>
          <a:lstStyle>
            <a:defPPr>
              <a:defRPr lang="en-US"/>
            </a:defPPr>
            <a:lvl1pPr lvl="0" algn="ctr">
              <a:defRPr sz="2400">
                <a:solidFill>
                  <a:prstClr val="white"/>
                </a:solidFill>
                <a:latin typeface="Calibri" panose="020F0502020204030204"/>
              </a:defRPr>
            </a:lvl1pPr>
          </a:lstStyle>
          <a:p>
            <a:r>
              <a:rPr lang="en-IN" sz="2000" dirty="0">
                <a:solidFill>
                  <a:srgbClr val="A3D1FF"/>
                </a:solidFill>
              </a:rPr>
              <a:t>Process Automation</a:t>
            </a:r>
          </a:p>
        </p:txBody>
      </p:sp>
      <p:sp>
        <p:nvSpPr>
          <p:cNvPr id="17" name="TextBox 16">
            <a:extLst>
              <a:ext uri="{FF2B5EF4-FFF2-40B4-BE49-F238E27FC236}">
                <a16:creationId xmlns:a16="http://schemas.microsoft.com/office/drawing/2014/main" id="{7A25DC20-FC17-65A3-171D-4EBDA6E566D7}"/>
              </a:ext>
            </a:extLst>
          </p:cNvPr>
          <p:cNvSpPr txBox="1"/>
          <p:nvPr/>
        </p:nvSpPr>
        <p:spPr>
          <a:xfrm>
            <a:off x="2663018" y="5323532"/>
            <a:ext cx="287767" cy="461665"/>
          </a:xfrm>
          <a:prstGeom prst="rect">
            <a:avLst/>
          </a:prstGeom>
          <a:noFill/>
        </p:spPr>
        <p:txBody>
          <a:bodyPr wrap="square">
            <a:spAutoFit/>
          </a:bodyPr>
          <a:lstStyle/>
          <a:p>
            <a:r>
              <a:rPr kumimoji="0" lang="en-IN" sz="2400" b="0" i="0" u="none" strike="noStrike" kern="1200" cap="none" spc="0" normalizeH="0" baseline="0" noProof="0" dirty="0">
                <a:ln>
                  <a:noFill/>
                </a:ln>
                <a:solidFill>
                  <a:srgbClr val="BFFF45"/>
                </a:solidFill>
                <a:effectLst/>
                <a:uLnTx/>
                <a:uFillTx/>
                <a:latin typeface="Calibri" panose="020F0502020204030204"/>
                <a:ea typeface="+mn-ea"/>
                <a:cs typeface="+mn-cs"/>
              </a:rPr>
              <a:t>|</a:t>
            </a:r>
            <a:endParaRPr lang="en-IN" sz="2400" dirty="0"/>
          </a:p>
        </p:txBody>
      </p:sp>
      <p:sp>
        <p:nvSpPr>
          <p:cNvPr id="18" name="TextBox 17">
            <a:extLst>
              <a:ext uri="{FF2B5EF4-FFF2-40B4-BE49-F238E27FC236}">
                <a16:creationId xmlns:a16="http://schemas.microsoft.com/office/drawing/2014/main" id="{26FBBE37-75AA-8BE9-72CC-CB7757FD89DB}"/>
              </a:ext>
            </a:extLst>
          </p:cNvPr>
          <p:cNvSpPr txBox="1"/>
          <p:nvPr/>
        </p:nvSpPr>
        <p:spPr>
          <a:xfrm>
            <a:off x="5661546" y="5323532"/>
            <a:ext cx="287767" cy="461665"/>
          </a:xfrm>
          <a:prstGeom prst="rect">
            <a:avLst/>
          </a:prstGeom>
          <a:noFill/>
        </p:spPr>
        <p:txBody>
          <a:bodyPr wrap="square">
            <a:spAutoFit/>
          </a:bodyPr>
          <a:lstStyle/>
          <a:p>
            <a:r>
              <a:rPr kumimoji="0" lang="en-IN" sz="2400" b="0" i="0" u="none" strike="noStrike" kern="1200" cap="none" spc="0" normalizeH="0" baseline="0" noProof="0" dirty="0">
                <a:ln>
                  <a:noFill/>
                </a:ln>
                <a:solidFill>
                  <a:srgbClr val="BFFF45"/>
                </a:solidFill>
                <a:effectLst/>
                <a:uLnTx/>
                <a:uFillTx/>
                <a:latin typeface="Calibri" panose="020F0502020204030204"/>
                <a:ea typeface="+mn-ea"/>
                <a:cs typeface="+mn-cs"/>
              </a:rPr>
              <a:t>|</a:t>
            </a:r>
            <a:endParaRPr lang="en-IN" sz="2400" dirty="0"/>
          </a:p>
        </p:txBody>
      </p:sp>
      <p:sp>
        <p:nvSpPr>
          <p:cNvPr id="19" name="TextBox 18">
            <a:extLst>
              <a:ext uri="{FF2B5EF4-FFF2-40B4-BE49-F238E27FC236}">
                <a16:creationId xmlns:a16="http://schemas.microsoft.com/office/drawing/2014/main" id="{764448EB-F10D-D1A0-68EE-0C8DDAA47041}"/>
              </a:ext>
            </a:extLst>
          </p:cNvPr>
          <p:cNvSpPr txBox="1"/>
          <p:nvPr/>
        </p:nvSpPr>
        <p:spPr>
          <a:xfrm>
            <a:off x="8562205" y="5297266"/>
            <a:ext cx="287767" cy="461665"/>
          </a:xfrm>
          <a:prstGeom prst="rect">
            <a:avLst/>
          </a:prstGeom>
          <a:noFill/>
        </p:spPr>
        <p:txBody>
          <a:bodyPr wrap="square">
            <a:spAutoFit/>
          </a:bodyPr>
          <a:lstStyle/>
          <a:p>
            <a:r>
              <a:rPr kumimoji="0" lang="en-IN" sz="2400" b="0" i="0" u="none" strike="noStrike" kern="1200" cap="none" spc="0" normalizeH="0" baseline="0" noProof="0" dirty="0">
                <a:ln>
                  <a:noFill/>
                </a:ln>
                <a:solidFill>
                  <a:srgbClr val="BFFF45"/>
                </a:solidFill>
                <a:effectLst/>
                <a:uLnTx/>
                <a:uFillTx/>
                <a:latin typeface="Calibri" panose="020F0502020204030204"/>
                <a:ea typeface="+mn-ea"/>
                <a:cs typeface="+mn-cs"/>
              </a:rPr>
              <a:t>|</a:t>
            </a:r>
            <a:endParaRPr lang="en-IN" sz="2400" dirty="0"/>
          </a:p>
        </p:txBody>
      </p:sp>
      <p:sp>
        <p:nvSpPr>
          <p:cNvPr id="20" name="TextBox 19">
            <a:extLst>
              <a:ext uri="{FF2B5EF4-FFF2-40B4-BE49-F238E27FC236}">
                <a16:creationId xmlns:a16="http://schemas.microsoft.com/office/drawing/2014/main" id="{D81CA5C2-3441-0AE6-3376-3E66AC79F66A}"/>
              </a:ext>
            </a:extLst>
          </p:cNvPr>
          <p:cNvSpPr txBox="1"/>
          <p:nvPr/>
        </p:nvSpPr>
        <p:spPr>
          <a:xfrm>
            <a:off x="5596514" y="4784410"/>
            <a:ext cx="542071" cy="461665"/>
          </a:xfrm>
          <a:prstGeom prst="rect">
            <a:avLst/>
          </a:prstGeom>
          <a:noFill/>
        </p:spPr>
        <p:txBody>
          <a:bodyPr wrap="none" rtlCol="0">
            <a:spAutoFit/>
          </a:bodyPr>
          <a:lstStyle/>
          <a:p>
            <a:pPr lvl="0" algn="ctr">
              <a:defRPr/>
            </a:pPr>
            <a:r>
              <a:rPr lang="en-IN" sz="2400" i="1" dirty="0">
                <a:solidFill>
                  <a:srgbClr val="B6FF42"/>
                </a:solidFill>
                <a:latin typeface="Calibri" panose="020F0502020204030204"/>
              </a:rPr>
              <a:t>for</a:t>
            </a:r>
          </a:p>
        </p:txBody>
      </p:sp>
    </p:spTree>
    <p:custDataLst>
      <p:tags r:id="rId1"/>
    </p:custDataLst>
    <p:extLst>
      <p:ext uri="{BB962C8B-B14F-4D97-AF65-F5344CB8AC3E}">
        <p14:creationId xmlns:p14="http://schemas.microsoft.com/office/powerpoint/2010/main" val="3713541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10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1000"/>
                                        <p:tgtEl>
                                          <p:spTgt spid="1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1000"/>
                                        <p:tgtEl>
                                          <p:spTgt spid="16"/>
                                        </p:tgtEl>
                                      </p:cBhvr>
                                    </p:animEffect>
                                  </p:childTnLst>
                                </p:cTn>
                              </p:par>
                              <p:par>
                                <p:cTn id="50" presetID="1"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2" grpId="0" animBg="1"/>
      <p:bldP spid="3" grpId="0" animBg="1"/>
      <p:bldP spid="11" grpId="0"/>
      <p:bldP spid="12" grpId="0"/>
      <p:bldP spid="13" grpId="0"/>
      <p:bldP spid="16" grpId="0"/>
      <p:bldP spid="17" grpId="0"/>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E4EAC-F0A1-B242-A411-0D3D1E010E16}"/>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251179E5-90DF-9C63-71A2-EB114197014F}"/>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3186" y="1"/>
            <a:ext cx="12192000" cy="6857999"/>
          </a:xfrm>
          <a:prstGeom prst="rect">
            <a:avLst/>
          </a:prstGeom>
        </p:spPr>
      </p:pic>
      <p:pic>
        <p:nvPicPr>
          <p:cNvPr id="2" name="Picture 1">
            <a:extLst>
              <a:ext uri="{FF2B5EF4-FFF2-40B4-BE49-F238E27FC236}">
                <a16:creationId xmlns:a16="http://schemas.microsoft.com/office/drawing/2014/main" id="{F4A33C10-E669-6E09-1780-D4392E39278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283787" y="3037120"/>
            <a:ext cx="1624426" cy="783760"/>
          </a:xfrm>
          <a:prstGeom prst="rect">
            <a:avLst/>
          </a:prstGeom>
        </p:spPr>
      </p:pic>
      <p:cxnSp>
        <p:nvCxnSpPr>
          <p:cNvPr id="3" name="Straight Connector 2">
            <a:extLst>
              <a:ext uri="{FF2B5EF4-FFF2-40B4-BE49-F238E27FC236}">
                <a16:creationId xmlns:a16="http://schemas.microsoft.com/office/drawing/2014/main" id="{4A66FDDF-3A6F-13E8-33E7-8CFB0314A1F2}"/>
              </a:ext>
            </a:extLst>
          </p:cNvPr>
          <p:cNvCxnSpPr>
            <a:cxnSpLocks/>
            <a:stCxn id="2" idx="2"/>
          </p:cNvCxnSpPr>
          <p:nvPr/>
        </p:nvCxnSpPr>
        <p:spPr>
          <a:xfrm>
            <a:off x="6096000" y="3820880"/>
            <a:ext cx="0" cy="216000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6F344FAE-163E-1697-5BE1-99D878FA2E59}"/>
              </a:ext>
            </a:extLst>
          </p:cNvPr>
          <p:cNvCxnSpPr>
            <a:cxnSpLocks/>
          </p:cNvCxnSpPr>
          <p:nvPr/>
        </p:nvCxnSpPr>
        <p:spPr>
          <a:xfrm>
            <a:off x="6096000" y="802640"/>
            <a:ext cx="0" cy="216000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44284E6-C160-4A8F-91FF-558919F4DB25}"/>
              </a:ext>
            </a:extLst>
          </p:cNvPr>
          <p:cNvCxnSpPr>
            <a:endCxn id="2" idx="1"/>
          </p:cNvCxnSpPr>
          <p:nvPr/>
        </p:nvCxnSpPr>
        <p:spPr>
          <a:xfrm>
            <a:off x="1239520" y="3429000"/>
            <a:ext cx="3708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7FB2E627-E1EE-9B52-0AA6-EA9D697E09AA}"/>
              </a:ext>
            </a:extLst>
          </p:cNvPr>
          <p:cNvCxnSpPr>
            <a:stCxn id="2" idx="3"/>
          </p:cNvCxnSpPr>
          <p:nvPr/>
        </p:nvCxnSpPr>
        <p:spPr>
          <a:xfrm>
            <a:off x="7244480" y="3429000"/>
            <a:ext cx="36572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8077E6E-5F1B-9484-7957-6ABF1159D812}"/>
              </a:ext>
            </a:extLst>
          </p:cNvPr>
          <p:cNvSpPr txBox="1"/>
          <p:nvPr/>
        </p:nvSpPr>
        <p:spPr>
          <a:xfrm>
            <a:off x="3243976" y="2162621"/>
            <a:ext cx="854721" cy="461665"/>
          </a:xfrm>
          <a:prstGeom prst="rect">
            <a:avLst/>
          </a:prstGeom>
          <a:noFill/>
          <a:ln>
            <a:noFill/>
          </a:ln>
        </p:spPr>
        <p:txBody>
          <a:bodyPr wrap="none" rtlCol="0">
            <a:spAutoFit/>
          </a:bodyPr>
          <a:lstStyle/>
          <a:p>
            <a:pPr algn="ctr"/>
            <a:r>
              <a:rPr lang="en-IN" sz="2400" dirty="0">
                <a:solidFill>
                  <a:schemeClr val="bg1"/>
                </a:solidFill>
              </a:rPr>
              <a:t>BPM </a:t>
            </a:r>
          </a:p>
        </p:txBody>
      </p:sp>
      <p:sp>
        <p:nvSpPr>
          <p:cNvPr id="25" name="TextBox 24">
            <a:extLst>
              <a:ext uri="{FF2B5EF4-FFF2-40B4-BE49-F238E27FC236}">
                <a16:creationId xmlns:a16="http://schemas.microsoft.com/office/drawing/2014/main" id="{AD108A0C-7D58-A721-3035-5B54239D9957}"/>
              </a:ext>
            </a:extLst>
          </p:cNvPr>
          <p:cNvSpPr txBox="1"/>
          <p:nvPr/>
        </p:nvSpPr>
        <p:spPr>
          <a:xfrm>
            <a:off x="7894546" y="2162621"/>
            <a:ext cx="1690645" cy="461665"/>
          </a:xfrm>
          <a:prstGeom prst="rect">
            <a:avLst/>
          </a:prstGeom>
          <a:noFill/>
          <a:ln>
            <a:noFill/>
          </a:ln>
        </p:spPr>
        <p:txBody>
          <a:bodyPr wrap="square" rtlCol="0">
            <a:spAutoFit/>
          </a:bodyPr>
          <a:lstStyle/>
          <a:p>
            <a:pPr algn="ctr"/>
            <a:r>
              <a:rPr lang="en-IN" sz="2400" dirty="0">
                <a:solidFill>
                  <a:schemeClr val="bg1"/>
                </a:solidFill>
              </a:rPr>
              <a:t>LOWCODE</a:t>
            </a:r>
          </a:p>
        </p:txBody>
      </p:sp>
      <p:sp>
        <p:nvSpPr>
          <p:cNvPr id="26" name="TextBox 25">
            <a:extLst>
              <a:ext uri="{FF2B5EF4-FFF2-40B4-BE49-F238E27FC236}">
                <a16:creationId xmlns:a16="http://schemas.microsoft.com/office/drawing/2014/main" id="{7587BD8D-877F-F4D5-3062-E6D4C4B052AB}"/>
              </a:ext>
            </a:extLst>
          </p:cNvPr>
          <p:cNvSpPr txBox="1"/>
          <p:nvPr/>
        </p:nvSpPr>
        <p:spPr>
          <a:xfrm>
            <a:off x="2826013" y="4197035"/>
            <a:ext cx="1690645" cy="461665"/>
          </a:xfrm>
          <a:prstGeom prst="rect">
            <a:avLst/>
          </a:prstGeom>
          <a:noFill/>
          <a:ln>
            <a:noFill/>
          </a:ln>
        </p:spPr>
        <p:txBody>
          <a:bodyPr wrap="square" rtlCol="0">
            <a:spAutoFit/>
          </a:bodyPr>
          <a:lstStyle/>
          <a:p>
            <a:pPr algn="ctr"/>
            <a:r>
              <a:rPr lang="en-IN" sz="2400" dirty="0">
                <a:solidFill>
                  <a:schemeClr val="bg1"/>
                </a:solidFill>
              </a:rPr>
              <a:t>RPA</a:t>
            </a:r>
          </a:p>
        </p:txBody>
      </p:sp>
      <p:sp>
        <p:nvSpPr>
          <p:cNvPr id="27" name="TextBox 26">
            <a:extLst>
              <a:ext uri="{FF2B5EF4-FFF2-40B4-BE49-F238E27FC236}">
                <a16:creationId xmlns:a16="http://schemas.microsoft.com/office/drawing/2014/main" id="{5995BCA2-E392-F166-CF4D-402713D091D8}"/>
              </a:ext>
            </a:extLst>
          </p:cNvPr>
          <p:cNvSpPr txBox="1"/>
          <p:nvPr/>
        </p:nvSpPr>
        <p:spPr>
          <a:xfrm>
            <a:off x="7646702" y="4197035"/>
            <a:ext cx="2202219" cy="461665"/>
          </a:xfrm>
          <a:prstGeom prst="rect">
            <a:avLst/>
          </a:prstGeom>
          <a:noFill/>
          <a:ln>
            <a:noFill/>
          </a:ln>
        </p:spPr>
        <p:txBody>
          <a:bodyPr wrap="square" rtlCol="0">
            <a:spAutoFit/>
          </a:bodyPr>
          <a:lstStyle>
            <a:defPPr>
              <a:defRPr lang="en-US"/>
            </a:defPPr>
            <a:lvl1pPr algn="ctr">
              <a:defRPr sz="2400">
                <a:solidFill>
                  <a:schemeClr val="bg1"/>
                </a:solidFill>
              </a:defRPr>
            </a:lvl1pPr>
          </a:lstStyle>
          <a:p>
            <a:r>
              <a:rPr lang="en-IN" dirty="0"/>
              <a:t>WORKFLOW </a:t>
            </a:r>
          </a:p>
        </p:txBody>
      </p:sp>
      <p:sp>
        <p:nvSpPr>
          <p:cNvPr id="4" name="TextBox 3">
            <a:extLst>
              <a:ext uri="{FF2B5EF4-FFF2-40B4-BE49-F238E27FC236}">
                <a16:creationId xmlns:a16="http://schemas.microsoft.com/office/drawing/2014/main" id="{76654CEF-6C14-0BB2-016A-DD56EDB2D32B}"/>
              </a:ext>
            </a:extLst>
          </p:cNvPr>
          <p:cNvSpPr txBox="1"/>
          <p:nvPr/>
        </p:nvSpPr>
        <p:spPr>
          <a:xfrm>
            <a:off x="3398264" y="2657311"/>
            <a:ext cx="2706125" cy="400110"/>
          </a:xfrm>
          <a:prstGeom prst="rect">
            <a:avLst/>
          </a:prstGeom>
          <a:noFill/>
          <a:ln>
            <a:noFill/>
          </a:ln>
        </p:spPr>
        <p:txBody>
          <a:bodyPr wrap="none" rtlCol="0">
            <a:spAutoFit/>
          </a:bodyPr>
          <a:lstStyle/>
          <a:p>
            <a:pPr algn="ctr"/>
            <a:r>
              <a:rPr lang="en-IN" sz="2000" dirty="0">
                <a:solidFill>
                  <a:schemeClr val="bg1">
                    <a:lumMod val="75000"/>
                    <a:alpha val="70000"/>
                  </a:schemeClr>
                </a:solidFill>
              </a:rPr>
              <a:t>Process Orchestration </a:t>
            </a:r>
          </a:p>
        </p:txBody>
      </p:sp>
      <p:sp>
        <p:nvSpPr>
          <p:cNvPr id="6" name="TextBox 5">
            <a:extLst>
              <a:ext uri="{FF2B5EF4-FFF2-40B4-BE49-F238E27FC236}">
                <a16:creationId xmlns:a16="http://schemas.microsoft.com/office/drawing/2014/main" id="{B72FADCE-C431-FDC2-F070-E701A13A3021}"/>
              </a:ext>
            </a:extLst>
          </p:cNvPr>
          <p:cNvSpPr txBox="1"/>
          <p:nvPr/>
        </p:nvSpPr>
        <p:spPr>
          <a:xfrm>
            <a:off x="4098697" y="1788992"/>
            <a:ext cx="1350306" cy="369332"/>
          </a:xfrm>
          <a:prstGeom prst="rect">
            <a:avLst/>
          </a:prstGeom>
          <a:noFill/>
          <a:ln>
            <a:noFill/>
          </a:ln>
        </p:spPr>
        <p:txBody>
          <a:bodyPr wrap="none" rtlCol="0">
            <a:spAutoFit/>
          </a:bodyPr>
          <a:lstStyle/>
          <a:p>
            <a:pPr algn="ctr"/>
            <a:r>
              <a:rPr lang="en-IN" dirty="0">
                <a:solidFill>
                  <a:schemeClr val="bg1">
                    <a:lumMod val="50000"/>
                    <a:alpha val="70000"/>
                  </a:schemeClr>
                </a:solidFill>
              </a:rPr>
              <a:t>Rule</a:t>
            </a:r>
            <a:r>
              <a:rPr lang="en-IN" dirty="0">
                <a:solidFill>
                  <a:schemeClr val="bg1">
                    <a:lumMod val="75000"/>
                    <a:alpha val="70000"/>
                  </a:schemeClr>
                </a:solidFill>
              </a:rPr>
              <a:t> Engine</a:t>
            </a:r>
          </a:p>
        </p:txBody>
      </p:sp>
      <p:sp>
        <p:nvSpPr>
          <p:cNvPr id="8" name="TextBox 7">
            <a:extLst>
              <a:ext uri="{FF2B5EF4-FFF2-40B4-BE49-F238E27FC236}">
                <a16:creationId xmlns:a16="http://schemas.microsoft.com/office/drawing/2014/main" id="{FDB73842-8278-2204-1760-B36A31C9ECEA}"/>
              </a:ext>
            </a:extLst>
          </p:cNvPr>
          <p:cNvSpPr txBox="1"/>
          <p:nvPr/>
        </p:nvSpPr>
        <p:spPr>
          <a:xfrm>
            <a:off x="1915212" y="1895216"/>
            <a:ext cx="1297342" cy="338554"/>
          </a:xfrm>
          <a:prstGeom prst="rect">
            <a:avLst/>
          </a:prstGeom>
          <a:noFill/>
          <a:ln>
            <a:noFill/>
          </a:ln>
        </p:spPr>
        <p:txBody>
          <a:bodyPr wrap="none" rtlCol="0">
            <a:spAutoFit/>
          </a:bodyPr>
          <a:lstStyle/>
          <a:p>
            <a:pPr algn="ctr"/>
            <a:r>
              <a:rPr lang="en-IN" sz="1600" dirty="0">
                <a:solidFill>
                  <a:schemeClr val="bg1">
                    <a:lumMod val="75000"/>
                    <a:alpha val="70000"/>
                  </a:schemeClr>
                </a:solidFill>
              </a:rPr>
              <a:t>User Groups</a:t>
            </a:r>
          </a:p>
        </p:txBody>
      </p:sp>
      <p:sp>
        <p:nvSpPr>
          <p:cNvPr id="9" name="TextBox 8">
            <a:extLst>
              <a:ext uri="{FF2B5EF4-FFF2-40B4-BE49-F238E27FC236}">
                <a16:creationId xmlns:a16="http://schemas.microsoft.com/office/drawing/2014/main" id="{BAE9EA72-100A-6577-C061-593AC053B9B8}"/>
              </a:ext>
            </a:extLst>
          </p:cNvPr>
          <p:cNvSpPr txBox="1"/>
          <p:nvPr/>
        </p:nvSpPr>
        <p:spPr>
          <a:xfrm>
            <a:off x="1637076" y="2888659"/>
            <a:ext cx="1740606" cy="369332"/>
          </a:xfrm>
          <a:prstGeom prst="rect">
            <a:avLst/>
          </a:prstGeom>
          <a:noFill/>
          <a:ln>
            <a:noFill/>
          </a:ln>
        </p:spPr>
        <p:txBody>
          <a:bodyPr wrap="none" rtlCol="0">
            <a:spAutoFit/>
          </a:bodyPr>
          <a:lstStyle/>
          <a:p>
            <a:pPr algn="ctr"/>
            <a:r>
              <a:rPr lang="en-IN" dirty="0">
                <a:solidFill>
                  <a:schemeClr val="bg1">
                    <a:lumMod val="75000"/>
                    <a:alpha val="70000"/>
                  </a:schemeClr>
                </a:solidFill>
              </a:rPr>
              <a:t>Process Builder</a:t>
            </a:r>
          </a:p>
        </p:txBody>
      </p:sp>
      <p:sp>
        <p:nvSpPr>
          <p:cNvPr id="11" name="TextBox 10">
            <a:extLst>
              <a:ext uri="{FF2B5EF4-FFF2-40B4-BE49-F238E27FC236}">
                <a16:creationId xmlns:a16="http://schemas.microsoft.com/office/drawing/2014/main" id="{1F7C27BC-882B-0B2A-4D0A-12C285D23095}"/>
              </a:ext>
            </a:extLst>
          </p:cNvPr>
          <p:cNvSpPr txBox="1"/>
          <p:nvPr/>
        </p:nvSpPr>
        <p:spPr>
          <a:xfrm>
            <a:off x="2167158" y="1271106"/>
            <a:ext cx="2135906" cy="369332"/>
          </a:xfrm>
          <a:prstGeom prst="rect">
            <a:avLst/>
          </a:prstGeom>
          <a:noFill/>
          <a:ln>
            <a:noFill/>
          </a:ln>
        </p:spPr>
        <p:txBody>
          <a:bodyPr wrap="none" rtlCol="0">
            <a:spAutoFit/>
          </a:bodyPr>
          <a:lstStyle/>
          <a:p>
            <a:pPr algn="ctr"/>
            <a:r>
              <a:rPr lang="en-IN" b="1" dirty="0">
                <a:solidFill>
                  <a:schemeClr val="bg1">
                    <a:lumMod val="75000"/>
                    <a:alpha val="70000"/>
                  </a:schemeClr>
                </a:solidFill>
              </a:rPr>
              <a:t>Case Management</a:t>
            </a:r>
          </a:p>
        </p:txBody>
      </p:sp>
      <p:sp>
        <p:nvSpPr>
          <p:cNvPr id="14" name="TextBox 13">
            <a:extLst>
              <a:ext uri="{FF2B5EF4-FFF2-40B4-BE49-F238E27FC236}">
                <a16:creationId xmlns:a16="http://schemas.microsoft.com/office/drawing/2014/main" id="{A5268620-522F-F2E6-5ABC-B63A2BE27055}"/>
              </a:ext>
            </a:extLst>
          </p:cNvPr>
          <p:cNvSpPr txBox="1"/>
          <p:nvPr/>
        </p:nvSpPr>
        <p:spPr>
          <a:xfrm>
            <a:off x="6881764" y="2679062"/>
            <a:ext cx="1460913" cy="369332"/>
          </a:xfrm>
          <a:prstGeom prst="rect">
            <a:avLst/>
          </a:prstGeom>
          <a:noFill/>
          <a:ln>
            <a:noFill/>
          </a:ln>
        </p:spPr>
        <p:txBody>
          <a:bodyPr wrap="none" rtlCol="0">
            <a:spAutoFit/>
          </a:bodyPr>
          <a:lstStyle/>
          <a:p>
            <a:pPr algn="ctr"/>
            <a:r>
              <a:rPr lang="en-IN" dirty="0">
                <a:solidFill>
                  <a:schemeClr val="bg1">
                    <a:lumMod val="75000"/>
                    <a:alpha val="70000"/>
                  </a:schemeClr>
                </a:solidFill>
              </a:rPr>
              <a:t>Form Builder</a:t>
            </a:r>
          </a:p>
        </p:txBody>
      </p:sp>
      <p:sp>
        <p:nvSpPr>
          <p:cNvPr id="15" name="TextBox 14">
            <a:extLst>
              <a:ext uri="{FF2B5EF4-FFF2-40B4-BE49-F238E27FC236}">
                <a16:creationId xmlns:a16="http://schemas.microsoft.com/office/drawing/2014/main" id="{08A32816-3C6E-BAF9-8AD2-57CDF1CB19A8}"/>
              </a:ext>
            </a:extLst>
          </p:cNvPr>
          <p:cNvSpPr txBox="1"/>
          <p:nvPr/>
        </p:nvSpPr>
        <p:spPr>
          <a:xfrm>
            <a:off x="8880625" y="1508442"/>
            <a:ext cx="1845826" cy="523220"/>
          </a:xfrm>
          <a:prstGeom prst="rect">
            <a:avLst/>
          </a:prstGeom>
          <a:noFill/>
          <a:ln>
            <a:noFill/>
          </a:ln>
        </p:spPr>
        <p:txBody>
          <a:bodyPr wrap="none" rtlCol="0">
            <a:spAutoFit/>
          </a:bodyPr>
          <a:lstStyle/>
          <a:p>
            <a:pPr algn="ctr"/>
            <a:r>
              <a:rPr lang="en-IN" sz="2800" dirty="0">
                <a:solidFill>
                  <a:schemeClr val="bg1">
                    <a:lumMod val="75000"/>
                    <a:alpha val="70000"/>
                  </a:schemeClr>
                </a:solidFill>
              </a:rPr>
              <a:t>Integration</a:t>
            </a:r>
          </a:p>
        </p:txBody>
      </p:sp>
      <p:sp>
        <p:nvSpPr>
          <p:cNvPr id="16" name="TextBox 15">
            <a:extLst>
              <a:ext uri="{FF2B5EF4-FFF2-40B4-BE49-F238E27FC236}">
                <a16:creationId xmlns:a16="http://schemas.microsoft.com/office/drawing/2014/main" id="{46A925C6-ED35-F5E3-777A-A0951C40F96C}"/>
              </a:ext>
            </a:extLst>
          </p:cNvPr>
          <p:cNvSpPr txBox="1"/>
          <p:nvPr/>
        </p:nvSpPr>
        <p:spPr>
          <a:xfrm>
            <a:off x="8146798" y="2929581"/>
            <a:ext cx="2150076" cy="369332"/>
          </a:xfrm>
          <a:prstGeom prst="rect">
            <a:avLst/>
          </a:prstGeom>
          <a:noFill/>
          <a:ln>
            <a:noFill/>
          </a:ln>
        </p:spPr>
        <p:txBody>
          <a:bodyPr wrap="none" rtlCol="0">
            <a:spAutoFit/>
          </a:bodyPr>
          <a:lstStyle/>
          <a:p>
            <a:pPr algn="ctr"/>
            <a:r>
              <a:rPr lang="en-IN" b="1" dirty="0">
                <a:solidFill>
                  <a:schemeClr val="bg1">
                    <a:lumMod val="75000"/>
                    <a:alpha val="70000"/>
                  </a:schemeClr>
                </a:solidFill>
              </a:rPr>
              <a:t>Configurable BOTS</a:t>
            </a:r>
          </a:p>
        </p:txBody>
      </p:sp>
      <p:sp>
        <p:nvSpPr>
          <p:cNvPr id="17" name="TextBox 16">
            <a:extLst>
              <a:ext uri="{FF2B5EF4-FFF2-40B4-BE49-F238E27FC236}">
                <a16:creationId xmlns:a16="http://schemas.microsoft.com/office/drawing/2014/main" id="{75D5449C-7EA0-A738-D9E6-3CE1A9CF2D94}"/>
              </a:ext>
            </a:extLst>
          </p:cNvPr>
          <p:cNvSpPr txBox="1"/>
          <p:nvPr/>
        </p:nvSpPr>
        <p:spPr>
          <a:xfrm>
            <a:off x="4347827" y="826648"/>
            <a:ext cx="1397434" cy="369332"/>
          </a:xfrm>
          <a:prstGeom prst="rect">
            <a:avLst/>
          </a:prstGeom>
          <a:noFill/>
          <a:ln>
            <a:noFill/>
          </a:ln>
        </p:spPr>
        <p:txBody>
          <a:bodyPr wrap="none" rtlCol="0">
            <a:spAutoFit/>
          </a:bodyPr>
          <a:lstStyle/>
          <a:p>
            <a:pPr algn="ctr"/>
            <a:r>
              <a:rPr lang="en-IN" dirty="0" err="1">
                <a:solidFill>
                  <a:schemeClr val="bg1">
                    <a:lumMod val="75000"/>
                    <a:alpha val="70000"/>
                  </a:schemeClr>
                </a:solidFill>
              </a:rPr>
              <a:t>Dashborads</a:t>
            </a:r>
            <a:endParaRPr lang="en-IN" dirty="0">
              <a:solidFill>
                <a:schemeClr val="bg1">
                  <a:lumMod val="75000"/>
                  <a:alpha val="70000"/>
                </a:schemeClr>
              </a:solidFill>
            </a:endParaRPr>
          </a:p>
        </p:txBody>
      </p:sp>
      <p:sp>
        <p:nvSpPr>
          <p:cNvPr id="20" name="TextBox 19">
            <a:extLst>
              <a:ext uri="{FF2B5EF4-FFF2-40B4-BE49-F238E27FC236}">
                <a16:creationId xmlns:a16="http://schemas.microsoft.com/office/drawing/2014/main" id="{E8C84199-6DD8-13E5-FA89-11D1BF18DCF9}"/>
              </a:ext>
            </a:extLst>
          </p:cNvPr>
          <p:cNvSpPr txBox="1"/>
          <p:nvPr/>
        </p:nvSpPr>
        <p:spPr>
          <a:xfrm>
            <a:off x="7444616" y="1739463"/>
            <a:ext cx="966035" cy="369332"/>
          </a:xfrm>
          <a:prstGeom prst="rect">
            <a:avLst/>
          </a:prstGeom>
          <a:noFill/>
          <a:ln>
            <a:noFill/>
          </a:ln>
        </p:spPr>
        <p:txBody>
          <a:bodyPr wrap="none" rtlCol="0">
            <a:spAutoFit/>
          </a:bodyPr>
          <a:lstStyle/>
          <a:p>
            <a:pPr algn="ctr"/>
            <a:r>
              <a:rPr lang="en-IN" dirty="0">
                <a:solidFill>
                  <a:schemeClr val="bg1">
                    <a:lumMod val="50000"/>
                    <a:alpha val="70000"/>
                  </a:schemeClr>
                </a:solidFill>
              </a:rPr>
              <a:t>Reports</a:t>
            </a:r>
          </a:p>
        </p:txBody>
      </p:sp>
      <p:sp>
        <p:nvSpPr>
          <p:cNvPr id="28" name="TextBox 27">
            <a:extLst>
              <a:ext uri="{FF2B5EF4-FFF2-40B4-BE49-F238E27FC236}">
                <a16:creationId xmlns:a16="http://schemas.microsoft.com/office/drawing/2014/main" id="{0E6EF52D-809E-0531-1346-252C4851AFE6}"/>
              </a:ext>
            </a:extLst>
          </p:cNvPr>
          <p:cNvSpPr txBox="1"/>
          <p:nvPr/>
        </p:nvSpPr>
        <p:spPr>
          <a:xfrm>
            <a:off x="6489853" y="1358858"/>
            <a:ext cx="1399166" cy="369332"/>
          </a:xfrm>
          <a:prstGeom prst="rect">
            <a:avLst/>
          </a:prstGeom>
          <a:noFill/>
          <a:ln>
            <a:noFill/>
          </a:ln>
        </p:spPr>
        <p:txBody>
          <a:bodyPr wrap="none" rtlCol="0">
            <a:spAutoFit/>
          </a:bodyPr>
          <a:lstStyle/>
          <a:p>
            <a:pPr algn="ctr"/>
            <a:r>
              <a:rPr lang="en-IN" dirty="0">
                <a:solidFill>
                  <a:schemeClr val="bg1">
                    <a:lumMod val="75000"/>
                    <a:alpha val="70000"/>
                  </a:schemeClr>
                </a:solidFill>
              </a:rPr>
              <a:t>Screen Flow</a:t>
            </a:r>
          </a:p>
        </p:txBody>
      </p:sp>
      <p:sp>
        <p:nvSpPr>
          <p:cNvPr id="29" name="TextBox 28">
            <a:extLst>
              <a:ext uri="{FF2B5EF4-FFF2-40B4-BE49-F238E27FC236}">
                <a16:creationId xmlns:a16="http://schemas.microsoft.com/office/drawing/2014/main" id="{93CEC495-B8F4-3418-DD38-36B28AEB8C0C}"/>
              </a:ext>
            </a:extLst>
          </p:cNvPr>
          <p:cNvSpPr txBox="1"/>
          <p:nvPr/>
        </p:nvSpPr>
        <p:spPr>
          <a:xfrm>
            <a:off x="7336397" y="917329"/>
            <a:ext cx="2448747" cy="369332"/>
          </a:xfrm>
          <a:prstGeom prst="rect">
            <a:avLst/>
          </a:prstGeom>
          <a:noFill/>
          <a:ln>
            <a:noFill/>
          </a:ln>
        </p:spPr>
        <p:txBody>
          <a:bodyPr wrap="none" rtlCol="0">
            <a:spAutoFit/>
          </a:bodyPr>
          <a:lstStyle/>
          <a:p>
            <a:pPr algn="ctr"/>
            <a:r>
              <a:rPr lang="en-IN" dirty="0">
                <a:solidFill>
                  <a:schemeClr val="bg1">
                    <a:lumMod val="75000"/>
                    <a:alpha val="70000"/>
                  </a:schemeClr>
                </a:solidFill>
              </a:rPr>
              <a:t>Web and Mobile Ready</a:t>
            </a:r>
          </a:p>
        </p:txBody>
      </p:sp>
      <p:sp>
        <p:nvSpPr>
          <p:cNvPr id="30" name="TextBox 29">
            <a:extLst>
              <a:ext uri="{FF2B5EF4-FFF2-40B4-BE49-F238E27FC236}">
                <a16:creationId xmlns:a16="http://schemas.microsoft.com/office/drawing/2014/main" id="{AEC7F141-F1B3-3415-810E-CE7396180B51}"/>
              </a:ext>
            </a:extLst>
          </p:cNvPr>
          <p:cNvSpPr txBox="1"/>
          <p:nvPr/>
        </p:nvSpPr>
        <p:spPr>
          <a:xfrm>
            <a:off x="6297748" y="2225127"/>
            <a:ext cx="1463862" cy="307777"/>
          </a:xfrm>
          <a:prstGeom prst="rect">
            <a:avLst/>
          </a:prstGeom>
          <a:noFill/>
          <a:ln>
            <a:noFill/>
          </a:ln>
        </p:spPr>
        <p:txBody>
          <a:bodyPr wrap="none" rtlCol="0">
            <a:spAutoFit/>
          </a:bodyPr>
          <a:lstStyle/>
          <a:p>
            <a:pPr algn="ctr"/>
            <a:r>
              <a:rPr lang="en-IN" sz="1400" dirty="0">
                <a:solidFill>
                  <a:schemeClr val="bg1">
                    <a:lumMod val="75000"/>
                    <a:alpha val="70000"/>
                  </a:schemeClr>
                </a:solidFill>
              </a:rPr>
              <a:t>Visual Designing</a:t>
            </a:r>
          </a:p>
        </p:txBody>
      </p:sp>
      <p:sp>
        <p:nvSpPr>
          <p:cNvPr id="31" name="TextBox 30">
            <a:extLst>
              <a:ext uri="{FF2B5EF4-FFF2-40B4-BE49-F238E27FC236}">
                <a16:creationId xmlns:a16="http://schemas.microsoft.com/office/drawing/2014/main" id="{83643328-A68B-EA02-6DAD-5E9CE23640A3}"/>
              </a:ext>
            </a:extLst>
          </p:cNvPr>
          <p:cNvSpPr txBox="1"/>
          <p:nvPr/>
        </p:nvSpPr>
        <p:spPr>
          <a:xfrm>
            <a:off x="6482525" y="3835565"/>
            <a:ext cx="1924180" cy="307777"/>
          </a:xfrm>
          <a:prstGeom prst="rect">
            <a:avLst/>
          </a:prstGeom>
          <a:noFill/>
          <a:ln>
            <a:noFill/>
          </a:ln>
        </p:spPr>
        <p:txBody>
          <a:bodyPr wrap="none" rtlCol="0">
            <a:spAutoFit/>
          </a:bodyPr>
          <a:lstStyle/>
          <a:p>
            <a:pPr algn="ctr"/>
            <a:r>
              <a:rPr lang="en-IN" sz="1400" dirty="0">
                <a:solidFill>
                  <a:schemeClr val="bg1">
                    <a:lumMod val="75000"/>
                    <a:alpha val="70000"/>
                  </a:schemeClr>
                </a:solidFill>
              </a:rPr>
              <a:t>Decision Management</a:t>
            </a:r>
          </a:p>
        </p:txBody>
      </p:sp>
      <p:sp>
        <p:nvSpPr>
          <p:cNvPr id="32" name="TextBox 31">
            <a:extLst>
              <a:ext uri="{FF2B5EF4-FFF2-40B4-BE49-F238E27FC236}">
                <a16:creationId xmlns:a16="http://schemas.microsoft.com/office/drawing/2014/main" id="{23DAFB33-EB60-E9B8-AE2B-15837EEADCD9}"/>
              </a:ext>
            </a:extLst>
          </p:cNvPr>
          <p:cNvSpPr txBox="1"/>
          <p:nvPr/>
        </p:nvSpPr>
        <p:spPr>
          <a:xfrm>
            <a:off x="6527137" y="4699225"/>
            <a:ext cx="2468946" cy="369332"/>
          </a:xfrm>
          <a:prstGeom prst="rect">
            <a:avLst/>
          </a:prstGeom>
          <a:noFill/>
          <a:ln>
            <a:noFill/>
          </a:ln>
        </p:spPr>
        <p:txBody>
          <a:bodyPr wrap="none" rtlCol="0">
            <a:spAutoFit/>
          </a:bodyPr>
          <a:lstStyle/>
          <a:p>
            <a:pPr algn="ctr"/>
            <a:r>
              <a:rPr lang="en-IN" dirty="0">
                <a:solidFill>
                  <a:schemeClr val="bg1">
                    <a:lumMod val="50000"/>
                    <a:alpha val="70000"/>
                  </a:schemeClr>
                </a:solidFill>
              </a:rPr>
              <a:t>Visual Workflow Studio</a:t>
            </a:r>
          </a:p>
        </p:txBody>
      </p:sp>
      <p:sp>
        <p:nvSpPr>
          <p:cNvPr id="35" name="TextBox 34">
            <a:extLst>
              <a:ext uri="{FF2B5EF4-FFF2-40B4-BE49-F238E27FC236}">
                <a16:creationId xmlns:a16="http://schemas.microsoft.com/office/drawing/2014/main" id="{3CDE68ED-3E8D-9D75-7F80-96D255807E22}"/>
              </a:ext>
            </a:extLst>
          </p:cNvPr>
          <p:cNvSpPr txBox="1"/>
          <p:nvPr/>
        </p:nvSpPr>
        <p:spPr>
          <a:xfrm>
            <a:off x="4974024" y="1382420"/>
            <a:ext cx="783741" cy="523220"/>
          </a:xfrm>
          <a:prstGeom prst="rect">
            <a:avLst/>
          </a:prstGeom>
          <a:noFill/>
          <a:ln>
            <a:noFill/>
          </a:ln>
        </p:spPr>
        <p:txBody>
          <a:bodyPr wrap="none" rtlCol="0">
            <a:spAutoFit/>
          </a:bodyPr>
          <a:lstStyle/>
          <a:p>
            <a:pPr algn="ctr"/>
            <a:r>
              <a:rPr lang="en-IN" sz="2800" dirty="0">
                <a:solidFill>
                  <a:schemeClr val="bg1">
                    <a:lumMod val="75000"/>
                    <a:alpha val="70000"/>
                  </a:schemeClr>
                </a:solidFill>
              </a:rPr>
              <a:t>SLA</a:t>
            </a:r>
          </a:p>
        </p:txBody>
      </p:sp>
      <p:sp>
        <p:nvSpPr>
          <p:cNvPr id="36" name="TextBox 35">
            <a:extLst>
              <a:ext uri="{FF2B5EF4-FFF2-40B4-BE49-F238E27FC236}">
                <a16:creationId xmlns:a16="http://schemas.microsoft.com/office/drawing/2014/main" id="{46900AA3-8B06-0C1E-7F6E-DB5B4BD38CCF}"/>
              </a:ext>
            </a:extLst>
          </p:cNvPr>
          <p:cNvSpPr txBox="1"/>
          <p:nvPr/>
        </p:nvSpPr>
        <p:spPr>
          <a:xfrm>
            <a:off x="8109034" y="5125326"/>
            <a:ext cx="2321213" cy="369332"/>
          </a:xfrm>
          <a:prstGeom prst="rect">
            <a:avLst/>
          </a:prstGeom>
          <a:noFill/>
          <a:ln>
            <a:noFill/>
          </a:ln>
        </p:spPr>
        <p:txBody>
          <a:bodyPr wrap="none" rtlCol="0">
            <a:spAutoFit/>
          </a:bodyPr>
          <a:lstStyle/>
          <a:p>
            <a:pPr algn="ctr"/>
            <a:r>
              <a:rPr lang="en-IN" dirty="0">
                <a:solidFill>
                  <a:schemeClr val="bg1">
                    <a:lumMod val="75000"/>
                    <a:alpha val="70000"/>
                  </a:schemeClr>
                </a:solidFill>
              </a:rPr>
              <a:t>Track and Report flow</a:t>
            </a:r>
          </a:p>
        </p:txBody>
      </p:sp>
      <p:sp>
        <p:nvSpPr>
          <p:cNvPr id="37" name="TextBox 36">
            <a:extLst>
              <a:ext uri="{FF2B5EF4-FFF2-40B4-BE49-F238E27FC236}">
                <a16:creationId xmlns:a16="http://schemas.microsoft.com/office/drawing/2014/main" id="{B99F18DF-1D90-F8EB-E7DE-F44D1BA68881}"/>
              </a:ext>
            </a:extLst>
          </p:cNvPr>
          <p:cNvSpPr txBox="1"/>
          <p:nvPr/>
        </p:nvSpPr>
        <p:spPr>
          <a:xfrm>
            <a:off x="9351993" y="4541317"/>
            <a:ext cx="1746312" cy="461665"/>
          </a:xfrm>
          <a:prstGeom prst="rect">
            <a:avLst/>
          </a:prstGeom>
          <a:noFill/>
          <a:ln>
            <a:noFill/>
          </a:ln>
        </p:spPr>
        <p:txBody>
          <a:bodyPr wrap="none" rtlCol="0">
            <a:spAutoFit/>
          </a:bodyPr>
          <a:lstStyle/>
          <a:p>
            <a:pPr algn="ctr"/>
            <a:r>
              <a:rPr lang="en-IN" sz="2400" dirty="0">
                <a:solidFill>
                  <a:schemeClr val="bg1">
                    <a:lumMod val="75000"/>
                    <a:alpha val="70000"/>
                  </a:schemeClr>
                </a:solidFill>
              </a:rPr>
              <a:t>Notification</a:t>
            </a:r>
          </a:p>
        </p:txBody>
      </p:sp>
      <p:sp>
        <p:nvSpPr>
          <p:cNvPr id="38" name="TextBox 37">
            <a:extLst>
              <a:ext uri="{FF2B5EF4-FFF2-40B4-BE49-F238E27FC236}">
                <a16:creationId xmlns:a16="http://schemas.microsoft.com/office/drawing/2014/main" id="{CAEC1E5F-EF94-72D2-90A9-39221D252C53}"/>
              </a:ext>
            </a:extLst>
          </p:cNvPr>
          <p:cNvSpPr txBox="1"/>
          <p:nvPr/>
        </p:nvSpPr>
        <p:spPr>
          <a:xfrm>
            <a:off x="8930869" y="3650899"/>
            <a:ext cx="2008563" cy="369332"/>
          </a:xfrm>
          <a:prstGeom prst="rect">
            <a:avLst/>
          </a:prstGeom>
          <a:noFill/>
          <a:ln>
            <a:noFill/>
          </a:ln>
        </p:spPr>
        <p:txBody>
          <a:bodyPr wrap="none" rtlCol="0">
            <a:spAutoFit/>
          </a:bodyPr>
          <a:lstStyle/>
          <a:p>
            <a:pPr algn="ctr"/>
            <a:r>
              <a:rPr lang="en-IN" dirty="0">
                <a:solidFill>
                  <a:schemeClr val="bg1">
                    <a:lumMod val="75000"/>
                    <a:alpha val="70000"/>
                  </a:schemeClr>
                </a:solidFill>
              </a:rPr>
              <a:t>User Management</a:t>
            </a:r>
          </a:p>
        </p:txBody>
      </p:sp>
      <p:sp>
        <p:nvSpPr>
          <p:cNvPr id="39" name="TextBox 38">
            <a:extLst>
              <a:ext uri="{FF2B5EF4-FFF2-40B4-BE49-F238E27FC236}">
                <a16:creationId xmlns:a16="http://schemas.microsoft.com/office/drawing/2014/main" id="{AF8BB188-1984-EBA1-6850-6872C0BF2B73}"/>
              </a:ext>
            </a:extLst>
          </p:cNvPr>
          <p:cNvSpPr txBox="1"/>
          <p:nvPr/>
        </p:nvSpPr>
        <p:spPr>
          <a:xfrm>
            <a:off x="6255711" y="4356651"/>
            <a:ext cx="1507144" cy="307777"/>
          </a:xfrm>
          <a:prstGeom prst="rect">
            <a:avLst/>
          </a:prstGeom>
          <a:noFill/>
          <a:ln>
            <a:noFill/>
          </a:ln>
        </p:spPr>
        <p:txBody>
          <a:bodyPr wrap="none" rtlCol="0">
            <a:spAutoFit/>
          </a:bodyPr>
          <a:lstStyle/>
          <a:p>
            <a:pPr algn="ctr"/>
            <a:r>
              <a:rPr lang="en-IN" sz="1400" dirty="0">
                <a:solidFill>
                  <a:schemeClr val="bg1">
                    <a:lumMod val="75000"/>
                    <a:alpha val="70000"/>
                  </a:schemeClr>
                </a:solidFill>
              </a:rPr>
              <a:t>Can be Headless</a:t>
            </a:r>
          </a:p>
        </p:txBody>
      </p:sp>
      <p:sp>
        <p:nvSpPr>
          <p:cNvPr id="40" name="TextBox 39">
            <a:extLst>
              <a:ext uri="{FF2B5EF4-FFF2-40B4-BE49-F238E27FC236}">
                <a16:creationId xmlns:a16="http://schemas.microsoft.com/office/drawing/2014/main" id="{4FBB8D09-D0D8-712F-DE43-220889586461}"/>
              </a:ext>
            </a:extLst>
          </p:cNvPr>
          <p:cNvSpPr txBox="1"/>
          <p:nvPr/>
        </p:nvSpPr>
        <p:spPr>
          <a:xfrm>
            <a:off x="9219245" y="2537023"/>
            <a:ext cx="1479829" cy="369332"/>
          </a:xfrm>
          <a:prstGeom prst="rect">
            <a:avLst/>
          </a:prstGeom>
          <a:noFill/>
          <a:ln>
            <a:noFill/>
          </a:ln>
        </p:spPr>
        <p:txBody>
          <a:bodyPr wrap="none" rtlCol="0">
            <a:spAutoFit/>
          </a:bodyPr>
          <a:lstStyle/>
          <a:p>
            <a:pPr algn="ctr"/>
            <a:r>
              <a:rPr lang="en-IN" dirty="0">
                <a:solidFill>
                  <a:schemeClr val="bg1">
                    <a:lumMod val="75000"/>
                    <a:alpha val="70000"/>
                  </a:schemeClr>
                </a:solidFill>
              </a:rPr>
              <a:t>Inbuilt CI/CD</a:t>
            </a:r>
          </a:p>
        </p:txBody>
      </p:sp>
      <p:sp>
        <p:nvSpPr>
          <p:cNvPr id="41" name="TextBox 40">
            <a:extLst>
              <a:ext uri="{FF2B5EF4-FFF2-40B4-BE49-F238E27FC236}">
                <a16:creationId xmlns:a16="http://schemas.microsoft.com/office/drawing/2014/main" id="{25E34435-6C80-3BF4-109C-58632044FB5D}"/>
              </a:ext>
            </a:extLst>
          </p:cNvPr>
          <p:cNvSpPr txBox="1"/>
          <p:nvPr/>
        </p:nvSpPr>
        <p:spPr>
          <a:xfrm>
            <a:off x="8073274" y="5600090"/>
            <a:ext cx="3023841" cy="523220"/>
          </a:xfrm>
          <a:prstGeom prst="rect">
            <a:avLst/>
          </a:prstGeom>
          <a:noFill/>
          <a:ln>
            <a:noFill/>
          </a:ln>
        </p:spPr>
        <p:txBody>
          <a:bodyPr wrap="none" rtlCol="0">
            <a:spAutoFit/>
          </a:bodyPr>
          <a:lstStyle/>
          <a:p>
            <a:pPr algn="ctr"/>
            <a:r>
              <a:rPr lang="en-IN" sz="2800" dirty="0">
                <a:solidFill>
                  <a:schemeClr val="bg1">
                    <a:lumMod val="75000"/>
                    <a:alpha val="70000"/>
                  </a:schemeClr>
                </a:solidFill>
              </a:rPr>
              <a:t>Flow Management</a:t>
            </a:r>
          </a:p>
        </p:txBody>
      </p:sp>
      <p:sp>
        <p:nvSpPr>
          <p:cNvPr id="42" name="TextBox 41">
            <a:extLst>
              <a:ext uri="{FF2B5EF4-FFF2-40B4-BE49-F238E27FC236}">
                <a16:creationId xmlns:a16="http://schemas.microsoft.com/office/drawing/2014/main" id="{6525580D-BDD7-4921-A2CB-2BF253E9E91E}"/>
              </a:ext>
            </a:extLst>
          </p:cNvPr>
          <p:cNvSpPr txBox="1"/>
          <p:nvPr/>
        </p:nvSpPr>
        <p:spPr>
          <a:xfrm>
            <a:off x="3684531" y="3921344"/>
            <a:ext cx="2122761" cy="400110"/>
          </a:xfrm>
          <a:prstGeom prst="rect">
            <a:avLst/>
          </a:prstGeom>
          <a:noFill/>
          <a:ln>
            <a:noFill/>
          </a:ln>
        </p:spPr>
        <p:txBody>
          <a:bodyPr wrap="none" rtlCol="0">
            <a:spAutoFit/>
          </a:bodyPr>
          <a:lstStyle/>
          <a:p>
            <a:pPr algn="ctr"/>
            <a:r>
              <a:rPr lang="en-IN" sz="2000" dirty="0">
                <a:solidFill>
                  <a:schemeClr val="bg1">
                    <a:lumMod val="75000"/>
                    <a:alpha val="70000"/>
                  </a:schemeClr>
                </a:solidFill>
              </a:rPr>
              <a:t>Screen Scrapping</a:t>
            </a:r>
          </a:p>
        </p:txBody>
      </p:sp>
      <p:sp>
        <p:nvSpPr>
          <p:cNvPr id="43" name="TextBox 42">
            <a:extLst>
              <a:ext uri="{FF2B5EF4-FFF2-40B4-BE49-F238E27FC236}">
                <a16:creationId xmlns:a16="http://schemas.microsoft.com/office/drawing/2014/main" id="{1F10D3FE-99B8-DA6C-2780-C30AD2156B9C}"/>
              </a:ext>
            </a:extLst>
          </p:cNvPr>
          <p:cNvSpPr txBox="1"/>
          <p:nvPr/>
        </p:nvSpPr>
        <p:spPr>
          <a:xfrm>
            <a:off x="2630849" y="4836328"/>
            <a:ext cx="2735044" cy="369332"/>
          </a:xfrm>
          <a:prstGeom prst="rect">
            <a:avLst/>
          </a:prstGeom>
          <a:noFill/>
          <a:ln>
            <a:noFill/>
          </a:ln>
        </p:spPr>
        <p:txBody>
          <a:bodyPr wrap="none" rtlCol="0">
            <a:spAutoFit/>
          </a:bodyPr>
          <a:lstStyle/>
          <a:p>
            <a:pPr algn="ctr"/>
            <a:r>
              <a:rPr lang="en-IN" dirty="0">
                <a:solidFill>
                  <a:schemeClr val="bg1">
                    <a:lumMod val="75000"/>
                    <a:alpha val="70000"/>
                  </a:schemeClr>
                </a:solidFill>
              </a:rPr>
              <a:t>OCR / Document Reading</a:t>
            </a:r>
          </a:p>
        </p:txBody>
      </p:sp>
      <p:sp>
        <p:nvSpPr>
          <p:cNvPr id="44" name="TextBox 43">
            <a:extLst>
              <a:ext uri="{FF2B5EF4-FFF2-40B4-BE49-F238E27FC236}">
                <a16:creationId xmlns:a16="http://schemas.microsoft.com/office/drawing/2014/main" id="{B7D531A2-92CE-0B36-C406-4BF514B8295C}"/>
              </a:ext>
            </a:extLst>
          </p:cNvPr>
          <p:cNvSpPr txBox="1"/>
          <p:nvPr/>
        </p:nvSpPr>
        <p:spPr>
          <a:xfrm>
            <a:off x="1742122" y="5469291"/>
            <a:ext cx="2546851" cy="400110"/>
          </a:xfrm>
          <a:prstGeom prst="rect">
            <a:avLst/>
          </a:prstGeom>
          <a:noFill/>
          <a:ln>
            <a:noFill/>
          </a:ln>
        </p:spPr>
        <p:txBody>
          <a:bodyPr wrap="none" rtlCol="0">
            <a:spAutoFit/>
          </a:bodyPr>
          <a:lstStyle/>
          <a:p>
            <a:pPr algn="ctr"/>
            <a:r>
              <a:rPr lang="en-IN" sz="2000" dirty="0">
                <a:solidFill>
                  <a:schemeClr val="bg1">
                    <a:lumMod val="75000"/>
                    <a:alpha val="70000"/>
                  </a:schemeClr>
                </a:solidFill>
              </a:rPr>
              <a:t>AI / ML pattern match</a:t>
            </a:r>
          </a:p>
        </p:txBody>
      </p:sp>
      <p:sp>
        <p:nvSpPr>
          <p:cNvPr id="45" name="TextBox 44">
            <a:extLst>
              <a:ext uri="{FF2B5EF4-FFF2-40B4-BE49-F238E27FC236}">
                <a16:creationId xmlns:a16="http://schemas.microsoft.com/office/drawing/2014/main" id="{1577DCA2-71D2-29BC-BE84-0DA168D35AE5}"/>
              </a:ext>
            </a:extLst>
          </p:cNvPr>
          <p:cNvSpPr txBox="1"/>
          <p:nvPr/>
        </p:nvSpPr>
        <p:spPr>
          <a:xfrm>
            <a:off x="1478919" y="3625374"/>
            <a:ext cx="2320122" cy="369332"/>
          </a:xfrm>
          <a:prstGeom prst="rect">
            <a:avLst/>
          </a:prstGeom>
          <a:noFill/>
          <a:ln>
            <a:noFill/>
          </a:ln>
        </p:spPr>
        <p:txBody>
          <a:bodyPr wrap="none" rtlCol="0">
            <a:spAutoFit/>
          </a:bodyPr>
          <a:lstStyle/>
          <a:p>
            <a:pPr algn="ctr"/>
            <a:r>
              <a:rPr lang="en-IN" dirty="0">
                <a:solidFill>
                  <a:schemeClr val="bg1">
                    <a:lumMod val="50000"/>
                    <a:alpha val="70000"/>
                  </a:schemeClr>
                </a:solidFill>
              </a:rPr>
              <a:t>Generate Documents</a:t>
            </a:r>
          </a:p>
        </p:txBody>
      </p:sp>
      <p:sp>
        <p:nvSpPr>
          <p:cNvPr id="46" name="TextBox 45">
            <a:extLst>
              <a:ext uri="{FF2B5EF4-FFF2-40B4-BE49-F238E27FC236}">
                <a16:creationId xmlns:a16="http://schemas.microsoft.com/office/drawing/2014/main" id="{C0FBD56B-C284-6FE1-8EAF-D8EBFADD21DA}"/>
              </a:ext>
            </a:extLst>
          </p:cNvPr>
          <p:cNvSpPr txBox="1"/>
          <p:nvPr/>
        </p:nvSpPr>
        <p:spPr>
          <a:xfrm>
            <a:off x="1449886" y="4452334"/>
            <a:ext cx="1890262" cy="369332"/>
          </a:xfrm>
          <a:prstGeom prst="rect">
            <a:avLst/>
          </a:prstGeom>
          <a:noFill/>
          <a:ln>
            <a:noFill/>
          </a:ln>
        </p:spPr>
        <p:txBody>
          <a:bodyPr wrap="none" rtlCol="0">
            <a:spAutoFit/>
          </a:bodyPr>
          <a:lstStyle/>
          <a:p>
            <a:pPr algn="ctr"/>
            <a:r>
              <a:rPr lang="en-IN" b="1" dirty="0">
                <a:solidFill>
                  <a:schemeClr val="bg1">
                    <a:lumMod val="75000"/>
                    <a:alpha val="70000"/>
                  </a:schemeClr>
                </a:solidFill>
              </a:rPr>
              <a:t>API connections</a:t>
            </a:r>
          </a:p>
        </p:txBody>
      </p:sp>
      <p:sp>
        <p:nvSpPr>
          <p:cNvPr id="47" name="TextBox 46">
            <a:extLst>
              <a:ext uri="{FF2B5EF4-FFF2-40B4-BE49-F238E27FC236}">
                <a16:creationId xmlns:a16="http://schemas.microsoft.com/office/drawing/2014/main" id="{DAC170AF-1DDE-845D-6EF8-ADF1EBF128F2}"/>
              </a:ext>
            </a:extLst>
          </p:cNvPr>
          <p:cNvSpPr txBox="1"/>
          <p:nvPr/>
        </p:nvSpPr>
        <p:spPr>
          <a:xfrm>
            <a:off x="4372517" y="5284625"/>
            <a:ext cx="1342740" cy="461665"/>
          </a:xfrm>
          <a:prstGeom prst="rect">
            <a:avLst/>
          </a:prstGeom>
          <a:noFill/>
          <a:ln>
            <a:noFill/>
          </a:ln>
        </p:spPr>
        <p:txBody>
          <a:bodyPr wrap="none" rtlCol="0">
            <a:spAutoFit/>
          </a:bodyPr>
          <a:lstStyle/>
          <a:p>
            <a:pPr algn="ctr"/>
            <a:r>
              <a:rPr lang="en-IN" sz="2400" dirty="0">
                <a:solidFill>
                  <a:schemeClr val="bg1">
                    <a:lumMod val="75000"/>
                    <a:alpha val="70000"/>
                  </a:schemeClr>
                </a:solidFill>
              </a:rPr>
              <a:t>Rulesets</a:t>
            </a:r>
          </a:p>
        </p:txBody>
      </p:sp>
      <p:sp>
        <p:nvSpPr>
          <p:cNvPr id="48" name="TextBox 47">
            <a:extLst>
              <a:ext uri="{FF2B5EF4-FFF2-40B4-BE49-F238E27FC236}">
                <a16:creationId xmlns:a16="http://schemas.microsoft.com/office/drawing/2014/main" id="{374BA89E-B776-AF60-325D-B1AB60A1695C}"/>
              </a:ext>
            </a:extLst>
          </p:cNvPr>
          <p:cNvSpPr txBox="1"/>
          <p:nvPr/>
        </p:nvSpPr>
        <p:spPr>
          <a:xfrm>
            <a:off x="6871967" y="5611548"/>
            <a:ext cx="930769" cy="307777"/>
          </a:xfrm>
          <a:prstGeom prst="rect">
            <a:avLst/>
          </a:prstGeom>
          <a:noFill/>
          <a:ln>
            <a:noFill/>
          </a:ln>
        </p:spPr>
        <p:txBody>
          <a:bodyPr wrap="none" rtlCol="0">
            <a:spAutoFit/>
          </a:bodyPr>
          <a:lstStyle/>
          <a:p>
            <a:pPr algn="ctr"/>
            <a:r>
              <a:rPr lang="en-IN" sz="1400" dirty="0">
                <a:solidFill>
                  <a:schemeClr val="bg1">
                    <a:lumMod val="75000"/>
                    <a:alpha val="70000"/>
                  </a:schemeClr>
                </a:solidFill>
              </a:rPr>
              <a:t>Map Data</a:t>
            </a:r>
          </a:p>
        </p:txBody>
      </p:sp>
      <p:sp>
        <p:nvSpPr>
          <p:cNvPr id="49" name="TextBox 48">
            <a:extLst>
              <a:ext uri="{FF2B5EF4-FFF2-40B4-BE49-F238E27FC236}">
                <a16:creationId xmlns:a16="http://schemas.microsoft.com/office/drawing/2014/main" id="{6DAB27AF-A4AC-AB62-94E4-DB92529E6BBC}"/>
              </a:ext>
            </a:extLst>
          </p:cNvPr>
          <p:cNvSpPr txBox="1"/>
          <p:nvPr/>
        </p:nvSpPr>
        <p:spPr>
          <a:xfrm>
            <a:off x="6151169" y="5093460"/>
            <a:ext cx="1235338" cy="369332"/>
          </a:xfrm>
          <a:prstGeom prst="rect">
            <a:avLst/>
          </a:prstGeom>
          <a:noFill/>
          <a:ln>
            <a:noFill/>
          </a:ln>
        </p:spPr>
        <p:txBody>
          <a:bodyPr wrap="none" rtlCol="0">
            <a:spAutoFit/>
          </a:bodyPr>
          <a:lstStyle/>
          <a:p>
            <a:pPr algn="ctr"/>
            <a:r>
              <a:rPr lang="en-IN" b="1" dirty="0">
                <a:solidFill>
                  <a:schemeClr val="bg1">
                    <a:lumMod val="75000"/>
                    <a:alpha val="70000"/>
                  </a:schemeClr>
                </a:solidFill>
              </a:rPr>
              <a:t>Approvals</a:t>
            </a:r>
          </a:p>
        </p:txBody>
      </p:sp>
    </p:spTree>
    <p:custDataLst>
      <p:tags r:id="rId1"/>
    </p:custDataLst>
    <p:extLst>
      <p:ext uri="{BB962C8B-B14F-4D97-AF65-F5344CB8AC3E}">
        <p14:creationId xmlns:p14="http://schemas.microsoft.com/office/powerpoint/2010/main" val="4153087066"/>
      </p:ext>
    </p:extLst>
  </p:cSld>
  <p:clrMapOvr>
    <a:masterClrMapping/>
  </p:clrMapOvr>
  <mc:AlternateContent xmlns:mc="http://schemas.openxmlformats.org/markup-compatibility/2006" xmlns:p14="http://schemas.microsoft.com/office/powerpoint/2010/main">
    <mc:Choice Requires="p14">
      <p:transition spd="slow" p14:dur="2000" advTm="4167"/>
    </mc:Choice>
    <mc:Fallback xmlns="">
      <p:transition spd="slow" advTm="416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750"/>
                                        <p:tgtEl>
                                          <p:spTgt spid="11"/>
                                        </p:tgtEl>
                                      </p:cBhvr>
                                    </p:animEffect>
                                  </p:childTnLst>
                                </p:cTn>
                              </p:par>
                              <p:par>
                                <p:cTn id="8" presetID="10" presetClass="entr" presetSubtype="0" fill="hold" grpId="1"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750"/>
                                        <p:tgtEl>
                                          <p:spTgt spid="8"/>
                                        </p:tgtEl>
                                      </p:cBhvr>
                                    </p:animEffect>
                                  </p:childTnLst>
                                </p:cTn>
                              </p:par>
                              <p:par>
                                <p:cTn id="11" presetID="10" presetClass="entr"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750"/>
                                        <p:tgtEl>
                                          <p:spTgt spid="9"/>
                                        </p:tgtEl>
                                      </p:cBhvr>
                                    </p:animEffect>
                                  </p:childTnLst>
                                </p:cTn>
                              </p:par>
                              <p:par>
                                <p:cTn id="14" presetID="10" presetClass="entr" presetSubtype="0" fill="hold" grpId="1"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750"/>
                                        <p:tgtEl>
                                          <p:spTgt spid="4"/>
                                        </p:tgtEl>
                                      </p:cBhvr>
                                    </p:animEffect>
                                  </p:childTnLst>
                                </p:cTn>
                              </p:par>
                              <p:par>
                                <p:cTn id="17" presetID="10" presetClass="entr" presetSubtype="0" fill="hold" grpId="1"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750"/>
                                        <p:tgtEl>
                                          <p:spTgt spid="6"/>
                                        </p:tgtEl>
                                      </p:cBhvr>
                                    </p:animEffect>
                                  </p:childTnLst>
                                </p:cTn>
                              </p:par>
                              <p:par>
                                <p:cTn id="20" presetID="10" presetClass="entr" presetSubtype="0" fill="hold" grpId="1"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750"/>
                                        <p:tgtEl>
                                          <p:spTgt spid="17"/>
                                        </p:tgtEl>
                                      </p:cBhvr>
                                    </p:animEffect>
                                  </p:childTnLst>
                                </p:cTn>
                              </p:par>
                              <p:par>
                                <p:cTn id="23" presetID="10" presetClass="entr" presetSubtype="0" fill="hold" grpId="1"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1750"/>
                                        <p:tgtEl>
                                          <p:spTgt spid="35"/>
                                        </p:tgtEl>
                                      </p:cBhvr>
                                    </p:animEffect>
                                  </p:childTnLst>
                                </p:cTn>
                              </p:par>
                              <p:par>
                                <p:cTn id="26" presetID="42" presetClass="path" presetSubtype="0" accel="50000" decel="50000" fill="hold" grpId="0" nodeType="withEffect">
                                  <p:stCondLst>
                                    <p:cond delay="0"/>
                                  </p:stCondLst>
                                  <p:childTnLst>
                                    <p:animMotion origin="layout" path="M -4.58333E-6 1.48148E-6 L 0.2181 0.28565 " pathEditMode="relative" rAng="0" ptsTypes="AA">
                                      <p:cBhvr>
                                        <p:cTn id="27" dur="1250" spd="-100000" fill="hold"/>
                                        <p:tgtEl>
                                          <p:spTgt spid="11"/>
                                        </p:tgtEl>
                                        <p:attrNameLst>
                                          <p:attrName>ppt_x</p:attrName>
                                          <p:attrName>ppt_y</p:attrName>
                                        </p:attrNameLst>
                                      </p:cBhvr>
                                      <p:rCtr x="10898" y="14282"/>
                                    </p:animMotion>
                                  </p:childTnLst>
                                </p:cTn>
                              </p:par>
                              <p:par>
                                <p:cTn id="28" presetID="42" presetClass="path" presetSubtype="0" accel="50000" decel="50000" fill="hold" grpId="0" nodeType="withEffect">
                                  <p:stCondLst>
                                    <p:cond delay="0"/>
                                  </p:stCondLst>
                                  <p:childTnLst>
                                    <p:animMotion origin="layout" path="M -0.05938 0.02824 L 0.25742 0.19351 " pathEditMode="relative" rAng="0" ptsTypes="AA">
                                      <p:cBhvr>
                                        <p:cTn id="29" dur="1250" spd="-100000" fill="hold"/>
                                        <p:tgtEl>
                                          <p:spTgt spid="8"/>
                                        </p:tgtEl>
                                        <p:attrNameLst>
                                          <p:attrName>ppt_x</p:attrName>
                                          <p:attrName>ppt_y</p:attrName>
                                        </p:attrNameLst>
                                      </p:cBhvr>
                                      <p:rCtr x="15833" y="8264"/>
                                    </p:animMotion>
                                  </p:childTnLst>
                                </p:cTn>
                              </p:par>
                              <p:par>
                                <p:cTn id="30" presetID="42" presetClass="path" presetSubtype="0" accel="50000" decel="50000" fill="hold" grpId="0" nodeType="withEffect">
                                  <p:stCondLst>
                                    <p:cond delay="0"/>
                                  </p:stCondLst>
                                  <p:childTnLst>
                                    <p:animMotion origin="layout" path="M 1.04167E-6 1.85185E-6 L 0.28463 0.04653 " pathEditMode="relative" rAng="0" ptsTypes="AA">
                                      <p:cBhvr>
                                        <p:cTn id="31" dur="1250" spd="-100000" fill="hold"/>
                                        <p:tgtEl>
                                          <p:spTgt spid="9"/>
                                        </p:tgtEl>
                                        <p:attrNameLst>
                                          <p:attrName>ppt_x</p:attrName>
                                          <p:attrName>ppt_y</p:attrName>
                                        </p:attrNameLst>
                                      </p:cBhvr>
                                      <p:rCtr x="14232" y="2315"/>
                                    </p:animMotion>
                                  </p:childTnLst>
                                </p:cTn>
                              </p:par>
                              <p:par>
                                <p:cTn id="32" presetID="42" presetClass="path" presetSubtype="0" accel="50000" decel="50000" fill="hold" grpId="0" nodeType="withEffect">
                                  <p:stCondLst>
                                    <p:cond delay="0"/>
                                  </p:stCondLst>
                                  <p:childTnLst>
                                    <p:animMotion origin="layout" path="M -3.54167E-6 3.33333E-6 L 0.06888 0.09884 " pathEditMode="relative" rAng="0" ptsTypes="AA">
                                      <p:cBhvr>
                                        <p:cTn id="33" dur="1250" spd="-100000" fill="hold"/>
                                        <p:tgtEl>
                                          <p:spTgt spid="4"/>
                                        </p:tgtEl>
                                        <p:attrNameLst>
                                          <p:attrName>ppt_x</p:attrName>
                                          <p:attrName>ppt_y</p:attrName>
                                        </p:attrNameLst>
                                      </p:cBhvr>
                                      <p:rCtr x="3438" y="4931"/>
                                    </p:animMotion>
                                  </p:childTnLst>
                                </p:cTn>
                              </p:par>
                              <p:par>
                                <p:cTn id="34" presetID="42" presetClass="path" presetSubtype="0" accel="50000" decel="50000" fill="hold" grpId="0" nodeType="withEffect">
                                  <p:stCondLst>
                                    <p:cond delay="0"/>
                                  </p:stCondLst>
                                  <p:childTnLst>
                                    <p:animMotion origin="layout" path="M 3.54167E-6 -1.48148E-6 L 0.11406 0.20556 " pathEditMode="relative" rAng="0" ptsTypes="AA">
                                      <p:cBhvr>
                                        <p:cTn id="35" dur="1250" spd="-100000" fill="hold"/>
                                        <p:tgtEl>
                                          <p:spTgt spid="6"/>
                                        </p:tgtEl>
                                        <p:attrNameLst>
                                          <p:attrName>ppt_x</p:attrName>
                                          <p:attrName>ppt_y</p:attrName>
                                        </p:attrNameLst>
                                      </p:cBhvr>
                                      <p:rCtr x="5703" y="10278"/>
                                    </p:animMotion>
                                  </p:childTnLst>
                                </p:cTn>
                              </p:par>
                              <p:par>
                                <p:cTn id="36" presetID="42" presetClass="path" presetSubtype="0" accel="50000" decel="50000" fill="hold" grpId="0" nodeType="withEffect">
                                  <p:stCondLst>
                                    <p:cond delay="0"/>
                                  </p:stCondLst>
                                  <p:childTnLst>
                                    <p:animMotion origin="layout" path="M -2.29167E-6 -3.7037E-6 L 0.10013 0.34561 " pathEditMode="relative" rAng="0" ptsTypes="AA">
                                      <p:cBhvr>
                                        <p:cTn id="37" dur="1250" spd="-100000" fill="hold"/>
                                        <p:tgtEl>
                                          <p:spTgt spid="17"/>
                                        </p:tgtEl>
                                        <p:attrNameLst>
                                          <p:attrName>ppt_x</p:attrName>
                                          <p:attrName>ppt_y</p:attrName>
                                        </p:attrNameLst>
                                      </p:cBhvr>
                                      <p:rCtr x="5000" y="17269"/>
                                    </p:animMotion>
                                  </p:childTnLst>
                                </p:cTn>
                              </p:par>
                              <p:par>
                                <p:cTn id="38" presetID="42" presetClass="path" presetSubtype="0" accel="50000" decel="50000" fill="hold" grpId="0" nodeType="withEffect">
                                  <p:stCondLst>
                                    <p:cond delay="0"/>
                                  </p:stCondLst>
                                  <p:childTnLst>
                                    <p:animMotion origin="layout" path="M -4.16667E-6 -3.33333E-6 L 0.08581 0.24653 " pathEditMode="relative" rAng="0" ptsTypes="AA">
                                      <p:cBhvr>
                                        <p:cTn id="39" dur="1250" spd="-100000" fill="hold"/>
                                        <p:tgtEl>
                                          <p:spTgt spid="35"/>
                                        </p:tgtEl>
                                        <p:attrNameLst>
                                          <p:attrName>ppt_x</p:attrName>
                                          <p:attrName>ppt_y</p:attrName>
                                        </p:attrNameLst>
                                      </p:cBhvr>
                                      <p:rCtr x="4284" y="12315"/>
                                    </p:animMotion>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75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175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175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175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1750"/>
                                        <p:tgtEl>
                                          <p:spTgt spid="2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175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1750"/>
                                        <p:tgtEl>
                                          <p:spTgt spid="4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1750"/>
                                        <p:tgtEl>
                                          <p:spTgt spid="16"/>
                                        </p:tgtEl>
                                      </p:cBhvr>
                                    </p:animEffect>
                                  </p:childTnLst>
                                </p:cTn>
                              </p:par>
                              <p:par>
                                <p:cTn id="64" presetID="42" presetClass="path" presetSubtype="0" accel="50000" decel="50000" fill="hold" grpId="1" nodeType="withEffect">
                                  <p:stCondLst>
                                    <p:cond delay="0"/>
                                  </p:stCondLst>
                                  <p:childTnLst>
                                    <p:animMotion origin="layout" path="M 1.04167E-6 -2.59259E-6 L -0.09557 0.06343 " pathEditMode="relative" rAng="0" ptsTypes="AA">
                                      <p:cBhvr>
                                        <p:cTn id="65" dur="1500" spd="-100000" fill="hold"/>
                                        <p:tgtEl>
                                          <p:spTgt spid="14"/>
                                        </p:tgtEl>
                                        <p:attrNameLst>
                                          <p:attrName>ppt_x</p:attrName>
                                          <p:attrName>ppt_y</p:attrName>
                                        </p:attrNameLst>
                                      </p:cBhvr>
                                      <p:rCtr x="-4779" y="3171"/>
                                    </p:animMotion>
                                  </p:childTnLst>
                                </p:cTn>
                              </p:par>
                              <p:par>
                                <p:cTn id="66" presetID="42" presetClass="path" presetSubtype="0" accel="50000" decel="50000" fill="hold" grpId="1" nodeType="withEffect">
                                  <p:stCondLst>
                                    <p:cond delay="0"/>
                                  </p:stCondLst>
                                  <p:childTnLst>
                                    <p:animMotion origin="layout" path="M -2.5E-6 -7.40741E-7 L -0.0651 0.15301 " pathEditMode="relative" rAng="0" ptsTypes="AA">
                                      <p:cBhvr>
                                        <p:cTn id="67" dur="1500" spd="-100000" fill="hold"/>
                                        <p:tgtEl>
                                          <p:spTgt spid="30"/>
                                        </p:tgtEl>
                                        <p:attrNameLst>
                                          <p:attrName>ppt_x</p:attrName>
                                          <p:attrName>ppt_y</p:attrName>
                                        </p:attrNameLst>
                                      </p:cBhvr>
                                      <p:rCtr x="-3255" y="7639"/>
                                    </p:animMotion>
                                  </p:childTnLst>
                                </p:cTn>
                              </p:par>
                              <p:par>
                                <p:cTn id="68" presetID="42" presetClass="path" presetSubtype="0" accel="50000" decel="50000" fill="hold" grpId="1" nodeType="withEffect">
                                  <p:stCondLst>
                                    <p:cond delay="0"/>
                                  </p:stCondLst>
                                  <p:childTnLst>
                                    <p:animMotion origin="layout" path="M -3.33333E-6 2.77556E-17 L -0.06836 0.26227 " pathEditMode="relative" rAng="0" ptsTypes="AA">
                                      <p:cBhvr>
                                        <p:cTn id="69" dur="1500" spd="-100000" fill="hold"/>
                                        <p:tgtEl>
                                          <p:spTgt spid="28"/>
                                        </p:tgtEl>
                                        <p:attrNameLst>
                                          <p:attrName>ppt_x</p:attrName>
                                          <p:attrName>ppt_y</p:attrName>
                                        </p:attrNameLst>
                                      </p:cBhvr>
                                      <p:rCtr x="-3424" y="13102"/>
                                    </p:animMotion>
                                  </p:childTnLst>
                                </p:cTn>
                              </p:par>
                              <p:par>
                                <p:cTn id="70" presetID="42" presetClass="path" presetSubtype="0" accel="50000" decel="50000" fill="hold" grpId="1" nodeType="withEffect">
                                  <p:stCondLst>
                                    <p:cond delay="0"/>
                                  </p:stCondLst>
                                  <p:childTnLst>
                                    <p:animMotion origin="layout" path="M -4.16667E-7 4.44444E-6 L -0.11797 0.20763 " pathEditMode="relative" rAng="0" ptsTypes="AA">
                                      <p:cBhvr>
                                        <p:cTn id="71" dur="1500" spd="-100000" fill="hold"/>
                                        <p:tgtEl>
                                          <p:spTgt spid="20"/>
                                        </p:tgtEl>
                                        <p:attrNameLst>
                                          <p:attrName>ppt_x</p:attrName>
                                          <p:attrName>ppt_y</p:attrName>
                                        </p:attrNameLst>
                                      </p:cBhvr>
                                      <p:rCtr x="-5898" y="10370"/>
                                    </p:animMotion>
                                  </p:childTnLst>
                                </p:cTn>
                              </p:par>
                              <p:par>
                                <p:cTn id="72" presetID="42" presetClass="path" presetSubtype="0" accel="50000" decel="50000" fill="hold" grpId="1" nodeType="withEffect">
                                  <p:stCondLst>
                                    <p:cond delay="0"/>
                                  </p:stCondLst>
                                  <p:childTnLst>
                                    <p:animMotion origin="layout" path="M -3.33333E-6 1.85185E-6 L -0.16979 0.33241 " pathEditMode="relative" rAng="0" ptsTypes="AA">
                                      <p:cBhvr>
                                        <p:cTn id="73" dur="1500" spd="-100000" fill="hold"/>
                                        <p:tgtEl>
                                          <p:spTgt spid="29"/>
                                        </p:tgtEl>
                                        <p:attrNameLst>
                                          <p:attrName>ppt_x</p:attrName>
                                          <p:attrName>ppt_y</p:attrName>
                                        </p:attrNameLst>
                                      </p:cBhvr>
                                      <p:rCtr x="-8490" y="16620"/>
                                    </p:animMotion>
                                  </p:childTnLst>
                                </p:cTn>
                              </p:par>
                              <p:par>
                                <p:cTn id="74" presetID="42" presetClass="path" presetSubtype="0" accel="50000" decel="50000" fill="hold" grpId="1" nodeType="withEffect">
                                  <p:stCondLst>
                                    <p:cond delay="0"/>
                                  </p:stCondLst>
                                  <p:childTnLst>
                                    <p:animMotion origin="layout" path="M 3.54167E-6 -1.85185E-6 L -0.27904 0.24722 " pathEditMode="relative" rAng="0" ptsTypes="AA">
                                      <p:cBhvr>
                                        <p:cTn id="75" dur="1500" spd="-100000" fill="hold"/>
                                        <p:tgtEl>
                                          <p:spTgt spid="15"/>
                                        </p:tgtEl>
                                        <p:attrNameLst>
                                          <p:attrName>ppt_x</p:attrName>
                                          <p:attrName>ppt_y</p:attrName>
                                        </p:attrNameLst>
                                      </p:cBhvr>
                                      <p:rCtr x="-13958" y="12361"/>
                                    </p:animMotion>
                                  </p:childTnLst>
                                </p:cTn>
                              </p:par>
                              <p:par>
                                <p:cTn id="76" presetID="42" presetClass="path" presetSubtype="0" accel="50000" decel="50000" fill="hold" grpId="1" nodeType="withEffect">
                                  <p:stCondLst>
                                    <p:cond delay="0"/>
                                  </p:stCondLst>
                                  <p:childTnLst>
                                    <p:animMotion origin="layout" path="M 3.125E-6 7.40741E-7 L -0.29779 0.09676 " pathEditMode="relative" rAng="0" ptsTypes="AA">
                                      <p:cBhvr>
                                        <p:cTn id="77" dur="1500" spd="-100000" fill="hold"/>
                                        <p:tgtEl>
                                          <p:spTgt spid="40"/>
                                        </p:tgtEl>
                                        <p:attrNameLst>
                                          <p:attrName>ppt_x</p:attrName>
                                          <p:attrName>ppt_y</p:attrName>
                                        </p:attrNameLst>
                                      </p:cBhvr>
                                      <p:rCtr x="-14896" y="4838"/>
                                    </p:animMotion>
                                  </p:childTnLst>
                                </p:cTn>
                              </p:par>
                              <p:par>
                                <p:cTn id="78" presetID="42" presetClass="path" presetSubtype="0" accel="50000" decel="50000" fill="hold" grpId="1" nodeType="withEffect">
                                  <p:stCondLst>
                                    <p:cond delay="0"/>
                                  </p:stCondLst>
                                  <p:childTnLst>
                                    <p:animMotion origin="layout" path="M -2.08333E-7 4.81481E-6 L -0.23047 0.03888 " pathEditMode="relative" rAng="0" ptsTypes="AA">
                                      <p:cBhvr>
                                        <p:cTn id="79" dur="1500" spd="-100000" fill="hold"/>
                                        <p:tgtEl>
                                          <p:spTgt spid="16"/>
                                        </p:tgtEl>
                                        <p:attrNameLst>
                                          <p:attrName>ppt_x</p:attrName>
                                          <p:attrName>ppt_y</p:attrName>
                                        </p:attrNameLst>
                                      </p:cBhvr>
                                      <p:rCtr x="-11523" y="1944"/>
                                    </p:animMotion>
                                  </p:childTnLst>
                                </p:cTn>
                              </p:par>
                              <p:par>
                                <p:cTn id="80" presetID="10" presetClass="entr" presetSubtype="0" fill="hold" grpId="0" nodeType="with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fade">
                                      <p:cBhvr>
                                        <p:cTn id="82" dur="1750"/>
                                        <p:tgtEl>
                                          <p:spTgt spid="4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fade">
                                      <p:cBhvr>
                                        <p:cTn id="85" dur="1750"/>
                                        <p:tgtEl>
                                          <p:spTgt spid="4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6"/>
                                        </p:tgtEl>
                                        <p:attrNameLst>
                                          <p:attrName>style.visibility</p:attrName>
                                        </p:attrNameLst>
                                      </p:cBhvr>
                                      <p:to>
                                        <p:strVal val="visible"/>
                                      </p:to>
                                    </p:set>
                                    <p:animEffect transition="in" filter="fade">
                                      <p:cBhvr>
                                        <p:cTn id="88" dur="1750"/>
                                        <p:tgtEl>
                                          <p:spTgt spid="4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3"/>
                                        </p:tgtEl>
                                        <p:attrNameLst>
                                          <p:attrName>style.visibility</p:attrName>
                                        </p:attrNameLst>
                                      </p:cBhvr>
                                      <p:to>
                                        <p:strVal val="visible"/>
                                      </p:to>
                                    </p:set>
                                    <p:animEffect transition="in" filter="fade">
                                      <p:cBhvr>
                                        <p:cTn id="91" dur="1750"/>
                                        <p:tgtEl>
                                          <p:spTgt spid="4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4"/>
                                        </p:tgtEl>
                                        <p:attrNameLst>
                                          <p:attrName>style.visibility</p:attrName>
                                        </p:attrNameLst>
                                      </p:cBhvr>
                                      <p:to>
                                        <p:strVal val="visible"/>
                                      </p:to>
                                    </p:set>
                                    <p:animEffect transition="in" filter="fade">
                                      <p:cBhvr>
                                        <p:cTn id="94" dur="1750"/>
                                        <p:tgtEl>
                                          <p:spTgt spid="4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7"/>
                                        </p:tgtEl>
                                        <p:attrNameLst>
                                          <p:attrName>style.visibility</p:attrName>
                                        </p:attrNameLst>
                                      </p:cBhvr>
                                      <p:to>
                                        <p:strVal val="visible"/>
                                      </p:to>
                                    </p:set>
                                    <p:animEffect transition="in" filter="fade">
                                      <p:cBhvr>
                                        <p:cTn id="97" dur="1750"/>
                                        <p:tgtEl>
                                          <p:spTgt spid="47"/>
                                        </p:tgtEl>
                                      </p:cBhvr>
                                    </p:animEffect>
                                  </p:childTnLst>
                                </p:cTn>
                              </p:par>
                              <p:par>
                                <p:cTn id="98" presetID="42" presetClass="path" presetSubtype="0" accel="50000" decel="50000" fill="hold" grpId="1" nodeType="withEffect">
                                  <p:stCondLst>
                                    <p:cond delay="0"/>
                                  </p:stCondLst>
                                  <p:childTnLst>
                                    <p:animMotion origin="layout" path="M 3.75E-6 4.44444E-6 L 0.28359 -0.05556 " pathEditMode="relative" rAng="0" ptsTypes="AA">
                                      <p:cBhvr>
                                        <p:cTn id="99" dur="1500" spd="-100000" fill="hold"/>
                                        <p:tgtEl>
                                          <p:spTgt spid="45"/>
                                        </p:tgtEl>
                                        <p:attrNameLst>
                                          <p:attrName>ppt_x</p:attrName>
                                          <p:attrName>ppt_y</p:attrName>
                                        </p:attrNameLst>
                                      </p:cBhvr>
                                      <p:rCtr x="14180" y="-2778"/>
                                    </p:animMotion>
                                  </p:childTnLst>
                                </p:cTn>
                              </p:par>
                              <p:par>
                                <p:cTn id="100" presetID="42" presetClass="path" presetSubtype="0" accel="50000" decel="50000" fill="hold" grpId="1" nodeType="withEffect">
                                  <p:stCondLst>
                                    <p:cond delay="0"/>
                                  </p:stCondLst>
                                  <p:childTnLst>
                                    <p:animMotion origin="layout" path="M -2.70833E-6 4.07407E-6 L 0.11081 -0.08704 " pathEditMode="relative" rAng="0" ptsTypes="AA">
                                      <p:cBhvr>
                                        <p:cTn id="101" dur="1500" spd="-100000" fill="hold"/>
                                        <p:tgtEl>
                                          <p:spTgt spid="42"/>
                                        </p:tgtEl>
                                        <p:attrNameLst>
                                          <p:attrName>ppt_x</p:attrName>
                                          <p:attrName>ppt_y</p:attrName>
                                        </p:attrNameLst>
                                      </p:cBhvr>
                                      <p:rCtr x="5534" y="-4352"/>
                                    </p:animMotion>
                                  </p:childTnLst>
                                </p:cTn>
                              </p:par>
                              <p:par>
                                <p:cTn id="102" presetID="42" presetClass="path" presetSubtype="0" accel="50000" decel="50000" fill="hold" grpId="1" nodeType="withEffect">
                                  <p:stCondLst>
                                    <p:cond delay="0"/>
                                  </p:stCondLst>
                                  <p:childTnLst>
                                    <p:animMotion origin="layout" path="M -4.16667E-6 2.59259E-6 L 0.26693 -0.15857 " pathEditMode="relative" rAng="0" ptsTypes="AA">
                                      <p:cBhvr>
                                        <p:cTn id="103" dur="1500" spd="-100000" fill="hold"/>
                                        <p:tgtEl>
                                          <p:spTgt spid="46"/>
                                        </p:tgtEl>
                                        <p:attrNameLst>
                                          <p:attrName>ppt_x</p:attrName>
                                          <p:attrName>ppt_y</p:attrName>
                                        </p:attrNameLst>
                                      </p:cBhvr>
                                      <p:rCtr x="13346" y="-7940"/>
                                    </p:animMotion>
                                  </p:childTnLst>
                                </p:cTn>
                              </p:par>
                              <p:par>
                                <p:cTn id="104" presetID="42" presetClass="path" presetSubtype="0" accel="50000" decel="50000" fill="hold" grpId="1" nodeType="withEffect">
                                  <p:stCondLst>
                                    <p:cond delay="0"/>
                                  </p:stCondLst>
                                  <p:childTnLst>
                                    <p:animMotion origin="layout" path="M -4.58333E-6 4.07407E-6 L 0.1806 -0.23218 " pathEditMode="relative" rAng="0" ptsTypes="AA">
                                      <p:cBhvr>
                                        <p:cTn id="105" dur="1500" spd="-100000" fill="hold"/>
                                        <p:tgtEl>
                                          <p:spTgt spid="43"/>
                                        </p:tgtEl>
                                        <p:attrNameLst>
                                          <p:attrName>ppt_x</p:attrName>
                                          <p:attrName>ppt_y</p:attrName>
                                        </p:attrNameLst>
                                      </p:cBhvr>
                                      <p:rCtr x="9023" y="-11620"/>
                                    </p:animMotion>
                                  </p:childTnLst>
                                </p:cTn>
                              </p:par>
                              <p:par>
                                <p:cTn id="106" presetID="42" presetClass="path" presetSubtype="0" accel="50000" decel="50000" fill="hold" grpId="1" nodeType="withEffect">
                                  <p:stCondLst>
                                    <p:cond delay="0"/>
                                  </p:stCondLst>
                                  <p:childTnLst>
                                    <p:animMotion origin="layout" path="M 4.375E-6 -3.7037E-7 L 0.2388 -0.32315 " pathEditMode="relative" rAng="0" ptsTypes="AA">
                                      <p:cBhvr>
                                        <p:cTn id="107" dur="1500" spd="-100000" fill="hold"/>
                                        <p:tgtEl>
                                          <p:spTgt spid="44"/>
                                        </p:tgtEl>
                                        <p:attrNameLst>
                                          <p:attrName>ppt_x</p:attrName>
                                          <p:attrName>ppt_y</p:attrName>
                                        </p:attrNameLst>
                                      </p:cBhvr>
                                      <p:rCtr x="11940" y="-16157"/>
                                    </p:animMotion>
                                  </p:childTnLst>
                                </p:cTn>
                              </p:par>
                              <p:par>
                                <p:cTn id="108" presetID="42" presetClass="path" presetSubtype="0" accel="50000" decel="50000" fill="hold" grpId="1" nodeType="withEffect">
                                  <p:stCondLst>
                                    <p:cond delay="0"/>
                                  </p:stCondLst>
                                  <p:childTnLst>
                                    <p:animMotion origin="layout" path="M -1.875E-6 3.33333E-6 L 0.07735 -0.28125 " pathEditMode="relative" rAng="0" ptsTypes="AA">
                                      <p:cBhvr>
                                        <p:cTn id="109" dur="1500" spd="-100000" fill="hold"/>
                                        <p:tgtEl>
                                          <p:spTgt spid="47"/>
                                        </p:tgtEl>
                                        <p:attrNameLst>
                                          <p:attrName>ppt_x</p:attrName>
                                          <p:attrName>ppt_y</p:attrName>
                                        </p:attrNameLst>
                                      </p:cBhvr>
                                      <p:rCtr x="3867" y="-14074"/>
                                    </p:animMotion>
                                  </p:childTnLst>
                                </p:cTn>
                              </p:par>
                              <p:par>
                                <p:cTn id="110" presetID="10" presetClass="entr" presetSubtype="0" fill="hold" grpId="0" nodeType="withEffect">
                                  <p:stCondLst>
                                    <p:cond delay="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1750"/>
                                        <p:tgtEl>
                                          <p:spTgt spid="3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1750"/>
                                        <p:tgtEl>
                                          <p:spTgt spid="3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1750"/>
                                        <p:tgtEl>
                                          <p:spTgt spid="3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32"/>
                                        </p:tgtEl>
                                        <p:attrNameLst>
                                          <p:attrName>style.visibility</p:attrName>
                                        </p:attrNameLst>
                                      </p:cBhvr>
                                      <p:to>
                                        <p:strVal val="visible"/>
                                      </p:to>
                                    </p:set>
                                    <p:animEffect transition="in" filter="fade">
                                      <p:cBhvr>
                                        <p:cTn id="121" dur="1750"/>
                                        <p:tgtEl>
                                          <p:spTgt spid="32"/>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37"/>
                                        </p:tgtEl>
                                        <p:attrNameLst>
                                          <p:attrName>style.visibility</p:attrName>
                                        </p:attrNameLst>
                                      </p:cBhvr>
                                      <p:to>
                                        <p:strVal val="visible"/>
                                      </p:to>
                                    </p:set>
                                    <p:animEffect transition="in" filter="fade">
                                      <p:cBhvr>
                                        <p:cTn id="124" dur="1750"/>
                                        <p:tgtEl>
                                          <p:spTgt spid="37"/>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36"/>
                                        </p:tgtEl>
                                        <p:attrNameLst>
                                          <p:attrName>style.visibility</p:attrName>
                                        </p:attrNameLst>
                                      </p:cBhvr>
                                      <p:to>
                                        <p:strVal val="visible"/>
                                      </p:to>
                                    </p:set>
                                    <p:animEffect transition="in" filter="fade">
                                      <p:cBhvr>
                                        <p:cTn id="127" dur="1750"/>
                                        <p:tgtEl>
                                          <p:spTgt spid="3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30" dur="1750"/>
                                        <p:tgtEl>
                                          <p:spTgt spid="49"/>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175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1"/>
                                        </p:tgtEl>
                                        <p:attrNameLst>
                                          <p:attrName>style.visibility</p:attrName>
                                        </p:attrNameLst>
                                      </p:cBhvr>
                                      <p:to>
                                        <p:strVal val="visible"/>
                                      </p:to>
                                    </p:set>
                                    <p:animEffect transition="in" filter="fade">
                                      <p:cBhvr>
                                        <p:cTn id="136" dur="1750"/>
                                        <p:tgtEl>
                                          <p:spTgt spid="41"/>
                                        </p:tgtEl>
                                      </p:cBhvr>
                                    </p:animEffect>
                                  </p:childTnLst>
                                </p:cTn>
                              </p:par>
                              <p:par>
                                <p:cTn id="137" presetID="42" presetClass="path" presetSubtype="0" accel="50000" decel="50000" fill="hold" grpId="1" nodeType="withEffect">
                                  <p:stCondLst>
                                    <p:cond delay="0"/>
                                  </p:stCondLst>
                                  <p:childTnLst>
                                    <p:animMotion origin="layout" path="M 3.125E-6 -2.96296E-6 L -0.10365 -0.08402 " pathEditMode="relative" rAng="0" ptsTypes="AA">
                                      <p:cBhvr>
                                        <p:cTn id="138" dur="2000" spd="-100000" fill="hold"/>
                                        <p:tgtEl>
                                          <p:spTgt spid="31"/>
                                        </p:tgtEl>
                                        <p:attrNameLst>
                                          <p:attrName>ppt_x</p:attrName>
                                          <p:attrName>ppt_y</p:attrName>
                                        </p:attrNameLst>
                                      </p:cBhvr>
                                      <p:rCtr x="-5182" y="-4213"/>
                                    </p:animMotion>
                                  </p:childTnLst>
                                </p:cTn>
                              </p:par>
                              <p:par>
                                <p:cTn id="139" presetID="42" presetClass="path" presetSubtype="0" accel="50000" decel="50000" fill="hold" grpId="1" nodeType="withEffect">
                                  <p:stCondLst>
                                    <p:cond delay="0"/>
                                  </p:stCondLst>
                                  <p:childTnLst>
                                    <p:animMotion origin="layout" path="M -3.75E-6 7.40741E-7 L -0.2983 -0.05278 " pathEditMode="relative" rAng="0" ptsTypes="AA">
                                      <p:cBhvr>
                                        <p:cTn id="140" dur="2000" spd="-100000" fill="hold"/>
                                        <p:tgtEl>
                                          <p:spTgt spid="38"/>
                                        </p:tgtEl>
                                        <p:attrNameLst>
                                          <p:attrName>ppt_x</p:attrName>
                                          <p:attrName>ppt_y</p:attrName>
                                        </p:attrNameLst>
                                      </p:cBhvr>
                                      <p:rCtr x="-14922" y="-2639"/>
                                    </p:animMotion>
                                  </p:childTnLst>
                                </p:cTn>
                              </p:par>
                              <p:par>
                                <p:cTn id="141" presetID="42" presetClass="path" presetSubtype="0" accel="50000" decel="50000" fill="hold" grpId="1" nodeType="withEffect">
                                  <p:stCondLst>
                                    <p:cond delay="0"/>
                                  </p:stCondLst>
                                  <p:childTnLst>
                                    <p:animMotion origin="layout" path="M 2.08333E-7 1.11111E-6 L -0.07422 -0.15764 " pathEditMode="relative" rAng="0" ptsTypes="AA">
                                      <p:cBhvr>
                                        <p:cTn id="142" dur="2000" spd="-100000" fill="hold"/>
                                        <p:tgtEl>
                                          <p:spTgt spid="39"/>
                                        </p:tgtEl>
                                        <p:attrNameLst>
                                          <p:attrName>ppt_x</p:attrName>
                                          <p:attrName>ppt_y</p:attrName>
                                        </p:attrNameLst>
                                      </p:cBhvr>
                                      <p:rCtr x="-3711" y="-7894"/>
                                    </p:animMotion>
                                  </p:childTnLst>
                                </p:cTn>
                              </p:par>
                              <p:par>
                                <p:cTn id="143" presetID="42" presetClass="path" presetSubtype="0" accel="50000" decel="50000" fill="hold" grpId="1" nodeType="withEffect">
                                  <p:stCondLst>
                                    <p:cond delay="0"/>
                                  </p:stCondLst>
                                  <p:childTnLst>
                                    <p:animMotion origin="layout" path="M 1.45833E-6 2.96296E-6 L -0.12969 -0.20834 " pathEditMode="relative" rAng="0" ptsTypes="AA">
                                      <p:cBhvr>
                                        <p:cTn id="144" dur="2000" spd="-100000" fill="hold"/>
                                        <p:tgtEl>
                                          <p:spTgt spid="32"/>
                                        </p:tgtEl>
                                        <p:attrNameLst>
                                          <p:attrName>ppt_x</p:attrName>
                                          <p:attrName>ppt_y</p:attrName>
                                        </p:attrNameLst>
                                      </p:cBhvr>
                                      <p:rCtr x="-6484" y="-10417"/>
                                    </p:animMotion>
                                  </p:childTnLst>
                                </p:cTn>
                              </p:par>
                              <p:par>
                                <p:cTn id="145" presetID="42" presetClass="path" presetSubtype="0" accel="50000" decel="50000" fill="hold" grpId="1" nodeType="withEffect">
                                  <p:stCondLst>
                                    <p:cond delay="0"/>
                                  </p:stCondLst>
                                  <p:childTnLst>
                                    <p:animMotion origin="layout" path="M -1.875E-6 -3.33333E-6 L -0.34557 -0.2 " pathEditMode="relative" rAng="0" ptsTypes="AA">
                                      <p:cBhvr>
                                        <p:cTn id="146" dur="2000" spd="-100000" fill="hold"/>
                                        <p:tgtEl>
                                          <p:spTgt spid="37"/>
                                        </p:tgtEl>
                                        <p:attrNameLst>
                                          <p:attrName>ppt_x</p:attrName>
                                          <p:attrName>ppt_y</p:attrName>
                                        </p:attrNameLst>
                                      </p:cBhvr>
                                      <p:rCtr x="-17279" y="-10000"/>
                                    </p:animMotion>
                                  </p:childTnLst>
                                </p:cTn>
                              </p:par>
                              <p:par>
                                <p:cTn id="147" presetID="42" presetClass="path" presetSubtype="0" accel="50000" decel="50000" fill="hold" grpId="1" nodeType="withEffect">
                                  <p:stCondLst>
                                    <p:cond delay="0"/>
                                  </p:stCondLst>
                                  <p:childTnLst>
                                    <p:animMotion origin="layout" path="M 3.54167E-6 4.44444E-6 L -0.25339 -0.28125 " pathEditMode="relative" rAng="0" ptsTypes="AA">
                                      <p:cBhvr>
                                        <p:cTn id="148" dur="2000" spd="-100000" fill="hold"/>
                                        <p:tgtEl>
                                          <p:spTgt spid="36"/>
                                        </p:tgtEl>
                                        <p:attrNameLst>
                                          <p:attrName>ppt_x</p:attrName>
                                          <p:attrName>ppt_y</p:attrName>
                                        </p:attrNameLst>
                                      </p:cBhvr>
                                      <p:rCtr x="-12669" y="-14074"/>
                                    </p:animMotion>
                                  </p:childTnLst>
                                </p:cTn>
                              </p:par>
                              <p:par>
                                <p:cTn id="149" presetID="42" presetClass="path" presetSubtype="0" accel="50000" decel="50000" fill="hold" grpId="1" nodeType="withEffect">
                                  <p:stCondLst>
                                    <p:cond delay="0"/>
                                  </p:stCondLst>
                                  <p:childTnLst>
                                    <p:animMotion origin="layout" path="M 1.66667E-6 -4.44444E-6 L -0.04831 -0.26944 " pathEditMode="relative" rAng="0" ptsTypes="AA">
                                      <p:cBhvr>
                                        <p:cTn id="150" dur="2000" spd="-100000" fill="hold"/>
                                        <p:tgtEl>
                                          <p:spTgt spid="49"/>
                                        </p:tgtEl>
                                        <p:attrNameLst>
                                          <p:attrName>ppt_x</p:attrName>
                                          <p:attrName>ppt_y</p:attrName>
                                        </p:attrNameLst>
                                      </p:cBhvr>
                                      <p:rCtr x="-2422" y="-13472"/>
                                    </p:animMotion>
                                  </p:childTnLst>
                                </p:cTn>
                              </p:par>
                              <p:par>
                                <p:cTn id="151" presetID="42" presetClass="path" presetSubtype="0" accel="50000" decel="50000" fill="hold" grpId="1" nodeType="withEffect">
                                  <p:stCondLst>
                                    <p:cond delay="0"/>
                                  </p:stCondLst>
                                  <p:childTnLst>
                                    <p:animMotion origin="layout" path="M -2.91667E-6 -7.40741E-7 L -0.10716 -0.34838 " pathEditMode="relative" rAng="0" ptsTypes="AA">
                                      <p:cBhvr>
                                        <p:cTn id="152" dur="2000" spd="-100000" fill="hold"/>
                                        <p:tgtEl>
                                          <p:spTgt spid="48"/>
                                        </p:tgtEl>
                                        <p:attrNameLst>
                                          <p:attrName>ppt_x</p:attrName>
                                          <p:attrName>ppt_y</p:attrName>
                                        </p:attrNameLst>
                                      </p:cBhvr>
                                      <p:rCtr x="-5365" y="-17431"/>
                                    </p:animMotion>
                                  </p:childTnLst>
                                </p:cTn>
                              </p:par>
                              <p:par>
                                <p:cTn id="153" presetID="42" presetClass="path" presetSubtype="0" accel="50000" decel="50000" fill="hold" grpId="1" nodeType="withEffect">
                                  <p:stCondLst>
                                    <p:cond delay="0"/>
                                  </p:stCondLst>
                                  <p:childTnLst>
                                    <p:animMotion origin="layout" path="M 2.08333E-6 3.7037E-7 L -0.26341 -0.34537 " pathEditMode="relative" rAng="0" ptsTypes="AA">
                                      <p:cBhvr>
                                        <p:cTn id="154" dur="2000" spd="-100000" fill="hold"/>
                                        <p:tgtEl>
                                          <p:spTgt spid="41"/>
                                        </p:tgtEl>
                                        <p:attrNameLst>
                                          <p:attrName>ppt_x</p:attrName>
                                          <p:attrName>ppt_y</p:attrName>
                                        </p:attrNameLst>
                                      </p:cBhvr>
                                      <p:rCtr x="-13177" y="-172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p:bldP spid="6" grpId="1"/>
      <p:bldP spid="8" grpId="0"/>
      <p:bldP spid="8" grpId="1"/>
      <p:bldP spid="9" grpId="0"/>
      <p:bldP spid="9" grpId="1"/>
      <p:bldP spid="11" grpId="0"/>
      <p:bldP spid="11" grpId="1"/>
      <p:bldP spid="14" grpId="0"/>
      <p:bldP spid="14" grpId="1"/>
      <p:bldP spid="15" grpId="0"/>
      <p:bldP spid="15" grpId="1"/>
      <p:bldP spid="16" grpId="0"/>
      <p:bldP spid="16" grpId="1"/>
      <p:bldP spid="17" grpId="0"/>
      <p:bldP spid="17" grpId="1"/>
      <p:bldP spid="20" grpId="0"/>
      <p:bldP spid="20" grpId="1"/>
      <p:bldP spid="28" grpId="0"/>
      <p:bldP spid="28" grpId="1"/>
      <p:bldP spid="29" grpId="0"/>
      <p:bldP spid="29" grpId="1"/>
      <p:bldP spid="30" grpId="0"/>
      <p:bldP spid="30" grpId="1"/>
      <p:bldP spid="31" grpId="0"/>
      <p:bldP spid="31" grpId="1"/>
      <p:bldP spid="32" grpId="0"/>
      <p:bldP spid="32" grpId="1"/>
      <p:bldP spid="35" grpId="0"/>
      <p:bldP spid="35" grpId="1"/>
      <p:bldP spid="36" grpId="0"/>
      <p:bldP spid="36" grpId="1"/>
      <p:bldP spid="37" grpId="0"/>
      <p:bldP spid="37" grpId="1"/>
      <p:bldP spid="38" grpId="0"/>
      <p:bldP spid="38" grpId="1"/>
      <p:bldP spid="39" grpId="0"/>
      <p:bldP spid="39" grpId="1"/>
      <p:bldP spid="40" grpId="0"/>
      <p:bldP spid="40" grpId="1"/>
      <p:bldP spid="41" grpId="0"/>
      <p:bldP spid="41" grpId="1"/>
      <p:bldP spid="42" grpId="0"/>
      <p:bldP spid="42" grpId="1"/>
      <p:bldP spid="43" grpId="0"/>
      <p:bldP spid="43" grpId="1"/>
      <p:bldP spid="44" grpId="0"/>
      <p:bldP spid="44" grpId="1"/>
      <p:bldP spid="45" grpId="0"/>
      <p:bldP spid="45" grpId="1"/>
      <p:bldP spid="46" grpId="0"/>
      <p:bldP spid="46" grpId="1"/>
      <p:bldP spid="47" grpId="0"/>
      <p:bldP spid="47" grpId="1"/>
      <p:bldP spid="48" grpId="0"/>
      <p:bldP spid="48" grpId="1"/>
      <p:bldP spid="49" grpId="0"/>
      <p:bldP spid="49"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A1DE064-F2A8-842B-A1D4-CBCF8EA6217E}"/>
              </a:ext>
            </a:extLst>
          </p:cNvPr>
          <p:cNvSpPr/>
          <p:nvPr/>
        </p:nvSpPr>
        <p:spPr>
          <a:xfrm>
            <a:off x="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F678B205-331A-FF62-E3F2-2BA0B141335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325038"/>
            <a:ext cx="12192000" cy="1377502"/>
          </a:xfrm>
          <a:prstGeom prst="rect">
            <a:avLst/>
          </a:prstGeom>
        </p:spPr>
      </p:pic>
      <p:sp>
        <p:nvSpPr>
          <p:cNvPr id="7" name="TextBox 6">
            <a:extLst>
              <a:ext uri="{FF2B5EF4-FFF2-40B4-BE49-F238E27FC236}">
                <a16:creationId xmlns:a16="http://schemas.microsoft.com/office/drawing/2014/main" id="{52C282AC-41EE-364B-3423-17C8E3728393}"/>
              </a:ext>
            </a:extLst>
          </p:cNvPr>
          <p:cNvSpPr txBox="1"/>
          <p:nvPr/>
        </p:nvSpPr>
        <p:spPr>
          <a:xfrm>
            <a:off x="8248691" y="2194707"/>
            <a:ext cx="1510977" cy="1938992"/>
          </a:xfrm>
          <a:prstGeom prst="rect">
            <a:avLst/>
          </a:prstGeom>
          <a:noFill/>
        </p:spPr>
        <p:txBody>
          <a:bodyPr wrap="square">
            <a:spAutoFit/>
          </a:bodyPr>
          <a:lstStyle/>
          <a:p>
            <a:pPr algn="ctr"/>
            <a:r>
              <a:rPr lang="en-US" sz="6000" b="1" dirty="0">
                <a:solidFill>
                  <a:srgbClr val="B6FF42"/>
                </a:solidFill>
              </a:rPr>
              <a:t>50+</a:t>
            </a:r>
            <a:r>
              <a:rPr lang="en-US" sz="6000" dirty="0">
                <a:solidFill>
                  <a:srgbClr val="B6FF42"/>
                </a:solidFill>
              </a:rPr>
              <a:t> </a:t>
            </a:r>
          </a:p>
          <a:p>
            <a:pPr algn="ctr"/>
            <a:r>
              <a:rPr lang="en-US" sz="2000" dirty="0">
                <a:solidFill>
                  <a:srgbClr val="B6FF42"/>
                </a:solidFill>
              </a:rPr>
              <a:t>Leading </a:t>
            </a:r>
          </a:p>
          <a:p>
            <a:pPr algn="ctr"/>
            <a:r>
              <a:rPr lang="en-US" sz="2000" dirty="0">
                <a:solidFill>
                  <a:srgbClr val="B6FF42"/>
                </a:solidFill>
              </a:rPr>
              <a:t>platform</a:t>
            </a:r>
          </a:p>
          <a:p>
            <a:pPr algn="ctr"/>
            <a:r>
              <a:rPr lang="en-US" sz="2000" dirty="0">
                <a:solidFill>
                  <a:srgbClr val="B6FF42"/>
                </a:solidFill>
              </a:rPr>
              <a:t>integrations</a:t>
            </a:r>
          </a:p>
        </p:txBody>
      </p:sp>
      <p:sp>
        <p:nvSpPr>
          <p:cNvPr id="8" name="TextBox 7">
            <a:extLst>
              <a:ext uri="{FF2B5EF4-FFF2-40B4-BE49-F238E27FC236}">
                <a16:creationId xmlns:a16="http://schemas.microsoft.com/office/drawing/2014/main" id="{52C282AC-41EE-364B-3423-17C8E3728393}"/>
              </a:ext>
            </a:extLst>
          </p:cNvPr>
          <p:cNvSpPr txBox="1"/>
          <p:nvPr/>
        </p:nvSpPr>
        <p:spPr>
          <a:xfrm>
            <a:off x="10422560" y="2319766"/>
            <a:ext cx="1510977" cy="1446550"/>
          </a:xfrm>
          <a:prstGeom prst="rect">
            <a:avLst/>
          </a:prstGeom>
          <a:noFill/>
        </p:spPr>
        <p:txBody>
          <a:bodyPr wrap="square">
            <a:spAutoFit/>
          </a:bodyPr>
          <a:lstStyle/>
          <a:p>
            <a:pPr algn="ctr"/>
            <a:r>
              <a:rPr lang="en-US" sz="2400" dirty="0">
                <a:solidFill>
                  <a:srgbClr val="B6FF42"/>
                </a:solidFill>
              </a:rPr>
              <a:t>charts</a:t>
            </a:r>
          </a:p>
          <a:p>
            <a:pPr algn="ctr"/>
            <a:r>
              <a:rPr lang="en-US" dirty="0">
                <a:solidFill>
                  <a:schemeClr val="accent4">
                    <a:lumMod val="60000"/>
                    <a:lumOff val="40000"/>
                  </a:schemeClr>
                </a:solidFill>
              </a:rPr>
              <a:t>productivity, efficiency &amp; </a:t>
            </a:r>
          </a:p>
          <a:p>
            <a:pPr algn="ctr"/>
            <a:r>
              <a:rPr lang="en-US" sz="2800" dirty="0">
                <a:solidFill>
                  <a:schemeClr val="accent4">
                    <a:lumMod val="60000"/>
                    <a:lumOff val="40000"/>
                  </a:schemeClr>
                </a:solidFill>
              </a:rPr>
              <a:t>savings</a:t>
            </a:r>
            <a:endParaRPr lang="en-IN" sz="2800" dirty="0">
              <a:solidFill>
                <a:schemeClr val="accent4">
                  <a:lumMod val="60000"/>
                  <a:lumOff val="40000"/>
                </a:schemeClr>
              </a:solidFill>
            </a:endParaRPr>
          </a:p>
        </p:txBody>
      </p:sp>
      <p:sp>
        <p:nvSpPr>
          <p:cNvPr id="9" name="TextBox 8">
            <a:extLst>
              <a:ext uri="{FF2B5EF4-FFF2-40B4-BE49-F238E27FC236}">
                <a16:creationId xmlns:a16="http://schemas.microsoft.com/office/drawing/2014/main" id="{A97512F8-E432-5A32-5343-FD96D9351A3C}"/>
              </a:ext>
            </a:extLst>
          </p:cNvPr>
          <p:cNvSpPr txBox="1"/>
          <p:nvPr/>
        </p:nvSpPr>
        <p:spPr>
          <a:xfrm>
            <a:off x="5710213" y="2121074"/>
            <a:ext cx="1510977" cy="2062103"/>
          </a:xfrm>
          <a:prstGeom prst="rect">
            <a:avLst/>
          </a:prstGeom>
          <a:noFill/>
        </p:spPr>
        <p:txBody>
          <a:bodyPr wrap="square">
            <a:spAutoFit/>
          </a:bodyPr>
          <a:lstStyle/>
          <a:p>
            <a:pPr algn="ctr"/>
            <a:r>
              <a:rPr lang="en-US" sz="2400" dirty="0">
                <a:solidFill>
                  <a:schemeClr val="accent4">
                    <a:lumMod val="20000"/>
                    <a:lumOff val="80000"/>
                  </a:schemeClr>
                </a:solidFill>
              </a:rPr>
              <a:t>Builds Apps </a:t>
            </a:r>
            <a:r>
              <a:rPr lang="en-US" sz="6000" b="1" dirty="0">
                <a:solidFill>
                  <a:schemeClr val="accent4">
                    <a:lumMod val="20000"/>
                    <a:lumOff val="80000"/>
                  </a:schemeClr>
                </a:solidFill>
              </a:rPr>
              <a:t>5x</a:t>
            </a:r>
            <a:endParaRPr lang="en-US" sz="6000" dirty="0">
              <a:solidFill>
                <a:schemeClr val="accent4">
                  <a:lumMod val="20000"/>
                  <a:lumOff val="80000"/>
                </a:schemeClr>
              </a:solidFill>
            </a:endParaRPr>
          </a:p>
          <a:p>
            <a:pPr algn="ctr"/>
            <a:r>
              <a:rPr lang="en-US" sz="2000" dirty="0">
                <a:solidFill>
                  <a:schemeClr val="accent4">
                    <a:lumMod val="20000"/>
                    <a:lumOff val="80000"/>
                  </a:schemeClr>
                </a:solidFill>
              </a:rPr>
              <a:t>Faster</a:t>
            </a:r>
          </a:p>
        </p:txBody>
      </p:sp>
      <p:sp>
        <p:nvSpPr>
          <p:cNvPr id="10" name="TextBox 9">
            <a:extLst>
              <a:ext uri="{FF2B5EF4-FFF2-40B4-BE49-F238E27FC236}">
                <a16:creationId xmlns:a16="http://schemas.microsoft.com/office/drawing/2014/main" id="{00514853-F90E-41CE-CFC5-5DF44DE4874F}"/>
              </a:ext>
            </a:extLst>
          </p:cNvPr>
          <p:cNvSpPr txBox="1"/>
          <p:nvPr/>
        </p:nvSpPr>
        <p:spPr>
          <a:xfrm>
            <a:off x="3095223" y="2109271"/>
            <a:ext cx="2303725" cy="2123658"/>
          </a:xfrm>
          <a:prstGeom prst="rect">
            <a:avLst/>
          </a:prstGeom>
          <a:noFill/>
        </p:spPr>
        <p:txBody>
          <a:bodyPr wrap="square">
            <a:spAutoFit/>
          </a:bodyPr>
          <a:lstStyle/>
          <a:p>
            <a:pPr algn="ctr"/>
            <a:r>
              <a:rPr lang="en-US" sz="2400" dirty="0">
                <a:solidFill>
                  <a:schemeClr val="bg1">
                    <a:lumMod val="95000"/>
                  </a:schemeClr>
                </a:solidFill>
              </a:rPr>
              <a:t>Takes</a:t>
            </a:r>
          </a:p>
          <a:p>
            <a:pPr algn="ctr"/>
            <a:r>
              <a:rPr lang="en-US" sz="3600" dirty="0">
                <a:solidFill>
                  <a:srgbClr val="B6FF42"/>
                </a:solidFill>
              </a:rPr>
              <a:t>Minutes</a:t>
            </a:r>
          </a:p>
          <a:p>
            <a:pPr algn="ctr"/>
            <a:r>
              <a:rPr lang="en-US" sz="2000" dirty="0">
                <a:solidFill>
                  <a:srgbClr val="B6FF42"/>
                </a:solidFill>
              </a:rPr>
              <a:t>For</a:t>
            </a:r>
          </a:p>
          <a:p>
            <a:pPr algn="ctr"/>
            <a:r>
              <a:rPr lang="en-US" sz="2000" dirty="0">
                <a:solidFill>
                  <a:srgbClr val="B6FF42"/>
                </a:solidFill>
              </a:rPr>
              <a:t>MVP</a:t>
            </a:r>
          </a:p>
          <a:p>
            <a:pPr algn="ctr"/>
            <a:r>
              <a:rPr lang="en-US" sz="1600" dirty="0">
                <a:solidFill>
                  <a:schemeClr val="bg1">
                    <a:lumMod val="95000"/>
                  </a:schemeClr>
                </a:solidFill>
              </a:rPr>
              <a:t>(Minimal Viable Product)</a:t>
            </a:r>
          </a:p>
        </p:txBody>
      </p:sp>
      <p:sp>
        <p:nvSpPr>
          <p:cNvPr id="12" name="TextBox 11">
            <a:extLst>
              <a:ext uri="{FF2B5EF4-FFF2-40B4-BE49-F238E27FC236}">
                <a16:creationId xmlns:a16="http://schemas.microsoft.com/office/drawing/2014/main" id="{A92AB52F-DFE7-AC43-2493-87BF5607C91A}"/>
              </a:ext>
            </a:extLst>
          </p:cNvPr>
          <p:cNvSpPr txBox="1"/>
          <p:nvPr/>
        </p:nvSpPr>
        <p:spPr>
          <a:xfrm>
            <a:off x="134841" y="2170826"/>
            <a:ext cx="2358827" cy="2185214"/>
          </a:xfrm>
          <a:prstGeom prst="rect">
            <a:avLst/>
          </a:prstGeom>
          <a:noFill/>
        </p:spPr>
        <p:txBody>
          <a:bodyPr wrap="square">
            <a:spAutoFit/>
          </a:bodyPr>
          <a:lstStyle/>
          <a:p>
            <a:pPr algn="ctr"/>
            <a:r>
              <a:rPr lang="en-US" sz="2400" dirty="0">
                <a:solidFill>
                  <a:schemeClr val="bg1"/>
                </a:solidFill>
              </a:rPr>
              <a:t>Low code</a:t>
            </a:r>
          </a:p>
          <a:p>
            <a:pPr algn="ctr"/>
            <a:r>
              <a:rPr lang="en-US" sz="2400" dirty="0">
                <a:solidFill>
                  <a:srgbClr val="399AFF"/>
                </a:solidFill>
              </a:rPr>
              <a:t>RPA  </a:t>
            </a:r>
          </a:p>
          <a:p>
            <a:pPr algn="ctr"/>
            <a:r>
              <a:rPr lang="en-US" sz="2400" dirty="0">
                <a:solidFill>
                  <a:srgbClr val="B6FF42"/>
                </a:solidFill>
              </a:rPr>
              <a:t>Process </a:t>
            </a:r>
            <a:r>
              <a:rPr lang="en-US" sz="1600" dirty="0">
                <a:solidFill>
                  <a:srgbClr val="B6FF42"/>
                </a:solidFill>
              </a:rPr>
              <a:t>orchestration</a:t>
            </a:r>
            <a:endParaRPr lang="en-US" sz="1600" dirty="0">
              <a:solidFill>
                <a:schemeClr val="bg1"/>
              </a:solidFill>
            </a:endParaRPr>
          </a:p>
          <a:p>
            <a:pPr algn="ctr"/>
            <a:r>
              <a:rPr lang="en-US" sz="2400" dirty="0">
                <a:solidFill>
                  <a:schemeClr val="bg1"/>
                </a:solidFill>
              </a:rPr>
              <a:t>AI/ML </a:t>
            </a:r>
          </a:p>
          <a:p>
            <a:pPr algn="ctr"/>
            <a:r>
              <a:rPr lang="en-US" sz="2400" dirty="0">
                <a:solidFill>
                  <a:schemeClr val="accent4">
                    <a:lumMod val="20000"/>
                    <a:lumOff val="80000"/>
                  </a:schemeClr>
                </a:solidFill>
              </a:rPr>
              <a:t>BOTS</a:t>
            </a:r>
          </a:p>
        </p:txBody>
      </p:sp>
      <p:sp>
        <p:nvSpPr>
          <p:cNvPr id="13" name="Rectangle 12">
            <a:extLst>
              <a:ext uri="{FF2B5EF4-FFF2-40B4-BE49-F238E27FC236}">
                <a16:creationId xmlns:a16="http://schemas.microsoft.com/office/drawing/2014/main" id="{1E109BA2-F921-008D-4AB7-959D7F8D42BC}"/>
              </a:ext>
            </a:extLst>
          </p:cNvPr>
          <p:cNvSpPr/>
          <p:nvPr/>
        </p:nvSpPr>
        <p:spPr>
          <a:xfrm>
            <a:off x="1221656" y="1692656"/>
            <a:ext cx="185195" cy="4841054"/>
          </a:xfrm>
          <a:prstGeom prst="rect">
            <a:avLst/>
          </a:prstGeom>
          <a:gradFill>
            <a:gsLst>
              <a:gs pos="0">
                <a:schemeClr val="accent4">
                  <a:lumMod val="50000"/>
                  <a:alpha val="22000"/>
                </a:schemeClr>
              </a:gs>
              <a:gs pos="100000">
                <a:schemeClr val="accent1">
                  <a:lumMod val="20000"/>
                  <a:lumOff val="80000"/>
                  <a:alpha val="18000"/>
                </a:schemeClr>
              </a:gs>
              <a:gs pos="50000">
                <a:schemeClr val="accent4">
                  <a:lumMod val="40000"/>
                  <a:lumOff val="60000"/>
                  <a:alpha val="14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F8C77DF3-1761-E3F4-1681-92C9AA9E7CDC}"/>
              </a:ext>
            </a:extLst>
          </p:cNvPr>
          <p:cNvSpPr/>
          <p:nvPr/>
        </p:nvSpPr>
        <p:spPr>
          <a:xfrm>
            <a:off x="4156799" y="1649112"/>
            <a:ext cx="185195" cy="4841054"/>
          </a:xfrm>
          <a:prstGeom prst="rect">
            <a:avLst/>
          </a:prstGeom>
          <a:gradFill>
            <a:gsLst>
              <a:gs pos="0">
                <a:schemeClr val="accent4">
                  <a:lumMod val="50000"/>
                  <a:alpha val="22000"/>
                </a:schemeClr>
              </a:gs>
              <a:gs pos="100000">
                <a:schemeClr val="accent1">
                  <a:lumMod val="20000"/>
                  <a:lumOff val="80000"/>
                  <a:alpha val="18000"/>
                </a:schemeClr>
              </a:gs>
              <a:gs pos="50000">
                <a:schemeClr val="accent4">
                  <a:lumMod val="40000"/>
                  <a:lumOff val="60000"/>
                  <a:alpha val="14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6DCC2FC1-2E46-7A9C-8E0D-ED5F2CAC586F}"/>
              </a:ext>
            </a:extLst>
          </p:cNvPr>
          <p:cNvSpPr/>
          <p:nvPr/>
        </p:nvSpPr>
        <p:spPr>
          <a:xfrm>
            <a:off x="6373105" y="1658514"/>
            <a:ext cx="185195" cy="4841054"/>
          </a:xfrm>
          <a:prstGeom prst="rect">
            <a:avLst/>
          </a:prstGeom>
          <a:gradFill>
            <a:gsLst>
              <a:gs pos="0">
                <a:schemeClr val="accent4">
                  <a:lumMod val="50000"/>
                  <a:alpha val="22000"/>
                </a:schemeClr>
              </a:gs>
              <a:gs pos="100000">
                <a:schemeClr val="accent1">
                  <a:lumMod val="20000"/>
                  <a:lumOff val="80000"/>
                  <a:alpha val="18000"/>
                </a:schemeClr>
              </a:gs>
              <a:gs pos="50000">
                <a:schemeClr val="accent4">
                  <a:lumMod val="40000"/>
                  <a:lumOff val="60000"/>
                  <a:alpha val="14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C92A2622-4860-10F7-EAC5-13F56D7A6730}"/>
              </a:ext>
            </a:extLst>
          </p:cNvPr>
          <p:cNvSpPr/>
          <p:nvPr/>
        </p:nvSpPr>
        <p:spPr>
          <a:xfrm>
            <a:off x="8911583" y="1658514"/>
            <a:ext cx="185195" cy="4841054"/>
          </a:xfrm>
          <a:prstGeom prst="rect">
            <a:avLst/>
          </a:prstGeom>
          <a:gradFill>
            <a:gsLst>
              <a:gs pos="0">
                <a:schemeClr val="accent4">
                  <a:lumMod val="50000"/>
                  <a:alpha val="22000"/>
                </a:schemeClr>
              </a:gs>
              <a:gs pos="100000">
                <a:schemeClr val="accent1">
                  <a:lumMod val="20000"/>
                  <a:lumOff val="80000"/>
                  <a:alpha val="18000"/>
                </a:schemeClr>
              </a:gs>
              <a:gs pos="50000">
                <a:schemeClr val="accent4">
                  <a:lumMod val="40000"/>
                  <a:lumOff val="60000"/>
                  <a:alpha val="14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271FC6B5-2550-010E-B42C-3CEA9D1EE466}"/>
              </a:ext>
            </a:extLst>
          </p:cNvPr>
          <p:cNvSpPr/>
          <p:nvPr/>
        </p:nvSpPr>
        <p:spPr>
          <a:xfrm>
            <a:off x="11032648" y="1674806"/>
            <a:ext cx="185195" cy="4841054"/>
          </a:xfrm>
          <a:prstGeom prst="rect">
            <a:avLst/>
          </a:prstGeom>
          <a:gradFill>
            <a:gsLst>
              <a:gs pos="0">
                <a:schemeClr val="accent4">
                  <a:lumMod val="50000"/>
                  <a:alpha val="22000"/>
                </a:schemeClr>
              </a:gs>
              <a:gs pos="100000">
                <a:schemeClr val="accent1">
                  <a:lumMod val="20000"/>
                  <a:lumOff val="80000"/>
                  <a:alpha val="18000"/>
                </a:schemeClr>
              </a:gs>
              <a:gs pos="50000">
                <a:schemeClr val="accent4">
                  <a:lumMod val="40000"/>
                  <a:lumOff val="60000"/>
                  <a:alpha val="14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8E9F159C-AF7C-284E-AD05-600D905E4C1F}"/>
              </a:ext>
            </a:extLst>
          </p:cNvPr>
          <p:cNvSpPr/>
          <p:nvPr/>
        </p:nvSpPr>
        <p:spPr>
          <a:xfrm>
            <a:off x="296886" y="4625866"/>
            <a:ext cx="11713581" cy="1938991"/>
          </a:xfrm>
          <a:prstGeom prst="roundRect">
            <a:avLst>
              <a:gd name="adj" fmla="val 34244"/>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0" name="Group 19">
            <a:extLst>
              <a:ext uri="{FF2B5EF4-FFF2-40B4-BE49-F238E27FC236}">
                <a16:creationId xmlns:a16="http://schemas.microsoft.com/office/drawing/2014/main" id="{229094B6-361D-29E1-8A75-121120D5C26B}"/>
              </a:ext>
            </a:extLst>
          </p:cNvPr>
          <p:cNvGrpSpPr/>
          <p:nvPr/>
        </p:nvGrpSpPr>
        <p:grpSpPr>
          <a:xfrm>
            <a:off x="1113968" y="4728746"/>
            <a:ext cx="9964065" cy="1735229"/>
            <a:chOff x="1129598" y="4676985"/>
            <a:chExt cx="9964065" cy="1735229"/>
          </a:xfrm>
        </p:grpSpPr>
        <p:sp>
          <p:nvSpPr>
            <p:cNvPr id="21" name="Freeform: Shape 20">
              <a:extLst>
                <a:ext uri="{FF2B5EF4-FFF2-40B4-BE49-F238E27FC236}">
                  <a16:creationId xmlns:a16="http://schemas.microsoft.com/office/drawing/2014/main" id="{28049525-CDFB-F3BF-8E12-B03445309447}"/>
                </a:ext>
              </a:extLst>
            </p:cNvPr>
            <p:cNvSpPr/>
            <p:nvPr/>
          </p:nvSpPr>
          <p:spPr>
            <a:xfrm>
              <a:off x="1129598" y="4676985"/>
              <a:ext cx="1735229" cy="1735229"/>
            </a:xfrm>
            <a:custGeom>
              <a:avLst/>
              <a:gdLst>
                <a:gd name="connsiteX0" fmla="*/ 0 w 1735229"/>
                <a:gd name="connsiteY0" fmla="*/ 867615 h 1735229"/>
                <a:gd name="connsiteX1" fmla="*/ 867615 w 1735229"/>
                <a:gd name="connsiteY1" fmla="*/ 0 h 1735229"/>
                <a:gd name="connsiteX2" fmla="*/ 1735230 w 1735229"/>
                <a:gd name="connsiteY2" fmla="*/ 867615 h 1735229"/>
                <a:gd name="connsiteX3" fmla="*/ 867615 w 1735229"/>
                <a:gd name="connsiteY3" fmla="*/ 1735230 h 1735229"/>
                <a:gd name="connsiteX4" fmla="*/ 0 w 1735229"/>
                <a:gd name="connsiteY4" fmla="*/ 867615 h 1735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229" h="1735229">
                  <a:moveTo>
                    <a:pt x="0" y="867615"/>
                  </a:moveTo>
                  <a:cubicBezTo>
                    <a:pt x="0" y="388444"/>
                    <a:pt x="388444" y="0"/>
                    <a:pt x="867615" y="0"/>
                  </a:cubicBezTo>
                  <a:cubicBezTo>
                    <a:pt x="1346786" y="0"/>
                    <a:pt x="1735230" y="388444"/>
                    <a:pt x="1735230" y="867615"/>
                  </a:cubicBezTo>
                  <a:cubicBezTo>
                    <a:pt x="1735230" y="1346786"/>
                    <a:pt x="1346786" y="1735230"/>
                    <a:pt x="867615" y="1735230"/>
                  </a:cubicBezTo>
                  <a:cubicBezTo>
                    <a:pt x="388444" y="1735230"/>
                    <a:pt x="0" y="1346786"/>
                    <a:pt x="0" y="86761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49613" tIns="284598" rIns="349613" bIns="284598" numCol="1" spcCol="1270" anchor="ctr" anchorCtr="0">
              <a:noAutofit/>
            </a:bodyPr>
            <a:lstStyle/>
            <a:p>
              <a:pPr marL="0" lvl="0" indent="0" algn="ctr" defTabSz="1066800">
                <a:lnSpc>
                  <a:spcPct val="90000"/>
                </a:lnSpc>
                <a:spcBef>
                  <a:spcPct val="0"/>
                </a:spcBef>
                <a:spcAft>
                  <a:spcPct val="35000"/>
                </a:spcAft>
                <a:buFont typeface="Arial" panose="020B0604020202020204" pitchFamily="34" charset="0"/>
                <a:buNone/>
              </a:pPr>
              <a:r>
                <a:rPr lang="en-US" sz="2400" b="1" kern="1200" dirty="0">
                  <a:solidFill>
                    <a:schemeClr val="accent4">
                      <a:lumMod val="60000"/>
                      <a:lumOff val="40000"/>
                    </a:schemeClr>
                  </a:solidFill>
                </a:rPr>
                <a:t>70%</a:t>
              </a:r>
              <a:r>
                <a:rPr lang="en-US" sz="1050" b="1" kern="1200" dirty="0">
                  <a:solidFill>
                    <a:schemeClr val="accent4">
                      <a:lumMod val="60000"/>
                      <a:lumOff val="40000"/>
                    </a:schemeClr>
                  </a:solidFill>
                </a:rPr>
                <a:t> </a:t>
              </a:r>
              <a:r>
                <a:rPr lang="en-US" sz="1600" kern="1200" dirty="0">
                  <a:solidFill>
                    <a:schemeClr val="bg1"/>
                  </a:solidFill>
                </a:rPr>
                <a:t>reduction in cycle times</a:t>
              </a:r>
              <a:r>
                <a:rPr lang="en-US" sz="1050" kern="1200" dirty="0">
                  <a:solidFill>
                    <a:schemeClr val="bg1"/>
                  </a:solidFill>
                </a:rPr>
                <a:t> with utmost efficiency</a:t>
              </a:r>
              <a:endParaRPr lang="en-IN" sz="1050" kern="1200" dirty="0"/>
            </a:p>
          </p:txBody>
        </p:sp>
        <p:sp>
          <p:nvSpPr>
            <p:cNvPr id="22" name="Freeform: Shape 21">
              <a:extLst>
                <a:ext uri="{FF2B5EF4-FFF2-40B4-BE49-F238E27FC236}">
                  <a16:creationId xmlns:a16="http://schemas.microsoft.com/office/drawing/2014/main" id="{14203489-9C45-D6F2-0B22-5D93D27EDF6E}"/>
                </a:ext>
              </a:extLst>
            </p:cNvPr>
            <p:cNvSpPr/>
            <p:nvPr/>
          </p:nvSpPr>
          <p:spPr>
            <a:xfrm>
              <a:off x="3186807" y="4676985"/>
              <a:ext cx="1735229" cy="1735229"/>
            </a:xfrm>
            <a:custGeom>
              <a:avLst/>
              <a:gdLst>
                <a:gd name="connsiteX0" fmla="*/ 0 w 1735229"/>
                <a:gd name="connsiteY0" fmla="*/ 867615 h 1735229"/>
                <a:gd name="connsiteX1" fmla="*/ 867615 w 1735229"/>
                <a:gd name="connsiteY1" fmla="*/ 0 h 1735229"/>
                <a:gd name="connsiteX2" fmla="*/ 1735230 w 1735229"/>
                <a:gd name="connsiteY2" fmla="*/ 867615 h 1735229"/>
                <a:gd name="connsiteX3" fmla="*/ 867615 w 1735229"/>
                <a:gd name="connsiteY3" fmla="*/ 1735230 h 1735229"/>
                <a:gd name="connsiteX4" fmla="*/ 0 w 1735229"/>
                <a:gd name="connsiteY4" fmla="*/ 867615 h 1735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229" h="1735229">
                  <a:moveTo>
                    <a:pt x="0" y="867615"/>
                  </a:moveTo>
                  <a:cubicBezTo>
                    <a:pt x="0" y="388444"/>
                    <a:pt x="388444" y="0"/>
                    <a:pt x="867615" y="0"/>
                  </a:cubicBezTo>
                  <a:cubicBezTo>
                    <a:pt x="1346786" y="0"/>
                    <a:pt x="1735230" y="388444"/>
                    <a:pt x="1735230" y="867615"/>
                  </a:cubicBezTo>
                  <a:cubicBezTo>
                    <a:pt x="1735230" y="1346786"/>
                    <a:pt x="1346786" y="1735230"/>
                    <a:pt x="867615" y="1735230"/>
                  </a:cubicBezTo>
                  <a:cubicBezTo>
                    <a:pt x="388444" y="1735230"/>
                    <a:pt x="0" y="1346786"/>
                    <a:pt x="0" y="86761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49613" tIns="268088" rIns="349613" bIns="268088" numCol="1" spcCol="1270" anchor="ctr" anchorCtr="0">
              <a:noAutofit/>
            </a:bodyPr>
            <a:lstStyle/>
            <a:p>
              <a:pPr marL="0" lvl="0" indent="0" algn="ctr" defTabSz="466725">
                <a:lnSpc>
                  <a:spcPct val="90000"/>
                </a:lnSpc>
                <a:spcBef>
                  <a:spcPct val="0"/>
                </a:spcBef>
                <a:spcAft>
                  <a:spcPct val="35000"/>
                </a:spcAft>
                <a:buNone/>
              </a:pPr>
              <a:r>
                <a:rPr lang="en-US" sz="1050" kern="1200" dirty="0">
                  <a:solidFill>
                    <a:schemeClr val="bg1"/>
                  </a:solidFill>
                </a:rPr>
                <a:t>Improves the </a:t>
              </a:r>
              <a:r>
                <a:rPr lang="en-US" sz="1600" kern="1200" dirty="0">
                  <a:solidFill>
                    <a:schemeClr val="accent4">
                      <a:lumMod val="40000"/>
                      <a:lumOff val="60000"/>
                    </a:schemeClr>
                  </a:solidFill>
                </a:rPr>
                <a:t>operational excellence </a:t>
              </a:r>
              <a:r>
                <a:rPr lang="en-US" sz="1050" kern="1200" dirty="0">
                  <a:solidFill>
                    <a:schemeClr val="bg1"/>
                  </a:solidFill>
                </a:rPr>
                <a:t>by </a:t>
              </a:r>
              <a:r>
                <a:rPr lang="en-US" sz="2400" b="1" kern="1200" dirty="0">
                  <a:solidFill>
                    <a:srgbClr val="B6FF42"/>
                  </a:solidFill>
                </a:rPr>
                <a:t>50%</a:t>
              </a:r>
              <a:r>
                <a:rPr lang="en-US" sz="1050" b="1" kern="1200" dirty="0">
                  <a:solidFill>
                    <a:schemeClr val="accent3">
                      <a:lumMod val="60000"/>
                      <a:lumOff val="40000"/>
                    </a:schemeClr>
                  </a:solidFill>
                </a:rPr>
                <a:t> </a:t>
              </a:r>
              <a:r>
                <a:rPr lang="en-US" sz="1050" kern="1200" dirty="0">
                  <a:solidFill>
                    <a:schemeClr val="bg1"/>
                  </a:solidFill>
                </a:rPr>
                <a:t>on Technology, Engineering, Process and business teams</a:t>
              </a:r>
            </a:p>
          </p:txBody>
        </p:sp>
        <p:sp>
          <p:nvSpPr>
            <p:cNvPr id="23" name="Freeform: Shape 22">
              <a:extLst>
                <a:ext uri="{FF2B5EF4-FFF2-40B4-BE49-F238E27FC236}">
                  <a16:creationId xmlns:a16="http://schemas.microsoft.com/office/drawing/2014/main" id="{EB4423F1-B815-5D8D-213A-0E490E7AD593}"/>
                </a:ext>
              </a:extLst>
            </p:cNvPr>
            <p:cNvSpPr/>
            <p:nvPr/>
          </p:nvSpPr>
          <p:spPr>
            <a:xfrm>
              <a:off x="5244016" y="4676985"/>
              <a:ext cx="1735229" cy="1735229"/>
            </a:xfrm>
            <a:custGeom>
              <a:avLst/>
              <a:gdLst>
                <a:gd name="connsiteX0" fmla="*/ 0 w 1735229"/>
                <a:gd name="connsiteY0" fmla="*/ 867615 h 1735229"/>
                <a:gd name="connsiteX1" fmla="*/ 867615 w 1735229"/>
                <a:gd name="connsiteY1" fmla="*/ 0 h 1735229"/>
                <a:gd name="connsiteX2" fmla="*/ 1735230 w 1735229"/>
                <a:gd name="connsiteY2" fmla="*/ 867615 h 1735229"/>
                <a:gd name="connsiteX3" fmla="*/ 867615 w 1735229"/>
                <a:gd name="connsiteY3" fmla="*/ 1735230 h 1735229"/>
                <a:gd name="connsiteX4" fmla="*/ 0 w 1735229"/>
                <a:gd name="connsiteY4" fmla="*/ 867615 h 1735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229" h="1735229">
                  <a:moveTo>
                    <a:pt x="0" y="867615"/>
                  </a:moveTo>
                  <a:cubicBezTo>
                    <a:pt x="0" y="388444"/>
                    <a:pt x="388444" y="0"/>
                    <a:pt x="867615" y="0"/>
                  </a:cubicBezTo>
                  <a:cubicBezTo>
                    <a:pt x="1346786" y="0"/>
                    <a:pt x="1735230" y="388444"/>
                    <a:pt x="1735230" y="867615"/>
                  </a:cubicBezTo>
                  <a:cubicBezTo>
                    <a:pt x="1735230" y="1346786"/>
                    <a:pt x="1346786" y="1735230"/>
                    <a:pt x="867615" y="1735230"/>
                  </a:cubicBezTo>
                  <a:cubicBezTo>
                    <a:pt x="388444" y="1735230"/>
                    <a:pt x="0" y="1346786"/>
                    <a:pt x="0" y="86761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49613" tIns="269358" rIns="349613" bIns="269358"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bg1"/>
                  </a:solidFill>
                </a:rPr>
                <a:t>Assured </a:t>
              </a:r>
              <a:r>
                <a:rPr lang="en-US" sz="1400" b="1" kern="1200" dirty="0">
                  <a:solidFill>
                    <a:srgbClr val="B6FF42"/>
                  </a:solidFill>
                </a:rPr>
                <a:t>productivity </a:t>
              </a:r>
              <a:r>
                <a:rPr lang="en-US" sz="1400" kern="1200" dirty="0">
                  <a:solidFill>
                    <a:schemeClr val="bg1"/>
                  </a:solidFill>
                </a:rPr>
                <a:t>increase </a:t>
              </a:r>
              <a:r>
                <a:rPr lang="en-US" sz="1200" kern="1200" dirty="0">
                  <a:solidFill>
                    <a:schemeClr val="bg1"/>
                  </a:solidFill>
                </a:rPr>
                <a:t>to </a:t>
              </a:r>
              <a:r>
                <a:rPr lang="en-US" sz="2400" b="1" kern="1200" dirty="0">
                  <a:solidFill>
                    <a:schemeClr val="accent3">
                      <a:lumMod val="60000"/>
                      <a:lumOff val="40000"/>
                    </a:schemeClr>
                  </a:solidFill>
                </a:rPr>
                <a:t>10X </a:t>
              </a:r>
              <a:r>
                <a:rPr lang="en-US" sz="1200" kern="1200" dirty="0">
                  <a:solidFill>
                    <a:schemeClr val="bg1"/>
                  </a:solidFill>
                </a:rPr>
                <a:t>times by individuals and teams</a:t>
              </a:r>
            </a:p>
          </p:txBody>
        </p:sp>
        <p:sp>
          <p:nvSpPr>
            <p:cNvPr id="24" name="Freeform: Shape 23">
              <a:extLst>
                <a:ext uri="{FF2B5EF4-FFF2-40B4-BE49-F238E27FC236}">
                  <a16:creationId xmlns:a16="http://schemas.microsoft.com/office/drawing/2014/main" id="{89FEB5F8-5EC0-CF63-E280-AD228339ADAE}"/>
                </a:ext>
              </a:extLst>
            </p:cNvPr>
            <p:cNvSpPr/>
            <p:nvPr/>
          </p:nvSpPr>
          <p:spPr>
            <a:xfrm>
              <a:off x="7301225" y="4676985"/>
              <a:ext cx="1735229" cy="1735229"/>
            </a:xfrm>
            <a:custGeom>
              <a:avLst/>
              <a:gdLst>
                <a:gd name="connsiteX0" fmla="*/ 0 w 1735229"/>
                <a:gd name="connsiteY0" fmla="*/ 867615 h 1735229"/>
                <a:gd name="connsiteX1" fmla="*/ 867615 w 1735229"/>
                <a:gd name="connsiteY1" fmla="*/ 0 h 1735229"/>
                <a:gd name="connsiteX2" fmla="*/ 1735230 w 1735229"/>
                <a:gd name="connsiteY2" fmla="*/ 867615 h 1735229"/>
                <a:gd name="connsiteX3" fmla="*/ 867615 w 1735229"/>
                <a:gd name="connsiteY3" fmla="*/ 1735230 h 1735229"/>
                <a:gd name="connsiteX4" fmla="*/ 0 w 1735229"/>
                <a:gd name="connsiteY4" fmla="*/ 867615 h 1735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229" h="1735229">
                  <a:moveTo>
                    <a:pt x="0" y="867615"/>
                  </a:moveTo>
                  <a:cubicBezTo>
                    <a:pt x="0" y="388444"/>
                    <a:pt x="388444" y="0"/>
                    <a:pt x="867615" y="0"/>
                  </a:cubicBezTo>
                  <a:cubicBezTo>
                    <a:pt x="1346786" y="0"/>
                    <a:pt x="1735230" y="388444"/>
                    <a:pt x="1735230" y="867615"/>
                  </a:cubicBezTo>
                  <a:cubicBezTo>
                    <a:pt x="1735230" y="1346786"/>
                    <a:pt x="1346786" y="1735230"/>
                    <a:pt x="867615" y="1735230"/>
                  </a:cubicBezTo>
                  <a:cubicBezTo>
                    <a:pt x="388444" y="1735230"/>
                    <a:pt x="0" y="1346786"/>
                    <a:pt x="0" y="86761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49613" tIns="268088" rIns="349613" bIns="268088"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bg1"/>
                  </a:solidFill>
                </a:rPr>
                <a:t>Deliver </a:t>
              </a:r>
              <a:r>
                <a:rPr lang="en-US" sz="1400" b="1" kern="1200" dirty="0">
                  <a:solidFill>
                    <a:schemeClr val="bg1"/>
                  </a:solidFill>
                </a:rPr>
                <a:t> </a:t>
              </a:r>
              <a:r>
                <a:rPr lang="en-US" sz="1400" b="1" kern="1200" dirty="0">
                  <a:solidFill>
                    <a:srgbClr val="B6FF42"/>
                  </a:solidFill>
                </a:rPr>
                <a:t>POINTED SOLUTIONS </a:t>
              </a:r>
              <a:r>
                <a:rPr lang="en-US" sz="1100" kern="1200" dirty="0">
                  <a:solidFill>
                    <a:schemeClr val="bg1"/>
                  </a:solidFill>
                </a:rPr>
                <a:t>and automation solutions through a collaborative model</a:t>
              </a:r>
            </a:p>
          </p:txBody>
        </p:sp>
        <p:sp>
          <p:nvSpPr>
            <p:cNvPr id="25" name="Freeform: Shape 24">
              <a:extLst>
                <a:ext uri="{FF2B5EF4-FFF2-40B4-BE49-F238E27FC236}">
                  <a16:creationId xmlns:a16="http://schemas.microsoft.com/office/drawing/2014/main" id="{524D4A2D-0E2F-3D2B-B829-F3DD1A16070B}"/>
                </a:ext>
              </a:extLst>
            </p:cNvPr>
            <p:cNvSpPr/>
            <p:nvPr/>
          </p:nvSpPr>
          <p:spPr>
            <a:xfrm>
              <a:off x="9358434" y="4676985"/>
              <a:ext cx="1735229" cy="1735229"/>
            </a:xfrm>
            <a:custGeom>
              <a:avLst/>
              <a:gdLst>
                <a:gd name="connsiteX0" fmla="*/ 0 w 1735229"/>
                <a:gd name="connsiteY0" fmla="*/ 867615 h 1735229"/>
                <a:gd name="connsiteX1" fmla="*/ 867615 w 1735229"/>
                <a:gd name="connsiteY1" fmla="*/ 0 h 1735229"/>
                <a:gd name="connsiteX2" fmla="*/ 1735230 w 1735229"/>
                <a:gd name="connsiteY2" fmla="*/ 867615 h 1735229"/>
                <a:gd name="connsiteX3" fmla="*/ 867615 w 1735229"/>
                <a:gd name="connsiteY3" fmla="*/ 1735230 h 1735229"/>
                <a:gd name="connsiteX4" fmla="*/ 0 w 1735229"/>
                <a:gd name="connsiteY4" fmla="*/ 867615 h 1735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229" h="1735229">
                  <a:moveTo>
                    <a:pt x="0" y="867615"/>
                  </a:moveTo>
                  <a:cubicBezTo>
                    <a:pt x="0" y="388444"/>
                    <a:pt x="388444" y="0"/>
                    <a:pt x="867615" y="0"/>
                  </a:cubicBezTo>
                  <a:cubicBezTo>
                    <a:pt x="1346786" y="0"/>
                    <a:pt x="1735230" y="388444"/>
                    <a:pt x="1735230" y="867615"/>
                  </a:cubicBezTo>
                  <a:cubicBezTo>
                    <a:pt x="1735230" y="1346786"/>
                    <a:pt x="1346786" y="1735230"/>
                    <a:pt x="867615" y="1735230"/>
                  </a:cubicBezTo>
                  <a:cubicBezTo>
                    <a:pt x="388444" y="1735230"/>
                    <a:pt x="0" y="1346786"/>
                    <a:pt x="0" y="86761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49613" tIns="274438" rIns="349613" bIns="274438"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Instant </a:t>
              </a:r>
              <a:r>
                <a:rPr lang="en-US" sz="1600" b="1" kern="1200" dirty="0">
                  <a:solidFill>
                    <a:schemeClr val="accent4">
                      <a:lumMod val="60000"/>
                      <a:lumOff val="40000"/>
                    </a:schemeClr>
                  </a:solidFill>
                </a:rPr>
                <a:t>conversion of ideation </a:t>
              </a:r>
              <a:r>
                <a:rPr lang="en-US" sz="1600" kern="1200" dirty="0">
                  <a:solidFill>
                    <a:schemeClr val="bg1"/>
                  </a:solidFill>
                </a:rPr>
                <a:t>to solutions</a:t>
              </a:r>
            </a:p>
          </p:txBody>
        </p:sp>
      </p:grpSp>
      <p:sp>
        <p:nvSpPr>
          <p:cNvPr id="6" name="Rectangle 1">
            <a:extLst>
              <a:ext uri="{FF2B5EF4-FFF2-40B4-BE49-F238E27FC236}">
                <a16:creationId xmlns:a16="http://schemas.microsoft.com/office/drawing/2014/main" id="{D96D49F7-3E8A-2A3A-43E3-BDDDC6167CA4}"/>
              </a:ext>
            </a:extLst>
          </p:cNvPr>
          <p:cNvSpPr>
            <a:spLocks noChangeArrowheads="1"/>
          </p:cNvSpPr>
          <p:nvPr/>
        </p:nvSpPr>
        <p:spPr bwMode="auto">
          <a:xfrm rot="16200000">
            <a:off x="-19064" y="5451982"/>
            <a:ext cx="1774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i="0" u="none" strike="noStrike" cap="none" normalizeH="0" baseline="0" dirty="0">
                <a:ln>
                  <a:noFill/>
                </a:ln>
                <a:solidFill>
                  <a:srgbClr val="B6FF42"/>
                </a:solidFill>
                <a:effectLst/>
                <a:latin typeface="Arial" panose="020B0604020202020204" pitchFamily="34" charset="0"/>
              </a:rPr>
              <a:t>Value Proposition</a:t>
            </a:r>
          </a:p>
        </p:txBody>
      </p:sp>
      <p:sp>
        <p:nvSpPr>
          <p:cNvPr id="3" name="Rectangle: Top Corners Rounded 2">
            <a:extLst>
              <a:ext uri="{FF2B5EF4-FFF2-40B4-BE49-F238E27FC236}">
                <a16:creationId xmlns:a16="http://schemas.microsoft.com/office/drawing/2014/main" id="{7AC60C55-B4EF-FA5D-64CB-217A787E9E16}"/>
              </a:ext>
            </a:extLst>
          </p:cNvPr>
          <p:cNvSpPr/>
          <p:nvPr/>
        </p:nvSpPr>
        <p:spPr>
          <a:xfrm rot="10800000">
            <a:off x="174819" y="0"/>
            <a:ext cx="3443217"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04AED6B8-4CF9-E371-197A-D38B251C35DD}"/>
              </a:ext>
            </a:extLst>
          </p:cNvPr>
          <p:cNvSpPr txBox="1"/>
          <p:nvPr/>
        </p:nvSpPr>
        <p:spPr>
          <a:xfrm>
            <a:off x="632235" y="38780"/>
            <a:ext cx="2528384" cy="369332"/>
          </a:xfrm>
          <a:prstGeom prst="rect">
            <a:avLst/>
          </a:prstGeom>
          <a:noFill/>
        </p:spPr>
        <p:txBody>
          <a:bodyPr wrap="none" rtlCol="0">
            <a:spAutoFit/>
          </a:bodyPr>
          <a:lstStyle/>
          <a:p>
            <a:r>
              <a:rPr lang="en-IN" dirty="0">
                <a:solidFill>
                  <a:schemeClr val="bg1"/>
                </a:solidFill>
              </a:rPr>
              <a:t>The Platform Difference</a:t>
            </a:r>
          </a:p>
        </p:txBody>
      </p:sp>
      <p:pic>
        <p:nvPicPr>
          <p:cNvPr id="26" name="Picture 25">
            <a:extLst>
              <a:ext uri="{FF2B5EF4-FFF2-40B4-BE49-F238E27FC236}">
                <a16:creationId xmlns:a16="http://schemas.microsoft.com/office/drawing/2014/main" id="{14A1C93E-D328-F3EC-D894-90B944D61EE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475684" y="44075"/>
            <a:ext cx="1413047" cy="681773"/>
          </a:xfrm>
          <a:prstGeom prst="rect">
            <a:avLst/>
          </a:prstGeom>
        </p:spPr>
      </p:pic>
    </p:spTree>
    <p:extLst>
      <p:ext uri="{BB962C8B-B14F-4D97-AF65-F5344CB8AC3E}">
        <p14:creationId xmlns:p14="http://schemas.microsoft.com/office/powerpoint/2010/main" val="3595983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735D7-8112-E3BA-EC6C-4FCF10B6AEB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B7A895-E23C-B39F-5D8F-F1CEA2EC6947}"/>
              </a:ext>
            </a:extLst>
          </p:cNvPr>
          <p:cNvSpPr/>
          <p:nvPr/>
        </p:nvSpPr>
        <p:spPr>
          <a:xfrm>
            <a:off x="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F47D6EC-F240-095D-548A-7CD3BAB4DCE2}"/>
              </a:ext>
            </a:extLst>
          </p:cNvPr>
          <p:cNvSpPr txBox="1"/>
          <p:nvPr/>
        </p:nvSpPr>
        <p:spPr>
          <a:xfrm>
            <a:off x="8229084" y="1370144"/>
            <a:ext cx="3616168" cy="1200329"/>
          </a:xfrm>
          <a:prstGeom prst="rect">
            <a:avLst/>
          </a:prstGeom>
          <a:noFill/>
        </p:spPr>
        <p:txBody>
          <a:bodyPr wrap="square">
            <a:spAutoFit/>
          </a:bodyPr>
          <a:lstStyle/>
          <a:p>
            <a:r>
              <a:rPr lang="en-US" dirty="0">
                <a:solidFill>
                  <a:schemeClr val="bg1"/>
                </a:solidFill>
              </a:rPr>
              <a:t>Seamless and simplified management of digtal eco-system involving </a:t>
            </a:r>
            <a:r>
              <a:rPr lang="en-US" dirty="0">
                <a:solidFill>
                  <a:srgbClr val="399AFF"/>
                </a:solidFill>
              </a:rPr>
              <a:t>products , complex processes and workflows</a:t>
            </a:r>
          </a:p>
        </p:txBody>
      </p:sp>
      <p:sp>
        <p:nvSpPr>
          <p:cNvPr id="13" name="TextBox 12">
            <a:extLst>
              <a:ext uri="{FF2B5EF4-FFF2-40B4-BE49-F238E27FC236}">
                <a16:creationId xmlns:a16="http://schemas.microsoft.com/office/drawing/2014/main" id="{9A67AB0B-C8F7-3980-2EE4-13CFAE359A83}"/>
              </a:ext>
            </a:extLst>
          </p:cNvPr>
          <p:cNvSpPr txBox="1"/>
          <p:nvPr/>
        </p:nvSpPr>
        <p:spPr>
          <a:xfrm>
            <a:off x="2289014" y="3118236"/>
            <a:ext cx="2834017" cy="923330"/>
          </a:xfrm>
          <a:prstGeom prst="rect">
            <a:avLst/>
          </a:prstGeom>
          <a:noFill/>
        </p:spPr>
        <p:txBody>
          <a:bodyPr wrap="square">
            <a:spAutoFit/>
          </a:bodyPr>
          <a:lstStyle/>
          <a:p>
            <a:r>
              <a:rPr lang="en-US" dirty="0">
                <a:solidFill>
                  <a:schemeClr val="bg1"/>
                </a:solidFill>
              </a:rPr>
              <a:t>Digtal Transformation done right with enhanced </a:t>
            </a:r>
            <a:r>
              <a:rPr lang="en-US" dirty="0">
                <a:solidFill>
                  <a:srgbClr val="399AFF"/>
                </a:solidFill>
              </a:rPr>
              <a:t>productivity and efficiency </a:t>
            </a:r>
          </a:p>
        </p:txBody>
      </p:sp>
      <p:sp>
        <p:nvSpPr>
          <p:cNvPr id="15" name="TextBox 14">
            <a:extLst>
              <a:ext uri="{FF2B5EF4-FFF2-40B4-BE49-F238E27FC236}">
                <a16:creationId xmlns:a16="http://schemas.microsoft.com/office/drawing/2014/main" id="{65C65F51-C697-D46D-FCB0-3BE8A8008840}"/>
              </a:ext>
            </a:extLst>
          </p:cNvPr>
          <p:cNvSpPr txBox="1"/>
          <p:nvPr/>
        </p:nvSpPr>
        <p:spPr>
          <a:xfrm>
            <a:off x="2247777" y="4820711"/>
            <a:ext cx="3616168" cy="923330"/>
          </a:xfrm>
          <a:prstGeom prst="rect">
            <a:avLst/>
          </a:prstGeom>
          <a:noFill/>
        </p:spPr>
        <p:txBody>
          <a:bodyPr wrap="square">
            <a:spAutoFit/>
          </a:bodyPr>
          <a:lstStyle/>
          <a:p>
            <a:r>
              <a:rPr lang="en-US" dirty="0">
                <a:solidFill>
                  <a:schemeClr val="bg1"/>
                </a:solidFill>
              </a:rPr>
              <a:t>Execution of critical journeys with a simplified approach yet </a:t>
            </a:r>
            <a:r>
              <a:rPr lang="en-US" dirty="0">
                <a:solidFill>
                  <a:srgbClr val="399AFF"/>
                </a:solidFill>
              </a:rPr>
              <a:t>impactful solutions</a:t>
            </a:r>
          </a:p>
        </p:txBody>
      </p:sp>
      <p:sp>
        <p:nvSpPr>
          <p:cNvPr id="17" name="TextBox 16">
            <a:extLst>
              <a:ext uri="{FF2B5EF4-FFF2-40B4-BE49-F238E27FC236}">
                <a16:creationId xmlns:a16="http://schemas.microsoft.com/office/drawing/2014/main" id="{F7F6434F-FADB-33AB-6D6C-2A129A39D175}"/>
              </a:ext>
            </a:extLst>
          </p:cNvPr>
          <p:cNvSpPr txBox="1"/>
          <p:nvPr/>
        </p:nvSpPr>
        <p:spPr>
          <a:xfrm>
            <a:off x="7841188" y="3118236"/>
            <a:ext cx="3794941" cy="923330"/>
          </a:xfrm>
          <a:prstGeom prst="rect">
            <a:avLst/>
          </a:prstGeom>
          <a:noFill/>
        </p:spPr>
        <p:txBody>
          <a:bodyPr wrap="square">
            <a:spAutoFit/>
          </a:bodyPr>
          <a:lstStyle/>
          <a:p>
            <a:pPr algn="just"/>
            <a:r>
              <a:rPr lang="en-US" dirty="0">
                <a:solidFill>
                  <a:srgbClr val="399AFF"/>
                </a:solidFill>
              </a:rPr>
              <a:t>Cost savings by </a:t>
            </a:r>
            <a:r>
              <a:rPr lang="en-US" b="1" dirty="0">
                <a:solidFill>
                  <a:srgbClr val="B6FF42"/>
                </a:solidFill>
              </a:rPr>
              <a:t>10X</a:t>
            </a:r>
            <a:r>
              <a:rPr lang="en-US" b="1" dirty="0">
                <a:solidFill>
                  <a:srgbClr val="399AFF"/>
                </a:solidFill>
              </a:rPr>
              <a:t> </a:t>
            </a:r>
            <a:r>
              <a:rPr lang="en-US" dirty="0">
                <a:solidFill>
                  <a:srgbClr val="399AFF"/>
                </a:solidFill>
              </a:rPr>
              <a:t>times </a:t>
            </a:r>
            <a:r>
              <a:rPr lang="en-US" dirty="0">
                <a:solidFill>
                  <a:schemeClr val="bg1"/>
                </a:solidFill>
              </a:rPr>
              <a:t>for all digital &amp; automation efforts resulting in execution excellence</a:t>
            </a:r>
          </a:p>
        </p:txBody>
      </p:sp>
      <p:sp>
        <p:nvSpPr>
          <p:cNvPr id="20" name="TextBox 19">
            <a:extLst>
              <a:ext uri="{FF2B5EF4-FFF2-40B4-BE49-F238E27FC236}">
                <a16:creationId xmlns:a16="http://schemas.microsoft.com/office/drawing/2014/main" id="{5151152C-10A0-4EA7-F1BB-857569CC0E53}"/>
              </a:ext>
            </a:extLst>
          </p:cNvPr>
          <p:cNvSpPr txBox="1"/>
          <p:nvPr/>
        </p:nvSpPr>
        <p:spPr>
          <a:xfrm>
            <a:off x="7944551" y="4794742"/>
            <a:ext cx="3691578" cy="923330"/>
          </a:xfrm>
          <a:prstGeom prst="rect">
            <a:avLst/>
          </a:prstGeom>
          <a:noFill/>
        </p:spPr>
        <p:txBody>
          <a:bodyPr wrap="square">
            <a:spAutoFit/>
          </a:bodyPr>
          <a:lstStyle/>
          <a:p>
            <a:pPr algn="just"/>
            <a:r>
              <a:rPr lang="en-US" dirty="0">
                <a:solidFill>
                  <a:srgbClr val="399AFF"/>
                </a:solidFill>
              </a:rPr>
              <a:t>Competitive licensing with </a:t>
            </a:r>
            <a:r>
              <a:rPr lang="en-US" dirty="0">
                <a:solidFill>
                  <a:srgbClr val="B6FF42"/>
                </a:solidFill>
              </a:rPr>
              <a:t>5X times</a:t>
            </a:r>
            <a:r>
              <a:rPr lang="en-US" dirty="0">
                <a:solidFill>
                  <a:schemeClr val="bg1"/>
                </a:solidFill>
              </a:rPr>
              <a:t> less than industry leading products resulting in Reduced </a:t>
            </a:r>
            <a:r>
              <a:rPr lang="en-US" dirty="0">
                <a:solidFill>
                  <a:srgbClr val="399AFF"/>
                </a:solidFill>
              </a:rPr>
              <a:t>Capex </a:t>
            </a:r>
          </a:p>
        </p:txBody>
      </p:sp>
      <p:sp>
        <p:nvSpPr>
          <p:cNvPr id="23" name="Rectangle 22">
            <a:extLst>
              <a:ext uri="{FF2B5EF4-FFF2-40B4-BE49-F238E27FC236}">
                <a16:creationId xmlns:a16="http://schemas.microsoft.com/office/drawing/2014/main" id="{03048C5E-8AC8-2B40-F6CF-927468672871}"/>
              </a:ext>
            </a:extLst>
          </p:cNvPr>
          <p:cNvSpPr/>
          <p:nvPr/>
        </p:nvSpPr>
        <p:spPr>
          <a:xfrm>
            <a:off x="6096885" y="1198090"/>
            <a:ext cx="5938244" cy="1653092"/>
          </a:xfrm>
          <a:prstGeom prst="rect">
            <a:avLst/>
          </a:prstGeom>
          <a:noFill/>
          <a:ln w="3175">
            <a:solidFill>
              <a:schemeClr val="accent1">
                <a:lumMod val="20000"/>
                <a:lumOff val="8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B46E6C8-5C00-6FB4-FEA9-47E2589231A0}"/>
              </a:ext>
            </a:extLst>
          </p:cNvPr>
          <p:cNvSpPr/>
          <p:nvPr/>
        </p:nvSpPr>
        <p:spPr>
          <a:xfrm>
            <a:off x="6095999" y="2851974"/>
            <a:ext cx="5938244" cy="1653092"/>
          </a:xfrm>
          <a:prstGeom prst="rect">
            <a:avLst/>
          </a:prstGeom>
          <a:noFill/>
          <a:ln w="3175">
            <a:solidFill>
              <a:schemeClr val="accent1">
                <a:lumMod val="20000"/>
                <a:lumOff val="8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278F0C5-E6FD-103C-AC36-8C30C2368AE7}"/>
              </a:ext>
            </a:extLst>
          </p:cNvPr>
          <p:cNvSpPr/>
          <p:nvPr/>
        </p:nvSpPr>
        <p:spPr>
          <a:xfrm>
            <a:off x="157756" y="2850608"/>
            <a:ext cx="5938244" cy="1653092"/>
          </a:xfrm>
          <a:prstGeom prst="rect">
            <a:avLst/>
          </a:prstGeom>
          <a:noFill/>
          <a:ln w="3175">
            <a:solidFill>
              <a:schemeClr val="accent1">
                <a:lumMod val="20000"/>
                <a:lumOff val="8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F23BFF1-3906-CE5F-E2A5-BC0478CC42E4}"/>
              </a:ext>
            </a:extLst>
          </p:cNvPr>
          <p:cNvSpPr/>
          <p:nvPr/>
        </p:nvSpPr>
        <p:spPr>
          <a:xfrm>
            <a:off x="6095999" y="4506399"/>
            <a:ext cx="5938244" cy="1653092"/>
          </a:xfrm>
          <a:prstGeom prst="rect">
            <a:avLst/>
          </a:prstGeom>
          <a:noFill/>
          <a:ln w="3175">
            <a:solidFill>
              <a:schemeClr val="accent1">
                <a:lumMod val="20000"/>
                <a:lumOff val="8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6C705F9-EA0B-4399-359D-EAC86C27D154}"/>
              </a:ext>
            </a:extLst>
          </p:cNvPr>
          <p:cNvSpPr/>
          <p:nvPr/>
        </p:nvSpPr>
        <p:spPr>
          <a:xfrm>
            <a:off x="157756" y="4511741"/>
            <a:ext cx="5938244" cy="1653092"/>
          </a:xfrm>
          <a:prstGeom prst="rect">
            <a:avLst/>
          </a:prstGeom>
          <a:noFill/>
          <a:ln w="3175">
            <a:solidFill>
              <a:schemeClr val="accent1">
                <a:lumMod val="20000"/>
                <a:lumOff val="8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Good Idea with solid fill">
            <a:extLst>
              <a:ext uri="{FF2B5EF4-FFF2-40B4-BE49-F238E27FC236}">
                <a16:creationId xmlns:a16="http://schemas.microsoft.com/office/drawing/2014/main" id="{D7C38A83-28EA-656E-2AEB-F7677FE7C1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9953" y="3116174"/>
            <a:ext cx="1200329" cy="1200329"/>
          </a:xfrm>
          <a:prstGeom prst="rect">
            <a:avLst/>
          </a:prstGeom>
        </p:spPr>
      </p:pic>
      <p:pic>
        <p:nvPicPr>
          <p:cNvPr id="29" name="Graphic 28" descr="Cmd Terminal outline">
            <a:extLst>
              <a:ext uri="{FF2B5EF4-FFF2-40B4-BE49-F238E27FC236}">
                <a16:creationId xmlns:a16="http://schemas.microsoft.com/office/drawing/2014/main" id="{F7FDC24A-23EA-9F0A-E7A5-40651DF0C1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2136" y="1459965"/>
            <a:ext cx="953144" cy="953144"/>
          </a:xfrm>
          <a:prstGeom prst="rect">
            <a:avLst/>
          </a:prstGeom>
        </p:spPr>
      </p:pic>
      <p:pic>
        <p:nvPicPr>
          <p:cNvPr id="31" name="Graphic 30" descr="Hierarchy with solid fill">
            <a:extLst>
              <a:ext uri="{FF2B5EF4-FFF2-40B4-BE49-F238E27FC236}">
                <a16:creationId xmlns:a16="http://schemas.microsoft.com/office/drawing/2014/main" id="{DD36B9D5-9729-06A9-652B-E634ED4F5A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5280" y="4659658"/>
            <a:ext cx="1084383" cy="1084383"/>
          </a:xfrm>
          <a:prstGeom prst="rect">
            <a:avLst/>
          </a:prstGeom>
        </p:spPr>
      </p:pic>
      <p:pic>
        <p:nvPicPr>
          <p:cNvPr id="39" name="Graphic 38" descr="Tax with solid fill">
            <a:extLst>
              <a:ext uri="{FF2B5EF4-FFF2-40B4-BE49-F238E27FC236}">
                <a16:creationId xmlns:a16="http://schemas.microsoft.com/office/drawing/2014/main" id="{270A81BF-AE43-50DC-9B5A-8FD686DE8F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3633" y="3138965"/>
            <a:ext cx="1070150" cy="1070150"/>
          </a:xfrm>
          <a:prstGeom prst="rect">
            <a:avLst/>
          </a:prstGeom>
        </p:spPr>
      </p:pic>
      <p:pic>
        <p:nvPicPr>
          <p:cNvPr id="41" name="Graphic 40" descr="Barcode outline">
            <a:extLst>
              <a:ext uri="{FF2B5EF4-FFF2-40B4-BE49-F238E27FC236}">
                <a16:creationId xmlns:a16="http://schemas.microsoft.com/office/drawing/2014/main" id="{29F5962C-6EAA-6B98-75B9-9B9CEE4AFF4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92468" y="4740250"/>
            <a:ext cx="914400" cy="914400"/>
          </a:xfrm>
          <a:prstGeom prst="rect">
            <a:avLst/>
          </a:prstGeom>
        </p:spPr>
      </p:pic>
      <p:sp>
        <p:nvSpPr>
          <p:cNvPr id="44" name="TextBox 43">
            <a:extLst>
              <a:ext uri="{FF2B5EF4-FFF2-40B4-BE49-F238E27FC236}">
                <a16:creationId xmlns:a16="http://schemas.microsoft.com/office/drawing/2014/main" id="{F24BD191-15C8-3076-6B4D-34BBA6BE586D}"/>
              </a:ext>
            </a:extLst>
          </p:cNvPr>
          <p:cNvSpPr txBox="1"/>
          <p:nvPr/>
        </p:nvSpPr>
        <p:spPr>
          <a:xfrm>
            <a:off x="857490" y="1677920"/>
            <a:ext cx="4538776" cy="584775"/>
          </a:xfrm>
          <a:prstGeom prst="rect">
            <a:avLst/>
          </a:prstGeom>
          <a:noFill/>
        </p:spPr>
        <p:txBody>
          <a:bodyPr wrap="square">
            <a:spAutoFit/>
          </a:bodyPr>
          <a:lstStyle/>
          <a:p>
            <a:r>
              <a:rPr lang="en-US" altLang="en-US" sz="3200" dirty="0">
                <a:solidFill>
                  <a:srgbClr val="B6FF42"/>
                </a:solidFill>
                <a:latin typeface="Arial" panose="020B0604020202020204" pitchFamily="34" charset="0"/>
              </a:rPr>
              <a:t>F</a:t>
            </a:r>
            <a:r>
              <a:rPr kumimoji="0" lang="en-US" altLang="en-US" sz="3200" i="0" u="none" strike="noStrike" cap="none" normalizeH="0" baseline="0" dirty="0">
                <a:ln>
                  <a:noFill/>
                </a:ln>
                <a:solidFill>
                  <a:srgbClr val="B6FF42"/>
                </a:solidFill>
                <a:effectLst/>
                <a:latin typeface="Arial" panose="020B0604020202020204" pitchFamily="34" charset="0"/>
              </a:rPr>
              <a:t>or enterprises at scale</a:t>
            </a:r>
            <a:endParaRPr lang="en-US" sz="3200" dirty="0">
              <a:solidFill>
                <a:srgbClr val="B6FF42"/>
              </a:solidFill>
            </a:endParaRPr>
          </a:p>
        </p:txBody>
      </p:sp>
      <p:sp>
        <p:nvSpPr>
          <p:cNvPr id="7" name="Rectangle: Top Corners Rounded 6">
            <a:extLst>
              <a:ext uri="{FF2B5EF4-FFF2-40B4-BE49-F238E27FC236}">
                <a16:creationId xmlns:a16="http://schemas.microsoft.com/office/drawing/2014/main" id="{2198DB0B-2ECD-B2EC-213A-01D24FBDB270}"/>
              </a:ext>
            </a:extLst>
          </p:cNvPr>
          <p:cNvSpPr/>
          <p:nvPr/>
        </p:nvSpPr>
        <p:spPr>
          <a:xfrm rot="10800000">
            <a:off x="174819" y="0"/>
            <a:ext cx="3443217"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F370BB77-5462-695D-6F79-B4C6F958864A}"/>
              </a:ext>
            </a:extLst>
          </p:cNvPr>
          <p:cNvSpPr txBox="1"/>
          <p:nvPr/>
        </p:nvSpPr>
        <p:spPr>
          <a:xfrm>
            <a:off x="786461" y="10793"/>
            <a:ext cx="2270237" cy="369332"/>
          </a:xfrm>
          <a:prstGeom prst="rect">
            <a:avLst/>
          </a:prstGeom>
          <a:noFill/>
        </p:spPr>
        <p:txBody>
          <a:bodyPr wrap="none" rtlCol="0">
            <a:spAutoFit/>
          </a:bodyPr>
          <a:lstStyle/>
          <a:p>
            <a:r>
              <a:rPr lang="en-IN" dirty="0">
                <a:solidFill>
                  <a:schemeClr val="bg1"/>
                </a:solidFill>
              </a:rPr>
              <a:t>Competitive Benefits</a:t>
            </a:r>
          </a:p>
        </p:txBody>
      </p:sp>
      <p:pic>
        <p:nvPicPr>
          <p:cNvPr id="10" name="Picture 9">
            <a:extLst>
              <a:ext uri="{FF2B5EF4-FFF2-40B4-BE49-F238E27FC236}">
                <a16:creationId xmlns:a16="http://schemas.microsoft.com/office/drawing/2014/main" id="{899DB5B7-6623-3BC2-05B7-A00F8913C4F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475684" y="44075"/>
            <a:ext cx="1413047" cy="681773"/>
          </a:xfrm>
          <a:prstGeom prst="rect">
            <a:avLst/>
          </a:prstGeom>
        </p:spPr>
      </p:pic>
    </p:spTree>
    <p:extLst>
      <p:ext uri="{BB962C8B-B14F-4D97-AF65-F5344CB8AC3E}">
        <p14:creationId xmlns:p14="http://schemas.microsoft.com/office/powerpoint/2010/main" val="1209553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E99A5-50FB-3769-7347-1884196B548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7D9806C-B19D-3836-98D6-066563EBB92D}"/>
              </a:ext>
            </a:extLst>
          </p:cNvPr>
          <p:cNvSpPr/>
          <p:nvPr/>
        </p:nvSpPr>
        <p:spPr>
          <a:xfrm>
            <a:off x="1909" y="-690"/>
            <a:ext cx="12192000" cy="685869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 name="Rectangle: Top Corners Rounded 1">
            <a:extLst>
              <a:ext uri="{FF2B5EF4-FFF2-40B4-BE49-F238E27FC236}">
                <a16:creationId xmlns:a16="http://schemas.microsoft.com/office/drawing/2014/main" id="{4E66B7DE-ED19-237F-B2E0-407A47D185EF}"/>
              </a:ext>
            </a:extLst>
          </p:cNvPr>
          <p:cNvSpPr/>
          <p:nvPr/>
        </p:nvSpPr>
        <p:spPr>
          <a:xfrm rot="10800000">
            <a:off x="174819" y="0"/>
            <a:ext cx="3443217"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6E1B19FF-5678-2274-C25F-DDA487D20217}"/>
              </a:ext>
            </a:extLst>
          </p:cNvPr>
          <p:cNvSpPr txBox="1"/>
          <p:nvPr/>
        </p:nvSpPr>
        <p:spPr>
          <a:xfrm>
            <a:off x="832182" y="20391"/>
            <a:ext cx="2160591" cy="369332"/>
          </a:xfrm>
          <a:prstGeom prst="rect">
            <a:avLst/>
          </a:prstGeom>
          <a:noFill/>
        </p:spPr>
        <p:txBody>
          <a:bodyPr wrap="none" rtlCol="0">
            <a:spAutoFit/>
          </a:bodyPr>
          <a:lstStyle/>
          <a:p>
            <a:r>
              <a:rPr lang="en-IN" dirty="0">
                <a:solidFill>
                  <a:schemeClr val="bg1"/>
                </a:solidFill>
              </a:rPr>
              <a:t>Solutions Delivered</a:t>
            </a:r>
          </a:p>
        </p:txBody>
      </p:sp>
      <p:sp>
        <p:nvSpPr>
          <p:cNvPr id="20" name="Rectangle 19">
            <a:extLst>
              <a:ext uri="{FF2B5EF4-FFF2-40B4-BE49-F238E27FC236}">
                <a16:creationId xmlns:a16="http://schemas.microsoft.com/office/drawing/2014/main" id="{E473420A-2A2C-6988-2EC2-6FD415E43E2D}"/>
              </a:ext>
            </a:extLst>
          </p:cNvPr>
          <p:cNvSpPr/>
          <p:nvPr/>
        </p:nvSpPr>
        <p:spPr>
          <a:xfrm>
            <a:off x="0" y="5220182"/>
            <a:ext cx="12190091" cy="1668206"/>
          </a:xfrm>
          <a:prstGeom prst="rect">
            <a:avLst/>
          </a:prstGeom>
          <a:gradFill flip="none" rotWithShape="1">
            <a:gsLst>
              <a:gs pos="0">
                <a:srgbClr val="B6FF42">
                  <a:shade val="30000"/>
                  <a:satMod val="115000"/>
                  <a:alpha val="0"/>
                </a:srgbClr>
              </a:gs>
              <a:gs pos="100000">
                <a:srgbClr val="B6FF42">
                  <a:shade val="100000"/>
                  <a:satMod val="115000"/>
                  <a:alpha val="36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0" name="Diagram 9">
            <a:extLst>
              <a:ext uri="{FF2B5EF4-FFF2-40B4-BE49-F238E27FC236}">
                <a16:creationId xmlns:a16="http://schemas.microsoft.com/office/drawing/2014/main" id="{E47FE019-352C-6F78-EBBF-4F60AC2635AB}"/>
              </a:ext>
            </a:extLst>
          </p:cNvPr>
          <p:cNvGraphicFramePr/>
          <p:nvPr>
            <p:extLst>
              <p:ext uri="{D42A27DB-BD31-4B8C-83A1-F6EECF244321}">
                <p14:modId xmlns:p14="http://schemas.microsoft.com/office/powerpoint/2010/main" val="257787665"/>
              </p:ext>
            </p:extLst>
          </p:nvPr>
        </p:nvGraphicFramePr>
        <p:xfrm>
          <a:off x="524285" y="1206287"/>
          <a:ext cx="11027249" cy="48447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1">
            <a:extLst>
              <a:ext uri="{FF2B5EF4-FFF2-40B4-BE49-F238E27FC236}">
                <a16:creationId xmlns:a16="http://schemas.microsoft.com/office/drawing/2014/main" id="{CE7412DE-9720-7573-75DA-7326791C78CC}"/>
              </a:ext>
            </a:extLst>
          </p:cNvPr>
          <p:cNvSpPr>
            <a:spLocks noChangeArrowheads="1"/>
          </p:cNvSpPr>
          <p:nvPr/>
        </p:nvSpPr>
        <p:spPr bwMode="auto">
          <a:xfrm>
            <a:off x="609625" y="728417"/>
            <a:ext cx="585648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2800" dirty="0">
                <a:solidFill>
                  <a:srgbClr val="399AFF"/>
                </a:solidFill>
                <a:latin typeface="Arial" panose="020B0604020202020204" pitchFamily="34" charset="0"/>
              </a:rPr>
              <a:t>By </a:t>
            </a:r>
            <a:r>
              <a:rPr kumimoji="0" lang="en-US" altLang="en-US" sz="2800" i="0" u="none" strike="noStrike" cap="none" normalizeH="0" baseline="0" dirty="0">
                <a:ln>
                  <a:noFill/>
                </a:ln>
                <a:solidFill>
                  <a:srgbClr val="399AFF"/>
                </a:solidFill>
                <a:effectLst/>
                <a:latin typeface="Arial" panose="020B0604020202020204" pitchFamily="34" charset="0"/>
              </a:rPr>
              <a:t>Industry Verticals</a:t>
            </a:r>
          </a:p>
        </p:txBody>
      </p:sp>
      <p:pic>
        <p:nvPicPr>
          <p:cNvPr id="4" name="Picture 3">
            <a:extLst>
              <a:ext uri="{FF2B5EF4-FFF2-40B4-BE49-F238E27FC236}">
                <a16:creationId xmlns:a16="http://schemas.microsoft.com/office/drawing/2014/main" id="{8BFEBAC0-38B1-EF34-F342-66C3DF3D2C37}"/>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0475684" y="44075"/>
            <a:ext cx="1413047" cy="681773"/>
          </a:xfrm>
          <a:prstGeom prst="rect">
            <a:avLst/>
          </a:prstGeom>
        </p:spPr>
      </p:pic>
    </p:spTree>
    <p:extLst>
      <p:ext uri="{BB962C8B-B14F-4D97-AF65-F5344CB8AC3E}">
        <p14:creationId xmlns:p14="http://schemas.microsoft.com/office/powerpoint/2010/main" val="1598884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B6223-300F-4B24-A953-1EC4397E40D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AC9027D-6B9F-288B-EFEB-2CF1F3A2A580}"/>
              </a:ext>
            </a:extLst>
          </p:cNvPr>
          <p:cNvSpPr/>
          <p:nvPr/>
        </p:nvSpPr>
        <p:spPr>
          <a:xfrm>
            <a:off x="1909" y="-690"/>
            <a:ext cx="12192000" cy="685869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4A4FE269-B201-61B7-0FB3-91CA1F556071}"/>
              </a:ext>
            </a:extLst>
          </p:cNvPr>
          <p:cNvSpPr/>
          <p:nvPr/>
        </p:nvSpPr>
        <p:spPr>
          <a:xfrm>
            <a:off x="0" y="3429001"/>
            <a:ext cx="12190091" cy="3459388"/>
          </a:xfrm>
          <a:prstGeom prst="rect">
            <a:avLst/>
          </a:prstGeom>
          <a:gradFill flip="none" rotWithShape="1">
            <a:gsLst>
              <a:gs pos="0">
                <a:srgbClr val="B6FF42">
                  <a:shade val="30000"/>
                  <a:satMod val="115000"/>
                  <a:alpha val="0"/>
                </a:srgbClr>
              </a:gs>
              <a:gs pos="100000">
                <a:srgbClr val="399AFF">
                  <a:alpha val="4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0" name="Diagram 9">
            <a:extLst>
              <a:ext uri="{FF2B5EF4-FFF2-40B4-BE49-F238E27FC236}">
                <a16:creationId xmlns:a16="http://schemas.microsoft.com/office/drawing/2014/main" id="{5FFD0DBE-97A2-371D-E498-F2614BAD7461}"/>
              </a:ext>
            </a:extLst>
          </p:cNvPr>
          <p:cNvGraphicFramePr/>
          <p:nvPr>
            <p:extLst>
              <p:ext uri="{D42A27DB-BD31-4B8C-83A1-F6EECF244321}">
                <p14:modId xmlns:p14="http://schemas.microsoft.com/office/powerpoint/2010/main" val="4065931495"/>
              </p:ext>
            </p:extLst>
          </p:nvPr>
        </p:nvGraphicFramePr>
        <p:xfrm>
          <a:off x="362240" y="1324374"/>
          <a:ext cx="11490237" cy="48447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1">
            <a:extLst>
              <a:ext uri="{FF2B5EF4-FFF2-40B4-BE49-F238E27FC236}">
                <a16:creationId xmlns:a16="http://schemas.microsoft.com/office/drawing/2014/main" id="{F453E1D4-C2D0-9D29-74E5-5F0E80FBBD65}"/>
              </a:ext>
            </a:extLst>
          </p:cNvPr>
          <p:cNvSpPr>
            <a:spLocks noChangeArrowheads="1"/>
          </p:cNvSpPr>
          <p:nvPr/>
        </p:nvSpPr>
        <p:spPr bwMode="auto">
          <a:xfrm>
            <a:off x="609625" y="728417"/>
            <a:ext cx="585648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rgbClr val="399AFF"/>
                </a:solidFill>
                <a:effectLst/>
                <a:latin typeface="Arial" panose="020B0604020202020204" pitchFamily="34" charset="0"/>
              </a:rPr>
              <a:t>By functions</a:t>
            </a:r>
          </a:p>
        </p:txBody>
      </p:sp>
      <p:sp>
        <p:nvSpPr>
          <p:cNvPr id="4" name="Rectangle: Top Corners Rounded 3">
            <a:extLst>
              <a:ext uri="{FF2B5EF4-FFF2-40B4-BE49-F238E27FC236}">
                <a16:creationId xmlns:a16="http://schemas.microsoft.com/office/drawing/2014/main" id="{1FE94671-4693-0067-5DBA-145B08606410}"/>
              </a:ext>
            </a:extLst>
          </p:cNvPr>
          <p:cNvSpPr/>
          <p:nvPr/>
        </p:nvSpPr>
        <p:spPr>
          <a:xfrm rot="10800000">
            <a:off x="174819" y="0"/>
            <a:ext cx="3443217"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56C348F4-C46B-FF1F-C981-CFBCE88BA529}"/>
              </a:ext>
            </a:extLst>
          </p:cNvPr>
          <p:cNvSpPr txBox="1"/>
          <p:nvPr/>
        </p:nvSpPr>
        <p:spPr>
          <a:xfrm>
            <a:off x="832182" y="20391"/>
            <a:ext cx="2160591" cy="369332"/>
          </a:xfrm>
          <a:prstGeom prst="rect">
            <a:avLst/>
          </a:prstGeom>
          <a:noFill/>
        </p:spPr>
        <p:txBody>
          <a:bodyPr wrap="none" rtlCol="0">
            <a:spAutoFit/>
          </a:bodyPr>
          <a:lstStyle/>
          <a:p>
            <a:r>
              <a:rPr lang="en-IN" dirty="0">
                <a:solidFill>
                  <a:schemeClr val="bg1"/>
                </a:solidFill>
              </a:rPr>
              <a:t>Solutions Delivered</a:t>
            </a:r>
          </a:p>
        </p:txBody>
      </p:sp>
      <p:pic>
        <p:nvPicPr>
          <p:cNvPr id="6" name="Picture 5">
            <a:extLst>
              <a:ext uri="{FF2B5EF4-FFF2-40B4-BE49-F238E27FC236}">
                <a16:creationId xmlns:a16="http://schemas.microsoft.com/office/drawing/2014/main" id="{6BCBA403-FB49-559C-8946-49DED0824C8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0475684" y="44075"/>
            <a:ext cx="1413047" cy="681773"/>
          </a:xfrm>
          <a:prstGeom prst="rect">
            <a:avLst/>
          </a:prstGeom>
        </p:spPr>
      </p:pic>
    </p:spTree>
    <p:extLst>
      <p:ext uri="{BB962C8B-B14F-4D97-AF65-F5344CB8AC3E}">
        <p14:creationId xmlns:p14="http://schemas.microsoft.com/office/powerpoint/2010/main" val="3989045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894BA-726C-5253-1415-9C5896840C0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0D26FDA-BFB2-11CE-076C-5C852F6670BB}"/>
              </a:ext>
            </a:extLst>
          </p:cNvPr>
          <p:cNvSpPr/>
          <p:nvPr/>
        </p:nvSpPr>
        <p:spPr>
          <a:xfrm>
            <a:off x="1909" y="-690"/>
            <a:ext cx="12192000" cy="685869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157EEABB-B723-4B64-A4C4-B8CC37AEA5B1}"/>
              </a:ext>
            </a:extLst>
          </p:cNvPr>
          <p:cNvSpPr/>
          <p:nvPr/>
        </p:nvSpPr>
        <p:spPr>
          <a:xfrm>
            <a:off x="0" y="3429001"/>
            <a:ext cx="12190091" cy="3459388"/>
          </a:xfrm>
          <a:prstGeom prst="rect">
            <a:avLst/>
          </a:prstGeom>
          <a:gradFill flip="none" rotWithShape="1">
            <a:gsLst>
              <a:gs pos="0">
                <a:srgbClr val="B6FF42">
                  <a:shade val="30000"/>
                  <a:satMod val="115000"/>
                  <a:alpha val="0"/>
                </a:srgbClr>
              </a:gs>
              <a:gs pos="100000">
                <a:srgbClr val="399AFF">
                  <a:alpha val="4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Top Corners Rounded 3">
            <a:extLst>
              <a:ext uri="{FF2B5EF4-FFF2-40B4-BE49-F238E27FC236}">
                <a16:creationId xmlns:a16="http://schemas.microsoft.com/office/drawing/2014/main" id="{93A34BE2-4316-38B1-5BA9-52564E9F7532}"/>
              </a:ext>
            </a:extLst>
          </p:cNvPr>
          <p:cNvSpPr/>
          <p:nvPr/>
        </p:nvSpPr>
        <p:spPr>
          <a:xfrm rot="10800000">
            <a:off x="174819" y="0"/>
            <a:ext cx="3443217"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040891DC-9470-53D2-4303-6E647D88F7DF}"/>
              </a:ext>
            </a:extLst>
          </p:cNvPr>
          <p:cNvSpPr txBox="1"/>
          <p:nvPr/>
        </p:nvSpPr>
        <p:spPr>
          <a:xfrm>
            <a:off x="832182" y="20391"/>
            <a:ext cx="1188146" cy="369332"/>
          </a:xfrm>
          <a:prstGeom prst="rect">
            <a:avLst/>
          </a:prstGeom>
          <a:noFill/>
        </p:spPr>
        <p:txBody>
          <a:bodyPr wrap="none" rtlCol="0">
            <a:spAutoFit/>
          </a:bodyPr>
          <a:lstStyle/>
          <a:p>
            <a:r>
              <a:rPr lang="en-IN" dirty="0" err="1">
                <a:solidFill>
                  <a:schemeClr val="bg1"/>
                </a:solidFill>
              </a:rPr>
              <a:t>Hooklines</a:t>
            </a:r>
            <a:endParaRPr lang="en-IN" dirty="0">
              <a:solidFill>
                <a:schemeClr val="bg1"/>
              </a:solidFill>
            </a:endParaRPr>
          </a:p>
        </p:txBody>
      </p:sp>
      <p:pic>
        <p:nvPicPr>
          <p:cNvPr id="6" name="Picture 5">
            <a:extLst>
              <a:ext uri="{FF2B5EF4-FFF2-40B4-BE49-F238E27FC236}">
                <a16:creationId xmlns:a16="http://schemas.microsoft.com/office/drawing/2014/main" id="{AE0DDC13-1324-F4ED-1CD8-394AFE0C233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475684" y="44075"/>
            <a:ext cx="1413047" cy="681773"/>
          </a:xfrm>
          <a:prstGeom prst="rect">
            <a:avLst/>
          </a:prstGeom>
        </p:spPr>
      </p:pic>
      <p:sp>
        <p:nvSpPr>
          <p:cNvPr id="3" name="TextBox 2">
            <a:extLst>
              <a:ext uri="{FF2B5EF4-FFF2-40B4-BE49-F238E27FC236}">
                <a16:creationId xmlns:a16="http://schemas.microsoft.com/office/drawing/2014/main" id="{F7C27D28-D4E6-E883-20D6-B3F377CE6E9A}"/>
              </a:ext>
            </a:extLst>
          </p:cNvPr>
          <p:cNvSpPr txBox="1"/>
          <p:nvPr/>
        </p:nvSpPr>
        <p:spPr>
          <a:xfrm>
            <a:off x="1473201" y="1910140"/>
            <a:ext cx="9814559" cy="3170099"/>
          </a:xfrm>
          <a:prstGeom prst="rect">
            <a:avLst/>
          </a:prstGeom>
          <a:noFill/>
        </p:spPr>
        <p:txBody>
          <a:bodyPr wrap="square">
            <a:spAutoFit/>
          </a:bodyPr>
          <a:lstStyle/>
          <a:p>
            <a:pPr>
              <a:buNone/>
            </a:pPr>
            <a:r>
              <a:rPr lang="en-IN" sz="2000" b="1" dirty="0" err="1">
                <a:solidFill>
                  <a:schemeClr val="bg1">
                    <a:lumMod val="95000"/>
                  </a:schemeClr>
                </a:solidFill>
              </a:rPr>
              <a:t>Skiode</a:t>
            </a:r>
            <a:r>
              <a:rPr lang="en-IN" sz="2000" b="1" dirty="0">
                <a:solidFill>
                  <a:schemeClr val="bg1">
                    <a:lumMod val="95000"/>
                  </a:schemeClr>
                </a:solidFill>
              </a:rPr>
              <a:t> helps organizations simplify operations, automate processes, and gain complete visibility into their business—enabling faster execution, better control, and sustainable growth.</a:t>
            </a:r>
          </a:p>
          <a:p>
            <a:pPr>
              <a:buNone/>
            </a:pPr>
            <a:endParaRPr lang="en-IN" sz="2000" b="1" dirty="0">
              <a:solidFill>
                <a:schemeClr val="bg1">
                  <a:lumMod val="95000"/>
                </a:schemeClr>
              </a:solidFill>
            </a:endParaRPr>
          </a:p>
          <a:p>
            <a:pPr>
              <a:buNone/>
            </a:pPr>
            <a:endParaRPr lang="en-IN" sz="2000" dirty="0">
              <a:solidFill>
                <a:srgbClr val="B6FF42"/>
              </a:solidFill>
            </a:endParaRPr>
          </a:p>
          <a:p>
            <a:pPr>
              <a:buNone/>
            </a:pPr>
            <a:r>
              <a:rPr lang="en-IN" sz="2000" b="1" dirty="0">
                <a:solidFill>
                  <a:srgbClr val="B6FF42"/>
                </a:solidFill>
              </a:rPr>
              <a:t>For example, </a:t>
            </a:r>
            <a:r>
              <a:rPr lang="en-IN" sz="2000" b="1" dirty="0">
                <a:solidFill>
                  <a:schemeClr val="bg1">
                    <a:lumMod val="95000"/>
                  </a:schemeClr>
                </a:solidFill>
              </a:rPr>
              <a:t>whether it's employee onboarding, procurement approvals, customer service requests, contract management, project tracking, or manufacturing operations, </a:t>
            </a:r>
            <a:r>
              <a:rPr lang="en-IN" sz="2000" b="1" dirty="0" err="1">
                <a:solidFill>
                  <a:schemeClr val="bg1">
                    <a:lumMod val="95000"/>
                  </a:schemeClr>
                </a:solidFill>
              </a:rPr>
              <a:t>Skiode</a:t>
            </a:r>
            <a:r>
              <a:rPr lang="en-IN" sz="2000" b="1" dirty="0">
                <a:solidFill>
                  <a:schemeClr val="bg1">
                    <a:lumMod val="95000"/>
                  </a:schemeClr>
                </a:solidFill>
              </a:rPr>
              <a:t> brings every step, approval, document, and status update into a single digital platform—making work faster, more transparent, and easier to manage.</a:t>
            </a:r>
            <a:endParaRPr lang="en-IN" sz="2000" dirty="0">
              <a:solidFill>
                <a:schemeClr val="bg1">
                  <a:lumMod val="95000"/>
                </a:schemeClr>
              </a:solidFill>
            </a:endParaRPr>
          </a:p>
        </p:txBody>
      </p:sp>
    </p:spTree>
    <p:extLst>
      <p:ext uri="{BB962C8B-B14F-4D97-AF65-F5344CB8AC3E}">
        <p14:creationId xmlns:p14="http://schemas.microsoft.com/office/powerpoint/2010/main" val="425562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0365-A2B9-1757-A3AE-F22FC664B56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F6E6CBA-516E-B731-A9B8-46EFFE25B6DA}"/>
              </a:ext>
            </a:extLst>
          </p:cNvPr>
          <p:cNvSpPr/>
          <p:nvPr/>
        </p:nvSpPr>
        <p:spPr>
          <a:xfrm>
            <a:off x="1909" y="-690"/>
            <a:ext cx="12192000" cy="685869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2A0D64B2-F1DF-9DD3-28BC-F4E3B81EAD84}"/>
              </a:ext>
            </a:extLst>
          </p:cNvPr>
          <p:cNvSpPr/>
          <p:nvPr/>
        </p:nvSpPr>
        <p:spPr>
          <a:xfrm>
            <a:off x="0" y="3429001"/>
            <a:ext cx="12190091" cy="3459388"/>
          </a:xfrm>
          <a:prstGeom prst="rect">
            <a:avLst/>
          </a:prstGeom>
          <a:gradFill flip="none" rotWithShape="1">
            <a:gsLst>
              <a:gs pos="0">
                <a:srgbClr val="B6FF42">
                  <a:shade val="30000"/>
                  <a:satMod val="115000"/>
                  <a:alpha val="0"/>
                </a:srgbClr>
              </a:gs>
              <a:gs pos="100000">
                <a:srgbClr val="399AFF">
                  <a:alpha val="4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Top Corners Rounded 3">
            <a:extLst>
              <a:ext uri="{FF2B5EF4-FFF2-40B4-BE49-F238E27FC236}">
                <a16:creationId xmlns:a16="http://schemas.microsoft.com/office/drawing/2014/main" id="{357C2F4E-030C-8D8F-5F10-96969BE1748D}"/>
              </a:ext>
            </a:extLst>
          </p:cNvPr>
          <p:cNvSpPr/>
          <p:nvPr/>
        </p:nvSpPr>
        <p:spPr>
          <a:xfrm rot="10800000">
            <a:off x="174819" y="0"/>
            <a:ext cx="3443217"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1D687C55-E6DA-F6B1-B42D-A0E91C4E84F7}"/>
              </a:ext>
            </a:extLst>
          </p:cNvPr>
          <p:cNvSpPr txBox="1"/>
          <p:nvPr/>
        </p:nvSpPr>
        <p:spPr>
          <a:xfrm>
            <a:off x="832182" y="20391"/>
            <a:ext cx="1188146" cy="369332"/>
          </a:xfrm>
          <a:prstGeom prst="rect">
            <a:avLst/>
          </a:prstGeom>
          <a:noFill/>
        </p:spPr>
        <p:txBody>
          <a:bodyPr wrap="none" rtlCol="0">
            <a:spAutoFit/>
          </a:bodyPr>
          <a:lstStyle/>
          <a:p>
            <a:r>
              <a:rPr lang="en-IN" dirty="0" err="1">
                <a:solidFill>
                  <a:schemeClr val="bg1"/>
                </a:solidFill>
              </a:rPr>
              <a:t>Hooklines</a:t>
            </a:r>
            <a:endParaRPr lang="en-IN" dirty="0">
              <a:solidFill>
                <a:schemeClr val="bg1"/>
              </a:solidFill>
            </a:endParaRPr>
          </a:p>
        </p:txBody>
      </p:sp>
      <p:pic>
        <p:nvPicPr>
          <p:cNvPr id="6" name="Picture 5">
            <a:extLst>
              <a:ext uri="{FF2B5EF4-FFF2-40B4-BE49-F238E27FC236}">
                <a16:creationId xmlns:a16="http://schemas.microsoft.com/office/drawing/2014/main" id="{A3DEFF93-F056-8F11-D895-72CB021452A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475684" y="44075"/>
            <a:ext cx="1413047" cy="681773"/>
          </a:xfrm>
          <a:prstGeom prst="rect">
            <a:avLst/>
          </a:prstGeom>
        </p:spPr>
      </p:pic>
      <p:sp>
        <p:nvSpPr>
          <p:cNvPr id="3" name="TextBox 2">
            <a:extLst>
              <a:ext uri="{FF2B5EF4-FFF2-40B4-BE49-F238E27FC236}">
                <a16:creationId xmlns:a16="http://schemas.microsoft.com/office/drawing/2014/main" id="{61A7627B-1A27-AE9E-3D7F-AA1D4AB12E36}"/>
              </a:ext>
            </a:extLst>
          </p:cNvPr>
          <p:cNvSpPr txBox="1"/>
          <p:nvPr/>
        </p:nvSpPr>
        <p:spPr>
          <a:xfrm>
            <a:off x="568960" y="554057"/>
            <a:ext cx="10525760" cy="1754326"/>
          </a:xfrm>
          <a:prstGeom prst="rect">
            <a:avLst/>
          </a:prstGeom>
          <a:noFill/>
        </p:spPr>
        <p:txBody>
          <a:bodyPr wrap="square">
            <a:spAutoFit/>
          </a:bodyPr>
          <a:lstStyle/>
          <a:p>
            <a:pPr>
              <a:buNone/>
            </a:pPr>
            <a:r>
              <a:rPr lang="en-IN" b="1" dirty="0">
                <a:solidFill>
                  <a:srgbClr val="B6FF42"/>
                </a:solidFill>
              </a:rPr>
              <a:t>Recommended for Middle East Positioning</a:t>
            </a:r>
          </a:p>
          <a:p>
            <a:pPr>
              <a:buNone/>
            </a:pPr>
            <a:endParaRPr lang="en-IN" b="1" dirty="0">
              <a:solidFill>
                <a:srgbClr val="B6FF42"/>
              </a:solidFill>
            </a:endParaRPr>
          </a:p>
          <a:p>
            <a:pPr>
              <a:buNone/>
            </a:pPr>
            <a:r>
              <a:rPr lang="en-IN" sz="2400" b="1" dirty="0">
                <a:solidFill>
                  <a:schemeClr val="bg1"/>
                </a:solidFill>
              </a:rPr>
              <a:t>"</a:t>
            </a:r>
            <a:r>
              <a:rPr lang="en-IN" sz="2400" b="1" dirty="0" err="1">
                <a:solidFill>
                  <a:schemeClr val="bg1"/>
                </a:solidFill>
              </a:rPr>
              <a:t>Skiode</a:t>
            </a:r>
            <a:r>
              <a:rPr lang="en-IN" sz="2400" b="1" dirty="0">
                <a:solidFill>
                  <a:schemeClr val="bg1"/>
                </a:solidFill>
              </a:rPr>
              <a:t> helps organizations gain complete visibility, automate operations, and accelerate digital transformation—without the complexity of traditional software development."</a:t>
            </a:r>
            <a:endParaRPr lang="en-IN" sz="2400" dirty="0">
              <a:solidFill>
                <a:schemeClr val="bg1"/>
              </a:solidFill>
            </a:endParaRPr>
          </a:p>
        </p:txBody>
      </p:sp>
      <p:sp>
        <p:nvSpPr>
          <p:cNvPr id="10" name="TextBox 9">
            <a:extLst>
              <a:ext uri="{FF2B5EF4-FFF2-40B4-BE49-F238E27FC236}">
                <a16:creationId xmlns:a16="http://schemas.microsoft.com/office/drawing/2014/main" id="{BA7B0E3F-8C06-D457-ECA3-AD4947B14D30}"/>
              </a:ext>
            </a:extLst>
          </p:cNvPr>
          <p:cNvSpPr txBox="1"/>
          <p:nvPr/>
        </p:nvSpPr>
        <p:spPr>
          <a:xfrm>
            <a:off x="174819" y="2463112"/>
            <a:ext cx="5657021" cy="4247317"/>
          </a:xfrm>
          <a:prstGeom prst="rect">
            <a:avLst/>
          </a:prstGeom>
          <a:noFill/>
        </p:spPr>
        <p:txBody>
          <a:bodyPr wrap="square">
            <a:spAutoFit/>
          </a:bodyPr>
          <a:lstStyle/>
          <a:p>
            <a:pPr>
              <a:buNone/>
            </a:pPr>
            <a:r>
              <a:rPr lang="en-IN" dirty="0">
                <a:solidFill>
                  <a:srgbClr val="B6FF42"/>
                </a:solidFill>
              </a:rPr>
              <a:t>1. Growth &amp; Efficiency</a:t>
            </a:r>
          </a:p>
          <a:p>
            <a:pPr>
              <a:buNone/>
            </a:pPr>
            <a:r>
              <a:rPr lang="en-IN" dirty="0" err="1">
                <a:solidFill>
                  <a:schemeClr val="bg1"/>
                </a:solidFill>
              </a:rPr>
              <a:t>Skiode</a:t>
            </a:r>
            <a:r>
              <a:rPr lang="en-IN" dirty="0">
                <a:solidFill>
                  <a:schemeClr val="bg1"/>
                </a:solidFill>
              </a:rPr>
              <a:t> helps growing businesses scale operations without scaling complexity.</a:t>
            </a:r>
          </a:p>
          <a:p>
            <a:pPr>
              <a:buNone/>
            </a:pPr>
            <a:r>
              <a:rPr lang="en-IN" dirty="0">
                <a:solidFill>
                  <a:srgbClr val="B6FF42"/>
                </a:solidFill>
              </a:rPr>
              <a:t>2. Digital Transformation</a:t>
            </a:r>
          </a:p>
          <a:p>
            <a:pPr>
              <a:buNone/>
            </a:pPr>
            <a:r>
              <a:rPr lang="en-IN" dirty="0" err="1">
                <a:solidFill>
                  <a:schemeClr val="bg1"/>
                </a:solidFill>
              </a:rPr>
              <a:t>Skiode</a:t>
            </a:r>
            <a:r>
              <a:rPr lang="en-IN" dirty="0">
                <a:solidFill>
                  <a:schemeClr val="bg1"/>
                </a:solidFill>
              </a:rPr>
              <a:t> turns manual processes into digital business advantages.</a:t>
            </a:r>
          </a:p>
          <a:p>
            <a:pPr>
              <a:buNone/>
            </a:pPr>
            <a:r>
              <a:rPr lang="en-IN" dirty="0">
                <a:solidFill>
                  <a:srgbClr val="B6FF42"/>
                </a:solidFill>
              </a:rPr>
              <a:t>3. Control &amp; Visibility</a:t>
            </a:r>
          </a:p>
          <a:p>
            <a:pPr>
              <a:buNone/>
            </a:pPr>
            <a:r>
              <a:rPr lang="en-IN" dirty="0" err="1">
                <a:solidFill>
                  <a:schemeClr val="bg1"/>
                </a:solidFill>
              </a:rPr>
              <a:t>Skiode</a:t>
            </a:r>
            <a:r>
              <a:rPr lang="en-IN" dirty="0">
                <a:solidFill>
                  <a:schemeClr val="bg1"/>
                </a:solidFill>
              </a:rPr>
              <a:t> gives leaders real-time visibility into how work moves across their organization.</a:t>
            </a:r>
          </a:p>
          <a:p>
            <a:pPr>
              <a:buNone/>
            </a:pPr>
            <a:r>
              <a:rPr lang="en-IN" dirty="0">
                <a:solidFill>
                  <a:srgbClr val="B6FF42"/>
                </a:solidFill>
              </a:rPr>
              <a:t>4. Speed</a:t>
            </a:r>
          </a:p>
          <a:p>
            <a:pPr>
              <a:buNone/>
            </a:pPr>
            <a:r>
              <a:rPr lang="en-IN" dirty="0">
                <a:solidFill>
                  <a:schemeClr val="bg1"/>
                </a:solidFill>
              </a:rPr>
              <a:t>From idea to working business application—in weeks, not months.</a:t>
            </a:r>
          </a:p>
          <a:p>
            <a:pPr>
              <a:buNone/>
            </a:pPr>
            <a:r>
              <a:rPr lang="en-IN" dirty="0">
                <a:solidFill>
                  <a:srgbClr val="B6FF42"/>
                </a:solidFill>
              </a:rPr>
              <a:t>5. Operations</a:t>
            </a:r>
          </a:p>
          <a:p>
            <a:pPr>
              <a:buNone/>
            </a:pPr>
            <a:r>
              <a:rPr lang="en-IN" dirty="0" err="1">
                <a:solidFill>
                  <a:schemeClr val="bg1"/>
                </a:solidFill>
              </a:rPr>
              <a:t>Skiode</a:t>
            </a:r>
            <a:r>
              <a:rPr lang="en-IN" dirty="0">
                <a:solidFill>
                  <a:schemeClr val="bg1"/>
                </a:solidFill>
              </a:rPr>
              <a:t> helps businesses run faster, smarter, and with greater control.</a:t>
            </a:r>
          </a:p>
        </p:txBody>
      </p:sp>
      <p:sp>
        <p:nvSpPr>
          <p:cNvPr id="13" name="TextBox 12">
            <a:extLst>
              <a:ext uri="{FF2B5EF4-FFF2-40B4-BE49-F238E27FC236}">
                <a16:creationId xmlns:a16="http://schemas.microsoft.com/office/drawing/2014/main" id="{AF4CE932-56A3-641F-16DC-D901CC14A641}"/>
              </a:ext>
            </a:extLst>
          </p:cNvPr>
          <p:cNvSpPr txBox="1"/>
          <p:nvPr/>
        </p:nvSpPr>
        <p:spPr>
          <a:xfrm>
            <a:off x="6270819" y="2432723"/>
            <a:ext cx="5830908" cy="4247317"/>
          </a:xfrm>
          <a:prstGeom prst="rect">
            <a:avLst/>
          </a:prstGeom>
          <a:noFill/>
        </p:spPr>
        <p:txBody>
          <a:bodyPr wrap="square">
            <a:spAutoFit/>
          </a:bodyPr>
          <a:lstStyle/>
          <a:p>
            <a:pPr>
              <a:buNone/>
            </a:pPr>
            <a:r>
              <a:rPr lang="en-IN" dirty="0">
                <a:solidFill>
                  <a:srgbClr val="B6FF42"/>
                </a:solidFill>
              </a:rPr>
              <a:t>6. Executive Level</a:t>
            </a:r>
          </a:p>
          <a:p>
            <a:pPr>
              <a:buNone/>
            </a:pPr>
            <a:r>
              <a:rPr lang="en-IN" dirty="0">
                <a:solidFill>
                  <a:schemeClr val="bg1"/>
                </a:solidFill>
              </a:rPr>
              <a:t>We help organizations eliminate bottlenecks before they impact growth.</a:t>
            </a:r>
          </a:p>
          <a:p>
            <a:pPr>
              <a:buNone/>
            </a:pPr>
            <a:r>
              <a:rPr lang="en-IN" dirty="0">
                <a:solidFill>
                  <a:srgbClr val="B6FF42"/>
                </a:solidFill>
              </a:rPr>
              <a:t>7. Transformation</a:t>
            </a:r>
          </a:p>
          <a:p>
            <a:pPr>
              <a:buNone/>
            </a:pPr>
            <a:r>
              <a:rPr lang="en-IN" dirty="0">
                <a:solidFill>
                  <a:schemeClr val="bg1"/>
                </a:solidFill>
              </a:rPr>
              <a:t>Your processes are your business. </a:t>
            </a:r>
            <a:r>
              <a:rPr lang="en-IN" dirty="0" err="1">
                <a:solidFill>
                  <a:schemeClr val="bg1"/>
                </a:solidFill>
              </a:rPr>
              <a:t>Skiode</a:t>
            </a:r>
            <a:r>
              <a:rPr lang="en-IN" dirty="0">
                <a:solidFill>
                  <a:schemeClr val="bg1"/>
                </a:solidFill>
              </a:rPr>
              <a:t> helps you modernize both.</a:t>
            </a:r>
          </a:p>
          <a:p>
            <a:pPr>
              <a:buNone/>
            </a:pPr>
            <a:r>
              <a:rPr lang="en-IN" dirty="0">
                <a:solidFill>
                  <a:srgbClr val="B6FF42"/>
                </a:solidFill>
              </a:rPr>
              <a:t>8. ROI Focus</a:t>
            </a:r>
          </a:p>
          <a:p>
            <a:pPr>
              <a:buNone/>
            </a:pPr>
            <a:r>
              <a:rPr lang="en-IN" dirty="0">
                <a:solidFill>
                  <a:schemeClr val="bg1"/>
                </a:solidFill>
              </a:rPr>
              <a:t>Every delayed approval has a cost. </a:t>
            </a:r>
            <a:r>
              <a:rPr lang="en-IN" dirty="0" err="1">
                <a:solidFill>
                  <a:schemeClr val="bg1"/>
                </a:solidFill>
              </a:rPr>
              <a:t>Skiode</a:t>
            </a:r>
            <a:r>
              <a:rPr lang="en-IN" dirty="0">
                <a:solidFill>
                  <a:schemeClr val="bg1"/>
                </a:solidFill>
              </a:rPr>
              <a:t> helps eliminate that cost.</a:t>
            </a:r>
          </a:p>
          <a:p>
            <a:pPr>
              <a:buNone/>
            </a:pPr>
            <a:r>
              <a:rPr lang="en-IN" dirty="0">
                <a:solidFill>
                  <a:srgbClr val="B6FF42"/>
                </a:solidFill>
              </a:rPr>
              <a:t>9. Governance</a:t>
            </a:r>
          </a:p>
          <a:p>
            <a:pPr>
              <a:buNone/>
            </a:pPr>
            <a:r>
              <a:rPr lang="en-IN" dirty="0">
                <a:solidFill>
                  <a:schemeClr val="bg1"/>
                </a:solidFill>
              </a:rPr>
              <a:t>Automation with visibility, accountability, and compliance built in.</a:t>
            </a:r>
          </a:p>
          <a:p>
            <a:pPr>
              <a:buNone/>
            </a:pPr>
            <a:r>
              <a:rPr lang="en-IN" dirty="0">
                <a:solidFill>
                  <a:srgbClr val="B6FF42"/>
                </a:solidFill>
              </a:rPr>
              <a:t>10. AI + Automation</a:t>
            </a:r>
          </a:p>
          <a:p>
            <a:pPr>
              <a:buNone/>
            </a:pPr>
            <a:r>
              <a:rPr lang="en-IN" dirty="0">
                <a:solidFill>
                  <a:schemeClr val="bg1"/>
                </a:solidFill>
              </a:rPr>
              <a:t>AI where it matters. Automation where it counts. Results where it shows.</a:t>
            </a:r>
          </a:p>
        </p:txBody>
      </p:sp>
    </p:spTree>
    <p:extLst>
      <p:ext uri="{BB962C8B-B14F-4D97-AF65-F5344CB8AC3E}">
        <p14:creationId xmlns:p14="http://schemas.microsoft.com/office/powerpoint/2010/main" val="976933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775BA-BAD1-5262-46FB-8E5442560A7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14D5948-7D08-BC2D-AC0C-D3927A58DD62}"/>
              </a:ext>
            </a:extLst>
          </p:cNvPr>
          <p:cNvSpPr/>
          <p:nvPr/>
        </p:nvSpPr>
        <p:spPr>
          <a:xfrm>
            <a:off x="1909" y="-690"/>
            <a:ext cx="12192000" cy="685869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A0B2BEA3-DD29-BE30-E247-31ECD05585A9}"/>
              </a:ext>
            </a:extLst>
          </p:cNvPr>
          <p:cNvSpPr/>
          <p:nvPr/>
        </p:nvSpPr>
        <p:spPr>
          <a:xfrm>
            <a:off x="0" y="3429001"/>
            <a:ext cx="12190091" cy="3459388"/>
          </a:xfrm>
          <a:prstGeom prst="rect">
            <a:avLst/>
          </a:prstGeom>
          <a:gradFill flip="none" rotWithShape="1">
            <a:gsLst>
              <a:gs pos="0">
                <a:srgbClr val="B6FF42">
                  <a:shade val="30000"/>
                  <a:satMod val="115000"/>
                  <a:alpha val="0"/>
                </a:srgbClr>
              </a:gs>
              <a:gs pos="100000">
                <a:srgbClr val="399AFF">
                  <a:alpha val="4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Top Corners Rounded 3">
            <a:extLst>
              <a:ext uri="{FF2B5EF4-FFF2-40B4-BE49-F238E27FC236}">
                <a16:creationId xmlns:a16="http://schemas.microsoft.com/office/drawing/2014/main" id="{242DCDBD-5A0A-5407-E4EA-68E1A7F8AF70}"/>
              </a:ext>
            </a:extLst>
          </p:cNvPr>
          <p:cNvSpPr/>
          <p:nvPr/>
        </p:nvSpPr>
        <p:spPr>
          <a:xfrm rot="10800000">
            <a:off x="174819" y="0"/>
            <a:ext cx="3443217"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ADADC441-7AAB-360A-EED9-97ABA1D77638}"/>
              </a:ext>
            </a:extLst>
          </p:cNvPr>
          <p:cNvSpPr txBox="1"/>
          <p:nvPr/>
        </p:nvSpPr>
        <p:spPr>
          <a:xfrm>
            <a:off x="832182" y="20391"/>
            <a:ext cx="1188146" cy="369332"/>
          </a:xfrm>
          <a:prstGeom prst="rect">
            <a:avLst/>
          </a:prstGeom>
          <a:noFill/>
        </p:spPr>
        <p:txBody>
          <a:bodyPr wrap="none" rtlCol="0">
            <a:spAutoFit/>
          </a:bodyPr>
          <a:lstStyle/>
          <a:p>
            <a:r>
              <a:rPr lang="en-IN" dirty="0" err="1">
                <a:solidFill>
                  <a:schemeClr val="bg1"/>
                </a:solidFill>
              </a:rPr>
              <a:t>Hooklines</a:t>
            </a:r>
            <a:endParaRPr lang="en-IN" dirty="0">
              <a:solidFill>
                <a:schemeClr val="bg1"/>
              </a:solidFill>
            </a:endParaRPr>
          </a:p>
        </p:txBody>
      </p:sp>
      <p:pic>
        <p:nvPicPr>
          <p:cNvPr id="6" name="Picture 5">
            <a:extLst>
              <a:ext uri="{FF2B5EF4-FFF2-40B4-BE49-F238E27FC236}">
                <a16:creationId xmlns:a16="http://schemas.microsoft.com/office/drawing/2014/main" id="{7DEBF129-A97F-E70D-986F-CAF12B27A27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475684" y="44075"/>
            <a:ext cx="1413047" cy="681773"/>
          </a:xfrm>
          <a:prstGeom prst="rect">
            <a:avLst/>
          </a:prstGeom>
        </p:spPr>
      </p:pic>
      <p:sp>
        <p:nvSpPr>
          <p:cNvPr id="9" name="TextBox 8">
            <a:extLst>
              <a:ext uri="{FF2B5EF4-FFF2-40B4-BE49-F238E27FC236}">
                <a16:creationId xmlns:a16="http://schemas.microsoft.com/office/drawing/2014/main" id="{C1B9A6BD-AE1B-C465-8F6E-0088E0E2CE3E}"/>
              </a:ext>
            </a:extLst>
          </p:cNvPr>
          <p:cNvSpPr txBox="1"/>
          <p:nvPr/>
        </p:nvSpPr>
        <p:spPr>
          <a:xfrm>
            <a:off x="487680" y="725848"/>
            <a:ext cx="5181222" cy="5909310"/>
          </a:xfrm>
          <a:prstGeom prst="rect">
            <a:avLst/>
          </a:prstGeom>
          <a:noFill/>
        </p:spPr>
        <p:txBody>
          <a:bodyPr wrap="square">
            <a:spAutoFit/>
          </a:bodyPr>
          <a:lstStyle/>
          <a:p>
            <a:pPr>
              <a:buNone/>
            </a:pPr>
            <a:r>
              <a:rPr lang="en-IN" b="1" dirty="0">
                <a:solidFill>
                  <a:srgbClr val="B6FF42"/>
                </a:solidFill>
              </a:rPr>
              <a:t>Universal CEO/CXO Hooks</a:t>
            </a:r>
          </a:p>
          <a:p>
            <a:pPr>
              <a:buNone/>
            </a:pPr>
            <a:r>
              <a:rPr lang="en-IN" dirty="0">
                <a:solidFill>
                  <a:schemeClr val="bg1"/>
                </a:solidFill>
              </a:rPr>
              <a:t>These tend to work across all industries:</a:t>
            </a:r>
          </a:p>
          <a:p>
            <a:pPr>
              <a:buFont typeface="Arial" panose="020B0604020202020204" pitchFamily="34" charset="0"/>
              <a:buChar char="•"/>
            </a:pPr>
            <a:r>
              <a:rPr lang="en-IN" dirty="0">
                <a:solidFill>
                  <a:schemeClr val="bg1"/>
                </a:solidFill>
              </a:rPr>
              <a:t>If you could automate one process tomorrow, which one would it be? </a:t>
            </a:r>
          </a:p>
          <a:p>
            <a:pPr>
              <a:buFont typeface="Arial" panose="020B0604020202020204" pitchFamily="34" charset="0"/>
              <a:buChar char="•"/>
            </a:pPr>
            <a:r>
              <a:rPr lang="en-IN" dirty="0">
                <a:solidFill>
                  <a:schemeClr val="bg1"/>
                </a:solidFill>
              </a:rPr>
              <a:t>Where do most approvals get stuck today? </a:t>
            </a:r>
          </a:p>
          <a:p>
            <a:pPr>
              <a:buFont typeface="Arial" panose="020B0604020202020204" pitchFamily="34" charset="0"/>
              <a:buChar char="•"/>
            </a:pPr>
            <a:r>
              <a:rPr lang="en-IN" dirty="0">
                <a:solidFill>
                  <a:schemeClr val="bg1"/>
                </a:solidFill>
              </a:rPr>
              <a:t>How much of your business still runs on Excel, emails, and WhatsApp? </a:t>
            </a:r>
          </a:p>
          <a:p>
            <a:pPr>
              <a:buFont typeface="Arial" panose="020B0604020202020204" pitchFamily="34" charset="0"/>
              <a:buChar char="•"/>
            </a:pPr>
            <a:r>
              <a:rPr lang="en-IN" dirty="0">
                <a:solidFill>
                  <a:schemeClr val="bg1"/>
                </a:solidFill>
              </a:rPr>
              <a:t>What is the cost of process delays to your organization? </a:t>
            </a:r>
          </a:p>
          <a:p>
            <a:pPr>
              <a:buFont typeface="Arial" panose="020B0604020202020204" pitchFamily="34" charset="0"/>
              <a:buChar char="•"/>
            </a:pPr>
            <a:r>
              <a:rPr lang="en-IN" dirty="0">
                <a:solidFill>
                  <a:schemeClr val="bg1"/>
                </a:solidFill>
              </a:rPr>
              <a:t>Do you have complete visibility into process bottlenecks? </a:t>
            </a:r>
          </a:p>
          <a:p>
            <a:pPr>
              <a:buFont typeface="Arial" panose="020B0604020202020204" pitchFamily="34" charset="0"/>
              <a:buChar char="•"/>
            </a:pPr>
            <a:r>
              <a:rPr lang="en-IN" dirty="0">
                <a:solidFill>
                  <a:schemeClr val="bg1"/>
                </a:solidFill>
              </a:rPr>
              <a:t>How long does it take to launch a new business process or application? </a:t>
            </a:r>
          </a:p>
          <a:p>
            <a:pPr>
              <a:buFont typeface="Arial" panose="020B0604020202020204" pitchFamily="34" charset="0"/>
              <a:buChar char="•"/>
            </a:pPr>
            <a:r>
              <a:rPr lang="en-IN" dirty="0">
                <a:solidFill>
                  <a:schemeClr val="bg1"/>
                </a:solidFill>
              </a:rPr>
              <a:t>If I could reduce process turnaround time by 30–50%, would that be worth a discussion? </a:t>
            </a:r>
          </a:p>
          <a:p>
            <a:pPr>
              <a:buFont typeface="Arial" panose="020B0604020202020204" pitchFamily="34" charset="0"/>
              <a:buChar char="•"/>
            </a:pPr>
            <a:r>
              <a:rPr lang="en-IN" dirty="0">
                <a:solidFill>
                  <a:schemeClr val="bg1"/>
                </a:solidFill>
              </a:rPr>
              <a:t>Are your teams spending more time managing processes than executing them? </a:t>
            </a:r>
          </a:p>
          <a:p>
            <a:pPr>
              <a:buFont typeface="Arial" panose="020B0604020202020204" pitchFamily="34" charset="0"/>
              <a:buChar char="•"/>
            </a:pPr>
            <a:r>
              <a:rPr lang="en-IN" dirty="0">
                <a:solidFill>
                  <a:schemeClr val="bg1"/>
                </a:solidFill>
              </a:rPr>
              <a:t>How confident are you that every process is audit-ready? </a:t>
            </a:r>
          </a:p>
          <a:p>
            <a:pPr>
              <a:buFont typeface="Arial" panose="020B0604020202020204" pitchFamily="34" charset="0"/>
              <a:buChar char="•"/>
            </a:pPr>
            <a:r>
              <a:rPr lang="en-IN" dirty="0">
                <a:solidFill>
                  <a:schemeClr val="bg1"/>
                </a:solidFill>
              </a:rPr>
              <a:t>What would happen if you could digitize a process in weeks instead of months?</a:t>
            </a:r>
          </a:p>
        </p:txBody>
      </p:sp>
      <p:cxnSp>
        <p:nvCxnSpPr>
          <p:cNvPr id="12" name="Straight Connector 11">
            <a:extLst>
              <a:ext uri="{FF2B5EF4-FFF2-40B4-BE49-F238E27FC236}">
                <a16:creationId xmlns:a16="http://schemas.microsoft.com/office/drawing/2014/main" id="{915ED2F1-D25A-B758-274F-AB04AB29C15B}"/>
              </a:ext>
            </a:extLst>
          </p:cNvPr>
          <p:cNvCxnSpPr/>
          <p:nvPr/>
        </p:nvCxnSpPr>
        <p:spPr>
          <a:xfrm>
            <a:off x="5842000" y="725848"/>
            <a:ext cx="0" cy="590931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67A843B5-CDA1-C3D7-5DF4-418B3DB04F62}"/>
              </a:ext>
            </a:extLst>
          </p:cNvPr>
          <p:cNvSpPr txBox="1"/>
          <p:nvPr/>
        </p:nvSpPr>
        <p:spPr>
          <a:xfrm>
            <a:off x="6057273" y="633515"/>
            <a:ext cx="5831458" cy="6093976"/>
          </a:xfrm>
          <a:prstGeom prst="rect">
            <a:avLst/>
          </a:prstGeom>
          <a:noFill/>
        </p:spPr>
        <p:txBody>
          <a:bodyPr wrap="square">
            <a:spAutoFit/>
          </a:bodyPr>
          <a:lstStyle/>
          <a:p>
            <a:pPr>
              <a:buNone/>
            </a:pPr>
            <a:r>
              <a:rPr lang="en-IN" sz="1500" dirty="0">
                <a:solidFill>
                  <a:srgbClr val="B6FF42"/>
                </a:solidFill>
              </a:rPr>
              <a:t>1.How much of your business still runs on Excel, Email, and WhatsApp?</a:t>
            </a:r>
          </a:p>
          <a:p>
            <a:pPr>
              <a:buNone/>
            </a:pPr>
            <a:r>
              <a:rPr lang="en-IN" sz="1500" dirty="0">
                <a:solidFill>
                  <a:schemeClr val="bg1"/>
                </a:solidFill>
              </a:rPr>
              <a:t>2.Where does work get stuck in your organization today?</a:t>
            </a:r>
          </a:p>
          <a:p>
            <a:pPr>
              <a:buNone/>
            </a:pPr>
            <a:r>
              <a:rPr lang="en-IN" sz="1500" dirty="0">
                <a:solidFill>
                  <a:srgbClr val="B6FF42"/>
                </a:solidFill>
              </a:rPr>
              <a:t>3.Can you see every pending approval across the company right now?</a:t>
            </a:r>
          </a:p>
          <a:p>
            <a:pPr>
              <a:buNone/>
            </a:pPr>
            <a:r>
              <a:rPr lang="en-IN" sz="1500" dirty="0">
                <a:solidFill>
                  <a:schemeClr val="bg1"/>
                </a:solidFill>
              </a:rPr>
              <a:t>4.How many hours does your team spend chasing updates instead of doing actual work?</a:t>
            </a:r>
          </a:p>
          <a:p>
            <a:pPr>
              <a:buNone/>
            </a:pPr>
            <a:r>
              <a:rPr lang="en-IN" sz="1500" dirty="0">
                <a:solidFill>
                  <a:srgbClr val="B6FF42"/>
                </a:solidFill>
              </a:rPr>
              <a:t>5.If your best employee goes on leave tomorrow, will the process still run smoothly?</a:t>
            </a:r>
          </a:p>
          <a:p>
            <a:pPr>
              <a:buNone/>
            </a:pPr>
            <a:r>
              <a:rPr lang="en-IN" sz="1500" dirty="0">
                <a:solidFill>
                  <a:schemeClr val="bg1"/>
                </a:solidFill>
              </a:rPr>
              <a:t>6.How long does it take your organization to turn an idea into a working application?</a:t>
            </a:r>
          </a:p>
          <a:p>
            <a:pPr>
              <a:buNone/>
            </a:pPr>
            <a:r>
              <a:rPr lang="en-IN" sz="1500" dirty="0">
                <a:solidFill>
                  <a:schemeClr val="bg1"/>
                </a:solidFill>
              </a:rPr>
              <a:t>7.Which business process frustrates your employees the most?</a:t>
            </a:r>
          </a:p>
          <a:p>
            <a:pPr>
              <a:buNone/>
            </a:pPr>
            <a:r>
              <a:rPr lang="en-IN" sz="1500" dirty="0">
                <a:solidFill>
                  <a:schemeClr val="bg1"/>
                </a:solidFill>
              </a:rPr>
              <a:t>8.Do your managers spend more time managing work or improving work?</a:t>
            </a:r>
          </a:p>
          <a:p>
            <a:pPr>
              <a:buNone/>
            </a:pPr>
            <a:r>
              <a:rPr lang="en-IN" sz="1500" dirty="0">
                <a:solidFill>
                  <a:schemeClr val="bg1"/>
                </a:solidFill>
              </a:rPr>
              <a:t>9.How much revenue is delayed because of slow internal processes?</a:t>
            </a:r>
          </a:p>
          <a:p>
            <a:pPr>
              <a:buNone/>
            </a:pPr>
            <a:r>
              <a:rPr lang="en-IN" sz="1500" dirty="0">
                <a:solidFill>
                  <a:schemeClr val="bg1"/>
                </a:solidFill>
              </a:rPr>
              <a:t>10.Can your customers track the status of their requests without calling your team?</a:t>
            </a:r>
          </a:p>
          <a:p>
            <a:pPr>
              <a:buNone/>
            </a:pPr>
            <a:r>
              <a:rPr lang="en-IN" sz="1500" dirty="0">
                <a:solidFill>
                  <a:schemeClr val="bg1"/>
                </a:solidFill>
              </a:rPr>
              <a:t>11.How many business decisions are waiting for approvals right now?</a:t>
            </a:r>
          </a:p>
          <a:p>
            <a:pPr>
              <a:buNone/>
            </a:pPr>
            <a:r>
              <a:rPr lang="en-IN" sz="1500" dirty="0">
                <a:solidFill>
                  <a:srgbClr val="B6FF42"/>
                </a:solidFill>
              </a:rPr>
              <a:t>12.If an auditor walked in today, how quickly could you produce a complete process trail?</a:t>
            </a:r>
          </a:p>
          <a:p>
            <a:pPr>
              <a:buNone/>
            </a:pPr>
            <a:r>
              <a:rPr lang="en-IN" sz="1500" dirty="0">
                <a:solidFill>
                  <a:schemeClr val="bg1"/>
                </a:solidFill>
              </a:rPr>
              <a:t>13.What would happen if you could reduce process turnaround times by 50%?</a:t>
            </a:r>
          </a:p>
          <a:p>
            <a:pPr>
              <a:buNone/>
            </a:pPr>
            <a:r>
              <a:rPr lang="en-IN" sz="1500" dirty="0">
                <a:solidFill>
                  <a:schemeClr val="bg1"/>
                </a:solidFill>
              </a:rPr>
              <a:t>14.Are process bottlenecks visible before they become business problems?</a:t>
            </a:r>
          </a:p>
          <a:p>
            <a:pPr>
              <a:buNone/>
            </a:pPr>
            <a:r>
              <a:rPr lang="en-IN" sz="1500" dirty="0">
                <a:solidFill>
                  <a:srgbClr val="B6FF42"/>
                </a:solidFill>
              </a:rPr>
              <a:t>15.If you could automate only one process this quarter, which one would deliver the biggest impact?</a:t>
            </a:r>
          </a:p>
        </p:txBody>
      </p:sp>
    </p:spTree>
    <p:extLst>
      <p:ext uri="{BB962C8B-B14F-4D97-AF65-F5344CB8AC3E}">
        <p14:creationId xmlns:p14="http://schemas.microsoft.com/office/powerpoint/2010/main" val="2802949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1140D-C9D1-0629-7C6E-B98AED78EA2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35E8C2F-0480-088D-62A5-85CB45FE9CB8}"/>
              </a:ext>
            </a:extLst>
          </p:cNvPr>
          <p:cNvSpPr/>
          <p:nvPr/>
        </p:nvSpPr>
        <p:spPr>
          <a:xfrm>
            <a:off x="1909" y="-690"/>
            <a:ext cx="12192000" cy="685869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BB88C295-C2AB-8A0F-4F43-3C61AF50330F}"/>
              </a:ext>
            </a:extLst>
          </p:cNvPr>
          <p:cNvSpPr/>
          <p:nvPr/>
        </p:nvSpPr>
        <p:spPr>
          <a:xfrm>
            <a:off x="0" y="3429001"/>
            <a:ext cx="12190091" cy="3459388"/>
          </a:xfrm>
          <a:prstGeom prst="rect">
            <a:avLst/>
          </a:prstGeom>
          <a:gradFill flip="none" rotWithShape="1">
            <a:gsLst>
              <a:gs pos="0">
                <a:srgbClr val="B6FF42">
                  <a:shade val="30000"/>
                  <a:satMod val="115000"/>
                  <a:alpha val="0"/>
                </a:srgbClr>
              </a:gs>
              <a:gs pos="100000">
                <a:srgbClr val="399AFF">
                  <a:alpha val="4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Top Corners Rounded 3">
            <a:extLst>
              <a:ext uri="{FF2B5EF4-FFF2-40B4-BE49-F238E27FC236}">
                <a16:creationId xmlns:a16="http://schemas.microsoft.com/office/drawing/2014/main" id="{E84AC75C-54EC-8CE5-F684-5D300AF400C4}"/>
              </a:ext>
            </a:extLst>
          </p:cNvPr>
          <p:cNvSpPr/>
          <p:nvPr/>
        </p:nvSpPr>
        <p:spPr>
          <a:xfrm rot="10800000">
            <a:off x="174819" y="0"/>
            <a:ext cx="3443217"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2FC6CF84-233D-180B-FDD9-574BAC2634FD}"/>
              </a:ext>
            </a:extLst>
          </p:cNvPr>
          <p:cNvSpPr txBox="1"/>
          <p:nvPr/>
        </p:nvSpPr>
        <p:spPr>
          <a:xfrm>
            <a:off x="832182" y="20391"/>
            <a:ext cx="1188146" cy="369332"/>
          </a:xfrm>
          <a:prstGeom prst="rect">
            <a:avLst/>
          </a:prstGeom>
          <a:noFill/>
        </p:spPr>
        <p:txBody>
          <a:bodyPr wrap="none" rtlCol="0">
            <a:spAutoFit/>
          </a:bodyPr>
          <a:lstStyle/>
          <a:p>
            <a:r>
              <a:rPr lang="en-IN" dirty="0" err="1">
                <a:solidFill>
                  <a:schemeClr val="bg1"/>
                </a:solidFill>
              </a:rPr>
              <a:t>Hooklines</a:t>
            </a:r>
            <a:endParaRPr lang="en-IN" dirty="0">
              <a:solidFill>
                <a:schemeClr val="bg1"/>
              </a:solidFill>
            </a:endParaRPr>
          </a:p>
        </p:txBody>
      </p:sp>
      <p:pic>
        <p:nvPicPr>
          <p:cNvPr id="6" name="Picture 5">
            <a:extLst>
              <a:ext uri="{FF2B5EF4-FFF2-40B4-BE49-F238E27FC236}">
                <a16:creationId xmlns:a16="http://schemas.microsoft.com/office/drawing/2014/main" id="{0637D74F-3BB8-E2CB-F0F8-FE091E644C4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475684" y="44075"/>
            <a:ext cx="1413047" cy="681773"/>
          </a:xfrm>
          <a:prstGeom prst="rect">
            <a:avLst/>
          </a:prstGeom>
        </p:spPr>
      </p:pic>
      <p:sp>
        <p:nvSpPr>
          <p:cNvPr id="3" name="TextBox 2">
            <a:extLst>
              <a:ext uri="{FF2B5EF4-FFF2-40B4-BE49-F238E27FC236}">
                <a16:creationId xmlns:a16="http://schemas.microsoft.com/office/drawing/2014/main" id="{27DE8BDF-C0A5-29EA-95DD-620C6D499415}"/>
              </a:ext>
            </a:extLst>
          </p:cNvPr>
          <p:cNvSpPr txBox="1"/>
          <p:nvPr/>
        </p:nvSpPr>
        <p:spPr>
          <a:xfrm>
            <a:off x="174819" y="553403"/>
            <a:ext cx="5792731" cy="6771084"/>
          </a:xfrm>
          <a:prstGeom prst="rect">
            <a:avLst/>
          </a:prstGeom>
          <a:noFill/>
        </p:spPr>
        <p:txBody>
          <a:bodyPr wrap="square">
            <a:spAutoFit/>
          </a:bodyPr>
          <a:lstStyle/>
          <a:p>
            <a:pPr>
              <a:buNone/>
            </a:pPr>
            <a:r>
              <a:rPr lang="en-IN" sz="1550" b="1" dirty="0">
                <a:solidFill>
                  <a:srgbClr val="B6FF42"/>
                </a:solidFill>
              </a:rPr>
              <a:t>CEO / Managing Director</a:t>
            </a:r>
          </a:p>
          <a:p>
            <a:pPr>
              <a:buFont typeface="+mj-lt"/>
              <a:buAutoNum type="arabicPeriod"/>
            </a:pPr>
            <a:r>
              <a:rPr lang="en-IN" sz="1550" dirty="0">
                <a:solidFill>
                  <a:schemeClr val="bg1"/>
                </a:solidFill>
              </a:rPr>
              <a:t>How much of your business still runs on emails and Excel? </a:t>
            </a:r>
          </a:p>
          <a:p>
            <a:pPr>
              <a:buFont typeface="+mj-lt"/>
              <a:buAutoNum type="arabicPeriod"/>
            </a:pPr>
            <a:r>
              <a:rPr lang="en-IN" sz="1550" dirty="0">
                <a:solidFill>
                  <a:schemeClr val="bg1"/>
                </a:solidFill>
              </a:rPr>
              <a:t>Where are the biggest process bottlenecks today? </a:t>
            </a:r>
          </a:p>
          <a:p>
            <a:pPr>
              <a:buFont typeface="+mj-lt"/>
              <a:buAutoNum type="arabicPeriod"/>
            </a:pPr>
            <a:r>
              <a:rPr lang="en-IN" sz="1550" dirty="0">
                <a:solidFill>
                  <a:schemeClr val="bg1"/>
                </a:solidFill>
              </a:rPr>
              <a:t>Do you have real-time visibility into operations? </a:t>
            </a:r>
          </a:p>
          <a:p>
            <a:pPr>
              <a:buFont typeface="+mj-lt"/>
              <a:buAutoNum type="arabicPeriod"/>
            </a:pPr>
            <a:r>
              <a:rPr lang="en-IN" sz="1550" dirty="0">
                <a:solidFill>
                  <a:schemeClr val="bg1"/>
                </a:solidFill>
              </a:rPr>
              <a:t>How quickly can your organization adapt to change? </a:t>
            </a:r>
          </a:p>
          <a:p>
            <a:pPr>
              <a:buFont typeface="+mj-lt"/>
              <a:buAutoNum type="arabicPeriod"/>
            </a:pPr>
            <a:r>
              <a:rPr lang="en-IN" sz="1550" dirty="0">
                <a:solidFill>
                  <a:schemeClr val="bg1"/>
                </a:solidFill>
              </a:rPr>
              <a:t>What would a 20-30% productivity improvement mean for your business? </a:t>
            </a:r>
          </a:p>
          <a:p>
            <a:pPr>
              <a:buNone/>
            </a:pPr>
            <a:r>
              <a:rPr lang="en-IN" sz="1550" b="1" dirty="0">
                <a:solidFill>
                  <a:srgbClr val="B6FF42"/>
                </a:solidFill>
              </a:rPr>
              <a:t>Operations</a:t>
            </a:r>
          </a:p>
          <a:p>
            <a:pPr>
              <a:buFont typeface="+mj-lt"/>
              <a:buAutoNum type="arabicPeriod"/>
            </a:pPr>
            <a:r>
              <a:rPr lang="en-IN" sz="1550" dirty="0">
                <a:solidFill>
                  <a:schemeClr val="bg1"/>
                </a:solidFill>
              </a:rPr>
              <a:t>How much time is spent following up on approvals? </a:t>
            </a:r>
          </a:p>
          <a:p>
            <a:pPr>
              <a:buFont typeface="+mj-lt"/>
              <a:buAutoNum type="arabicPeriod"/>
            </a:pPr>
            <a:r>
              <a:rPr lang="en-IN" sz="1550" dirty="0">
                <a:solidFill>
                  <a:schemeClr val="bg1"/>
                </a:solidFill>
              </a:rPr>
              <a:t>Where do operational delays occur most often? </a:t>
            </a:r>
          </a:p>
          <a:p>
            <a:pPr>
              <a:buFont typeface="+mj-lt"/>
              <a:buAutoNum type="arabicPeriod"/>
            </a:pPr>
            <a:r>
              <a:rPr lang="en-IN" sz="1550" dirty="0">
                <a:solidFill>
                  <a:schemeClr val="bg1"/>
                </a:solidFill>
              </a:rPr>
              <a:t>Can you measure turnaround times accurately? </a:t>
            </a:r>
          </a:p>
          <a:p>
            <a:pPr>
              <a:buFont typeface="+mj-lt"/>
              <a:buAutoNum type="arabicPeriod"/>
            </a:pPr>
            <a:r>
              <a:rPr lang="en-IN" sz="1550" dirty="0">
                <a:solidFill>
                  <a:schemeClr val="bg1"/>
                </a:solidFill>
              </a:rPr>
              <a:t>How many manual handoffs exist in your processes? </a:t>
            </a:r>
          </a:p>
          <a:p>
            <a:pPr>
              <a:buFont typeface="+mj-lt"/>
              <a:buAutoNum type="arabicPeriod"/>
            </a:pPr>
            <a:r>
              <a:rPr lang="en-IN" sz="1550" dirty="0">
                <a:solidFill>
                  <a:schemeClr val="bg1"/>
                </a:solidFill>
              </a:rPr>
              <a:t>What processes would you automate first if given the chance? </a:t>
            </a:r>
          </a:p>
          <a:p>
            <a:pPr>
              <a:buNone/>
            </a:pPr>
            <a:r>
              <a:rPr lang="en-IN" sz="1550" b="1" dirty="0">
                <a:solidFill>
                  <a:srgbClr val="B6FF42"/>
                </a:solidFill>
              </a:rPr>
              <a:t>HR</a:t>
            </a:r>
          </a:p>
          <a:p>
            <a:pPr>
              <a:buFont typeface="+mj-lt"/>
              <a:buAutoNum type="arabicPeriod"/>
            </a:pPr>
            <a:r>
              <a:rPr lang="en-IN" sz="1550" dirty="0">
                <a:solidFill>
                  <a:schemeClr val="bg1"/>
                </a:solidFill>
              </a:rPr>
              <a:t>How long does employee onboarding take today? </a:t>
            </a:r>
          </a:p>
          <a:p>
            <a:pPr>
              <a:buFont typeface="+mj-lt"/>
              <a:buAutoNum type="arabicPeriod"/>
            </a:pPr>
            <a:r>
              <a:rPr lang="en-IN" sz="1550" dirty="0">
                <a:solidFill>
                  <a:schemeClr val="bg1"/>
                </a:solidFill>
              </a:rPr>
              <a:t>Are employee requests still managed through emails? </a:t>
            </a:r>
          </a:p>
          <a:p>
            <a:pPr>
              <a:buFont typeface="+mj-lt"/>
              <a:buAutoNum type="arabicPeriod"/>
            </a:pPr>
            <a:r>
              <a:rPr lang="en-IN" sz="1550" dirty="0">
                <a:solidFill>
                  <a:schemeClr val="bg1"/>
                </a:solidFill>
              </a:rPr>
              <a:t>How much HR time is spent on repetitive administration? </a:t>
            </a:r>
          </a:p>
          <a:p>
            <a:pPr>
              <a:buFont typeface="+mj-lt"/>
              <a:buAutoNum type="arabicPeriod"/>
            </a:pPr>
            <a:r>
              <a:rPr lang="en-IN" sz="1550" dirty="0">
                <a:solidFill>
                  <a:schemeClr val="bg1"/>
                </a:solidFill>
              </a:rPr>
              <a:t>Can employees track request status themselves? </a:t>
            </a:r>
          </a:p>
          <a:p>
            <a:pPr>
              <a:buFont typeface="+mj-lt"/>
              <a:buAutoNum type="arabicPeriod"/>
            </a:pPr>
            <a:r>
              <a:rPr lang="en-IN" sz="1550" dirty="0">
                <a:solidFill>
                  <a:schemeClr val="bg1"/>
                </a:solidFill>
              </a:rPr>
              <a:t>How quickly can you implement new HR policies and workflows? </a:t>
            </a:r>
          </a:p>
          <a:p>
            <a:pPr>
              <a:buNone/>
            </a:pPr>
            <a:r>
              <a:rPr lang="en-IN" sz="1550" b="1" dirty="0">
                <a:solidFill>
                  <a:srgbClr val="B6FF42"/>
                </a:solidFill>
              </a:rPr>
              <a:t>Quality &amp; Compliance</a:t>
            </a:r>
          </a:p>
          <a:p>
            <a:pPr>
              <a:buFont typeface="+mj-lt"/>
              <a:buAutoNum type="arabicPeriod"/>
            </a:pPr>
            <a:r>
              <a:rPr lang="en-IN" sz="1550" dirty="0">
                <a:solidFill>
                  <a:schemeClr val="bg1"/>
                </a:solidFill>
              </a:rPr>
              <a:t>Are audits creating operational stress? </a:t>
            </a:r>
          </a:p>
          <a:p>
            <a:pPr>
              <a:buFont typeface="+mj-lt"/>
              <a:buAutoNum type="arabicPeriod"/>
            </a:pPr>
            <a:r>
              <a:rPr lang="en-IN" sz="1550" dirty="0">
                <a:solidFill>
                  <a:schemeClr val="bg1"/>
                </a:solidFill>
              </a:rPr>
              <a:t>Can you trace every action and approval digitally? </a:t>
            </a:r>
          </a:p>
          <a:p>
            <a:pPr>
              <a:buFont typeface="+mj-lt"/>
              <a:buAutoNum type="arabicPeriod"/>
            </a:pPr>
            <a:r>
              <a:rPr lang="en-IN" sz="1550" dirty="0">
                <a:solidFill>
                  <a:schemeClr val="bg1"/>
                </a:solidFill>
              </a:rPr>
              <a:t>How quickly can non-conformities be resolved? </a:t>
            </a:r>
          </a:p>
          <a:p>
            <a:pPr>
              <a:buFont typeface="+mj-lt"/>
              <a:buAutoNum type="arabicPeriod"/>
            </a:pPr>
            <a:r>
              <a:rPr lang="en-IN" sz="1550" dirty="0">
                <a:solidFill>
                  <a:schemeClr val="bg1"/>
                </a:solidFill>
              </a:rPr>
              <a:t>How do you ensure process compliance across teams? </a:t>
            </a:r>
          </a:p>
          <a:p>
            <a:pPr>
              <a:buFont typeface="+mj-lt"/>
              <a:buAutoNum type="arabicPeriod"/>
            </a:pPr>
            <a:r>
              <a:rPr lang="en-IN" sz="1550" dirty="0">
                <a:solidFill>
                  <a:schemeClr val="bg1"/>
                </a:solidFill>
              </a:rPr>
              <a:t>Can you identify compliance risks before audits?</a:t>
            </a:r>
          </a:p>
          <a:p>
            <a:endParaRPr lang="en-IN" sz="1550" dirty="0">
              <a:solidFill>
                <a:schemeClr val="bg1"/>
              </a:solidFill>
            </a:endParaRPr>
          </a:p>
          <a:p>
            <a:pPr>
              <a:buNone/>
            </a:pPr>
            <a:endParaRPr lang="en-IN" sz="1550" dirty="0">
              <a:solidFill>
                <a:schemeClr val="bg1"/>
              </a:solidFill>
            </a:endParaRPr>
          </a:p>
        </p:txBody>
      </p:sp>
      <p:sp>
        <p:nvSpPr>
          <p:cNvPr id="9" name="TextBox 8">
            <a:extLst>
              <a:ext uri="{FF2B5EF4-FFF2-40B4-BE49-F238E27FC236}">
                <a16:creationId xmlns:a16="http://schemas.microsoft.com/office/drawing/2014/main" id="{46657AAB-18A0-D416-CA9C-D4A5331A019C}"/>
              </a:ext>
            </a:extLst>
          </p:cNvPr>
          <p:cNvSpPr txBox="1"/>
          <p:nvPr/>
        </p:nvSpPr>
        <p:spPr>
          <a:xfrm>
            <a:off x="6096000" y="423292"/>
            <a:ext cx="5921181" cy="6247864"/>
          </a:xfrm>
          <a:prstGeom prst="rect">
            <a:avLst/>
          </a:prstGeom>
          <a:noFill/>
        </p:spPr>
        <p:txBody>
          <a:bodyPr wrap="square">
            <a:spAutoFit/>
          </a:bodyPr>
          <a:lstStyle/>
          <a:p>
            <a:pPr>
              <a:buNone/>
            </a:pPr>
            <a:r>
              <a:rPr lang="en-IN" sz="1600" b="1" dirty="0">
                <a:solidFill>
                  <a:srgbClr val="B6FF42"/>
                </a:solidFill>
              </a:rPr>
              <a:t>Finance</a:t>
            </a:r>
          </a:p>
          <a:p>
            <a:pPr>
              <a:buFont typeface="+mj-lt"/>
              <a:buAutoNum type="arabicPeriod"/>
            </a:pPr>
            <a:r>
              <a:rPr lang="en-IN" sz="1600" dirty="0">
                <a:solidFill>
                  <a:schemeClr val="bg1"/>
                </a:solidFill>
              </a:rPr>
              <a:t>How long does it take to approve payments and expenses? </a:t>
            </a:r>
          </a:p>
          <a:p>
            <a:pPr>
              <a:buFont typeface="+mj-lt"/>
              <a:buAutoNum type="arabicPeriod"/>
            </a:pPr>
            <a:r>
              <a:rPr lang="en-IN" sz="1600" dirty="0">
                <a:solidFill>
                  <a:schemeClr val="bg1"/>
                </a:solidFill>
              </a:rPr>
              <a:t>Can you track every approval trail instantly? </a:t>
            </a:r>
          </a:p>
          <a:p>
            <a:pPr>
              <a:buFont typeface="+mj-lt"/>
              <a:buAutoNum type="arabicPeriod"/>
            </a:pPr>
            <a:r>
              <a:rPr lang="en-IN" sz="1600" dirty="0">
                <a:solidFill>
                  <a:schemeClr val="bg1"/>
                </a:solidFill>
              </a:rPr>
              <a:t>How much effort goes into compliance reporting? </a:t>
            </a:r>
          </a:p>
          <a:p>
            <a:pPr>
              <a:buFont typeface="+mj-lt"/>
              <a:buAutoNum type="arabicPeriod"/>
            </a:pPr>
            <a:r>
              <a:rPr lang="en-IN" sz="1600" dirty="0">
                <a:solidFill>
                  <a:schemeClr val="bg1"/>
                </a:solidFill>
              </a:rPr>
              <a:t>Where are invoice processing delays occurring? </a:t>
            </a:r>
          </a:p>
          <a:p>
            <a:pPr>
              <a:buFont typeface="+mj-lt"/>
              <a:buAutoNum type="arabicPeriod"/>
            </a:pPr>
            <a:r>
              <a:rPr lang="en-IN" sz="1600" dirty="0">
                <a:solidFill>
                  <a:schemeClr val="bg1"/>
                </a:solidFill>
              </a:rPr>
              <a:t>How much manual data entry still exists? </a:t>
            </a:r>
          </a:p>
          <a:p>
            <a:pPr>
              <a:buNone/>
            </a:pPr>
            <a:r>
              <a:rPr lang="en-IN" sz="1600" b="1" dirty="0">
                <a:solidFill>
                  <a:srgbClr val="B6FF42"/>
                </a:solidFill>
              </a:rPr>
              <a:t>Procurement</a:t>
            </a:r>
          </a:p>
          <a:p>
            <a:pPr>
              <a:buFont typeface="+mj-lt"/>
              <a:buAutoNum type="arabicPeriod"/>
            </a:pPr>
            <a:r>
              <a:rPr lang="en-IN" sz="1600" dirty="0">
                <a:solidFill>
                  <a:schemeClr val="bg1"/>
                </a:solidFill>
              </a:rPr>
              <a:t>How long does it take to convert an RFQ into a PO? </a:t>
            </a:r>
          </a:p>
          <a:p>
            <a:pPr>
              <a:buFont typeface="+mj-lt"/>
              <a:buAutoNum type="arabicPeriod"/>
            </a:pPr>
            <a:r>
              <a:rPr lang="en-IN" sz="1600" dirty="0">
                <a:solidFill>
                  <a:schemeClr val="bg1"/>
                </a:solidFill>
              </a:rPr>
              <a:t>How many approvals delay purchasing decisions? </a:t>
            </a:r>
          </a:p>
          <a:p>
            <a:pPr>
              <a:buFont typeface="+mj-lt"/>
              <a:buAutoNum type="arabicPeriod"/>
            </a:pPr>
            <a:r>
              <a:rPr lang="en-IN" sz="1600" dirty="0">
                <a:solidFill>
                  <a:schemeClr val="bg1"/>
                </a:solidFill>
              </a:rPr>
              <a:t>Can you see pending procurement requests in real time? </a:t>
            </a:r>
          </a:p>
          <a:p>
            <a:pPr>
              <a:buFont typeface="+mj-lt"/>
              <a:buAutoNum type="arabicPeriod"/>
            </a:pPr>
            <a:r>
              <a:rPr lang="en-IN" sz="1600" dirty="0">
                <a:solidFill>
                  <a:schemeClr val="bg1"/>
                </a:solidFill>
              </a:rPr>
              <a:t>How much procurement activity happens outside the system? </a:t>
            </a:r>
          </a:p>
          <a:p>
            <a:pPr>
              <a:buFont typeface="+mj-lt"/>
              <a:buAutoNum type="arabicPeriod"/>
            </a:pPr>
            <a:r>
              <a:rPr lang="en-IN" sz="1600" dirty="0">
                <a:solidFill>
                  <a:schemeClr val="bg1"/>
                </a:solidFill>
              </a:rPr>
              <a:t>How do you ensure procurement compliance? </a:t>
            </a:r>
          </a:p>
          <a:p>
            <a:pPr>
              <a:buNone/>
            </a:pPr>
            <a:r>
              <a:rPr lang="en-IN" sz="1600" b="1" dirty="0">
                <a:solidFill>
                  <a:srgbClr val="B6FF42"/>
                </a:solidFill>
              </a:rPr>
              <a:t>Sales</a:t>
            </a:r>
          </a:p>
          <a:p>
            <a:pPr>
              <a:buFont typeface="+mj-lt"/>
              <a:buAutoNum type="arabicPeriod"/>
            </a:pPr>
            <a:r>
              <a:rPr lang="en-IN" sz="1600" dirty="0">
                <a:solidFill>
                  <a:schemeClr val="bg1"/>
                </a:solidFill>
              </a:rPr>
              <a:t>How quickly are leads converted into opportunities? </a:t>
            </a:r>
          </a:p>
          <a:p>
            <a:pPr>
              <a:buFont typeface="+mj-lt"/>
              <a:buAutoNum type="arabicPeriod"/>
            </a:pPr>
            <a:r>
              <a:rPr lang="en-IN" sz="1600" dirty="0">
                <a:solidFill>
                  <a:schemeClr val="bg1"/>
                </a:solidFill>
              </a:rPr>
              <a:t>How much time is spent on manual follow-ups? </a:t>
            </a:r>
          </a:p>
          <a:p>
            <a:pPr>
              <a:buFont typeface="+mj-lt"/>
              <a:buAutoNum type="arabicPeriod"/>
            </a:pPr>
            <a:r>
              <a:rPr lang="en-IN" sz="1600" dirty="0">
                <a:solidFill>
                  <a:schemeClr val="bg1"/>
                </a:solidFill>
              </a:rPr>
              <a:t>Can you track every customer touchpoint? </a:t>
            </a:r>
          </a:p>
          <a:p>
            <a:pPr>
              <a:buFont typeface="+mj-lt"/>
              <a:buAutoNum type="arabicPeriod"/>
            </a:pPr>
            <a:r>
              <a:rPr lang="en-IN" sz="1600" dirty="0">
                <a:solidFill>
                  <a:schemeClr val="bg1"/>
                </a:solidFill>
              </a:rPr>
              <a:t>Are approval delays impacting deal closures? </a:t>
            </a:r>
          </a:p>
          <a:p>
            <a:pPr>
              <a:buFont typeface="+mj-lt"/>
              <a:buAutoNum type="arabicPeriod"/>
            </a:pPr>
            <a:r>
              <a:rPr lang="en-IN" sz="1600" dirty="0">
                <a:solidFill>
                  <a:schemeClr val="bg1"/>
                </a:solidFill>
              </a:rPr>
              <a:t>How quickly can you respond to customer requests? </a:t>
            </a:r>
          </a:p>
          <a:p>
            <a:pPr>
              <a:buNone/>
            </a:pPr>
            <a:r>
              <a:rPr lang="en-IN" sz="1600" b="1" dirty="0">
                <a:solidFill>
                  <a:srgbClr val="B6FF42"/>
                </a:solidFill>
              </a:rPr>
              <a:t>IT</a:t>
            </a:r>
          </a:p>
          <a:p>
            <a:pPr>
              <a:buFont typeface="+mj-lt"/>
              <a:buAutoNum type="arabicPeriod"/>
            </a:pPr>
            <a:r>
              <a:rPr lang="en-IN" sz="1600" dirty="0">
                <a:solidFill>
                  <a:schemeClr val="bg1"/>
                </a:solidFill>
              </a:rPr>
              <a:t>How many business applications are waiting in the development backlog? </a:t>
            </a:r>
          </a:p>
          <a:p>
            <a:pPr>
              <a:buFont typeface="+mj-lt"/>
              <a:buAutoNum type="arabicPeriod"/>
            </a:pPr>
            <a:r>
              <a:rPr lang="en-IN" sz="1600" dirty="0">
                <a:solidFill>
                  <a:schemeClr val="bg1"/>
                </a:solidFill>
              </a:rPr>
              <a:t>How much time is spent maintaining custom software? </a:t>
            </a:r>
          </a:p>
          <a:p>
            <a:pPr>
              <a:buFont typeface="+mj-lt"/>
              <a:buAutoNum type="arabicPeriod"/>
            </a:pPr>
            <a:r>
              <a:rPr lang="en-IN" sz="1600" dirty="0">
                <a:solidFill>
                  <a:schemeClr val="bg1"/>
                </a:solidFill>
              </a:rPr>
              <a:t>Can business users create applications without coding? </a:t>
            </a:r>
          </a:p>
          <a:p>
            <a:pPr>
              <a:buFont typeface="+mj-lt"/>
              <a:buAutoNum type="arabicPeriod"/>
            </a:pPr>
            <a:r>
              <a:rPr lang="en-IN" sz="1600" dirty="0">
                <a:solidFill>
                  <a:schemeClr val="bg1"/>
                </a:solidFill>
              </a:rPr>
              <a:t>How quickly can you automate a manual process? </a:t>
            </a:r>
          </a:p>
          <a:p>
            <a:pPr>
              <a:buFont typeface="+mj-lt"/>
              <a:buAutoNum type="arabicPeriod"/>
            </a:pPr>
            <a:r>
              <a:rPr lang="en-IN" sz="1600" dirty="0">
                <a:solidFill>
                  <a:schemeClr val="bg1"/>
                </a:solidFill>
              </a:rPr>
              <a:t>How many systems need integration today? </a:t>
            </a:r>
          </a:p>
        </p:txBody>
      </p:sp>
    </p:spTree>
    <p:extLst>
      <p:ext uri="{BB962C8B-B14F-4D97-AF65-F5344CB8AC3E}">
        <p14:creationId xmlns:p14="http://schemas.microsoft.com/office/powerpoint/2010/main" val="2140767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B28F1-9D25-8C71-AA12-2656F9CDD49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A570941-932D-8AC6-4561-258991F8D2BC}"/>
              </a:ext>
            </a:extLst>
          </p:cNvPr>
          <p:cNvSpPr/>
          <p:nvPr/>
        </p:nvSpPr>
        <p:spPr>
          <a:xfrm>
            <a:off x="1909" y="-690"/>
            <a:ext cx="12192000" cy="685869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A7411254-5D6B-ABEE-8161-2C95A459C6D2}"/>
              </a:ext>
            </a:extLst>
          </p:cNvPr>
          <p:cNvSpPr/>
          <p:nvPr/>
        </p:nvSpPr>
        <p:spPr>
          <a:xfrm>
            <a:off x="0" y="3429001"/>
            <a:ext cx="12190091" cy="3459388"/>
          </a:xfrm>
          <a:prstGeom prst="rect">
            <a:avLst/>
          </a:prstGeom>
          <a:gradFill flip="none" rotWithShape="1">
            <a:gsLst>
              <a:gs pos="0">
                <a:srgbClr val="B6FF42">
                  <a:shade val="30000"/>
                  <a:satMod val="115000"/>
                  <a:alpha val="0"/>
                </a:srgbClr>
              </a:gs>
              <a:gs pos="100000">
                <a:srgbClr val="399AFF">
                  <a:alpha val="4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Top Corners Rounded 3">
            <a:extLst>
              <a:ext uri="{FF2B5EF4-FFF2-40B4-BE49-F238E27FC236}">
                <a16:creationId xmlns:a16="http://schemas.microsoft.com/office/drawing/2014/main" id="{48EC268D-EF04-6C9F-3A2F-020334114375}"/>
              </a:ext>
            </a:extLst>
          </p:cNvPr>
          <p:cNvSpPr/>
          <p:nvPr/>
        </p:nvSpPr>
        <p:spPr>
          <a:xfrm rot="10800000">
            <a:off x="174819" y="0"/>
            <a:ext cx="3443217"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5C6647B6-1C58-44B5-7C55-EDFAC8386DBD}"/>
              </a:ext>
            </a:extLst>
          </p:cNvPr>
          <p:cNvSpPr txBox="1"/>
          <p:nvPr/>
        </p:nvSpPr>
        <p:spPr>
          <a:xfrm>
            <a:off x="832182" y="20391"/>
            <a:ext cx="1188146" cy="369332"/>
          </a:xfrm>
          <a:prstGeom prst="rect">
            <a:avLst/>
          </a:prstGeom>
          <a:noFill/>
        </p:spPr>
        <p:txBody>
          <a:bodyPr wrap="none" rtlCol="0">
            <a:spAutoFit/>
          </a:bodyPr>
          <a:lstStyle/>
          <a:p>
            <a:r>
              <a:rPr lang="en-IN" dirty="0" err="1">
                <a:solidFill>
                  <a:schemeClr val="bg1"/>
                </a:solidFill>
              </a:rPr>
              <a:t>Hooklines</a:t>
            </a:r>
            <a:endParaRPr lang="en-IN" dirty="0">
              <a:solidFill>
                <a:schemeClr val="bg1"/>
              </a:solidFill>
            </a:endParaRPr>
          </a:p>
        </p:txBody>
      </p:sp>
      <p:pic>
        <p:nvPicPr>
          <p:cNvPr id="6" name="Picture 5">
            <a:extLst>
              <a:ext uri="{FF2B5EF4-FFF2-40B4-BE49-F238E27FC236}">
                <a16:creationId xmlns:a16="http://schemas.microsoft.com/office/drawing/2014/main" id="{CE35C16C-7745-F6F5-46B5-BE7D540CEAB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475684" y="44075"/>
            <a:ext cx="1413047" cy="681773"/>
          </a:xfrm>
          <a:prstGeom prst="rect">
            <a:avLst/>
          </a:prstGeom>
        </p:spPr>
      </p:pic>
      <p:sp>
        <p:nvSpPr>
          <p:cNvPr id="3" name="TextBox 2">
            <a:extLst>
              <a:ext uri="{FF2B5EF4-FFF2-40B4-BE49-F238E27FC236}">
                <a16:creationId xmlns:a16="http://schemas.microsoft.com/office/drawing/2014/main" id="{F08386DB-5424-4CD6-B6FD-17F742809BB6}"/>
              </a:ext>
            </a:extLst>
          </p:cNvPr>
          <p:cNvSpPr txBox="1"/>
          <p:nvPr/>
        </p:nvSpPr>
        <p:spPr>
          <a:xfrm>
            <a:off x="285624" y="725848"/>
            <a:ext cx="5223393" cy="5909310"/>
          </a:xfrm>
          <a:prstGeom prst="rect">
            <a:avLst/>
          </a:prstGeom>
          <a:noFill/>
        </p:spPr>
        <p:txBody>
          <a:bodyPr wrap="square">
            <a:spAutoFit/>
          </a:bodyPr>
          <a:lstStyle/>
          <a:p>
            <a:pPr>
              <a:buNone/>
            </a:pPr>
            <a:r>
              <a:rPr lang="en-IN" b="1" dirty="0">
                <a:solidFill>
                  <a:srgbClr val="B6FF42"/>
                </a:solidFill>
              </a:rPr>
              <a:t>Manufacturing</a:t>
            </a:r>
          </a:p>
          <a:p>
            <a:pPr>
              <a:buFont typeface="+mj-lt"/>
              <a:buAutoNum type="arabicPeriod"/>
            </a:pPr>
            <a:r>
              <a:rPr lang="en-IN" dirty="0">
                <a:solidFill>
                  <a:schemeClr val="bg1"/>
                </a:solidFill>
              </a:rPr>
              <a:t>Can you track an order from enquiry to dispatch without opening Excel? </a:t>
            </a:r>
          </a:p>
          <a:p>
            <a:pPr>
              <a:buFont typeface="+mj-lt"/>
              <a:buAutoNum type="arabicPeriod"/>
            </a:pPr>
            <a:r>
              <a:rPr lang="en-IN" dirty="0">
                <a:solidFill>
                  <a:schemeClr val="bg1"/>
                </a:solidFill>
              </a:rPr>
              <a:t>Where do production approvals get stuck today? </a:t>
            </a:r>
          </a:p>
          <a:p>
            <a:pPr>
              <a:buFont typeface="+mj-lt"/>
              <a:buAutoNum type="arabicPeriod"/>
            </a:pPr>
            <a:r>
              <a:rPr lang="en-IN" dirty="0">
                <a:solidFill>
                  <a:schemeClr val="bg1"/>
                </a:solidFill>
              </a:rPr>
              <a:t>How much production time is lost due to manual coordination? </a:t>
            </a:r>
          </a:p>
          <a:p>
            <a:pPr>
              <a:buFont typeface="+mj-lt"/>
              <a:buAutoNum type="arabicPeriod"/>
            </a:pPr>
            <a:r>
              <a:rPr lang="en-IN" dirty="0">
                <a:solidFill>
                  <a:schemeClr val="bg1"/>
                </a:solidFill>
              </a:rPr>
              <a:t>Can management see shop-floor bottlenecks in real time? </a:t>
            </a:r>
          </a:p>
          <a:p>
            <a:pPr>
              <a:buFont typeface="+mj-lt"/>
              <a:buAutoNum type="arabicPeriod"/>
            </a:pPr>
            <a:r>
              <a:rPr lang="en-IN" dirty="0">
                <a:solidFill>
                  <a:schemeClr val="bg1"/>
                </a:solidFill>
              </a:rPr>
              <a:t>What would a 30% reduction in process delays mean to your business? </a:t>
            </a:r>
          </a:p>
          <a:p>
            <a:pPr>
              <a:buNone/>
            </a:pPr>
            <a:r>
              <a:rPr lang="en-IN" b="1" dirty="0">
                <a:solidFill>
                  <a:srgbClr val="B6FF42"/>
                </a:solidFill>
              </a:rPr>
              <a:t>Healthcare</a:t>
            </a:r>
          </a:p>
          <a:p>
            <a:pPr>
              <a:buFont typeface="+mj-lt"/>
              <a:buAutoNum type="arabicPeriod"/>
            </a:pPr>
            <a:r>
              <a:rPr lang="en-IN" dirty="0">
                <a:solidFill>
                  <a:schemeClr val="bg1"/>
                </a:solidFill>
              </a:rPr>
              <a:t>How much time is spent on patient and insurance paperwork? </a:t>
            </a:r>
          </a:p>
          <a:p>
            <a:pPr>
              <a:buFont typeface="+mj-lt"/>
              <a:buAutoNum type="arabicPeriod"/>
            </a:pPr>
            <a:r>
              <a:rPr lang="en-IN" dirty="0">
                <a:solidFill>
                  <a:schemeClr val="bg1"/>
                </a:solidFill>
              </a:rPr>
              <a:t>Can you track every approval and document digitally? </a:t>
            </a:r>
          </a:p>
          <a:p>
            <a:pPr>
              <a:buFont typeface="+mj-lt"/>
              <a:buAutoNum type="arabicPeriod"/>
            </a:pPr>
            <a:r>
              <a:rPr lang="en-IN" dirty="0">
                <a:solidFill>
                  <a:schemeClr val="bg1"/>
                </a:solidFill>
              </a:rPr>
              <a:t>Where do patient service delays typically occur? </a:t>
            </a:r>
          </a:p>
          <a:p>
            <a:pPr>
              <a:buFont typeface="+mj-lt"/>
              <a:buAutoNum type="arabicPeriod"/>
            </a:pPr>
            <a:r>
              <a:rPr lang="en-IN" dirty="0">
                <a:solidFill>
                  <a:schemeClr val="bg1"/>
                </a:solidFill>
              </a:rPr>
              <a:t>Are your hospital processes audit-ready at all times? </a:t>
            </a:r>
          </a:p>
          <a:p>
            <a:pPr>
              <a:buFont typeface="+mj-lt"/>
              <a:buAutoNum type="arabicPeriod"/>
            </a:pPr>
            <a:r>
              <a:rPr lang="en-IN" dirty="0">
                <a:solidFill>
                  <a:schemeClr val="bg1"/>
                </a:solidFill>
              </a:rPr>
              <a:t>How quickly can you adapt to changing compliance requirements? </a:t>
            </a:r>
          </a:p>
          <a:p>
            <a:pPr>
              <a:buNone/>
            </a:pPr>
            <a:endParaRPr lang="en-IN" dirty="0">
              <a:solidFill>
                <a:schemeClr val="bg1"/>
              </a:solidFill>
            </a:endParaRPr>
          </a:p>
        </p:txBody>
      </p:sp>
      <p:sp>
        <p:nvSpPr>
          <p:cNvPr id="9" name="TextBox 8">
            <a:extLst>
              <a:ext uri="{FF2B5EF4-FFF2-40B4-BE49-F238E27FC236}">
                <a16:creationId xmlns:a16="http://schemas.microsoft.com/office/drawing/2014/main" id="{FBAA8B1C-48DD-3A43-6B80-24E5ACDA74D2}"/>
              </a:ext>
            </a:extLst>
          </p:cNvPr>
          <p:cNvSpPr txBox="1"/>
          <p:nvPr/>
        </p:nvSpPr>
        <p:spPr>
          <a:xfrm>
            <a:off x="5792731" y="669376"/>
            <a:ext cx="6096000" cy="5909310"/>
          </a:xfrm>
          <a:prstGeom prst="rect">
            <a:avLst/>
          </a:prstGeom>
          <a:noFill/>
        </p:spPr>
        <p:txBody>
          <a:bodyPr wrap="square">
            <a:spAutoFit/>
          </a:bodyPr>
          <a:lstStyle/>
          <a:p>
            <a:pPr>
              <a:buNone/>
            </a:pPr>
            <a:r>
              <a:rPr lang="en-IN" b="1" dirty="0">
                <a:solidFill>
                  <a:srgbClr val="B6FF42"/>
                </a:solidFill>
              </a:rPr>
              <a:t>Banking &amp; Financial Services</a:t>
            </a:r>
          </a:p>
          <a:p>
            <a:pPr>
              <a:buFont typeface="+mj-lt"/>
              <a:buAutoNum type="arabicPeriod"/>
            </a:pPr>
            <a:r>
              <a:rPr lang="en-IN" dirty="0">
                <a:solidFill>
                  <a:schemeClr val="bg1"/>
                </a:solidFill>
              </a:rPr>
              <a:t>How many days does customer onboarding currently take? </a:t>
            </a:r>
          </a:p>
          <a:p>
            <a:pPr>
              <a:buFont typeface="+mj-lt"/>
              <a:buAutoNum type="arabicPeriod"/>
            </a:pPr>
            <a:r>
              <a:rPr lang="en-IN" dirty="0">
                <a:solidFill>
                  <a:schemeClr val="bg1"/>
                </a:solidFill>
              </a:rPr>
              <a:t>What percentage of approvals are still manual? </a:t>
            </a:r>
          </a:p>
          <a:p>
            <a:pPr>
              <a:buFont typeface="+mj-lt"/>
              <a:buAutoNum type="arabicPeriod"/>
            </a:pPr>
            <a:r>
              <a:rPr lang="en-IN" dirty="0">
                <a:solidFill>
                  <a:schemeClr val="bg1"/>
                </a:solidFill>
              </a:rPr>
              <a:t>Can you identify bottlenecks before customers complain? </a:t>
            </a:r>
          </a:p>
          <a:p>
            <a:pPr>
              <a:buFont typeface="+mj-lt"/>
              <a:buAutoNum type="arabicPeriod"/>
            </a:pPr>
            <a:r>
              <a:rPr lang="en-IN" dirty="0">
                <a:solidFill>
                  <a:schemeClr val="bg1"/>
                </a:solidFill>
              </a:rPr>
              <a:t>How much effort goes into audit preparation? </a:t>
            </a:r>
          </a:p>
          <a:p>
            <a:pPr>
              <a:buFont typeface="+mj-lt"/>
              <a:buAutoNum type="arabicPeriod"/>
            </a:pPr>
            <a:r>
              <a:rPr lang="en-IN" dirty="0">
                <a:solidFill>
                  <a:schemeClr val="bg1"/>
                </a:solidFill>
              </a:rPr>
              <a:t>How fast can you launch a new business process? </a:t>
            </a:r>
          </a:p>
          <a:p>
            <a:pPr>
              <a:buNone/>
            </a:pPr>
            <a:r>
              <a:rPr lang="en-IN" b="1" dirty="0">
                <a:solidFill>
                  <a:srgbClr val="B6FF42"/>
                </a:solidFill>
              </a:rPr>
              <a:t>Insurance</a:t>
            </a:r>
          </a:p>
          <a:p>
            <a:pPr>
              <a:buFont typeface="+mj-lt"/>
              <a:buAutoNum type="arabicPeriod"/>
            </a:pPr>
            <a:r>
              <a:rPr lang="en-IN" dirty="0">
                <a:solidFill>
                  <a:schemeClr val="bg1"/>
                </a:solidFill>
              </a:rPr>
              <a:t>How long does it take to settle a claim? </a:t>
            </a:r>
          </a:p>
          <a:p>
            <a:pPr>
              <a:buFont typeface="+mj-lt"/>
              <a:buAutoNum type="arabicPeriod"/>
            </a:pPr>
            <a:r>
              <a:rPr lang="en-IN" dirty="0">
                <a:solidFill>
                  <a:schemeClr val="bg1"/>
                </a:solidFill>
              </a:rPr>
              <a:t>Can you track claims in real time from submission to closure? </a:t>
            </a:r>
          </a:p>
          <a:p>
            <a:pPr>
              <a:buFont typeface="+mj-lt"/>
              <a:buAutoNum type="arabicPeriod"/>
            </a:pPr>
            <a:r>
              <a:rPr lang="en-IN" dirty="0">
                <a:solidFill>
                  <a:schemeClr val="bg1"/>
                </a:solidFill>
              </a:rPr>
              <a:t>Where are claims getting delayed today? </a:t>
            </a:r>
          </a:p>
          <a:p>
            <a:pPr>
              <a:buFont typeface="+mj-lt"/>
              <a:buAutoNum type="arabicPeriod"/>
            </a:pPr>
            <a:r>
              <a:rPr lang="en-IN" dirty="0">
                <a:solidFill>
                  <a:schemeClr val="bg1"/>
                </a:solidFill>
              </a:rPr>
              <a:t>How do you ensure SLA compliance? </a:t>
            </a:r>
          </a:p>
          <a:p>
            <a:pPr>
              <a:buFont typeface="+mj-lt"/>
              <a:buAutoNum type="arabicPeriod"/>
            </a:pPr>
            <a:r>
              <a:rPr lang="en-IN" dirty="0">
                <a:solidFill>
                  <a:schemeClr val="bg1"/>
                </a:solidFill>
              </a:rPr>
              <a:t>How much manual effort exists in your claims process? </a:t>
            </a:r>
          </a:p>
          <a:p>
            <a:pPr>
              <a:buNone/>
            </a:pPr>
            <a:r>
              <a:rPr lang="en-IN" b="1" dirty="0">
                <a:solidFill>
                  <a:srgbClr val="B6FF42"/>
                </a:solidFill>
              </a:rPr>
              <a:t>Logistics &amp; Supply Chain</a:t>
            </a:r>
          </a:p>
          <a:p>
            <a:pPr>
              <a:buFont typeface="+mj-lt"/>
              <a:buAutoNum type="arabicPeriod"/>
            </a:pPr>
            <a:r>
              <a:rPr lang="en-IN" dirty="0">
                <a:solidFill>
                  <a:schemeClr val="bg1"/>
                </a:solidFill>
              </a:rPr>
              <a:t>Can you track every shipment exception instantly? </a:t>
            </a:r>
          </a:p>
          <a:p>
            <a:pPr>
              <a:buFont typeface="+mj-lt"/>
              <a:buAutoNum type="arabicPeriod"/>
            </a:pPr>
            <a:r>
              <a:rPr lang="en-IN" dirty="0">
                <a:solidFill>
                  <a:schemeClr val="bg1"/>
                </a:solidFill>
              </a:rPr>
              <a:t>How much time is spent chasing updates from multiple teams? </a:t>
            </a:r>
          </a:p>
          <a:p>
            <a:pPr>
              <a:buFont typeface="+mj-lt"/>
              <a:buAutoNum type="arabicPeriod"/>
            </a:pPr>
            <a:r>
              <a:rPr lang="en-IN" dirty="0">
                <a:solidFill>
                  <a:schemeClr val="bg1"/>
                </a:solidFill>
              </a:rPr>
              <a:t>Where are dispatch approvals causing delays? </a:t>
            </a:r>
          </a:p>
          <a:p>
            <a:pPr>
              <a:buFont typeface="+mj-lt"/>
              <a:buAutoNum type="arabicPeriod"/>
            </a:pPr>
            <a:r>
              <a:rPr lang="en-IN" dirty="0">
                <a:solidFill>
                  <a:schemeClr val="bg1"/>
                </a:solidFill>
              </a:rPr>
              <a:t>Can customers get real-time status updates? </a:t>
            </a:r>
          </a:p>
          <a:p>
            <a:pPr>
              <a:buFont typeface="+mj-lt"/>
              <a:buAutoNum type="arabicPeriod"/>
            </a:pPr>
            <a:r>
              <a:rPr lang="en-IN" dirty="0">
                <a:solidFill>
                  <a:schemeClr val="bg1"/>
                </a:solidFill>
              </a:rPr>
              <a:t>How much visibility do you have across the supply chain?</a:t>
            </a:r>
          </a:p>
        </p:txBody>
      </p:sp>
    </p:spTree>
    <p:extLst>
      <p:ext uri="{BB962C8B-B14F-4D97-AF65-F5344CB8AC3E}">
        <p14:creationId xmlns:p14="http://schemas.microsoft.com/office/powerpoint/2010/main" val="17076045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2345D5D-E895-B856-02BA-080FCE0EA8C7}"/>
              </a:ext>
            </a:extLst>
          </p:cNvPr>
          <p:cNvSpPr/>
          <p:nvPr/>
        </p:nvSpPr>
        <p:spPr>
          <a:xfrm>
            <a:off x="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Top Corners Rounded 4">
            <a:extLst>
              <a:ext uri="{FF2B5EF4-FFF2-40B4-BE49-F238E27FC236}">
                <a16:creationId xmlns:a16="http://schemas.microsoft.com/office/drawing/2014/main" id="{B0B6B501-20A6-36AC-1001-67B78B207DA6}"/>
              </a:ext>
            </a:extLst>
          </p:cNvPr>
          <p:cNvSpPr/>
          <p:nvPr/>
        </p:nvSpPr>
        <p:spPr>
          <a:xfrm rot="10800000">
            <a:off x="172910" y="689"/>
            <a:ext cx="4503261"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DB08764F-A4BD-BFBD-0151-E5237EFAC7F1}"/>
              </a:ext>
            </a:extLst>
          </p:cNvPr>
          <p:cNvSpPr txBox="1"/>
          <p:nvPr/>
        </p:nvSpPr>
        <p:spPr>
          <a:xfrm>
            <a:off x="538309" y="31076"/>
            <a:ext cx="3687997" cy="338554"/>
          </a:xfrm>
          <a:prstGeom prst="rect">
            <a:avLst/>
          </a:prstGeom>
          <a:noFill/>
        </p:spPr>
        <p:txBody>
          <a:bodyPr wrap="none" rtlCol="0">
            <a:spAutoFit/>
          </a:bodyPr>
          <a:lstStyle/>
          <a:p>
            <a:r>
              <a:rPr lang="en-US" sz="1600" dirty="0">
                <a:solidFill>
                  <a:schemeClr val="bg1"/>
                </a:solidFill>
              </a:rPr>
              <a:t>Pharma Sale Order Process Automation</a:t>
            </a:r>
            <a:endParaRPr lang="en-IN" sz="1600" dirty="0">
              <a:solidFill>
                <a:schemeClr val="bg1"/>
              </a:solidFill>
            </a:endParaRPr>
          </a:p>
        </p:txBody>
      </p:sp>
      <p:sp>
        <p:nvSpPr>
          <p:cNvPr id="8" name="Rectangle 1">
            <a:extLst>
              <a:ext uri="{FF2B5EF4-FFF2-40B4-BE49-F238E27FC236}">
                <a16:creationId xmlns:a16="http://schemas.microsoft.com/office/drawing/2014/main" id="{558AB6EB-5562-5E5D-9327-540AEB4A32D6}"/>
              </a:ext>
            </a:extLst>
          </p:cNvPr>
          <p:cNvSpPr>
            <a:spLocks noChangeArrowheads="1"/>
          </p:cNvSpPr>
          <p:nvPr/>
        </p:nvSpPr>
        <p:spPr bwMode="auto">
          <a:xfrm>
            <a:off x="172911" y="492788"/>
            <a:ext cx="20786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Challenge</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9" name="Rectangle 1">
            <a:extLst>
              <a:ext uri="{FF2B5EF4-FFF2-40B4-BE49-F238E27FC236}">
                <a16:creationId xmlns:a16="http://schemas.microsoft.com/office/drawing/2014/main" id="{79C4196E-3A6C-B804-E778-6E02162036C7}"/>
              </a:ext>
            </a:extLst>
          </p:cNvPr>
          <p:cNvSpPr>
            <a:spLocks noChangeArrowheads="1"/>
          </p:cNvSpPr>
          <p:nvPr/>
        </p:nvSpPr>
        <p:spPr bwMode="auto">
          <a:xfrm>
            <a:off x="178742" y="1838506"/>
            <a:ext cx="20786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Solution</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0" name="Rectangle 1">
            <a:extLst>
              <a:ext uri="{FF2B5EF4-FFF2-40B4-BE49-F238E27FC236}">
                <a16:creationId xmlns:a16="http://schemas.microsoft.com/office/drawing/2014/main" id="{EEF33D7F-1EBF-2F3A-78E3-62241B2B8089}"/>
              </a:ext>
            </a:extLst>
          </p:cNvPr>
          <p:cNvSpPr>
            <a:spLocks noChangeArrowheads="1"/>
          </p:cNvSpPr>
          <p:nvPr/>
        </p:nvSpPr>
        <p:spPr bwMode="auto">
          <a:xfrm>
            <a:off x="191894" y="5477355"/>
            <a:ext cx="2660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Benefits Delivered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1" name="Rectangle 1">
            <a:extLst>
              <a:ext uri="{FF2B5EF4-FFF2-40B4-BE49-F238E27FC236}">
                <a16:creationId xmlns:a16="http://schemas.microsoft.com/office/drawing/2014/main" id="{A4B0A90A-76C9-2F4E-1293-06133C769D8D}"/>
              </a:ext>
            </a:extLst>
          </p:cNvPr>
          <p:cNvSpPr>
            <a:spLocks noChangeArrowheads="1"/>
          </p:cNvSpPr>
          <p:nvPr/>
        </p:nvSpPr>
        <p:spPr bwMode="auto">
          <a:xfrm>
            <a:off x="172911" y="4176718"/>
            <a:ext cx="51284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Skyaicode features/components leveraged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7" name="TextBox 16">
            <a:extLst>
              <a:ext uri="{FF2B5EF4-FFF2-40B4-BE49-F238E27FC236}">
                <a16:creationId xmlns:a16="http://schemas.microsoft.com/office/drawing/2014/main" id="{5B5C204A-6D2C-439B-BE07-C25963C19C6C}"/>
              </a:ext>
            </a:extLst>
          </p:cNvPr>
          <p:cNvSpPr txBox="1"/>
          <p:nvPr/>
        </p:nvSpPr>
        <p:spPr>
          <a:xfrm>
            <a:off x="191894" y="817254"/>
            <a:ext cx="7364211" cy="1077218"/>
          </a:xfrm>
          <a:prstGeom prst="rect">
            <a:avLst/>
          </a:prstGeom>
          <a:noFill/>
        </p:spPr>
        <p:txBody>
          <a:bodyPr wrap="square">
            <a:spAutoFit/>
          </a:bodyPr>
          <a:lstStyle/>
          <a:p>
            <a:pPr algn="just"/>
            <a:r>
              <a:rPr lang="en-US" sz="1600" dirty="0">
                <a:solidFill>
                  <a:schemeClr val="bg1"/>
                </a:solidFill>
              </a:rPr>
              <a:t>A Pharmaceutical company faced inefficiencies in sale order processing due to reliance on emails, Excel sheets, WhatsApp, and manual workflows across six teams that includes Marketing, Accounts, Production, Quality, Management and Dispatch leading to multiple issues.</a:t>
            </a:r>
            <a:endParaRPr lang="en-IN" sz="1600" dirty="0">
              <a:solidFill>
                <a:schemeClr val="bg1"/>
              </a:solidFill>
            </a:endParaRPr>
          </a:p>
        </p:txBody>
      </p:sp>
      <p:grpSp>
        <p:nvGrpSpPr>
          <p:cNvPr id="31" name="Group 30">
            <a:extLst>
              <a:ext uri="{FF2B5EF4-FFF2-40B4-BE49-F238E27FC236}">
                <a16:creationId xmlns:a16="http://schemas.microsoft.com/office/drawing/2014/main" id="{90C8BECF-402F-B187-A60C-1BDBC3EE1F32}"/>
              </a:ext>
            </a:extLst>
          </p:cNvPr>
          <p:cNvGrpSpPr/>
          <p:nvPr/>
        </p:nvGrpSpPr>
        <p:grpSpPr>
          <a:xfrm>
            <a:off x="344392" y="4620454"/>
            <a:ext cx="11503213" cy="764407"/>
            <a:chOff x="294630" y="4335451"/>
            <a:chExt cx="11503213" cy="1061835"/>
          </a:xfrm>
        </p:grpSpPr>
        <p:sp>
          <p:nvSpPr>
            <p:cNvPr id="32" name="Freeform: Shape 31">
              <a:extLst>
                <a:ext uri="{FF2B5EF4-FFF2-40B4-BE49-F238E27FC236}">
                  <a16:creationId xmlns:a16="http://schemas.microsoft.com/office/drawing/2014/main" id="{9F624932-341D-04D1-03B9-11B28521C253}"/>
                </a:ext>
              </a:extLst>
            </p:cNvPr>
            <p:cNvSpPr/>
            <p:nvPr/>
          </p:nvSpPr>
          <p:spPr>
            <a:xfrm>
              <a:off x="294630"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Email Spooling </a:t>
              </a:r>
              <a:endParaRPr lang="en-IN" sz="1600" kern="1200" dirty="0"/>
            </a:p>
          </p:txBody>
        </p:sp>
        <p:sp>
          <p:nvSpPr>
            <p:cNvPr id="33" name="Freeform: Shape 32">
              <a:extLst>
                <a:ext uri="{FF2B5EF4-FFF2-40B4-BE49-F238E27FC236}">
                  <a16:creationId xmlns:a16="http://schemas.microsoft.com/office/drawing/2014/main" id="{388A5CF5-5E0E-0CE6-BC4C-9F049CB50335}"/>
                </a:ext>
              </a:extLst>
            </p:cNvPr>
            <p:cNvSpPr/>
            <p:nvPr/>
          </p:nvSpPr>
          <p:spPr>
            <a:xfrm>
              <a:off x="2241328"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Intelligent Data Extraction</a:t>
              </a:r>
            </a:p>
          </p:txBody>
        </p:sp>
        <p:sp>
          <p:nvSpPr>
            <p:cNvPr id="34" name="Freeform: Shape 33">
              <a:extLst>
                <a:ext uri="{FF2B5EF4-FFF2-40B4-BE49-F238E27FC236}">
                  <a16:creationId xmlns:a16="http://schemas.microsoft.com/office/drawing/2014/main" id="{9E10F64E-6EEA-1042-4927-E7FC4076E3BC}"/>
                </a:ext>
              </a:extLst>
            </p:cNvPr>
            <p:cNvSpPr/>
            <p:nvPr/>
          </p:nvSpPr>
          <p:spPr>
            <a:xfrm>
              <a:off x="4188025"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solidFill>
                    <a:schemeClr val="bg1"/>
                  </a:solidFill>
                </a:rPr>
                <a:t>Decision Management</a:t>
              </a:r>
              <a:endParaRPr lang="en-US" sz="1600" kern="1200" dirty="0">
                <a:solidFill>
                  <a:schemeClr val="bg1"/>
                </a:solidFill>
              </a:endParaRPr>
            </a:p>
          </p:txBody>
        </p:sp>
        <p:sp>
          <p:nvSpPr>
            <p:cNvPr id="35" name="Freeform: Shape 34">
              <a:extLst>
                <a:ext uri="{FF2B5EF4-FFF2-40B4-BE49-F238E27FC236}">
                  <a16:creationId xmlns:a16="http://schemas.microsoft.com/office/drawing/2014/main" id="{9AC5157F-7F1E-091B-3F29-38187FAA3E60}"/>
                </a:ext>
              </a:extLst>
            </p:cNvPr>
            <p:cNvSpPr/>
            <p:nvPr/>
          </p:nvSpPr>
          <p:spPr>
            <a:xfrm>
              <a:off x="6134723"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solidFill>
                    <a:schemeClr val="bg1"/>
                  </a:solidFill>
                </a:rPr>
                <a:t>Document Generation BOT</a:t>
              </a:r>
              <a:endParaRPr lang="en-US" sz="1600" kern="1200" dirty="0">
                <a:solidFill>
                  <a:schemeClr val="bg1"/>
                </a:solidFill>
              </a:endParaRPr>
            </a:p>
          </p:txBody>
        </p:sp>
        <p:sp>
          <p:nvSpPr>
            <p:cNvPr id="36" name="Freeform: Shape 35">
              <a:extLst>
                <a:ext uri="{FF2B5EF4-FFF2-40B4-BE49-F238E27FC236}">
                  <a16:creationId xmlns:a16="http://schemas.microsoft.com/office/drawing/2014/main" id="{699B66FD-51E3-A976-46AE-BEF9F98CE11B}"/>
                </a:ext>
              </a:extLst>
            </p:cNvPr>
            <p:cNvSpPr/>
            <p:nvPr/>
          </p:nvSpPr>
          <p:spPr>
            <a:xfrm>
              <a:off x="8081420"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Process Orchestration</a:t>
              </a:r>
              <a:endParaRPr lang="en-IN" sz="1600" kern="1200" dirty="0">
                <a:solidFill>
                  <a:schemeClr val="bg1"/>
                </a:solidFill>
              </a:endParaRPr>
            </a:p>
          </p:txBody>
        </p:sp>
        <p:sp>
          <p:nvSpPr>
            <p:cNvPr id="37" name="Freeform: Shape 36">
              <a:extLst>
                <a:ext uri="{FF2B5EF4-FFF2-40B4-BE49-F238E27FC236}">
                  <a16:creationId xmlns:a16="http://schemas.microsoft.com/office/drawing/2014/main" id="{2ADEFF3A-A56F-E90F-E62A-D648A1CC5035}"/>
                </a:ext>
              </a:extLst>
            </p:cNvPr>
            <p:cNvSpPr/>
            <p:nvPr/>
          </p:nvSpPr>
          <p:spPr>
            <a:xfrm>
              <a:off x="10028118"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bg1"/>
                  </a:solidFill>
                </a:rPr>
                <a:t>Mobile App Development module</a:t>
              </a:r>
            </a:p>
          </p:txBody>
        </p:sp>
      </p:grpSp>
      <p:graphicFrame>
        <p:nvGraphicFramePr>
          <p:cNvPr id="23" name="Diagram 22">
            <a:extLst>
              <a:ext uri="{FF2B5EF4-FFF2-40B4-BE49-F238E27FC236}">
                <a16:creationId xmlns:a16="http://schemas.microsoft.com/office/drawing/2014/main" id="{A38A56A6-F7D0-1BA3-2D15-94BBF73E8ECC}"/>
              </a:ext>
            </a:extLst>
          </p:cNvPr>
          <p:cNvGraphicFramePr/>
          <p:nvPr>
            <p:extLst>
              <p:ext uri="{D42A27DB-BD31-4B8C-83A1-F6EECF244321}">
                <p14:modId xmlns:p14="http://schemas.microsoft.com/office/powerpoint/2010/main" val="1965432202"/>
              </p:ext>
            </p:extLst>
          </p:nvPr>
        </p:nvGraphicFramePr>
        <p:xfrm>
          <a:off x="212202" y="2795592"/>
          <a:ext cx="11506022" cy="12507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 name="TextBox 24">
            <a:extLst>
              <a:ext uri="{FF2B5EF4-FFF2-40B4-BE49-F238E27FC236}">
                <a16:creationId xmlns:a16="http://schemas.microsoft.com/office/drawing/2014/main" id="{102B5493-8845-083D-7970-83B4293A91EF}"/>
              </a:ext>
            </a:extLst>
          </p:cNvPr>
          <p:cNvSpPr txBox="1"/>
          <p:nvPr/>
        </p:nvSpPr>
        <p:spPr>
          <a:xfrm>
            <a:off x="194685" y="2144195"/>
            <a:ext cx="11802629" cy="584775"/>
          </a:xfrm>
          <a:prstGeom prst="rect">
            <a:avLst/>
          </a:prstGeom>
          <a:noFill/>
        </p:spPr>
        <p:txBody>
          <a:bodyPr wrap="square">
            <a:spAutoFit/>
          </a:bodyPr>
          <a:lstStyle>
            <a:defPPr>
              <a:defRPr lang="en-US"/>
            </a:defPPr>
            <a:lvl1pPr algn="just">
              <a:defRPr sz="1600">
                <a:solidFill>
                  <a:schemeClr val="bg1"/>
                </a:solidFill>
              </a:defRPr>
            </a:lvl1pPr>
          </a:lstStyle>
          <a:p>
            <a:r>
              <a:rPr lang="en-US" dirty="0"/>
              <a:t>Delivered an automated solution to streamline the workflows leveraging skyaicode platform which resulted in structured processing with speed and accuracy.</a:t>
            </a:r>
          </a:p>
        </p:txBody>
      </p:sp>
      <p:graphicFrame>
        <p:nvGraphicFramePr>
          <p:cNvPr id="30" name="Diagram 29">
            <a:extLst>
              <a:ext uri="{FF2B5EF4-FFF2-40B4-BE49-F238E27FC236}">
                <a16:creationId xmlns:a16="http://schemas.microsoft.com/office/drawing/2014/main" id="{CD610A77-21E9-A78A-0805-E3B8264CAF27}"/>
              </a:ext>
            </a:extLst>
          </p:cNvPr>
          <p:cNvGraphicFramePr/>
          <p:nvPr>
            <p:extLst>
              <p:ext uri="{D42A27DB-BD31-4B8C-83A1-F6EECF244321}">
                <p14:modId xmlns:p14="http://schemas.microsoft.com/office/powerpoint/2010/main" val="2435461320"/>
              </p:ext>
            </p:extLst>
          </p:nvPr>
        </p:nvGraphicFramePr>
        <p:xfrm>
          <a:off x="300483" y="5689191"/>
          <a:ext cx="11506022" cy="128628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9" name="Picture 38">
            <a:extLst>
              <a:ext uri="{FF2B5EF4-FFF2-40B4-BE49-F238E27FC236}">
                <a16:creationId xmlns:a16="http://schemas.microsoft.com/office/drawing/2014/main" id="{2DEFC93E-C804-832F-5DFE-63AF9582BF90}"/>
              </a:ext>
            </a:extLst>
          </p:cNvPr>
          <p:cNvPicPr>
            <a:picLocks noChangeAspect="1"/>
          </p:cNvPicPr>
          <p:nvPr/>
        </p:nvPicPr>
        <p:blipFill>
          <a:blip r:embed="rId12" cstate="screen">
            <a:extLst>
              <a:ext uri="{28A0092B-C50C-407E-A947-70E740481C1C}">
                <a14:useLocalDpi xmlns:a14="http://schemas.microsoft.com/office/drawing/2010/main"/>
              </a:ext>
            </a:extLst>
          </a:blip>
          <a:srcRect l="-468"/>
          <a:stretch/>
        </p:blipFill>
        <p:spPr>
          <a:xfrm>
            <a:off x="7877696" y="496567"/>
            <a:ext cx="3928809" cy="1529307"/>
          </a:xfrm>
          <a:prstGeom prst="roundRect">
            <a:avLst>
              <a:gd name="adj" fmla="val 14848"/>
            </a:avLst>
          </a:prstGeom>
          <a:effectLst>
            <a:outerShdw blurRad="368300" dist="38100" dir="2520000" sx="102000" sy="102000" algn="tl" rotWithShape="0">
              <a:prstClr val="black">
                <a:alpha val="40000"/>
              </a:prstClr>
            </a:outerShdw>
          </a:effectLst>
        </p:spPr>
      </p:pic>
    </p:spTree>
    <p:extLst>
      <p:ext uri="{BB962C8B-B14F-4D97-AF65-F5344CB8AC3E}">
        <p14:creationId xmlns:p14="http://schemas.microsoft.com/office/powerpoint/2010/main" val="9413674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7FC2D-AD4C-B2EE-05C3-F1E403A8DF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63EAD0-8097-8A67-5FD9-63AE0CB3D381}"/>
              </a:ext>
            </a:extLst>
          </p:cNvPr>
          <p:cNvSpPr/>
          <p:nvPr/>
        </p:nvSpPr>
        <p:spPr>
          <a:xfrm>
            <a:off x="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Top Corners Rounded 4">
            <a:extLst>
              <a:ext uri="{FF2B5EF4-FFF2-40B4-BE49-F238E27FC236}">
                <a16:creationId xmlns:a16="http://schemas.microsoft.com/office/drawing/2014/main" id="{DA8C4663-BF72-F814-075F-803A66BA32D7}"/>
              </a:ext>
            </a:extLst>
          </p:cNvPr>
          <p:cNvSpPr/>
          <p:nvPr/>
        </p:nvSpPr>
        <p:spPr>
          <a:xfrm rot="10800000">
            <a:off x="172909" y="689"/>
            <a:ext cx="5695455"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41BADDE1-D145-6238-5768-57F322A36DA6}"/>
              </a:ext>
            </a:extLst>
          </p:cNvPr>
          <p:cNvSpPr txBox="1"/>
          <p:nvPr/>
        </p:nvSpPr>
        <p:spPr>
          <a:xfrm>
            <a:off x="538309" y="31076"/>
            <a:ext cx="4692695" cy="338554"/>
          </a:xfrm>
          <a:prstGeom prst="rect">
            <a:avLst/>
          </a:prstGeom>
          <a:noFill/>
        </p:spPr>
        <p:txBody>
          <a:bodyPr wrap="none" rtlCol="0">
            <a:spAutoFit/>
          </a:bodyPr>
          <a:lstStyle/>
          <a:p>
            <a:r>
              <a:rPr lang="en-US" sz="1600" dirty="0">
                <a:solidFill>
                  <a:schemeClr val="bg1"/>
                </a:solidFill>
              </a:rPr>
              <a:t>Vendor Operations Automation for Airport Solutions</a:t>
            </a:r>
            <a:endParaRPr lang="en-IN" sz="1600" dirty="0">
              <a:solidFill>
                <a:schemeClr val="bg1"/>
              </a:solidFill>
            </a:endParaRPr>
          </a:p>
        </p:txBody>
      </p:sp>
      <p:sp>
        <p:nvSpPr>
          <p:cNvPr id="8" name="Rectangle 1">
            <a:extLst>
              <a:ext uri="{FF2B5EF4-FFF2-40B4-BE49-F238E27FC236}">
                <a16:creationId xmlns:a16="http://schemas.microsoft.com/office/drawing/2014/main" id="{4FCBCF76-A012-8E2E-D90D-91D4BC7F4F63}"/>
              </a:ext>
            </a:extLst>
          </p:cNvPr>
          <p:cNvSpPr>
            <a:spLocks noChangeArrowheads="1"/>
          </p:cNvSpPr>
          <p:nvPr/>
        </p:nvSpPr>
        <p:spPr bwMode="auto">
          <a:xfrm>
            <a:off x="172911" y="492788"/>
            <a:ext cx="20786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Challenge</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9" name="Rectangle 1">
            <a:extLst>
              <a:ext uri="{FF2B5EF4-FFF2-40B4-BE49-F238E27FC236}">
                <a16:creationId xmlns:a16="http://schemas.microsoft.com/office/drawing/2014/main" id="{1541A6F4-5375-2789-1FB2-5CC7255DC58A}"/>
              </a:ext>
            </a:extLst>
          </p:cNvPr>
          <p:cNvSpPr>
            <a:spLocks noChangeArrowheads="1"/>
          </p:cNvSpPr>
          <p:nvPr/>
        </p:nvSpPr>
        <p:spPr bwMode="auto">
          <a:xfrm>
            <a:off x="149420" y="2006118"/>
            <a:ext cx="20786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Solution</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0" name="Rectangle 1">
            <a:extLst>
              <a:ext uri="{FF2B5EF4-FFF2-40B4-BE49-F238E27FC236}">
                <a16:creationId xmlns:a16="http://schemas.microsoft.com/office/drawing/2014/main" id="{A676DEBF-99EF-74C2-0723-B4E3F647DE03}"/>
              </a:ext>
            </a:extLst>
          </p:cNvPr>
          <p:cNvSpPr>
            <a:spLocks noChangeArrowheads="1"/>
          </p:cNvSpPr>
          <p:nvPr/>
        </p:nvSpPr>
        <p:spPr bwMode="auto">
          <a:xfrm>
            <a:off x="191894" y="5401153"/>
            <a:ext cx="26275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Benefits Delivered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1" name="Rectangle 1">
            <a:extLst>
              <a:ext uri="{FF2B5EF4-FFF2-40B4-BE49-F238E27FC236}">
                <a16:creationId xmlns:a16="http://schemas.microsoft.com/office/drawing/2014/main" id="{37F82082-B92C-1DD3-33FF-0739DE57EC39}"/>
              </a:ext>
            </a:extLst>
          </p:cNvPr>
          <p:cNvSpPr>
            <a:spLocks noChangeArrowheads="1"/>
          </p:cNvSpPr>
          <p:nvPr/>
        </p:nvSpPr>
        <p:spPr bwMode="auto">
          <a:xfrm>
            <a:off x="172911" y="4035200"/>
            <a:ext cx="55861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Skyaicode features/components leveraged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7" name="TextBox 16">
            <a:extLst>
              <a:ext uri="{FF2B5EF4-FFF2-40B4-BE49-F238E27FC236}">
                <a16:creationId xmlns:a16="http://schemas.microsoft.com/office/drawing/2014/main" id="{C297004B-B6E3-D469-2449-F61F27C52FA0}"/>
              </a:ext>
            </a:extLst>
          </p:cNvPr>
          <p:cNvSpPr txBox="1"/>
          <p:nvPr/>
        </p:nvSpPr>
        <p:spPr>
          <a:xfrm>
            <a:off x="191894" y="893702"/>
            <a:ext cx="7621017" cy="1077218"/>
          </a:xfrm>
          <a:prstGeom prst="rect">
            <a:avLst/>
          </a:prstGeom>
          <a:noFill/>
        </p:spPr>
        <p:txBody>
          <a:bodyPr wrap="square">
            <a:spAutoFit/>
          </a:bodyPr>
          <a:lstStyle/>
          <a:p>
            <a:pPr algn="just"/>
            <a:r>
              <a:rPr lang="en-US" sz="1600" dirty="0">
                <a:solidFill>
                  <a:schemeClr val="bg1"/>
                </a:solidFill>
              </a:rPr>
              <a:t>A leading Airport Solution Manufacturing company, relied on manual processes for vendor operations. Vendors managed Advance Shipping Notices (ASNs) through emails, lacking a centralized system. This resulted in inefficiencies, limited visibility, and errors in shipment processing.</a:t>
            </a:r>
            <a:endParaRPr lang="en-IN" sz="1600" dirty="0">
              <a:solidFill>
                <a:schemeClr val="bg1"/>
              </a:solidFill>
            </a:endParaRPr>
          </a:p>
        </p:txBody>
      </p:sp>
      <p:grpSp>
        <p:nvGrpSpPr>
          <p:cNvPr id="31" name="Group 30">
            <a:extLst>
              <a:ext uri="{FF2B5EF4-FFF2-40B4-BE49-F238E27FC236}">
                <a16:creationId xmlns:a16="http://schemas.microsoft.com/office/drawing/2014/main" id="{BD1B1D36-A8D2-B7E2-E932-866623A151C4}"/>
              </a:ext>
            </a:extLst>
          </p:cNvPr>
          <p:cNvGrpSpPr/>
          <p:nvPr/>
        </p:nvGrpSpPr>
        <p:grpSpPr>
          <a:xfrm>
            <a:off x="303881" y="4455455"/>
            <a:ext cx="11503213" cy="764407"/>
            <a:chOff x="294630" y="4335451"/>
            <a:chExt cx="11503213" cy="1061835"/>
          </a:xfrm>
        </p:grpSpPr>
        <p:sp>
          <p:nvSpPr>
            <p:cNvPr id="32" name="Freeform: Shape 31">
              <a:extLst>
                <a:ext uri="{FF2B5EF4-FFF2-40B4-BE49-F238E27FC236}">
                  <a16:creationId xmlns:a16="http://schemas.microsoft.com/office/drawing/2014/main" id="{9343EB06-3E18-71AA-5B40-3A3D062C25DE}"/>
                </a:ext>
              </a:extLst>
            </p:cNvPr>
            <p:cNvSpPr/>
            <p:nvPr/>
          </p:nvSpPr>
          <p:spPr>
            <a:xfrm>
              <a:off x="294630"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Pre-Built Integration</a:t>
              </a:r>
              <a:endParaRPr lang="en-IN" sz="1600" kern="1200" dirty="0"/>
            </a:p>
          </p:txBody>
        </p:sp>
        <p:sp>
          <p:nvSpPr>
            <p:cNvPr id="33" name="Freeform: Shape 32">
              <a:extLst>
                <a:ext uri="{FF2B5EF4-FFF2-40B4-BE49-F238E27FC236}">
                  <a16:creationId xmlns:a16="http://schemas.microsoft.com/office/drawing/2014/main" id="{2DEB340C-DA1F-FCAB-667C-BC39E36C9F6F}"/>
                </a:ext>
              </a:extLst>
            </p:cNvPr>
            <p:cNvSpPr/>
            <p:nvPr/>
          </p:nvSpPr>
          <p:spPr>
            <a:xfrm>
              <a:off x="2241328"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Workflow Automation</a:t>
              </a:r>
            </a:p>
          </p:txBody>
        </p:sp>
        <p:sp>
          <p:nvSpPr>
            <p:cNvPr id="34" name="Freeform: Shape 33">
              <a:extLst>
                <a:ext uri="{FF2B5EF4-FFF2-40B4-BE49-F238E27FC236}">
                  <a16:creationId xmlns:a16="http://schemas.microsoft.com/office/drawing/2014/main" id="{443C0B08-8EF5-E831-FB4F-471585FB9E86}"/>
                </a:ext>
              </a:extLst>
            </p:cNvPr>
            <p:cNvSpPr/>
            <p:nvPr/>
          </p:nvSpPr>
          <p:spPr>
            <a:xfrm>
              <a:off x="4188025"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Decision Management</a:t>
              </a:r>
            </a:p>
          </p:txBody>
        </p:sp>
        <p:sp>
          <p:nvSpPr>
            <p:cNvPr id="35" name="Freeform: Shape 34">
              <a:extLst>
                <a:ext uri="{FF2B5EF4-FFF2-40B4-BE49-F238E27FC236}">
                  <a16:creationId xmlns:a16="http://schemas.microsoft.com/office/drawing/2014/main" id="{10BC3264-BF59-3561-5E7C-77EFD46B6C8E}"/>
                </a:ext>
              </a:extLst>
            </p:cNvPr>
            <p:cNvSpPr/>
            <p:nvPr/>
          </p:nvSpPr>
          <p:spPr>
            <a:xfrm>
              <a:off x="6134723"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Document Generation BOT</a:t>
              </a:r>
            </a:p>
          </p:txBody>
        </p:sp>
        <p:sp>
          <p:nvSpPr>
            <p:cNvPr id="36" name="Freeform: Shape 35">
              <a:extLst>
                <a:ext uri="{FF2B5EF4-FFF2-40B4-BE49-F238E27FC236}">
                  <a16:creationId xmlns:a16="http://schemas.microsoft.com/office/drawing/2014/main" id="{B3688D9D-1650-F7F7-7D25-C3449F41630C}"/>
                </a:ext>
              </a:extLst>
            </p:cNvPr>
            <p:cNvSpPr/>
            <p:nvPr/>
          </p:nvSpPr>
          <p:spPr>
            <a:xfrm>
              <a:off x="8081420"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Dashboard</a:t>
              </a:r>
              <a:endParaRPr lang="en-IN" sz="1600" kern="1200" dirty="0">
                <a:solidFill>
                  <a:schemeClr val="bg1"/>
                </a:solidFill>
              </a:endParaRPr>
            </a:p>
          </p:txBody>
        </p:sp>
        <p:sp>
          <p:nvSpPr>
            <p:cNvPr id="37" name="Freeform: Shape 36">
              <a:extLst>
                <a:ext uri="{FF2B5EF4-FFF2-40B4-BE49-F238E27FC236}">
                  <a16:creationId xmlns:a16="http://schemas.microsoft.com/office/drawing/2014/main" id="{2BBB849C-6897-9958-82A6-4B9945609C62}"/>
                </a:ext>
              </a:extLst>
            </p:cNvPr>
            <p:cNvSpPr/>
            <p:nvPr/>
          </p:nvSpPr>
          <p:spPr>
            <a:xfrm>
              <a:off x="10028118"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bg1"/>
                  </a:solidFill>
                </a:rPr>
                <a:t>User Groups &amp; Users</a:t>
              </a:r>
            </a:p>
          </p:txBody>
        </p:sp>
      </p:grpSp>
      <p:graphicFrame>
        <p:nvGraphicFramePr>
          <p:cNvPr id="23" name="Diagram 22">
            <a:extLst>
              <a:ext uri="{FF2B5EF4-FFF2-40B4-BE49-F238E27FC236}">
                <a16:creationId xmlns:a16="http://schemas.microsoft.com/office/drawing/2014/main" id="{FDE12C63-2089-9BE0-2C14-E3E833A852E7}"/>
              </a:ext>
            </a:extLst>
          </p:cNvPr>
          <p:cNvGraphicFramePr/>
          <p:nvPr>
            <p:extLst>
              <p:ext uri="{D42A27DB-BD31-4B8C-83A1-F6EECF244321}">
                <p14:modId xmlns:p14="http://schemas.microsoft.com/office/powerpoint/2010/main" val="2522069935"/>
              </p:ext>
            </p:extLst>
          </p:nvPr>
        </p:nvGraphicFramePr>
        <p:xfrm>
          <a:off x="212202" y="2784700"/>
          <a:ext cx="11506022" cy="1419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 name="TextBox 24">
            <a:extLst>
              <a:ext uri="{FF2B5EF4-FFF2-40B4-BE49-F238E27FC236}">
                <a16:creationId xmlns:a16="http://schemas.microsoft.com/office/drawing/2014/main" id="{58EB7918-1EB5-93AD-2E3F-EDA63F23B523}"/>
              </a:ext>
            </a:extLst>
          </p:cNvPr>
          <p:cNvSpPr txBox="1"/>
          <p:nvPr/>
        </p:nvSpPr>
        <p:spPr>
          <a:xfrm>
            <a:off x="172909" y="2310926"/>
            <a:ext cx="11398605" cy="584775"/>
          </a:xfrm>
          <a:prstGeom prst="rect">
            <a:avLst/>
          </a:prstGeom>
          <a:noFill/>
        </p:spPr>
        <p:txBody>
          <a:bodyPr wrap="square">
            <a:spAutoFit/>
          </a:bodyPr>
          <a:lstStyle>
            <a:defPPr>
              <a:defRPr lang="en-US"/>
            </a:defPPr>
            <a:lvl1pPr algn="just">
              <a:defRPr sz="1600">
                <a:solidFill>
                  <a:schemeClr val="bg1"/>
                </a:solidFill>
              </a:defRPr>
            </a:lvl1pPr>
          </a:lstStyle>
          <a:p>
            <a:r>
              <a:rPr lang="en-US" dirty="0"/>
              <a:t>Delivered a distinctive solution leveraging skyaicode to streamline the existing challenges that resulted in increased operational efficiency</a:t>
            </a:r>
          </a:p>
        </p:txBody>
      </p:sp>
      <p:graphicFrame>
        <p:nvGraphicFramePr>
          <p:cNvPr id="30" name="Diagram 29">
            <a:extLst>
              <a:ext uri="{FF2B5EF4-FFF2-40B4-BE49-F238E27FC236}">
                <a16:creationId xmlns:a16="http://schemas.microsoft.com/office/drawing/2014/main" id="{F647F845-0007-4DD1-38D6-27DDC4C16CB9}"/>
              </a:ext>
            </a:extLst>
          </p:cNvPr>
          <p:cNvGraphicFramePr/>
          <p:nvPr>
            <p:extLst>
              <p:ext uri="{D42A27DB-BD31-4B8C-83A1-F6EECF244321}">
                <p14:modId xmlns:p14="http://schemas.microsoft.com/office/powerpoint/2010/main" val="943539419"/>
              </p:ext>
            </p:extLst>
          </p:nvPr>
        </p:nvGraphicFramePr>
        <p:xfrm>
          <a:off x="300483" y="5602106"/>
          <a:ext cx="11506022" cy="128628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9" name="Picture 38">
            <a:extLst>
              <a:ext uri="{FF2B5EF4-FFF2-40B4-BE49-F238E27FC236}">
                <a16:creationId xmlns:a16="http://schemas.microsoft.com/office/drawing/2014/main" id="{0CE4C701-1315-0362-B744-ED1B3D798247}"/>
              </a:ext>
            </a:extLst>
          </p:cNvPr>
          <p:cNvPicPr>
            <a:picLocks noChangeAspect="1"/>
          </p:cNvPicPr>
          <p:nvPr/>
        </p:nvPicPr>
        <p:blipFill>
          <a:blip r:embed="rId12" cstate="screen">
            <a:extLst>
              <a:ext uri="{28A0092B-C50C-407E-A947-70E740481C1C}">
                <a14:useLocalDpi xmlns:a14="http://schemas.microsoft.com/office/drawing/2010/main"/>
              </a:ext>
            </a:extLst>
          </a:blip>
          <a:srcRect r="-735"/>
          <a:stretch/>
        </p:blipFill>
        <p:spPr>
          <a:xfrm>
            <a:off x="7913699" y="227544"/>
            <a:ext cx="3509115" cy="1943858"/>
          </a:xfrm>
          <a:prstGeom prst="roundRect">
            <a:avLst>
              <a:gd name="adj" fmla="val 14848"/>
            </a:avLst>
          </a:prstGeom>
          <a:effectLst>
            <a:outerShdw blurRad="368300" dist="38100" dir="2520000" sx="102000" sy="102000" algn="tl" rotWithShape="0">
              <a:prstClr val="black">
                <a:alpha val="40000"/>
              </a:prstClr>
            </a:outerShdw>
          </a:effectLst>
        </p:spPr>
      </p:pic>
    </p:spTree>
    <p:extLst>
      <p:ext uri="{BB962C8B-B14F-4D97-AF65-F5344CB8AC3E}">
        <p14:creationId xmlns:p14="http://schemas.microsoft.com/office/powerpoint/2010/main" val="854443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D4C33-8D94-EEE4-BDCD-83D97E20E9E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1956F8D-DFF2-5303-B04B-12E2DDA27F7F}"/>
              </a:ext>
            </a:extLst>
          </p:cNvPr>
          <p:cNvSpPr/>
          <p:nvPr/>
        </p:nvSpPr>
        <p:spPr>
          <a:xfrm>
            <a:off x="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Top Corners Rounded 4">
            <a:extLst>
              <a:ext uri="{FF2B5EF4-FFF2-40B4-BE49-F238E27FC236}">
                <a16:creationId xmlns:a16="http://schemas.microsoft.com/office/drawing/2014/main" id="{12FBDDF7-861D-8E4C-DA84-DE06D5D4921B}"/>
              </a:ext>
            </a:extLst>
          </p:cNvPr>
          <p:cNvSpPr/>
          <p:nvPr/>
        </p:nvSpPr>
        <p:spPr>
          <a:xfrm rot="10800000">
            <a:off x="172906" y="689"/>
            <a:ext cx="4273363"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89327DB4-CF64-F0EE-FA97-AFB71D98DD2C}"/>
              </a:ext>
            </a:extLst>
          </p:cNvPr>
          <p:cNvSpPr txBox="1"/>
          <p:nvPr/>
        </p:nvSpPr>
        <p:spPr>
          <a:xfrm>
            <a:off x="475370" y="27526"/>
            <a:ext cx="3855479" cy="338554"/>
          </a:xfrm>
          <a:prstGeom prst="rect">
            <a:avLst/>
          </a:prstGeom>
          <a:noFill/>
        </p:spPr>
        <p:txBody>
          <a:bodyPr wrap="none" rtlCol="0">
            <a:spAutoFit/>
          </a:bodyPr>
          <a:lstStyle/>
          <a:p>
            <a:r>
              <a:rPr lang="en-US" sz="1600" dirty="0">
                <a:solidFill>
                  <a:schemeClr val="bg1"/>
                </a:solidFill>
              </a:rPr>
              <a:t>Ticketing Tool for Manufacturing company</a:t>
            </a:r>
            <a:endParaRPr lang="en-IN" sz="1600" dirty="0">
              <a:solidFill>
                <a:schemeClr val="bg1"/>
              </a:solidFill>
            </a:endParaRPr>
          </a:p>
        </p:txBody>
      </p:sp>
      <p:sp>
        <p:nvSpPr>
          <p:cNvPr id="8" name="Rectangle 1">
            <a:extLst>
              <a:ext uri="{FF2B5EF4-FFF2-40B4-BE49-F238E27FC236}">
                <a16:creationId xmlns:a16="http://schemas.microsoft.com/office/drawing/2014/main" id="{4B2FF0E1-FCEC-F5D3-AAF0-61E49DB1C392}"/>
              </a:ext>
            </a:extLst>
          </p:cNvPr>
          <p:cNvSpPr>
            <a:spLocks noChangeArrowheads="1"/>
          </p:cNvSpPr>
          <p:nvPr/>
        </p:nvSpPr>
        <p:spPr bwMode="auto">
          <a:xfrm>
            <a:off x="179923" y="502833"/>
            <a:ext cx="22781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Challenge</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9" name="Rectangle 1">
            <a:extLst>
              <a:ext uri="{FF2B5EF4-FFF2-40B4-BE49-F238E27FC236}">
                <a16:creationId xmlns:a16="http://schemas.microsoft.com/office/drawing/2014/main" id="{9CE48042-BB16-B71C-5A73-DE2D04E0CE14}"/>
              </a:ext>
            </a:extLst>
          </p:cNvPr>
          <p:cNvSpPr>
            <a:spLocks noChangeArrowheads="1"/>
          </p:cNvSpPr>
          <p:nvPr/>
        </p:nvSpPr>
        <p:spPr bwMode="auto">
          <a:xfrm>
            <a:off x="172907" y="1526237"/>
            <a:ext cx="22781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Solution</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0" name="Rectangle 1">
            <a:extLst>
              <a:ext uri="{FF2B5EF4-FFF2-40B4-BE49-F238E27FC236}">
                <a16:creationId xmlns:a16="http://schemas.microsoft.com/office/drawing/2014/main" id="{7D73D3C9-3BCD-FD12-10DD-81DCCDBCDDB7}"/>
              </a:ext>
            </a:extLst>
          </p:cNvPr>
          <p:cNvSpPr>
            <a:spLocks noChangeArrowheads="1"/>
          </p:cNvSpPr>
          <p:nvPr/>
        </p:nvSpPr>
        <p:spPr bwMode="auto">
          <a:xfrm>
            <a:off x="191894" y="5401153"/>
            <a:ext cx="26275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Benefits Delivered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1" name="Rectangle 1">
            <a:extLst>
              <a:ext uri="{FF2B5EF4-FFF2-40B4-BE49-F238E27FC236}">
                <a16:creationId xmlns:a16="http://schemas.microsoft.com/office/drawing/2014/main" id="{5A5857FD-20ED-5E50-E0A8-05EEE1F46DE2}"/>
              </a:ext>
            </a:extLst>
          </p:cNvPr>
          <p:cNvSpPr>
            <a:spLocks noChangeArrowheads="1"/>
          </p:cNvSpPr>
          <p:nvPr/>
        </p:nvSpPr>
        <p:spPr bwMode="auto">
          <a:xfrm>
            <a:off x="241890" y="3781777"/>
            <a:ext cx="55861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Skyaicode features/components leveraged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7" name="TextBox 16">
            <a:extLst>
              <a:ext uri="{FF2B5EF4-FFF2-40B4-BE49-F238E27FC236}">
                <a16:creationId xmlns:a16="http://schemas.microsoft.com/office/drawing/2014/main" id="{1FD08978-0903-4D8C-AC25-E08A6CADA036}"/>
              </a:ext>
            </a:extLst>
          </p:cNvPr>
          <p:cNvSpPr txBox="1"/>
          <p:nvPr/>
        </p:nvSpPr>
        <p:spPr>
          <a:xfrm>
            <a:off x="191894" y="820951"/>
            <a:ext cx="7727025" cy="738664"/>
          </a:xfrm>
          <a:prstGeom prst="rect">
            <a:avLst/>
          </a:prstGeom>
          <a:noFill/>
        </p:spPr>
        <p:txBody>
          <a:bodyPr wrap="square">
            <a:spAutoFit/>
          </a:bodyPr>
          <a:lstStyle/>
          <a:p>
            <a:pPr algn="just"/>
            <a:r>
              <a:rPr lang="en-US" sz="1400" dirty="0">
                <a:solidFill>
                  <a:schemeClr val="bg1"/>
                </a:solidFill>
              </a:rPr>
              <a:t>A Manufacturing Company faced recurring delays and miscommunication in handling internal service requests and incidents. Employees raised tickets via emails or phone calls, which lacked tracking, accountability, and timely resolution. </a:t>
            </a:r>
            <a:endParaRPr lang="en-IN" sz="1400" dirty="0">
              <a:solidFill>
                <a:schemeClr val="bg1"/>
              </a:solidFill>
            </a:endParaRPr>
          </a:p>
        </p:txBody>
      </p:sp>
      <p:sp>
        <p:nvSpPr>
          <p:cNvPr id="32" name="Freeform: Shape 31">
            <a:extLst>
              <a:ext uri="{FF2B5EF4-FFF2-40B4-BE49-F238E27FC236}">
                <a16:creationId xmlns:a16="http://schemas.microsoft.com/office/drawing/2014/main" id="{112194E0-313A-CF54-E4A2-6DA1B2F2AE28}"/>
              </a:ext>
            </a:extLst>
          </p:cNvPr>
          <p:cNvSpPr/>
          <p:nvPr/>
        </p:nvSpPr>
        <p:spPr>
          <a:xfrm>
            <a:off x="344320" y="4379897"/>
            <a:ext cx="1769725" cy="764407"/>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Live reports </a:t>
            </a:r>
            <a:endParaRPr lang="en-IN" sz="1600" kern="1200" dirty="0"/>
          </a:p>
        </p:txBody>
      </p:sp>
      <p:sp>
        <p:nvSpPr>
          <p:cNvPr id="33" name="Freeform: Shape 32">
            <a:extLst>
              <a:ext uri="{FF2B5EF4-FFF2-40B4-BE49-F238E27FC236}">
                <a16:creationId xmlns:a16="http://schemas.microsoft.com/office/drawing/2014/main" id="{2B5C64A5-7B49-2249-4C5F-973EC1024B60}"/>
              </a:ext>
            </a:extLst>
          </p:cNvPr>
          <p:cNvSpPr/>
          <p:nvPr/>
        </p:nvSpPr>
        <p:spPr>
          <a:xfrm>
            <a:off x="2295647" y="4379897"/>
            <a:ext cx="1769725" cy="764407"/>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Workflow Automation</a:t>
            </a:r>
          </a:p>
        </p:txBody>
      </p:sp>
      <p:sp>
        <p:nvSpPr>
          <p:cNvPr id="34" name="Freeform: Shape 33">
            <a:extLst>
              <a:ext uri="{FF2B5EF4-FFF2-40B4-BE49-F238E27FC236}">
                <a16:creationId xmlns:a16="http://schemas.microsoft.com/office/drawing/2014/main" id="{7CBA34FB-9CA2-C896-90AD-4D0ADD74C9C5}"/>
              </a:ext>
            </a:extLst>
          </p:cNvPr>
          <p:cNvSpPr/>
          <p:nvPr/>
        </p:nvSpPr>
        <p:spPr>
          <a:xfrm>
            <a:off x="4246974" y="4379897"/>
            <a:ext cx="1769725" cy="764407"/>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Decision Management</a:t>
            </a:r>
          </a:p>
        </p:txBody>
      </p:sp>
      <p:sp>
        <p:nvSpPr>
          <p:cNvPr id="35" name="Freeform: Shape 34">
            <a:extLst>
              <a:ext uri="{FF2B5EF4-FFF2-40B4-BE49-F238E27FC236}">
                <a16:creationId xmlns:a16="http://schemas.microsoft.com/office/drawing/2014/main" id="{2A13EF49-59C1-9A21-A0F8-3CA045C45079}"/>
              </a:ext>
            </a:extLst>
          </p:cNvPr>
          <p:cNvSpPr/>
          <p:nvPr/>
        </p:nvSpPr>
        <p:spPr>
          <a:xfrm>
            <a:off x="6198301" y="4379897"/>
            <a:ext cx="1769725" cy="764407"/>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dirty="0">
                <a:solidFill>
                  <a:schemeClr val="bg1"/>
                </a:solidFill>
              </a:rPr>
              <a:t>Live chat facility</a:t>
            </a:r>
            <a:endParaRPr lang="en-US" sz="1600" kern="1200" dirty="0">
              <a:solidFill>
                <a:schemeClr val="bg1"/>
              </a:solidFill>
            </a:endParaRPr>
          </a:p>
        </p:txBody>
      </p:sp>
      <p:sp>
        <p:nvSpPr>
          <p:cNvPr id="36" name="Freeform: Shape 35">
            <a:extLst>
              <a:ext uri="{FF2B5EF4-FFF2-40B4-BE49-F238E27FC236}">
                <a16:creationId xmlns:a16="http://schemas.microsoft.com/office/drawing/2014/main" id="{B6B4330A-66D6-9446-2D8E-788A98A2446D}"/>
              </a:ext>
            </a:extLst>
          </p:cNvPr>
          <p:cNvSpPr/>
          <p:nvPr/>
        </p:nvSpPr>
        <p:spPr>
          <a:xfrm>
            <a:off x="8149628" y="4379897"/>
            <a:ext cx="1769725" cy="764407"/>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Dashboard</a:t>
            </a:r>
            <a:endParaRPr lang="en-IN" sz="1600" kern="1200" dirty="0">
              <a:solidFill>
                <a:schemeClr val="bg1"/>
              </a:solidFill>
            </a:endParaRPr>
          </a:p>
        </p:txBody>
      </p:sp>
      <p:sp>
        <p:nvSpPr>
          <p:cNvPr id="37" name="Freeform: Shape 36">
            <a:extLst>
              <a:ext uri="{FF2B5EF4-FFF2-40B4-BE49-F238E27FC236}">
                <a16:creationId xmlns:a16="http://schemas.microsoft.com/office/drawing/2014/main" id="{99307873-A17E-84C0-D9E4-CE3D639624B3}"/>
              </a:ext>
            </a:extLst>
          </p:cNvPr>
          <p:cNvSpPr/>
          <p:nvPr/>
        </p:nvSpPr>
        <p:spPr>
          <a:xfrm>
            <a:off x="10100954" y="4379897"/>
            <a:ext cx="1769725" cy="764407"/>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bg1"/>
                </a:solidFill>
              </a:rPr>
              <a:t>User Groups &amp; Role based access</a:t>
            </a:r>
          </a:p>
        </p:txBody>
      </p:sp>
      <p:sp>
        <p:nvSpPr>
          <p:cNvPr id="25" name="TextBox 24">
            <a:extLst>
              <a:ext uri="{FF2B5EF4-FFF2-40B4-BE49-F238E27FC236}">
                <a16:creationId xmlns:a16="http://schemas.microsoft.com/office/drawing/2014/main" id="{955FA5C7-1DC6-BCD2-4B3F-2862BF822028}"/>
              </a:ext>
            </a:extLst>
          </p:cNvPr>
          <p:cNvSpPr txBox="1"/>
          <p:nvPr/>
        </p:nvSpPr>
        <p:spPr>
          <a:xfrm>
            <a:off x="202151" y="1872041"/>
            <a:ext cx="7807636" cy="738664"/>
          </a:xfrm>
          <a:prstGeom prst="rect">
            <a:avLst/>
          </a:prstGeom>
          <a:noFill/>
        </p:spPr>
        <p:txBody>
          <a:bodyPr wrap="square">
            <a:spAutoFit/>
          </a:bodyPr>
          <a:lstStyle>
            <a:defPPr>
              <a:defRPr lang="en-US"/>
            </a:defPPr>
            <a:lvl1pPr algn="just">
              <a:defRPr sz="1600">
                <a:solidFill>
                  <a:schemeClr val="bg1"/>
                </a:solidFill>
              </a:defRPr>
            </a:lvl1pPr>
          </a:lstStyle>
          <a:p>
            <a:r>
              <a:rPr lang="en-US" sz="1400" dirty="0"/>
              <a:t>Implemented an automated ticketing and incident management system using </a:t>
            </a:r>
            <a:r>
              <a:rPr lang="en-US" sz="1400" dirty="0" err="1"/>
              <a:t>Skyaicode</a:t>
            </a:r>
            <a:r>
              <a:rPr lang="en-US" sz="1400" dirty="0"/>
              <a:t>. The system enabled employees to raise service tickets via a unified portal, which routed requests to the right department, ensured approvals, tracked status, and maintained a complete audit trail.</a:t>
            </a:r>
          </a:p>
        </p:txBody>
      </p:sp>
      <p:graphicFrame>
        <p:nvGraphicFramePr>
          <p:cNvPr id="30" name="Diagram 29">
            <a:extLst>
              <a:ext uri="{FF2B5EF4-FFF2-40B4-BE49-F238E27FC236}">
                <a16:creationId xmlns:a16="http://schemas.microsoft.com/office/drawing/2014/main" id="{3B52F439-9607-A7CD-6204-33955D0F996A}"/>
              </a:ext>
            </a:extLst>
          </p:cNvPr>
          <p:cNvGraphicFramePr/>
          <p:nvPr>
            <p:extLst>
              <p:ext uri="{D42A27DB-BD31-4B8C-83A1-F6EECF244321}">
                <p14:modId xmlns:p14="http://schemas.microsoft.com/office/powerpoint/2010/main" val="2571844462"/>
              </p:ext>
            </p:extLst>
          </p:nvPr>
        </p:nvGraphicFramePr>
        <p:xfrm>
          <a:off x="300483" y="5602106"/>
          <a:ext cx="11506022" cy="12862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9" name="Picture 38">
            <a:extLst>
              <a:ext uri="{FF2B5EF4-FFF2-40B4-BE49-F238E27FC236}">
                <a16:creationId xmlns:a16="http://schemas.microsoft.com/office/drawing/2014/main" id="{451DA13A-B447-0C21-59C5-E4859A654109}"/>
              </a:ext>
            </a:extLst>
          </p:cNvPr>
          <p:cNvPicPr>
            <a:picLocks noChangeAspect="1"/>
          </p:cNvPicPr>
          <p:nvPr/>
        </p:nvPicPr>
        <p:blipFill>
          <a:blip r:embed="rId7" cstate="screen">
            <a:extLst>
              <a:ext uri="{BEBA8EAE-BF5A-486C-A8C5-ECC9F3942E4B}">
                <a14:imgProps xmlns:a14="http://schemas.microsoft.com/office/drawing/2010/main">
                  <a14:imgLayer r:embed="rId8">
                    <a14:imgEffect>
                      <a14:brightnessContrast bright="20000"/>
                    </a14:imgEffect>
                  </a14:imgLayer>
                </a14:imgProps>
              </a:ext>
              <a:ext uri="{28A0092B-C50C-407E-A947-70E740481C1C}">
                <a14:useLocalDpi xmlns:a14="http://schemas.microsoft.com/office/drawing/2010/main"/>
              </a:ext>
            </a:extLst>
          </a:blip>
          <a:srcRect/>
          <a:stretch/>
        </p:blipFill>
        <p:spPr>
          <a:xfrm>
            <a:off x="8211938" y="445150"/>
            <a:ext cx="3509115" cy="1943858"/>
          </a:xfrm>
          <a:prstGeom prst="roundRect">
            <a:avLst>
              <a:gd name="adj" fmla="val 14848"/>
            </a:avLst>
          </a:prstGeom>
          <a:effectLst>
            <a:outerShdw blurRad="368300" dist="38100" dir="2520000" sx="102000" sy="102000" algn="tl" rotWithShape="0">
              <a:prstClr val="black">
                <a:alpha val="40000"/>
              </a:prstClr>
            </a:outerShdw>
          </a:effectLst>
        </p:spPr>
      </p:pic>
      <p:sp>
        <p:nvSpPr>
          <p:cNvPr id="7" name="Rectangle 6">
            <a:extLst>
              <a:ext uri="{FF2B5EF4-FFF2-40B4-BE49-F238E27FC236}">
                <a16:creationId xmlns:a16="http://schemas.microsoft.com/office/drawing/2014/main" id="{0CAC7D61-2A50-08D3-8337-34E67D9E416C}"/>
              </a:ext>
            </a:extLst>
          </p:cNvPr>
          <p:cNvSpPr/>
          <p:nvPr/>
        </p:nvSpPr>
        <p:spPr>
          <a:xfrm>
            <a:off x="277309" y="2788683"/>
            <a:ext cx="6068771" cy="3048061"/>
          </a:xfrm>
          <a:prstGeom prst="rect">
            <a:avLst/>
          </a:prstGeom>
          <a:ln>
            <a:noFill/>
          </a:ln>
        </p:spPr>
        <p:txBody>
          <a:bodyPr/>
          <a:lstStyle/>
          <a:p>
            <a:endParaRPr lang="en-IN"/>
          </a:p>
        </p:txBody>
      </p:sp>
      <p:grpSp>
        <p:nvGrpSpPr>
          <p:cNvPr id="13" name="Group 12">
            <a:extLst>
              <a:ext uri="{FF2B5EF4-FFF2-40B4-BE49-F238E27FC236}">
                <a16:creationId xmlns:a16="http://schemas.microsoft.com/office/drawing/2014/main" id="{36AB94A2-C1F1-A4BD-1688-C7693782C52E}"/>
              </a:ext>
            </a:extLst>
          </p:cNvPr>
          <p:cNvGrpSpPr/>
          <p:nvPr/>
        </p:nvGrpSpPr>
        <p:grpSpPr>
          <a:xfrm>
            <a:off x="257064" y="2637461"/>
            <a:ext cx="11521261" cy="1127837"/>
            <a:chOff x="422024" y="2788683"/>
            <a:chExt cx="11521261" cy="1127837"/>
          </a:xfrm>
        </p:grpSpPr>
        <p:sp>
          <p:nvSpPr>
            <p:cNvPr id="12" name="Oval 11">
              <a:extLst>
                <a:ext uri="{FF2B5EF4-FFF2-40B4-BE49-F238E27FC236}">
                  <a16:creationId xmlns:a16="http://schemas.microsoft.com/office/drawing/2014/main" id="{695115D7-4E96-8ADD-8FE1-2C24742AE4BD}"/>
                </a:ext>
              </a:extLst>
            </p:cNvPr>
            <p:cNvSpPr/>
            <p:nvPr/>
          </p:nvSpPr>
          <p:spPr>
            <a:xfrm>
              <a:off x="422024" y="3056848"/>
              <a:ext cx="525656" cy="525656"/>
            </a:xfrm>
            <a:prstGeom prst="ellipse">
              <a:avLst/>
            </a:prstGeom>
            <a:solidFill>
              <a:srgbClr val="B6FF42"/>
            </a:solidFill>
            <a:ln>
              <a:noFill/>
            </a:ln>
          </p:spPr>
          <p:style>
            <a:lnRef idx="0">
              <a:scrgbClr r="0" g="0" b="0"/>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dirty="0"/>
            </a:p>
          </p:txBody>
        </p:sp>
        <p:sp>
          <p:nvSpPr>
            <p:cNvPr id="14" name="Freeform: Shape 13">
              <a:extLst>
                <a:ext uri="{FF2B5EF4-FFF2-40B4-BE49-F238E27FC236}">
                  <a16:creationId xmlns:a16="http://schemas.microsoft.com/office/drawing/2014/main" id="{D0A207CB-8107-BBCC-732A-739CAEB8FCFC}"/>
                </a:ext>
              </a:extLst>
            </p:cNvPr>
            <p:cNvSpPr/>
            <p:nvPr/>
          </p:nvSpPr>
          <p:spPr>
            <a:xfrm>
              <a:off x="1060321" y="3056848"/>
              <a:ext cx="1514814"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a:noFill/>
            </a:ln>
          </p:spPr>
          <p:style>
            <a:lnRef idx="0">
              <a:scrgbClr r="0" g="0" b="0"/>
            </a:lnRef>
            <a:fillRef idx="0">
              <a:scrgbClr r="0" g="0" b="0"/>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533400">
                <a:lnSpc>
                  <a:spcPct val="100000"/>
                </a:lnSpc>
                <a:spcBef>
                  <a:spcPct val="0"/>
                </a:spcBef>
                <a:spcAft>
                  <a:spcPct val="35000"/>
                </a:spcAft>
                <a:buNone/>
              </a:pPr>
              <a:r>
                <a:rPr lang="en-US" sz="1200" b="0" kern="1200" dirty="0">
                  <a:solidFill>
                    <a:schemeClr val="bg1"/>
                  </a:solidFill>
                </a:rPr>
                <a:t>Employees raise tickets by selecting the service department and filling the request form.</a:t>
              </a:r>
              <a:endParaRPr lang="en-IN" sz="900" b="0" kern="1200" dirty="0">
                <a:solidFill>
                  <a:schemeClr val="bg1"/>
                </a:solidFill>
              </a:endParaRPr>
            </a:p>
          </p:txBody>
        </p:sp>
        <p:sp>
          <p:nvSpPr>
            <p:cNvPr id="15" name="Oval 14">
              <a:extLst>
                <a:ext uri="{FF2B5EF4-FFF2-40B4-BE49-F238E27FC236}">
                  <a16:creationId xmlns:a16="http://schemas.microsoft.com/office/drawing/2014/main" id="{3D603E89-778E-03FA-B4B4-59D85FE33C8F}"/>
                </a:ext>
              </a:extLst>
            </p:cNvPr>
            <p:cNvSpPr/>
            <p:nvPr/>
          </p:nvSpPr>
          <p:spPr>
            <a:xfrm>
              <a:off x="2911502" y="3056848"/>
              <a:ext cx="525656"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dirty="0"/>
            </a:p>
          </p:txBody>
        </p:sp>
        <p:sp>
          <p:nvSpPr>
            <p:cNvPr id="18" name="Freeform: Shape 17">
              <a:extLst>
                <a:ext uri="{FF2B5EF4-FFF2-40B4-BE49-F238E27FC236}">
                  <a16:creationId xmlns:a16="http://schemas.microsoft.com/office/drawing/2014/main" id="{E8056780-FB4B-E757-DFAE-0DE49513D6A4}"/>
                </a:ext>
              </a:extLst>
            </p:cNvPr>
            <p:cNvSpPr/>
            <p:nvPr/>
          </p:nvSpPr>
          <p:spPr>
            <a:xfrm>
              <a:off x="3430188" y="3056848"/>
              <a:ext cx="1478269" cy="525656"/>
            </a:xfrm>
            <a:custGeom>
              <a:avLst/>
              <a:gdLst>
                <a:gd name="connsiteX0" fmla="*/ 0 w 1478269"/>
                <a:gd name="connsiteY0" fmla="*/ 0 h 525656"/>
                <a:gd name="connsiteX1" fmla="*/ 1478269 w 1478269"/>
                <a:gd name="connsiteY1" fmla="*/ 0 h 525656"/>
                <a:gd name="connsiteX2" fmla="*/ 1478269 w 1478269"/>
                <a:gd name="connsiteY2" fmla="*/ 525656 h 525656"/>
                <a:gd name="connsiteX3" fmla="*/ 0 w 1478269"/>
                <a:gd name="connsiteY3" fmla="*/ 525656 h 525656"/>
                <a:gd name="connsiteX4" fmla="*/ 0 w 1478269"/>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8269" h="525656">
                  <a:moveTo>
                    <a:pt x="0" y="0"/>
                  </a:moveTo>
                  <a:lnTo>
                    <a:pt x="1478269" y="0"/>
                  </a:lnTo>
                  <a:lnTo>
                    <a:pt x="1478269"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marL="0" lvl="0" indent="0" defTabSz="488950">
                <a:lnSpc>
                  <a:spcPct val="100000"/>
                </a:lnSpc>
                <a:spcBef>
                  <a:spcPct val="0"/>
                </a:spcBef>
                <a:spcAft>
                  <a:spcPct val="35000"/>
                </a:spcAft>
                <a:buNone/>
              </a:pPr>
              <a:r>
                <a:rPr lang="en-US" sz="1200" kern="1200" dirty="0">
                  <a:solidFill>
                    <a:schemeClr val="bg1"/>
                  </a:solidFill>
                </a:rPr>
                <a:t>Department heads receive email notifications when a ticket is raised.</a:t>
              </a:r>
              <a:endParaRPr lang="en-IN" sz="1200" kern="1200" dirty="0">
                <a:solidFill>
                  <a:schemeClr val="bg1"/>
                </a:solidFill>
              </a:endParaRPr>
            </a:p>
          </p:txBody>
        </p:sp>
        <p:sp>
          <p:nvSpPr>
            <p:cNvPr id="19" name="Oval 18">
              <a:extLst>
                <a:ext uri="{FF2B5EF4-FFF2-40B4-BE49-F238E27FC236}">
                  <a16:creationId xmlns:a16="http://schemas.microsoft.com/office/drawing/2014/main" id="{35C7EFB5-96A8-D27B-A63A-410FDAF5F840}"/>
                </a:ext>
              </a:extLst>
            </p:cNvPr>
            <p:cNvSpPr/>
            <p:nvPr/>
          </p:nvSpPr>
          <p:spPr>
            <a:xfrm>
              <a:off x="7632690" y="3053131"/>
              <a:ext cx="525656"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1" name="Freeform: Shape 20">
              <a:extLst>
                <a:ext uri="{FF2B5EF4-FFF2-40B4-BE49-F238E27FC236}">
                  <a16:creationId xmlns:a16="http://schemas.microsoft.com/office/drawing/2014/main" id="{9EA26CD5-6BE1-FBBE-B6F2-66AA3B655CB7}"/>
                </a:ext>
              </a:extLst>
            </p:cNvPr>
            <p:cNvSpPr/>
            <p:nvPr/>
          </p:nvSpPr>
          <p:spPr>
            <a:xfrm>
              <a:off x="8212094" y="2788683"/>
              <a:ext cx="1418502" cy="1127837"/>
            </a:xfrm>
            <a:custGeom>
              <a:avLst/>
              <a:gdLst>
                <a:gd name="connsiteX0" fmla="*/ 0 w 1239046"/>
                <a:gd name="connsiteY0" fmla="*/ 0 h 1127837"/>
                <a:gd name="connsiteX1" fmla="*/ 1239046 w 1239046"/>
                <a:gd name="connsiteY1" fmla="*/ 0 h 1127837"/>
                <a:gd name="connsiteX2" fmla="*/ 1239046 w 1239046"/>
                <a:gd name="connsiteY2" fmla="*/ 1127837 h 1127837"/>
                <a:gd name="connsiteX3" fmla="*/ 0 w 1239046"/>
                <a:gd name="connsiteY3" fmla="*/ 1127837 h 1127837"/>
                <a:gd name="connsiteX4" fmla="*/ 0 w 1239046"/>
                <a:gd name="connsiteY4" fmla="*/ 0 h 1127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1127837">
                  <a:moveTo>
                    <a:pt x="0" y="0"/>
                  </a:moveTo>
                  <a:lnTo>
                    <a:pt x="1239046" y="0"/>
                  </a:lnTo>
                  <a:lnTo>
                    <a:pt x="1239046" y="1127837"/>
                  </a:lnTo>
                  <a:lnTo>
                    <a:pt x="0" y="1127837"/>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marL="0" lvl="0" indent="0" defTabSz="533400">
                <a:lnSpc>
                  <a:spcPct val="100000"/>
                </a:lnSpc>
                <a:spcBef>
                  <a:spcPct val="0"/>
                </a:spcBef>
                <a:spcAft>
                  <a:spcPct val="35000"/>
                </a:spcAft>
                <a:buNone/>
              </a:pPr>
              <a:r>
                <a:rPr lang="en-US" sz="1200" kern="1200" dirty="0">
                  <a:solidFill>
                    <a:schemeClr val="bg1"/>
                  </a:solidFill>
                </a:rPr>
                <a:t>Live chat option enabled at each stage to support communication.</a:t>
              </a:r>
            </a:p>
          </p:txBody>
        </p:sp>
        <p:sp>
          <p:nvSpPr>
            <p:cNvPr id="22" name="Oval 21">
              <a:extLst>
                <a:ext uri="{FF2B5EF4-FFF2-40B4-BE49-F238E27FC236}">
                  <a16:creationId xmlns:a16="http://schemas.microsoft.com/office/drawing/2014/main" id="{4AF5DF14-603C-52D2-9DFA-0804E28FD7B9}"/>
                </a:ext>
              </a:extLst>
            </p:cNvPr>
            <p:cNvSpPr/>
            <p:nvPr/>
          </p:nvSpPr>
          <p:spPr>
            <a:xfrm>
              <a:off x="9783385" y="3064001"/>
              <a:ext cx="525656"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6" name="Freeform: Shape 25">
              <a:extLst>
                <a:ext uri="{FF2B5EF4-FFF2-40B4-BE49-F238E27FC236}">
                  <a16:creationId xmlns:a16="http://schemas.microsoft.com/office/drawing/2014/main" id="{7D22157C-D4B9-EE84-47EC-96A68276F5E2}"/>
                </a:ext>
              </a:extLst>
            </p:cNvPr>
            <p:cNvSpPr/>
            <p:nvPr/>
          </p:nvSpPr>
          <p:spPr>
            <a:xfrm>
              <a:off x="10407504" y="3064001"/>
              <a:ext cx="1535781"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marL="0" lvl="0" indent="0" defTabSz="488950">
                <a:lnSpc>
                  <a:spcPct val="100000"/>
                </a:lnSpc>
                <a:spcBef>
                  <a:spcPct val="0"/>
                </a:spcBef>
                <a:spcAft>
                  <a:spcPct val="35000"/>
                </a:spcAft>
                <a:buNone/>
              </a:pPr>
              <a:r>
                <a:rPr lang="en-US" sz="1200" kern="1200" dirty="0">
                  <a:solidFill>
                    <a:schemeClr val="bg1"/>
                  </a:solidFill>
                </a:rPr>
                <a:t>Tickets are closed only after requestor confirmation of issue resolution.</a:t>
              </a:r>
              <a:endParaRPr lang="en-US" sz="1200" b="1" kern="1200" dirty="0">
                <a:solidFill>
                  <a:schemeClr val="bg1"/>
                </a:solidFill>
              </a:endParaRPr>
            </a:p>
          </p:txBody>
        </p:sp>
        <p:sp>
          <p:nvSpPr>
            <p:cNvPr id="27" name="Oval 26">
              <a:extLst>
                <a:ext uri="{FF2B5EF4-FFF2-40B4-BE49-F238E27FC236}">
                  <a16:creationId xmlns:a16="http://schemas.microsoft.com/office/drawing/2014/main" id="{7E3B98B7-E020-7752-3815-D0697CC5FEE8}"/>
                </a:ext>
              </a:extLst>
            </p:cNvPr>
            <p:cNvSpPr/>
            <p:nvPr/>
          </p:nvSpPr>
          <p:spPr>
            <a:xfrm>
              <a:off x="5237863" y="3055566"/>
              <a:ext cx="525656"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dirty="0"/>
            </a:p>
          </p:txBody>
        </p:sp>
        <p:sp>
          <p:nvSpPr>
            <p:cNvPr id="29" name="Freeform: Shape 28">
              <a:extLst>
                <a:ext uri="{FF2B5EF4-FFF2-40B4-BE49-F238E27FC236}">
                  <a16:creationId xmlns:a16="http://schemas.microsoft.com/office/drawing/2014/main" id="{7E668C61-A07C-F4F3-5D82-655C8AB83F68}"/>
                </a:ext>
              </a:extLst>
            </p:cNvPr>
            <p:cNvSpPr/>
            <p:nvPr/>
          </p:nvSpPr>
          <p:spPr>
            <a:xfrm>
              <a:off x="5777111" y="3078686"/>
              <a:ext cx="1570554"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marL="0" lvl="0" indent="0" defTabSz="533400">
                <a:lnSpc>
                  <a:spcPct val="100000"/>
                </a:lnSpc>
                <a:spcBef>
                  <a:spcPct val="0"/>
                </a:spcBef>
                <a:spcAft>
                  <a:spcPct val="35000"/>
                </a:spcAft>
                <a:buNone/>
              </a:pPr>
              <a:r>
                <a:rPr lang="en-US" sz="1200" b="0" kern="1200" dirty="0">
                  <a:solidFill>
                    <a:schemeClr val="bg1"/>
                  </a:solidFill>
                  <a:latin typeface="Aptos" panose="02110004020202020204"/>
                  <a:ea typeface="+mn-ea"/>
                  <a:cs typeface="+mn-cs"/>
                </a:rPr>
                <a:t>Support team accepts, rejects, or requests revisions with remarks</a:t>
              </a:r>
            </a:p>
          </p:txBody>
        </p:sp>
        <p:pic>
          <p:nvPicPr>
            <p:cNvPr id="23" name="Graphic 22" descr="Envelope with solid fill">
              <a:extLst>
                <a:ext uri="{FF2B5EF4-FFF2-40B4-BE49-F238E27FC236}">
                  <a16:creationId xmlns:a16="http://schemas.microsoft.com/office/drawing/2014/main" id="{9C967232-5D34-14EF-4136-5C1216E75BD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74856" y="3121221"/>
              <a:ext cx="391978" cy="391978"/>
            </a:xfrm>
            <a:prstGeom prst="rect">
              <a:avLst/>
            </a:prstGeom>
          </p:spPr>
        </p:pic>
        <p:pic>
          <p:nvPicPr>
            <p:cNvPr id="40" name="Graphic 39" descr="Employee badge with solid fill">
              <a:extLst>
                <a:ext uri="{FF2B5EF4-FFF2-40B4-BE49-F238E27FC236}">
                  <a16:creationId xmlns:a16="http://schemas.microsoft.com/office/drawing/2014/main" id="{58540052-7687-7F67-99EB-D51798A78D6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06083" y="3144523"/>
              <a:ext cx="345374" cy="345374"/>
            </a:xfrm>
            <a:prstGeom prst="rect">
              <a:avLst/>
            </a:prstGeom>
          </p:spPr>
        </p:pic>
        <p:pic>
          <p:nvPicPr>
            <p:cNvPr id="42" name="Graphic 41" descr="Chat bubble with solid fill">
              <a:extLst>
                <a:ext uri="{FF2B5EF4-FFF2-40B4-BE49-F238E27FC236}">
                  <a16:creationId xmlns:a16="http://schemas.microsoft.com/office/drawing/2014/main" id="{3646B284-7AA9-9B60-85AD-E4516BE9B26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701789" y="3132949"/>
              <a:ext cx="399917" cy="399917"/>
            </a:xfrm>
            <a:prstGeom prst="rect">
              <a:avLst/>
            </a:prstGeom>
          </p:spPr>
        </p:pic>
        <p:pic>
          <p:nvPicPr>
            <p:cNvPr id="44" name="Graphic 43" descr="Checkmark with solid fill">
              <a:extLst>
                <a:ext uri="{FF2B5EF4-FFF2-40B4-BE49-F238E27FC236}">
                  <a16:creationId xmlns:a16="http://schemas.microsoft.com/office/drawing/2014/main" id="{68F08F5E-3C82-8E97-86D8-F81BABC37B9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855800" y="3149981"/>
              <a:ext cx="380825" cy="380825"/>
            </a:xfrm>
            <a:prstGeom prst="rect">
              <a:avLst/>
            </a:prstGeom>
          </p:spPr>
        </p:pic>
        <p:pic>
          <p:nvPicPr>
            <p:cNvPr id="48" name="Graphic 47" descr="Arrow circle with solid fill">
              <a:extLst>
                <a:ext uri="{FF2B5EF4-FFF2-40B4-BE49-F238E27FC236}">
                  <a16:creationId xmlns:a16="http://schemas.microsoft.com/office/drawing/2014/main" id="{BADECD75-2E82-514B-5805-D77EF2C8676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284218" y="3116590"/>
              <a:ext cx="420477" cy="420477"/>
            </a:xfrm>
            <a:prstGeom prst="rect">
              <a:avLst/>
            </a:prstGeom>
          </p:spPr>
        </p:pic>
      </p:grpSp>
    </p:spTree>
    <p:extLst>
      <p:ext uri="{BB962C8B-B14F-4D97-AF65-F5344CB8AC3E}">
        <p14:creationId xmlns:p14="http://schemas.microsoft.com/office/powerpoint/2010/main" val="1902449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1CAE1-F958-110C-9CCB-EAE047A6B3E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EAE7181-0AE3-76A1-78CD-39D2AFCB1D76}"/>
              </a:ext>
            </a:extLst>
          </p:cNvPr>
          <p:cNvSpPr/>
          <p:nvPr/>
        </p:nvSpPr>
        <p:spPr>
          <a:xfrm>
            <a:off x="-627" y="-688"/>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Top Corners Rounded 4">
            <a:extLst>
              <a:ext uri="{FF2B5EF4-FFF2-40B4-BE49-F238E27FC236}">
                <a16:creationId xmlns:a16="http://schemas.microsoft.com/office/drawing/2014/main" id="{8DBC744C-F024-23C9-B206-62433BE29803}"/>
              </a:ext>
            </a:extLst>
          </p:cNvPr>
          <p:cNvSpPr/>
          <p:nvPr/>
        </p:nvSpPr>
        <p:spPr>
          <a:xfrm rot="10800000">
            <a:off x="172907" y="689"/>
            <a:ext cx="6591093"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A56BE379-6968-0CCB-A4F4-AF1403F7C6F7}"/>
              </a:ext>
            </a:extLst>
          </p:cNvPr>
          <p:cNvSpPr txBox="1"/>
          <p:nvPr/>
        </p:nvSpPr>
        <p:spPr>
          <a:xfrm>
            <a:off x="330160" y="25291"/>
            <a:ext cx="6321200" cy="338554"/>
          </a:xfrm>
          <a:prstGeom prst="rect">
            <a:avLst/>
          </a:prstGeom>
          <a:noFill/>
        </p:spPr>
        <p:txBody>
          <a:bodyPr wrap="square" rtlCol="0">
            <a:spAutoFit/>
          </a:bodyPr>
          <a:lstStyle/>
          <a:p>
            <a:r>
              <a:rPr lang="en-US" sz="1600" dirty="0">
                <a:solidFill>
                  <a:schemeClr val="bg1"/>
                </a:solidFill>
              </a:rPr>
              <a:t>Procurement Process Automating for a Large Aquaculture enterprise</a:t>
            </a:r>
            <a:endParaRPr lang="en-IN" sz="1600" dirty="0">
              <a:solidFill>
                <a:schemeClr val="bg1"/>
              </a:solidFill>
            </a:endParaRPr>
          </a:p>
        </p:txBody>
      </p:sp>
      <p:sp>
        <p:nvSpPr>
          <p:cNvPr id="8" name="Rectangle 1">
            <a:extLst>
              <a:ext uri="{FF2B5EF4-FFF2-40B4-BE49-F238E27FC236}">
                <a16:creationId xmlns:a16="http://schemas.microsoft.com/office/drawing/2014/main" id="{199BEC1C-962C-F789-17F5-DADF1B7C99D1}"/>
              </a:ext>
            </a:extLst>
          </p:cNvPr>
          <p:cNvSpPr>
            <a:spLocks noChangeArrowheads="1"/>
          </p:cNvSpPr>
          <p:nvPr/>
        </p:nvSpPr>
        <p:spPr bwMode="auto">
          <a:xfrm>
            <a:off x="225715" y="539071"/>
            <a:ext cx="22781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Challenge</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9" name="Rectangle 1">
            <a:extLst>
              <a:ext uri="{FF2B5EF4-FFF2-40B4-BE49-F238E27FC236}">
                <a16:creationId xmlns:a16="http://schemas.microsoft.com/office/drawing/2014/main" id="{569C95DE-132E-51CE-D06D-5CDA3305417A}"/>
              </a:ext>
            </a:extLst>
          </p:cNvPr>
          <p:cNvSpPr>
            <a:spLocks noChangeArrowheads="1"/>
          </p:cNvSpPr>
          <p:nvPr/>
        </p:nvSpPr>
        <p:spPr bwMode="auto">
          <a:xfrm>
            <a:off x="232729" y="2012628"/>
            <a:ext cx="22781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Solution</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0" name="Rectangle 1">
            <a:extLst>
              <a:ext uri="{FF2B5EF4-FFF2-40B4-BE49-F238E27FC236}">
                <a16:creationId xmlns:a16="http://schemas.microsoft.com/office/drawing/2014/main" id="{1FBCFEC0-D3E0-81E2-72AE-8F4DD52798FA}"/>
              </a:ext>
            </a:extLst>
          </p:cNvPr>
          <p:cNvSpPr>
            <a:spLocks noChangeArrowheads="1"/>
          </p:cNvSpPr>
          <p:nvPr/>
        </p:nvSpPr>
        <p:spPr bwMode="auto">
          <a:xfrm>
            <a:off x="191894" y="5401153"/>
            <a:ext cx="26275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Benefits Delivered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1" name="Rectangle 1">
            <a:extLst>
              <a:ext uri="{FF2B5EF4-FFF2-40B4-BE49-F238E27FC236}">
                <a16:creationId xmlns:a16="http://schemas.microsoft.com/office/drawing/2014/main" id="{35B7B395-8CA6-FA27-D2B3-2E1BE7F6916E}"/>
              </a:ext>
            </a:extLst>
          </p:cNvPr>
          <p:cNvSpPr>
            <a:spLocks noChangeArrowheads="1"/>
          </p:cNvSpPr>
          <p:nvPr/>
        </p:nvSpPr>
        <p:spPr bwMode="auto">
          <a:xfrm>
            <a:off x="232729" y="4046569"/>
            <a:ext cx="55861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Skyaicode features/components leveraged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7" name="TextBox 16">
            <a:extLst>
              <a:ext uri="{FF2B5EF4-FFF2-40B4-BE49-F238E27FC236}">
                <a16:creationId xmlns:a16="http://schemas.microsoft.com/office/drawing/2014/main" id="{E1B53D1E-3831-7F08-5A73-4734416078D5}"/>
              </a:ext>
            </a:extLst>
          </p:cNvPr>
          <p:cNvSpPr txBox="1"/>
          <p:nvPr/>
        </p:nvSpPr>
        <p:spPr>
          <a:xfrm>
            <a:off x="232729" y="872665"/>
            <a:ext cx="8047671" cy="1077218"/>
          </a:xfrm>
          <a:prstGeom prst="rect">
            <a:avLst/>
          </a:prstGeom>
          <a:noFill/>
        </p:spPr>
        <p:txBody>
          <a:bodyPr wrap="square">
            <a:spAutoFit/>
          </a:bodyPr>
          <a:lstStyle/>
          <a:p>
            <a:pPr algn="just"/>
            <a:r>
              <a:rPr lang="en-US" sz="1600" dirty="0">
                <a:solidFill>
                  <a:schemeClr val="bg1"/>
                </a:solidFill>
              </a:rPr>
              <a:t>An aquaculture enterprise, faced inefficiencies and manual overheads in their procurement operations across multiple divisions such as Hatchery, Farm, Feed Mill, and Processing Plant. The lack of a unified system led to delayed approvals, poor vendor tracking, and lack of process transparency.</a:t>
            </a:r>
            <a:endParaRPr lang="en-IN" sz="1600" dirty="0">
              <a:solidFill>
                <a:schemeClr val="bg1"/>
              </a:solidFill>
            </a:endParaRPr>
          </a:p>
        </p:txBody>
      </p:sp>
      <p:sp>
        <p:nvSpPr>
          <p:cNvPr id="32" name="Freeform: Shape 31">
            <a:extLst>
              <a:ext uri="{FF2B5EF4-FFF2-40B4-BE49-F238E27FC236}">
                <a16:creationId xmlns:a16="http://schemas.microsoft.com/office/drawing/2014/main" id="{6BEB3CE9-F9EA-86AF-77CF-97191D0D5450}"/>
              </a:ext>
            </a:extLst>
          </p:cNvPr>
          <p:cNvSpPr/>
          <p:nvPr/>
        </p:nvSpPr>
        <p:spPr>
          <a:xfrm>
            <a:off x="330160" y="4544600"/>
            <a:ext cx="1769725" cy="764407"/>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Pre-Built Integration</a:t>
            </a:r>
            <a:endParaRPr lang="en-IN" sz="1600" kern="1200" dirty="0"/>
          </a:p>
        </p:txBody>
      </p:sp>
      <p:sp>
        <p:nvSpPr>
          <p:cNvPr id="33" name="Freeform: Shape 32">
            <a:extLst>
              <a:ext uri="{FF2B5EF4-FFF2-40B4-BE49-F238E27FC236}">
                <a16:creationId xmlns:a16="http://schemas.microsoft.com/office/drawing/2014/main" id="{B3D271D7-E4D4-4529-8775-4AEE86CB0D51}"/>
              </a:ext>
            </a:extLst>
          </p:cNvPr>
          <p:cNvSpPr/>
          <p:nvPr/>
        </p:nvSpPr>
        <p:spPr>
          <a:xfrm>
            <a:off x="2276858" y="4544600"/>
            <a:ext cx="1769725" cy="764407"/>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Workflow Automation</a:t>
            </a:r>
          </a:p>
        </p:txBody>
      </p:sp>
      <p:sp>
        <p:nvSpPr>
          <p:cNvPr id="34" name="Freeform: Shape 33">
            <a:extLst>
              <a:ext uri="{FF2B5EF4-FFF2-40B4-BE49-F238E27FC236}">
                <a16:creationId xmlns:a16="http://schemas.microsoft.com/office/drawing/2014/main" id="{D1A4D454-2400-48B0-05FB-9D5DCE1E7177}"/>
              </a:ext>
            </a:extLst>
          </p:cNvPr>
          <p:cNvSpPr/>
          <p:nvPr/>
        </p:nvSpPr>
        <p:spPr>
          <a:xfrm>
            <a:off x="4223555" y="4544600"/>
            <a:ext cx="1769725" cy="764407"/>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Decision Management</a:t>
            </a:r>
          </a:p>
        </p:txBody>
      </p:sp>
      <p:sp>
        <p:nvSpPr>
          <p:cNvPr id="35" name="Freeform: Shape 34">
            <a:extLst>
              <a:ext uri="{FF2B5EF4-FFF2-40B4-BE49-F238E27FC236}">
                <a16:creationId xmlns:a16="http://schemas.microsoft.com/office/drawing/2014/main" id="{1F520FCE-C11C-AADD-0650-4B76DCDC8858}"/>
              </a:ext>
            </a:extLst>
          </p:cNvPr>
          <p:cNvSpPr/>
          <p:nvPr/>
        </p:nvSpPr>
        <p:spPr>
          <a:xfrm>
            <a:off x="6230103" y="4544600"/>
            <a:ext cx="1769725" cy="764407"/>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Document Generation BOT</a:t>
            </a:r>
          </a:p>
        </p:txBody>
      </p:sp>
      <p:sp>
        <p:nvSpPr>
          <p:cNvPr id="36" name="Freeform: Shape 35">
            <a:extLst>
              <a:ext uri="{FF2B5EF4-FFF2-40B4-BE49-F238E27FC236}">
                <a16:creationId xmlns:a16="http://schemas.microsoft.com/office/drawing/2014/main" id="{B92B01B6-0888-3638-3BBF-270D75D72504}"/>
              </a:ext>
            </a:extLst>
          </p:cNvPr>
          <p:cNvSpPr/>
          <p:nvPr/>
        </p:nvSpPr>
        <p:spPr>
          <a:xfrm>
            <a:off x="8167353" y="4544600"/>
            <a:ext cx="1769725" cy="764407"/>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Dashboard</a:t>
            </a:r>
            <a:endParaRPr lang="en-IN" sz="1600" kern="1200" dirty="0">
              <a:solidFill>
                <a:schemeClr val="bg1"/>
              </a:solidFill>
            </a:endParaRPr>
          </a:p>
        </p:txBody>
      </p:sp>
      <p:sp>
        <p:nvSpPr>
          <p:cNvPr id="37" name="Freeform: Shape 36">
            <a:extLst>
              <a:ext uri="{FF2B5EF4-FFF2-40B4-BE49-F238E27FC236}">
                <a16:creationId xmlns:a16="http://schemas.microsoft.com/office/drawing/2014/main" id="{931B549A-3FE3-EC03-2972-4C52CCCCB578}"/>
              </a:ext>
            </a:extLst>
          </p:cNvPr>
          <p:cNvSpPr/>
          <p:nvPr/>
        </p:nvSpPr>
        <p:spPr>
          <a:xfrm>
            <a:off x="10114050" y="4544600"/>
            <a:ext cx="1769725" cy="764407"/>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bg1"/>
                </a:solidFill>
              </a:rPr>
              <a:t>User Groups &amp; Role based access</a:t>
            </a:r>
          </a:p>
        </p:txBody>
      </p:sp>
      <p:sp>
        <p:nvSpPr>
          <p:cNvPr id="25" name="TextBox 24">
            <a:extLst>
              <a:ext uri="{FF2B5EF4-FFF2-40B4-BE49-F238E27FC236}">
                <a16:creationId xmlns:a16="http://schemas.microsoft.com/office/drawing/2014/main" id="{9CD44122-17C1-F136-48C7-EB6F83C382A3}"/>
              </a:ext>
            </a:extLst>
          </p:cNvPr>
          <p:cNvSpPr txBox="1"/>
          <p:nvPr/>
        </p:nvSpPr>
        <p:spPr>
          <a:xfrm>
            <a:off x="232729" y="2399651"/>
            <a:ext cx="11721053" cy="584775"/>
          </a:xfrm>
          <a:prstGeom prst="rect">
            <a:avLst/>
          </a:prstGeom>
          <a:noFill/>
        </p:spPr>
        <p:txBody>
          <a:bodyPr wrap="square">
            <a:spAutoFit/>
          </a:bodyPr>
          <a:lstStyle>
            <a:defPPr>
              <a:defRPr lang="en-US"/>
            </a:defPPr>
            <a:lvl1pPr algn="just">
              <a:defRPr sz="1600">
                <a:solidFill>
                  <a:schemeClr val="bg1"/>
                </a:solidFill>
              </a:defRPr>
            </a:lvl1pPr>
          </a:lstStyle>
          <a:p>
            <a:r>
              <a:rPr lang="en-US" dirty="0" err="1"/>
              <a:t>Skyaicode</a:t>
            </a:r>
            <a:r>
              <a:rPr lang="en-US" dirty="0"/>
              <a:t> enabled end-to-end procurement automation by digitizing purchase requisitions, approvals, order generation, and vendor management through streamlined the process by eliminated delays.</a:t>
            </a:r>
          </a:p>
        </p:txBody>
      </p:sp>
      <p:graphicFrame>
        <p:nvGraphicFramePr>
          <p:cNvPr id="30" name="Diagram 29">
            <a:extLst>
              <a:ext uri="{FF2B5EF4-FFF2-40B4-BE49-F238E27FC236}">
                <a16:creationId xmlns:a16="http://schemas.microsoft.com/office/drawing/2014/main" id="{3222CEBD-B6D6-F626-5BF6-BFDC054597D4}"/>
              </a:ext>
            </a:extLst>
          </p:cNvPr>
          <p:cNvGraphicFramePr/>
          <p:nvPr/>
        </p:nvGraphicFramePr>
        <p:xfrm>
          <a:off x="300483" y="5602106"/>
          <a:ext cx="11506022" cy="12862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9" name="Picture 38">
            <a:extLst>
              <a:ext uri="{FF2B5EF4-FFF2-40B4-BE49-F238E27FC236}">
                <a16:creationId xmlns:a16="http://schemas.microsoft.com/office/drawing/2014/main" id="{597DA140-47D4-A76D-3C0C-D6FAD64989C6}"/>
              </a:ext>
            </a:extLst>
          </p:cNvPr>
          <p:cNvPicPr>
            <a:picLocks noChangeAspect="1"/>
          </p:cNvPicPr>
          <p:nvPr/>
        </p:nvPicPr>
        <p:blipFill>
          <a:blip r:embed="rId7" cstate="screen">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a:ext>
            </a:extLst>
          </a:blip>
          <a:srcRect/>
          <a:stretch/>
        </p:blipFill>
        <p:spPr>
          <a:xfrm>
            <a:off x="8437653" y="258634"/>
            <a:ext cx="3509115" cy="1943858"/>
          </a:xfrm>
          <a:prstGeom prst="roundRect">
            <a:avLst>
              <a:gd name="adj" fmla="val 14848"/>
            </a:avLst>
          </a:prstGeom>
          <a:effectLst>
            <a:outerShdw blurRad="368300" dist="38100" dir="2520000" sx="102000" sy="102000" algn="tl" rotWithShape="0">
              <a:prstClr val="black">
                <a:alpha val="40000"/>
              </a:prstClr>
            </a:outerShdw>
          </a:effectLst>
        </p:spPr>
      </p:pic>
      <p:sp>
        <p:nvSpPr>
          <p:cNvPr id="7" name="Rectangle 6">
            <a:extLst>
              <a:ext uri="{FF2B5EF4-FFF2-40B4-BE49-F238E27FC236}">
                <a16:creationId xmlns:a16="http://schemas.microsoft.com/office/drawing/2014/main" id="{349EE729-4E37-4EEA-F332-83685026C561}"/>
              </a:ext>
            </a:extLst>
          </p:cNvPr>
          <p:cNvSpPr/>
          <p:nvPr/>
        </p:nvSpPr>
        <p:spPr>
          <a:xfrm>
            <a:off x="345581" y="3002117"/>
            <a:ext cx="6068771" cy="3048061"/>
          </a:xfrm>
          <a:prstGeom prst="rect">
            <a:avLst/>
          </a:prstGeom>
          <a:ln>
            <a:noFill/>
          </a:ln>
        </p:spPr>
        <p:txBody>
          <a:bodyPr/>
          <a:lstStyle/>
          <a:p>
            <a:endParaRPr lang="en-IN"/>
          </a:p>
        </p:txBody>
      </p:sp>
      <p:grpSp>
        <p:nvGrpSpPr>
          <p:cNvPr id="20" name="Group 19">
            <a:extLst>
              <a:ext uri="{FF2B5EF4-FFF2-40B4-BE49-F238E27FC236}">
                <a16:creationId xmlns:a16="http://schemas.microsoft.com/office/drawing/2014/main" id="{AAD8904D-DFE9-CCE1-CAD1-B45F7D145859}"/>
              </a:ext>
            </a:extLst>
          </p:cNvPr>
          <p:cNvGrpSpPr/>
          <p:nvPr/>
        </p:nvGrpSpPr>
        <p:grpSpPr>
          <a:xfrm>
            <a:off x="300483" y="3274412"/>
            <a:ext cx="525656" cy="525656"/>
            <a:chOff x="186010" y="3474219"/>
            <a:chExt cx="525656" cy="525656"/>
          </a:xfrm>
        </p:grpSpPr>
        <p:sp>
          <p:nvSpPr>
            <p:cNvPr id="12" name="Oval 11">
              <a:extLst>
                <a:ext uri="{FF2B5EF4-FFF2-40B4-BE49-F238E27FC236}">
                  <a16:creationId xmlns:a16="http://schemas.microsoft.com/office/drawing/2014/main" id="{D6DE6587-DE66-494C-59F2-984A8BE31E67}"/>
                </a:ext>
              </a:extLst>
            </p:cNvPr>
            <p:cNvSpPr/>
            <p:nvPr/>
          </p:nvSpPr>
          <p:spPr>
            <a:xfrm>
              <a:off x="186010" y="3474219"/>
              <a:ext cx="525656" cy="525656"/>
            </a:xfrm>
            <a:prstGeom prst="ellipse">
              <a:avLst/>
            </a:prstGeom>
            <a:solidFill>
              <a:srgbClr val="B6FF42"/>
            </a:solidFill>
            <a:ln>
              <a:noFill/>
            </a:ln>
          </p:spPr>
          <p:style>
            <a:lnRef idx="0">
              <a:scrgbClr r="0" g="0" b="0"/>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3" name="Rectangle 12" descr="Network">
              <a:extLst>
                <a:ext uri="{FF2B5EF4-FFF2-40B4-BE49-F238E27FC236}">
                  <a16:creationId xmlns:a16="http://schemas.microsoft.com/office/drawing/2014/main" id="{A85C5B28-8648-0E0E-CE3A-0ABCEE6BF14C}"/>
                </a:ext>
              </a:extLst>
            </p:cNvPr>
            <p:cNvSpPr/>
            <p:nvPr/>
          </p:nvSpPr>
          <p:spPr>
            <a:xfrm>
              <a:off x="296398" y="3584606"/>
              <a:ext cx="304880" cy="30488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dk2">
                <a:hueOff val="0"/>
                <a:satOff val="0"/>
                <a:lumOff val="0"/>
                <a:alphaOff val="0"/>
              </a:schemeClr>
            </a:effectRef>
            <a:fontRef idx="minor">
              <a:schemeClr val="lt1"/>
            </a:fontRef>
          </p:style>
          <p:txBody>
            <a:bodyPr/>
            <a:lstStyle/>
            <a:p>
              <a:endParaRPr lang="en-IN" dirty="0"/>
            </a:p>
          </p:txBody>
        </p:sp>
      </p:grpSp>
      <p:sp>
        <p:nvSpPr>
          <p:cNvPr id="14" name="Freeform: Shape 13">
            <a:extLst>
              <a:ext uri="{FF2B5EF4-FFF2-40B4-BE49-F238E27FC236}">
                <a16:creationId xmlns:a16="http://schemas.microsoft.com/office/drawing/2014/main" id="{9F10F741-0FD2-BFC7-083C-8BE25E8854C7}"/>
              </a:ext>
            </a:extLst>
          </p:cNvPr>
          <p:cNvSpPr/>
          <p:nvPr/>
        </p:nvSpPr>
        <p:spPr>
          <a:xfrm>
            <a:off x="938779" y="3274412"/>
            <a:ext cx="1454941"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a:noFill/>
          </a:ln>
        </p:spPr>
        <p:style>
          <a:lnRef idx="0">
            <a:scrgbClr r="0" g="0" b="0"/>
          </a:lnRef>
          <a:fillRef idx="0">
            <a:scrgbClr r="0" g="0" b="0"/>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533400">
              <a:lnSpc>
                <a:spcPct val="100000"/>
              </a:lnSpc>
              <a:spcBef>
                <a:spcPct val="0"/>
              </a:spcBef>
              <a:spcAft>
                <a:spcPct val="35000"/>
              </a:spcAft>
              <a:buNone/>
            </a:pPr>
            <a:r>
              <a:rPr lang="en-US" sz="1200" b="0" kern="1200" dirty="0">
                <a:solidFill>
                  <a:schemeClr val="bg1"/>
                </a:solidFill>
              </a:rPr>
              <a:t>Procurement platform integrated with internal master data and finance systems.</a:t>
            </a:r>
            <a:endParaRPr lang="en-IN" sz="900" b="0" kern="1200" dirty="0">
              <a:solidFill>
                <a:schemeClr val="bg1"/>
              </a:solidFill>
            </a:endParaRPr>
          </a:p>
        </p:txBody>
      </p:sp>
      <p:grpSp>
        <p:nvGrpSpPr>
          <p:cNvPr id="24" name="Group 23">
            <a:extLst>
              <a:ext uri="{FF2B5EF4-FFF2-40B4-BE49-F238E27FC236}">
                <a16:creationId xmlns:a16="http://schemas.microsoft.com/office/drawing/2014/main" id="{2148C241-8AC5-790F-D22D-DFBBF1AA0526}"/>
              </a:ext>
            </a:extLst>
          </p:cNvPr>
          <p:cNvGrpSpPr/>
          <p:nvPr/>
        </p:nvGrpSpPr>
        <p:grpSpPr>
          <a:xfrm>
            <a:off x="2625217" y="3274412"/>
            <a:ext cx="525656" cy="525656"/>
            <a:chOff x="2510744" y="3474219"/>
            <a:chExt cx="525656" cy="525656"/>
          </a:xfrm>
        </p:grpSpPr>
        <p:sp>
          <p:nvSpPr>
            <p:cNvPr id="15" name="Oval 14">
              <a:extLst>
                <a:ext uri="{FF2B5EF4-FFF2-40B4-BE49-F238E27FC236}">
                  <a16:creationId xmlns:a16="http://schemas.microsoft.com/office/drawing/2014/main" id="{12E8F0D3-EA73-13EC-DCB9-EE70C576A1E1}"/>
                </a:ext>
              </a:extLst>
            </p:cNvPr>
            <p:cNvSpPr/>
            <p:nvPr/>
          </p:nvSpPr>
          <p:spPr>
            <a:xfrm>
              <a:off x="2510744" y="3474219"/>
              <a:ext cx="525656"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6" name="Rectangle 15" descr="User">
              <a:extLst>
                <a:ext uri="{FF2B5EF4-FFF2-40B4-BE49-F238E27FC236}">
                  <a16:creationId xmlns:a16="http://schemas.microsoft.com/office/drawing/2014/main" id="{DB317D64-C766-4CE7-C4AF-90AF57CE2AC9}"/>
                </a:ext>
              </a:extLst>
            </p:cNvPr>
            <p:cNvSpPr/>
            <p:nvPr/>
          </p:nvSpPr>
          <p:spPr>
            <a:xfrm>
              <a:off x="2621132" y="3584606"/>
              <a:ext cx="304880" cy="30488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dk2">
                <a:hueOff val="0"/>
                <a:satOff val="0"/>
                <a:lumOff val="0"/>
                <a:alphaOff val="0"/>
              </a:schemeClr>
            </a:effectRef>
            <a:fontRef idx="minor">
              <a:schemeClr val="lt1"/>
            </a:fontRef>
          </p:style>
          <p:txBody>
            <a:bodyPr/>
            <a:lstStyle/>
            <a:p>
              <a:endParaRPr lang="en-IN" dirty="0">
                <a:solidFill>
                  <a:schemeClr val="accent1">
                    <a:lumMod val="40000"/>
                    <a:lumOff val="60000"/>
                  </a:schemeClr>
                </a:solidFill>
              </a:endParaRPr>
            </a:p>
          </p:txBody>
        </p:sp>
      </p:grpSp>
      <p:sp>
        <p:nvSpPr>
          <p:cNvPr id="18" name="Freeform: Shape 17">
            <a:extLst>
              <a:ext uri="{FF2B5EF4-FFF2-40B4-BE49-F238E27FC236}">
                <a16:creationId xmlns:a16="http://schemas.microsoft.com/office/drawing/2014/main" id="{675F169C-4497-D1B0-70EB-4F2D738D0B0A}"/>
              </a:ext>
            </a:extLst>
          </p:cNvPr>
          <p:cNvSpPr/>
          <p:nvPr/>
        </p:nvSpPr>
        <p:spPr>
          <a:xfrm>
            <a:off x="3143903" y="3274412"/>
            <a:ext cx="1762489" cy="525656"/>
          </a:xfrm>
          <a:custGeom>
            <a:avLst/>
            <a:gdLst>
              <a:gd name="connsiteX0" fmla="*/ 0 w 1478269"/>
              <a:gd name="connsiteY0" fmla="*/ 0 h 525656"/>
              <a:gd name="connsiteX1" fmla="*/ 1478269 w 1478269"/>
              <a:gd name="connsiteY1" fmla="*/ 0 h 525656"/>
              <a:gd name="connsiteX2" fmla="*/ 1478269 w 1478269"/>
              <a:gd name="connsiteY2" fmla="*/ 525656 h 525656"/>
              <a:gd name="connsiteX3" fmla="*/ 0 w 1478269"/>
              <a:gd name="connsiteY3" fmla="*/ 525656 h 525656"/>
              <a:gd name="connsiteX4" fmla="*/ 0 w 1478269"/>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8269" h="525656">
                <a:moveTo>
                  <a:pt x="0" y="0"/>
                </a:moveTo>
                <a:lnTo>
                  <a:pt x="1478269" y="0"/>
                </a:lnTo>
                <a:lnTo>
                  <a:pt x="1478269"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marL="0" lvl="0" indent="0" defTabSz="488950">
              <a:lnSpc>
                <a:spcPct val="100000"/>
              </a:lnSpc>
              <a:spcBef>
                <a:spcPct val="0"/>
              </a:spcBef>
              <a:spcAft>
                <a:spcPct val="35000"/>
              </a:spcAft>
              <a:buNone/>
            </a:pPr>
            <a:r>
              <a:rPr lang="en-US" sz="1200" kern="1200" dirty="0">
                <a:solidFill>
                  <a:schemeClr val="bg1"/>
                </a:solidFill>
              </a:rPr>
              <a:t>Employees raise Indent Request digitally using role-based forms.</a:t>
            </a:r>
            <a:endParaRPr lang="en-IN" sz="1200" kern="1200" dirty="0">
              <a:solidFill>
                <a:schemeClr val="bg1"/>
              </a:solidFill>
            </a:endParaRPr>
          </a:p>
        </p:txBody>
      </p:sp>
      <p:sp>
        <p:nvSpPr>
          <p:cNvPr id="21" name="Freeform: Shape 20">
            <a:extLst>
              <a:ext uri="{FF2B5EF4-FFF2-40B4-BE49-F238E27FC236}">
                <a16:creationId xmlns:a16="http://schemas.microsoft.com/office/drawing/2014/main" id="{742F2CD3-0388-E6D7-4E2D-CA6063E15013}"/>
              </a:ext>
            </a:extLst>
          </p:cNvPr>
          <p:cNvSpPr/>
          <p:nvPr/>
        </p:nvSpPr>
        <p:spPr>
          <a:xfrm>
            <a:off x="8108928" y="2973322"/>
            <a:ext cx="1564268" cy="1127837"/>
          </a:xfrm>
          <a:custGeom>
            <a:avLst/>
            <a:gdLst>
              <a:gd name="connsiteX0" fmla="*/ 0 w 1239046"/>
              <a:gd name="connsiteY0" fmla="*/ 0 h 1127837"/>
              <a:gd name="connsiteX1" fmla="*/ 1239046 w 1239046"/>
              <a:gd name="connsiteY1" fmla="*/ 0 h 1127837"/>
              <a:gd name="connsiteX2" fmla="*/ 1239046 w 1239046"/>
              <a:gd name="connsiteY2" fmla="*/ 1127837 h 1127837"/>
              <a:gd name="connsiteX3" fmla="*/ 0 w 1239046"/>
              <a:gd name="connsiteY3" fmla="*/ 1127837 h 1127837"/>
              <a:gd name="connsiteX4" fmla="*/ 0 w 1239046"/>
              <a:gd name="connsiteY4" fmla="*/ 0 h 1127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1127837">
                <a:moveTo>
                  <a:pt x="0" y="0"/>
                </a:moveTo>
                <a:lnTo>
                  <a:pt x="1239046" y="0"/>
                </a:lnTo>
                <a:lnTo>
                  <a:pt x="1239046" y="1127837"/>
                </a:lnTo>
                <a:lnTo>
                  <a:pt x="0" y="1127837"/>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marL="0" lvl="0" indent="0" defTabSz="533400">
              <a:lnSpc>
                <a:spcPct val="100000"/>
              </a:lnSpc>
              <a:spcBef>
                <a:spcPct val="0"/>
              </a:spcBef>
              <a:spcAft>
                <a:spcPct val="35000"/>
              </a:spcAft>
              <a:buNone/>
            </a:pPr>
            <a:r>
              <a:rPr lang="en-US" sz="1200" kern="1200" dirty="0">
                <a:solidFill>
                  <a:schemeClr val="bg1"/>
                </a:solidFill>
              </a:rPr>
              <a:t>Indent go through multi-level approval flows based on pre-set conditions.</a:t>
            </a:r>
          </a:p>
        </p:txBody>
      </p:sp>
      <p:sp>
        <p:nvSpPr>
          <p:cNvPr id="26" name="Freeform: Shape 25">
            <a:extLst>
              <a:ext uri="{FF2B5EF4-FFF2-40B4-BE49-F238E27FC236}">
                <a16:creationId xmlns:a16="http://schemas.microsoft.com/office/drawing/2014/main" id="{1F29F9D9-1D65-6197-F5A6-6BED6E6167B6}"/>
              </a:ext>
            </a:extLst>
          </p:cNvPr>
          <p:cNvSpPr/>
          <p:nvPr/>
        </p:nvSpPr>
        <p:spPr>
          <a:xfrm>
            <a:off x="10453655" y="3274412"/>
            <a:ext cx="1637446"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marL="0" lvl="0" indent="0" defTabSz="488950">
              <a:lnSpc>
                <a:spcPct val="100000"/>
              </a:lnSpc>
              <a:spcBef>
                <a:spcPct val="0"/>
              </a:spcBef>
              <a:spcAft>
                <a:spcPct val="35000"/>
              </a:spcAft>
              <a:buNone/>
            </a:pPr>
            <a:r>
              <a:rPr lang="en-US" sz="1200" kern="1200" dirty="0">
                <a:solidFill>
                  <a:schemeClr val="bg1"/>
                </a:solidFill>
              </a:rPr>
              <a:t>Approved Indents auto-generate POs and notify vendors.</a:t>
            </a:r>
            <a:endParaRPr lang="en-US" sz="1200" b="1" kern="1200" dirty="0">
              <a:solidFill>
                <a:schemeClr val="bg1"/>
              </a:solidFill>
            </a:endParaRPr>
          </a:p>
        </p:txBody>
      </p:sp>
      <p:sp>
        <p:nvSpPr>
          <p:cNvPr id="29" name="Freeform: Shape 28">
            <a:extLst>
              <a:ext uri="{FF2B5EF4-FFF2-40B4-BE49-F238E27FC236}">
                <a16:creationId xmlns:a16="http://schemas.microsoft.com/office/drawing/2014/main" id="{B153F20F-8838-8C57-E48C-6798E4A93C7A}"/>
              </a:ext>
            </a:extLst>
          </p:cNvPr>
          <p:cNvSpPr/>
          <p:nvPr/>
        </p:nvSpPr>
        <p:spPr>
          <a:xfrm>
            <a:off x="5615533" y="3274412"/>
            <a:ext cx="1887491"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marL="0" lvl="0" indent="0" defTabSz="533400">
              <a:lnSpc>
                <a:spcPct val="100000"/>
              </a:lnSpc>
              <a:spcBef>
                <a:spcPct val="0"/>
              </a:spcBef>
              <a:spcAft>
                <a:spcPct val="35000"/>
              </a:spcAft>
              <a:buNone/>
            </a:pPr>
            <a:r>
              <a:rPr lang="en-US" sz="1200" b="0" kern="1200" dirty="0">
                <a:solidFill>
                  <a:schemeClr val="bg1"/>
                </a:solidFill>
                <a:latin typeface="Aptos" panose="02110004020202020204"/>
                <a:ea typeface="+mn-ea"/>
                <a:cs typeface="+mn-cs"/>
              </a:rPr>
              <a:t>All procurement documents stored and retrievable digitally for audits.</a:t>
            </a:r>
          </a:p>
        </p:txBody>
      </p:sp>
      <p:grpSp>
        <p:nvGrpSpPr>
          <p:cNvPr id="28" name="Group 27">
            <a:extLst>
              <a:ext uri="{FF2B5EF4-FFF2-40B4-BE49-F238E27FC236}">
                <a16:creationId xmlns:a16="http://schemas.microsoft.com/office/drawing/2014/main" id="{577FF776-2D99-3F3F-71D8-1B01F2C75301}"/>
              </a:ext>
            </a:extLst>
          </p:cNvPr>
          <p:cNvGrpSpPr/>
          <p:nvPr/>
        </p:nvGrpSpPr>
        <p:grpSpPr>
          <a:xfrm>
            <a:off x="5015468" y="3274412"/>
            <a:ext cx="525656" cy="525656"/>
            <a:chOff x="4565327" y="3552998"/>
            <a:chExt cx="525656" cy="525656"/>
          </a:xfrm>
        </p:grpSpPr>
        <p:sp>
          <p:nvSpPr>
            <p:cNvPr id="27" name="Oval 26">
              <a:extLst>
                <a:ext uri="{FF2B5EF4-FFF2-40B4-BE49-F238E27FC236}">
                  <a16:creationId xmlns:a16="http://schemas.microsoft.com/office/drawing/2014/main" id="{B2CFE6A2-9368-9EE2-1262-CBC71F766001}"/>
                </a:ext>
              </a:extLst>
            </p:cNvPr>
            <p:cNvSpPr/>
            <p:nvPr/>
          </p:nvSpPr>
          <p:spPr>
            <a:xfrm>
              <a:off x="4565327" y="3552998"/>
              <a:ext cx="525656"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dirty="0"/>
            </a:p>
          </p:txBody>
        </p:sp>
        <p:pic>
          <p:nvPicPr>
            <p:cNvPr id="23" name="Graphic 22" descr="Document with solid fill">
              <a:extLst>
                <a:ext uri="{FF2B5EF4-FFF2-40B4-BE49-F238E27FC236}">
                  <a16:creationId xmlns:a16="http://schemas.microsoft.com/office/drawing/2014/main" id="{9B179EC7-CDCA-9F00-1D0F-D8D46C23FAB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59999" y="3634015"/>
              <a:ext cx="336311" cy="336311"/>
            </a:xfrm>
            <a:prstGeom prst="rect">
              <a:avLst/>
            </a:prstGeom>
          </p:spPr>
        </p:pic>
      </p:grpSp>
      <p:grpSp>
        <p:nvGrpSpPr>
          <p:cNvPr id="38" name="Group 37">
            <a:extLst>
              <a:ext uri="{FF2B5EF4-FFF2-40B4-BE49-F238E27FC236}">
                <a16:creationId xmlns:a16="http://schemas.microsoft.com/office/drawing/2014/main" id="{8E7A7A47-9DB7-80A1-74D5-23307293BE5C}"/>
              </a:ext>
            </a:extLst>
          </p:cNvPr>
          <p:cNvGrpSpPr/>
          <p:nvPr/>
        </p:nvGrpSpPr>
        <p:grpSpPr>
          <a:xfrm>
            <a:off x="7529524" y="3274412"/>
            <a:ext cx="525656" cy="525656"/>
            <a:chOff x="7229856" y="3446033"/>
            <a:chExt cx="525656" cy="525656"/>
          </a:xfrm>
        </p:grpSpPr>
        <p:sp>
          <p:nvSpPr>
            <p:cNvPr id="19" name="Oval 18">
              <a:extLst>
                <a:ext uri="{FF2B5EF4-FFF2-40B4-BE49-F238E27FC236}">
                  <a16:creationId xmlns:a16="http://schemas.microsoft.com/office/drawing/2014/main" id="{76FDFA3C-FFD9-9804-FA3B-0305296162A0}"/>
                </a:ext>
              </a:extLst>
            </p:cNvPr>
            <p:cNvSpPr/>
            <p:nvPr/>
          </p:nvSpPr>
          <p:spPr>
            <a:xfrm>
              <a:off x="7229856" y="3446033"/>
              <a:ext cx="525656"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dirty="0"/>
            </a:p>
          </p:txBody>
        </p:sp>
        <p:pic>
          <p:nvPicPr>
            <p:cNvPr id="40" name="Graphic 39" descr="Checkmark with solid fill">
              <a:extLst>
                <a:ext uri="{FF2B5EF4-FFF2-40B4-BE49-F238E27FC236}">
                  <a16:creationId xmlns:a16="http://schemas.microsoft.com/office/drawing/2014/main" id="{DDB80CBD-A1BC-1A23-1B11-EFD5DDF3802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308018" y="3545935"/>
              <a:ext cx="369332" cy="369332"/>
            </a:xfrm>
            <a:prstGeom prst="rect">
              <a:avLst/>
            </a:prstGeom>
          </p:spPr>
        </p:pic>
      </p:grpSp>
      <p:grpSp>
        <p:nvGrpSpPr>
          <p:cNvPr id="41" name="Group 40">
            <a:extLst>
              <a:ext uri="{FF2B5EF4-FFF2-40B4-BE49-F238E27FC236}">
                <a16:creationId xmlns:a16="http://schemas.microsoft.com/office/drawing/2014/main" id="{A1805B9F-B52F-22B5-C5F5-13AECCD6C0A7}"/>
              </a:ext>
            </a:extLst>
          </p:cNvPr>
          <p:cNvGrpSpPr/>
          <p:nvPr/>
        </p:nvGrpSpPr>
        <p:grpSpPr>
          <a:xfrm>
            <a:off x="9829536" y="3274412"/>
            <a:ext cx="525656" cy="525656"/>
            <a:chOff x="9471991" y="3456903"/>
            <a:chExt cx="525656" cy="525656"/>
          </a:xfrm>
        </p:grpSpPr>
        <p:sp>
          <p:nvSpPr>
            <p:cNvPr id="22" name="Oval 21">
              <a:extLst>
                <a:ext uri="{FF2B5EF4-FFF2-40B4-BE49-F238E27FC236}">
                  <a16:creationId xmlns:a16="http://schemas.microsoft.com/office/drawing/2014/main" id="{FA13F337-950F-E97F-7D11-0D35926180BC}"/>
                </a:ext>
              </a:extLst>
            </p:cNvPr>
            <p:cNvSpPr/>
            <p:nvPr/>
          </p:nvSpPr>
          <p:spPr>
            <a:xfrm>
              <a:off x="9471991" y="3456903"/>
              <a:ext cx="525656"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pic>
          <p:nvPicPr>
            <p:cNvPr id="42" name="Graphic 41" descr="Send with solid fill">
              <a:extLst>
                <a:ext uri="{FF2B5EF4-FFF2-40B4-BE49-F238E27FC236}">
                  <a16:creationId xmlns:a16="http://schemas.microsoft.com/office/drawing/2014/main" id="{11EAB34F-043E-E6F4-C60C-BD4769985A0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534883" y="3541758"/>
              <a:ext cx="355945" cy="355945"/>
            </a:xfrm>
            <a:prstGeom prst="rect">
              <a:avLst/>
            </a:prstGeom>
          </p:spPr>
        </p:pic>
      </p:grpSp>
    </p:spTree>
    <p:extLst>
      <p:ext uri="{BB962C8B-B14F-4D97-AF65-F5344CB8AC3E}">
        <p14:creationId xmlns:p14="http://schemas.microsoft.com/office/powerpoint/2010/main" val="2833567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A1CF1-56C8-44CE-9967-1847EBBAD0E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0BDE572-3D85-95D7-CE6C-D557875EDBB2}"/>
              </a:ext>
            </a:extLst>
          </p:cNvPr>
          <p:cNvSpPr/>
          <p:nvPr/>
        </p:nvSpPr>
        <p:spPr>
          <a:xfrm>
            <a:off x="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 </a:t>
            </a: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Top Corners Rounded 4">
            <a:extLst>
              <a:ext uri="{FF2B5EF4-FFF2-40B4-BE49-F238E27FC236}">
                <a16:creationId xmlns:a16="http://schemas.microsoft.com/office/drawing/2014/main" id="{5AC6D632-A79C-8C18-60A8-C25E6C6B54C4}"/>
              </a:ext>
            </a:extLst>
          </p:cNvPr>
          <p:cNvSpPr/>
          <p:nvPr/>
        </p:nvSpPr>
        <p:spPr>
          <a:xfrm rot="10800000">
            <a:off x="172904" y="685"/>
            <a:ext cx="8525251" cy="414465"/>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9E468152-6413-EB8B-5F61-4CC7713931D2}"/>
              </a:ext>
            </a:extLst>
          </p:cNvPr>
          <p:cNvSpPr txBox="1"/>
          <p:nvPr/>
        </p:nvSpPr>
        <p:spPr>
          <a:xfrm>
            <a:off x="330160" y="25291"/>
            <a:ext cx="8378447" cy="338554"/>
          </a:xfrm>
          <a:prstGeom prst="rect">
            <a:avLst/>
          </a:prstGeom>
          <a:noFill/>
        </p:spPr>
        <p:txBody>
          <a:bodyPr wrap="none" rtlCol="0">
            <a:spAutoFit/>
          </a:bodyPr>
          <a:lstStyle/>
          <a:p>
            <a:r>
              <a:rPr lang="en-US" sz="1600" dirty="0">
                <a:solidFill>
                  <a:schemeClr val="bg1"/>
                </a:solidFill>
              </a:rPr>
              <a:t>Reimbursement/Claim processing Automation for a African &amp; ME FMCG Group of Companies</a:t>
            </a:r>
            <a:endParaRPr lang="en-IN" sz="1600" dirty="0">
              <a:solidFill>
                <a:schemeClr val="bg1"/>
              </a:solidFill>
            </a:endParaRPr>
          </a:p>
        </p:txBody>
      </p:sp>
      <p:sp>
        <p:nvSpPr>
          <p:cNvPr id="8" name="Rectangle 1">
            <a:extLst>
              <a:ext uri="{FF2B5EF4-FFF2-40B4-BE49-F238E27FC236}">
                <a16:creationId xmlns:a16="http://schemas.microsoft.com/office/drawing/2014/main" id="{E2F54343-D83E-EF4E-702F-645A1983B187}"/>
              </a:ext>
            </a:extLst>
          </p:cNvPr>
          <p:cNvSpPr>
            <a:spLocks noChangeArrowheads="1"/>
          </p:cNvSpPr>
          <p:nvPr/>
        </p:nvSpPr>
        <p:spPr bwMode="auto">
          <a:xfrm>
            <a:off x="172906" y="496575"/>
            <a:ext cx="22781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Challenge</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9" name="Rectangle 1">
            <a:extLst>
              <a:ext uri="{FF2B5EF4-FFF2-40B4-BE49-F238E27FC236}">
                <a16:creationId xmlns:a16="http://schemas.microsoft.com/office/drawing/2014/main" id="{D24D892F-2FA7-4475-7176-A36E7871F68C}"/>
              </a:ext>
            </a:extLst>
          </p:cNvPr>
          <p:cNvSpPr>
            <a:spLocks noChangeArrowheads="1"/>
          </p:cNvSpPr>
          <p:nvPr/>
        </p:nvSpPr>
        <p:spPr bwMode="auto">
          <a:xfrm>
            <a:off x="183014" y="1882532"/>
            <a:ext cx="22781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Solution</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0" name="Rectangle 1">
            <a:extLst>
              <a:ext uri="{FF2B5EF4-FFF2-40B4-BE49-F238E27FC236}">
                <a16:creationId xmlns:a16="http://schemas.microsoft.com/office/drawing/2014/main" id="{72C7ABBA-2DEC-978F-108F-B82DF5083F91}"/>
              </a:ext>
            </a:extLst>
          </p:cNvPr>
          <p:cNvSpPr>
            <a:spLocks noChangeArrowheads="1"/>
          </p:cNvSpPr>
          <p:nvPr/>
        </p:nvSpPr>
        <p:spPr bwMode="auto">
          <a:xfrm>
            <a:off x="159466" y="5376386"/>
            <a:ext cx="26275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Benefits Delivered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1" name="Rectangle 1">
            <a:extLst>
              <a:ext uri="{FF2B5EF4-FFF2-40B4-BE49-F238E27FC236}">
                <a16:creationId xmlns:a16="http://schemas.microsoft.com/office/drawing/2014/main" id="{023215B3-F67E-701D-B914-CFDA5711D7EC}"/>
              </a:ext>
            </a:extLst>
          </p:cNvPr>
          <p:cNvSpPr>
            <a:spLocks noChangeArrowheads="1"/>
          </p:cNvSpPr>
          <p:nvPr/>
        </p:nvSpPr>
        <p:spPr bwMode="auto">
          <a:xfrm>
            <a:off x="159466" y="4027752"/>
            <a:ext cx="55861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Skyaicode features/components leveraged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7" name="TextBox 16">
            <a:extLst>
              <a:ext uri="{FF2B5EF4-FFF2-40B4-BE49-F238E27FC236}">
                <a16:creationId xmlns:a16="http://schemas.microsoft.com/office/drawing/2014/main" id="{65B1213C-CCB6-49C6-4C3A-C9A021722F01}"/>
              </a:ext>
            </a:extLst>
          </p:cNvPr>
          <p:cNvSpPr txBox="1"/>
          <p:nvPr/>
        </p:nvSpPr>
        <p:spPr>
          <a:xfrm>
            <a:off x="183014" y="886623"/>
            <a:ext cx="8355196" cy="954107"/>
          </a:xfrm>
          <a:prstGeom prst="rect">
            <a:avLst/>
          </a:prstGeom>
          <a:noFill/>
        </p:spPr>
        <p:txBody>
          <a:bodyPr wrap="square" anchor="ctr" anchorCtr="0">
            <a:spAutoFit/>
          </a:bodyPr>
          <a:lstStyle/>
          <a:p>
            <a:pPr algn="just"/>
            <a:r>
              <a:rPr lang="en-US" sz="1400" dirty="0">
                <a:solidFill>
                  <a:schemeClr val="bg1"/>
                </a:solidFill>
              </a:rPr>
              <a:t>A prominent FMCG and supply chain management company serving the African and Middle East markets faced challenges in managing employee reimbursements. Manual submission of expense claims via emails resulted in inconsistencies, delayed approvals, and poor visibility into reimbursement statuses. This created pressure on the finance team and affected employee satisfaction</a:t>
            </a:r>
            <a:endParaRPr lang="en-IN" sz="1400" dirty="0">
              <a:solidFill>
                <a:schemeClr val="bg1"/>
              </a:solidFill>
            </a:endParaRPr>
          </a:p>
        </p:txBody>
      </p:sp>
      <p:grpSp>
        <p:nvGrpSpPr>
          <p:cNvPr id="31" name="Group 30">
            <a:extLst>
              <a:ext uri="{FF2B5EF4-FFF2-40B4-BE49-F238E27FC236}">
                <a16:creationId xmlns:a16="http://schemas.microsoft.com/office/drawing/2014/main" id="{F87184E7-52F9-6EF6-CFC5-1AFA3ABB64CF}"/>
              </a:ext>
            </a:extLst>
          </p:cNvPr>
          <p:cNvGrpSpPr/>
          <p:nvPr/>
        </p:nvGrpSpPr>
        <p:grpSpPr>
          <a:xfrm>
            <a:off x="276904" y="4497591"/>
            <a:ext cx="11427540" cy="772255"/>
            <a:chOff x="294630" y="4324550"/>
            <a:chExt cx="11427540" cy="1072736"/>
          </a:xfrm>
        </p:grpSpPr>
        <p:sp>
          <p:nvSpPr>
            <p:cNvPr id="32" name="Freeform: Shape 31">
              <a:extLst>
                <a:ext uri="{FF2B5EF4-FFF2-40B4-BE49-F238E27FC236}">
                  <a16:creationId xmlns:a16="http://schemas.microsoft.com/office/drawing/2014/main" id="{C14B866C-D777-61A5-2B80-002E6AD90A00}"/>
                </a:ext>
              </a:extLst>
            </p:cNvPr>
            <p:cNvSpPr/>
            <p:nvPr/>
          </p:nvSpPr>
          <p:spPr>
            <a:xfrm>
              <a:off x="294630"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Dynamic Forms</a:t>
              </a:r>
              <a:endParaRPr lang="en-IN" sz="1600" kern="1200" dirty="0"/>
            </a:p>
          </p:txBody>
        </p:sp>
        <p:sp>
          <p:nvSpPr>
            <p:cNvPr id="33" name="Freeform: Shape 32">
              <a:extLst>
                <a:ext uri="{FF2B5EF4-FFF2-40B4-BE49-F238E27FC236}">
                  <a16:creationId xmlns:a16="http://schemas.microsoft.com/office/drawing/2014/main" id="{1952FA7B-7C04-F0B3-1CCC-EA72EBB1535D}"/>
                </a:ext>
              </a:extLst>
            </p:cNvPr>
            <p:cNvSpPr/>
            <p:nvPr/>
          </p:nvSpPr>
          <p:spPr>
            <a:xfrm>
              <a:off x="2241328"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Workflow Automation</a:t>
              </a:r>
            </a:p>
          </p:txBody>
        </p:sp>
        <p:sp>
          <p:nvSpPr>
            <p:cNvPr id="34" name="Freeform: Shape 33">
              <a:extLst>
                <a:ext uri="{FF2B5EF4-FFF2-40B4-BE49-F238E27FC236}">
                  <a16:creationId xmlns:a16="http://schemas.microsoft.com/office/drawing/2014/main" id="{FF0F1FD9-AD4D-8402-E4FB-D422B559230C}"/>
                </a:ext>
              </a:extLst>
            </p:cNvPr>
            <p:cNvSpPr/>
            <p:nvPr/>
          </p:nvSpPr>
          <p:spPr>
            <a:xfrm>
              <a:off x="4188025"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Decision Management</a:t>
              </a:r>
            </a:p>
          </p:txBody>
        </p:sp>
        <p:sp>
          <p:nvSpPr>
            <p:cNvPr id="35" name="Freeform: Shape 34">
              <a:extLst>
                <a:ext uri="{FF2B5EF4-FFF2-40B4-BE49-F238E27FC236}">
                  <a16:creationId xmlns:a16="http://schemas.microsoft.com/office/drawing/2014/main" id="{5E4C8A3C-009B-E1BC-E769-3BFF23E6B199}"/>
                </a:ext>
              </a:extLst>
            </p:cNvPr>
            <p:cNvSpPr/>
            <p:nvPr/>
          </p:nvSpPr>
          <p:spPr>
            <a:xfrm>
              <a:off x="6079248"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Role-Based Access Control</a:t>
              </a:r>
              <a:endParaRPr lang="en-US" sz="1600" kern="1200" dirty="0">
                <a:solidFill>
                  <a:schemeClr val="bg1"/>
                </a:solidFill>
              </a:endParaRPr>
            </a:p>
          </p:txBody>
        </p:sp>
        <p:sp>
          <p:nvSpPr>
            <p:cNvPr id="36" name="Freeform: Shape 35">
              <a:extLst>
                <a:ext uri="{FF2B5EF4-FFF2-40B4-BE49-F238E27FC236}">
                  <a16:creationId xmlns:a16="http://schemas.microsoft.com/office/drawing/2014/main" id="{32456A56-D9F1-C9A9-4B3E-BCA4C919EBBA}"/>
                </a:ext>
              </a:extLst>
            </p:cNvPr>
            <p:cNvSpPr/>
            <p:nvPr/>
          </p:nvSpPr>
          <p:spPr>
            <a:xfrm>
              <a:off x="7970471" y="43245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Dashboard</a:t>
              </a:r>
              <a:endParaRPr lang="en-IN" sz="1600" kern="1200" dirty="0">
                <a:solidFill>
                  <a:schemeClr val="bg1"/>
                </a:solidFill>
              </a:endParaRPr>
            </a:p>
          </p:txBody>
        </p:sp>
        <p:sp>
          <p:nvSpPr>
            <p:cNvPr id="37" name="Freeform: Shape 36">
              <a:extLst>
                <a:ext uri="{FF2B5EF4-FFF2-40B4-BE49-F238E27FC236}">
                  <a16:creationId xmlns:a16="http://schemas.microsoft.com/office/drawing/2014/main" id="{4C9D993A-8551-33C9-4E7A-5C8FB8F83BB5}"/>
                </a:ext>
              </a:extLst>
            </p:cNvPr>
            <p:cNvSpPr/>
            <p:nvPr/>
          </p:nvSpPr>
          <p:spPr>
            <a:xfrm>
              <a:off x="9952445" y="4324550"/>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Notification Bots</a:t>
              </a:r>
              <a:endParaRPr lang="en-IN" sz="1600" kern="1200" dirty="0">
                <a:solidFill>
                  <a:schemeClr val="bg1"/>
                </a:solidFill>
              </a:endParaRPr>
            </a:p>
          </p:txBody>
        </p:sp>
      </p:grpSp>
      <p:sp>
        <p:nvSpPr>
          <p:cNvPr id="25" name="TextBox 24">
            <a:extLst>
              <a:ext uri="{FF2B5EF4-FFF2-40B4-BE49-F238E27FC236}">
                <a16:creationId xmlns:a16="http://schemas.microsoft.com/office/drawing/2014/main" id="{B6592537-9485-86F2-19C6-D4A47C04101C}"/>
              </a:ext>
            </a:extLst>
          </p:cNvPr>
          <p:cNvSpPr txBox="1"/>
          <p:nvPr/>
        </p:nvSpPr>
        <p:spPr>
          <a:xfrm>
            <a:off x="183014" y="2184295"/>
            <a:ext cx="11722291" cy="830997"/>
          </a:xfrm>
          <a:prstGeom prst="rect">
            <a:avLst/>
          </a:prstGeom>
          <a:noFill/>
        </p:spPr>
        <p:txBody>
          <a:bodyPr wrap="square" anchor="ctr" anchorCtr="0">
            <a:spAutoFit/>
          </a:bodyPr>
          <a:lstStyle>
            <a:defPPr>
              <a:defRPr lang="en-US"/>
            </a:defPPr>
            <a:lvl1pPr algn="just">
              <a:defRPr sz="1600">
                <a:solidFill>
                  <a:schemeClr val="bg1"/>
                </a:solidFill>
              </a:defRPr>
            </a:lvl1pPr>
          </a:lstStyle>
          <a:p>
            <a:r>
              <a:rPr lang="en-US" dirty="0" err="1"/>
              <a:t>Skyaicode</a:t>
            </a:r>
            <a:r>
              <a:rPr lang="en-US" dirty="0"/>
              <a:t> enabled a structured and fully automated reimbursement system where employees could raise claims through a digital interface. Approved claims are automatically converted into Purchase Orders (POs) for seamless integration with finance workflows and audit readiness.</a:t>
            </a:r>
          </a:p>
        </p:txBody>
      </p:sp>
      <p:graphicFrame>
        <p:nvGraphicFramePr>
          <p:cNvPr id="30" name="Diagram 29">
            <a:extLst>
              <a:ext uri="{FF2B5EF4-FFF2-40B4-BE49-F238E27FC236}">
                <a16:creationId xmlns:a16="http://schemas.microsoft.com/office/drawing/2014/main" id="{FC0829C6-1394-6FA9-C615-526AC5A9BE97}"/>
              </a:ext>
            </a:extLst>
          </p:cNvPr>
          <p:cNvGraphicFramePr/>
          <p:nvPr>
            <p:extLst>
              <p:ext uri="{D42A27DB-BD31-4B8C-83A1-F6EECF244321}">
                <p14:modId xmlns:p14="http://schemas.microsoft.com/office/powerpoint/2010/main" val="3023483771"/>
              </p:ext>
            </p:extLst>
          </p:nvPr>
        </p:nvGraphicFramePr>
        <p:xfrm>
          <a:off x="308511" y="5576830"/>
          <a:ext cx="11506022" cy="12862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9" name="Picture 38">
            <a:extLst>
              <a:ext uri="{FF2B5EF4-FFF2-40B4-BE49-F238E27FC236}">
                <a16:creationId xmlns:a16="http://schemas.microsoft.com/office/drawing/2014/main" id="{D93395F7-995E-F771-1CCE-46E02D7FE702}"/>
              </a:ext>
            </a:extLst>
          </p:cNvPr>
          <p:cNvPicPr>
            <a:picLocks noChangeAspect="1"/>
          </p:cNvPicPr>
          <p:nvPr/>
        </p:nvPicPr>
        <p:blipFill>
          <a:blip r:embed="rId7" cstate="screen">
            <a:extLst>
              <a:ext uri="{BEBA8EAE-BF5A-486C-A8C5-ECC9F3942E4B}">
                <a14:imgProps xmlns:a14="http://schemas.microsoft.com/office/drawing/2010/main">
                  <a14:imgLayer r:embed="rId8">
                    <a14:imgEffect>
                      <a14:brightnessContrast bright="20000"/>
                    </a14:imgEffect>
                  </a14:imgLayer>
                </a14:imgProps>
              </a:ext>
              <a:ext uri="{28A0092B-C50C-407E-A947-70E740481C1C}">
                <a14:useLocalDpi xmlns:a14="http://schemas.microsoft.com/office/drawing/2010/main"/>
              </a:ext>
            </a:extLst>
          </a:blip>
          <a:srcRect/>
          <a:stretch/>
        </p:blipFill>
        <p:spPr>
          <a:xfrm>
            <a:off x="8708263" y="325317"/>
            <a:ext cx="3204007" cy="1774845"/>
          </a:xfrm>
          <a:prstGeom prst="roundRect">
            <a:avLst>
              <a:gd name="adj" fmla="val 13672"/>
            </a:avLst>
          </a:prstGeom>
          <a:ln>
            <a:solidFill>
              <a:schemeClr val="bg2">
                <a:lumMod val="50000"/>
              </a:schemeClr>
            </a:solidFill>
          </a:ln>
          <a:effectLst>
            <a:outerShdw blurRad="368300" dist="38100" dir="2520000" sx="102000" sy="102000" algn="tl" rotWithShape="0">
              <a:prstClr val="black">
                <a:alpha val="40000"/>
              </a:prstClr>
            </a:outerShdw>
          </a:effectLst>
        </p:spPr>
      </p:pic>
      <p:sp>
        <p:nvSpPr>
          <p:cNvPr id="18" name="Freeform: Shape 17">
            <a:extLst>
              <a:ext uri="{FF2B5EF4-FFF2-40B4-BE49-F238E27FC236}">
                <a16:creationId xmlns:a16="http://schemas.microsoft.com/office/drawing/2014/main" id="{B9081AFA-7ABE-0C47-69B1-0AF73A549D31}"/>
              </a:ext>
            </a:extLst>
          </p:cNvPr>
          <p:cNvSpPr/>
          <p:nvPr/>
        </p:nvSpPr>
        <p:spPr>
          <a:xfrm>
            <a:off x="3541131" y="3216754"/>
            <a:ext cx="1829121" cy="525656"/>
          </a:xfrm>
          <a:custGeom>
            <a:avLst/>
            <a:gdLst>
              <a:gd name="connsiteX0" fmla="*/ 0 w 1478269"/>
              <a:gd name="connsiteY0" fmla="*/ 0 h 525656"/>
              <a:gd name="connsiteX1" fmla="*/ 1478269 w 1478269"/>
              <a:gd name="connsiteY1" fmla="*/ 0 h 525656"/>
              <a:gd name="connsiteX2" fmla="*/ 1478269 w 1478269"/>
              <a:gd name="connsiteY2" fmla="*/ 525656 h 525656"/>
              <a:gd name="connsiteX3" fmla="*/ 0 w 1478269"/>
              <a:gd name="connsiteY3" fmla="*/ 525656 h 525656"/>
              <a:gd name="connsiteX4" fmla="*/ 0 w 1478269"/>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8269" h="525656">
                <a:moveTo>
                  <a:pt x="0" y="0"/>
                </a:moveTo>
                <a:lnTo>
                  <a:pt x="1478269" y="0"/>
                </a:lnTo>
                <a:lnTo>
                  <a:pt x="1478269"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r>
              <a:rPr lang="en-US" sz="1200" dirty="0">
                <a:solidFill>
                  <a:schemeClr val="bg1"/>
                </a:solidFill>
              </a:rPr>
              <a:t>Automated</a:t>
            </a:r>
            <a:r>
              <a:rPr lang="en-US" sz="1600" dirty="0">
                <a:solidFill>
                  <a:schemeClr val="bg1"/>
                </a:solidFill>
              </a:rPr>
              <a:t>, Multi-level approval</a:t>
            </a:r>
            <a:r>
              <a:rPr lang="en-US" sz="1200" dirty="0">
                <a:solidFill>
                  <a:schemeClr val="bg1"/>
                </a:solidFill>
              </a:rPr>
              <a:t> process based on claim amount and department.</a:t>
            </a:r>
          </a:p>
        </p:txBody>
      </p:sp>
      <p:sp>
        <p:nvSpPr>
          <p:cNvPr id="19" name="Oval 18">
            <a:extLst>
              <a:ext uri="{FF2B5EF4-FFF2-40B4-BE49-F238E27FC236}">
                <a16:creationId xmlns:a16="http://schemas.microsoft.com/office/drawing/2014/main" id="{227E5C5A-01FF-6E40-0115-DBDFBAC22D92}"/>
              </a:ext>
            </a:extLst>
          </p:cNvPr>
          <p:cNvSpPr/>
          <p:nvPr/>
        </p:nvSpPr>
        <p:spPr>
          <a:xfrm>
            <a:off x="7698420" y="3216754"/>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1" name="Freeform: Shape 20">
            <a:extLst>
              <a:ext uri="{FF2B5EF4-FFF2-40B4-BE49-F238E27FC236}">
                <a16:creationId xmlns:a16="http://schemas.microsoft.com/office/drawing/2014/main" id="{6532639B-95CA-82F0-B979-35D5B9E1BCC1}"/>
              </a:ext>
            </a:extLst>
          </p:cNvPr>
          <p:cNvSpPr/>
          <p:nvPr/>
        </p:nvSpPr>
        <p:spPr>
          <a:xfrm>
            <a:off x="8243585" y="3048490"/>
            <a:ext cx="1914128" cy="862184"/>
          </a:xfrm>
          <a:custGeom>
            <a:avLst/>
            <a:gdLst>
              <a:gd name="connsiteX0" fmla="*/ 0 w 1239046"/>
              <a:gd name="connsiteY0" fmla="*/ 0 h 1127837"/>
              <a:gd name="connsiteX1" fmla="*/ 1239046 w 1239046"/>
              <a:gd name="connsiteY1" fmla="*/ 0 h 1127837"/>
              <a:gd name="connsiteX2" fmla="*/ 1239046 w 1239046"/>
              <a:gd name="connsiteY2" fmla="*/ 1127837 h 1127837"/>
              <a:gd name="connsiteX3" fmla="*/ 0 w 1239046"/>
              <a:gd name="connsiteY3" fmla="*/ 1127837 h 1127837"/>
              <a:gd name="connsiteX4" fmla="*/ 0 w 1239046"/>
              <a:gd name="connsiteY4" fmla="*/ 0 h 1127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1127837">
                <a:moveTo>
                  <a:pt x="0" y="0"/>
                </a:moveTo>
                <a:lnTo>
                  <a:pt x="1239046" y="0"/>
                </a:lnTo>
                <a:lnTo>
                  <a:pt x="1239046" y="1127837"/>
                </a:lnTo>
                <a:lnTo>
                  <a:pt x="0" y="1127837"/>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lvl="0" defTabSz="533400">
              <a:spcBef>
                <a:spcPct val="0"/>
              </a:spcBef>
              <a:spcAft>
                <a:spcPct val="35000"/>
              </a:spcAft>
            </a:pPr>
            <a:r>
              <a:rPr lang="en-US" sz="1200" dirty="0">
                <a:solidFill>
                  <a:schemeClr val="bg1"/>
                </a:solidFill>
              </a:rPr>
              <a:t>Track every stage of the reimbursement lifecycle submitted, approved, rejected, paid.</a:t>
            </a:r>
            <a:endParaRPr lang="en-US" sz="1200" kern="1200" dirty="0">
              <a:solidFill>
                <a:schemeClr val="bg1"/>
              </a:solidFill>
            </a:endParaRPr>
          </a:p>
        </p:txBody>
      </p:sp>
      <p:sp>
        <p:nvSpPr>
          <p:cNvPr id="22" name="Oval 21">
            <a:extLst>
              <a:ext uri="{FF2B5EF4-FFF2-40B4-BE49-F238E27FC236}">
                <a16:creationId xmlns:a16="http://schemas.microsoft.com/office/drawing/2014/main" id="{627A61EB-31A3-CEFC-C918-9D281FE7F0CC}"/>
              </a:ext>
            </a:extLst>
          </p:cNvPr>
          <p:cNvSpPr/>
          <p:nvPr/>
        </p:nvSpPr>
        <p:spPr>
          <a:xfrm>
            <a:off x="9887858" y="3216754"/>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6" name="Freeform: Shape 25">
            <a:extLst>
              <a:ext uri="{FF2B5EF4-FFF2-40B4-BE49-F238E27FC236}">
                <a16:creationId xmlns:a16="http://schemas.microsoft.com/office/drawing/2014/main" id="{5DE9EC93-A5C3-0023-FDEA-832F4A4F86D4}"/>
              </a:ext>
            </a:extLst>
          </p:cNvPr>
          <p:cNvSpPr/>
          <p:nvPr/>
        </p:nvSpPr>
        <p:spPr>
          <a:xfrm>
            <a:off x="10452069" y="3216754"/>
            <a:ext cx="1768875"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lvl="0" defTabSz="488950">
              <a:spcBef>
                <a:spcPct val="0"/>
              </a:spcBef>
              <a:spcAft>
                <a:spcPct val="35000"/>
              </a:spcAft>
            </a:pPr>
            <a:r>
              <a:rPr lang="en-US" sz="1200" dirty="0">
                <a:solidFill>
                  <a:schemeClr val="bg1"/>
                </a:solidFill>
              </a:rPr>
              <a:t>All claims, approvals, and POs are stored digitally with complete traceability.</a:t>
            </a:r>
            <a:endParaRPr lang="en-US" sz="1200" b="1" kern="1200" dirty="0">
              <a:solidFill>
                <a:schemeClr val="bg1"/>
              </a:solidFill>
            </a:endParaRPr>
          </a:p>
        </p:txBody>
      </p:sp>
      <p:sp>
        <p:nvSpPr>
          <p:cNvPr id="27" name="Oval 26">
            <a:extLst>
              <a:ext uri="{FF2B5EF4-FFF2-40B4-BE49-F238E27FC236}">
                <a16:creationId xmlns:a16="http://schemas.microsoft.com/office/drawing/2014/main" id="{BE5F4B0C-96C8-CA52-5400-4265185091BA}"/>
              </a:ext>
            </a:extLst>
          </p:cNvPr>
          <p:cNvSpPr/>
          <p:nvPr/>
        </p:nvSpPr>
        <p:spPr>
          <a:xfrm>
            <a:off x="5346705" y="3216754"/>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pPr algn="ctr"/>
            <a:endParaRPr lang="en-IN" dirty="0"/>
          </a:p>
        </p:txBody>
      </p:sp>
      <p:sp>
        <p:nvSpPr>
          <p:cNvPr id="29" name="Freeform: Shape 28">
            <a:extLst>
              <a:ext uri="{FF2B5EF4-FFF2-40B4-BE49-F238E27FC236}">
                <a16:creationId xmlns:a16="http://schemas.microsoft.com/office/drawing/2014/main" id="{2614084D-A998-6E62-260C-A0EFD7630EC6}"/>
              </a:ext>
            </a:extLst>
          </p:cNvPr>
          <p:cNvSpPr/>
          <p:nvPr/>
        </p:nvSpPr>
        <p:spPr>
          <a:xfrm>
            <a:off x="5840728" y="3216754"/>
            <a:ext cx="1914406"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lvl="0" defTabSz="533400">
              <a:spcBef>
                <a:spcPct val="0"/>
              </a:spcBef>
              <a:spcAft>
                <a:spcPct val="35000"/>
              </a:spcAft>
            </a:pPr>
            <a:r>
              <a:rPr lang="en-US" sz="1200" dirty="0">
                <a:solidFill>
                  <a:schemeClr val="bg1"/>
                </a:solidFill>
              </a:rPr>
              <a:t>Once approved, the claim is auto-converted into a PO for traceability and processing</a:t>
            </a:r>
            <a:endParaRPr lang="en-US" sz="1200" b="0" kern="1200" dirty="0">
              <a:solidFill>
                <a:schemeClr val="bg1"/>
              </a:solidFill>
              <a:latin typeface="Aptos" panose="02110004020202020204"/>
              <a:ea typeface="+mn-ea"/>
              <a:cs typeface="+mn-cs"/>
            </a:endParaRPr>
          </a:p>
        </p:txBody>
      </p:sp>
      <p:grpSp>
        <p:nvGrpSpPr>
          <p:cNvPr id="13" name="Group 12">
            <a:extLst>
              <a:ext uri="{FF2B5EF4-FFF2-40B4-BE49-F238E27FC236}">
                <a16:creationId xmlns:a16="http://schemas.microsoft.com/office/drawing/2014/main" id="{70C0640B-F450-8811-C596-1BD49E38F329}"/>
              </a:ext>
            </a:extLst>
          </p:cNvPr>
          <p:cNvGrpSpPr/>
          <p:nvPr/>
        </p:nvGrpSpPr>
        <p:grpSpPr>
          <a:xfrm>
            <a:off x="224032" y="3216754"/>
            <a:ext cx="2641995" cy="525656"/>
            <a:chOff x="314565" y="3210286"/>
            <a:chExt cx="2641995" cy="525656"/>
          </a:xfrm>
        </p:grpSpPr>
        <p:sp>
          <p:nvSpPr>
            <p:cNvPr id="12" name="Oval 11">
              <a:extLst>
                <a:ext uri="{FF2B5EF4-FFF2-40B4-BE49-F238E27FC236}">
                  <a16:creationId xmlns:a16="http://schemas.microsoft.com/office/drawing/2014/main" id="{A284938F-66D3-56EE-1799-50A1ED1AD51C}"/>
                </a:ext>
              </a:extLst>
            </p:cNvPr>
            <p:cNvSpPr/>
            <p:nvPr/>
          </p:nvSpPr>
          <p:spPr>
            <a:xfrm>
              <a:off x="314565" y="3210286"/>
              <a:ext cx="513301" cy="525656"/>
            </a:xfrm>
            <a:prstGeom prst="ellipse">
              <a:avLst/>
            </a:prstGeom>
            <a:solidFill>
              <a:srgbClr val="B6FF42"/>
            </a:solidFill>
            <a:ln>
              <a:noFill/>
            </a:ln>
          </p:spPr>
          <p:style>
            <a:lnRef idx="0">
              <a:scrgbClr r="0" g="0" b="0"/>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4" name="Freeform: Shape 13">
              <a:extLst>
                <a:ext uri="{FF2B5EF4-FFF2-40B4-BE49-F238E27FC236}">
                  <a16:creationId xmlns:a16="http://schemas.microsoft.com/office/drawing/2014/main" id="{357E7D72-7DF1-4AE7-DC27-DC5DB6AB0EF7}"/>
                </a:ext>
              </a:extLst>
            </p:cNvPr>
            <p:cNvSpPr/>
            <p:nvPr/>
          </p:nvSpPr>
          <p:spPr>
            <a:xfrm>
              <a:off x="937860" y="3210286"/>
              <a:ext cx="2018700"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a:noFill/>
            </a:ln>
          </p:spPr>
          <p:style>
            <a:lnRef idx="0">
              <a:scrgbClr r="0" g="0" b="0"/>
            </a:lnRef>
            <a:fillRef idx="0">
              <a:scrgbClr r="0" g="0" b="0"/>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r>
                <a:rPr lang="en-US" sz="1200" dirty="0">
                  <a:solidFill>
                    <a:schemeClr val="bg1"/>
                  </a:solidFill>
                </a:rPr>
                <a:t>Employees </a:t>
              </a:r>
              <a:r>
                <a:rPr lang="en-US" sz="1600" dirty="0">
                  <a:solidFill>
                    <a:schemeClr val="bg1"/>
                  </a:solidFill>
                </a:rPr>
                <a:t>submit claims </a:t>
              </a:r>
              <a:r>
                <a:rPr lang="en-US" sz="1200" dirty="0">
                  <a:solidFill>
                    <a:schemeClr val="bg1"/>
                  </a:solidFill>
                </a:rPr>
                <a:t>through a standardized form capturing all necessary details and documents.</a:t>
              </a:r>
            </a:p>
          </p:txBody>
        </p:sp>
        <p:pic>
          <p:nvPicPr>
            <p:cNvPr id="23" name="Graphic 22" descr="Newspaper with solid fill">
              <a:extLst>
                <a:ext uri="{FF2B5EF4-FFF2-40B4-BE49-F238E27FC236}">
                  <a16:creationId xmlns:a16="http://schemas.microsoft.com/office/drawing/2014/main" id="{EAAF228B-6140-C3FC-3D16-2B953A6D679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67437" y="3267476"/>
              <a:ext cx="399330" cy="399330"/>
            </a:xfrm>
            <a:prstGeom prst="rect">
              <a:avLst/>
            </a:prstGeom>
          </p:spPr>
        </p:pic>
      </p:grpSp>
      <p:grpSp>
        <p:nvGrpSpPr>
          <p:cNvPr id="16" name="Group 15">
            <a:extLst>
              <a:ext uri="{FF2B5EF4-FFF2-40B4-BE49-F238E27FC236}">
                <a16:creationId xmlns:a16="http://schemas.microsoft.com/office/drawing/2014/main" id="{CE146213-DCA6-EE55-FB40-CE3C04D9C385}"/>
              </a:ext>
            </a:extLst>
          </p:cNvPr>
          <p:cNvGrpSpPr/>
          <p:nvPr/>
        </p:nvGrpSpPr>
        <p:grpSpPr>
          <a:xfrm>
            <a:off x="3034637" y="3216754"/>
            <a:ext cx="513301" cy="525656"/>
            <a:chOff x="3080357" y="3204314"/>
            <a:chExt cx="513301" cy="525656"/>
          </a:xfrm>
        </p:grpSpPr>
        <p:sp>
          <p:nvSpPr>
            <p:cNvPr id="15" name="Oval 14">
              <a:extLst>
                <a:ext uri="{FF2B5EF4-FFF2-40B4-BE49-F238E27FC236}">
                  <a16:creationId xmlns:a16="http://schemas.microsoft.com/office/drawing/2014/main" id="{81880189-E052-6CCC-8C87-266B9247422C}"/>
                </a:ext>
              </a:extLst>
            </p:cNvPr>
            <p:cNvSpPr/>
            <p:nvPr/>
          </p:nvSpPr>
          <p:spPr>
            <a:xfrm>
              <a:off x="3080357" y="3204314"/>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dirty="0"/>
            </a:p>
          </p:txBody>
        </p:sp>
        <p:pic>
          <p:nvPicPr>
            <p:cNvPr id="40" name="Picture 39">
              <a:extLst>
                <a:ext uri="{FF2B5EF4-FFF2-40B4-BE49-F238E27FC236}">
                  <a16:creationId xmlns:a16="http://schemas.microsoft.com/office/drawing/2014/main" id="{46E57487-6F0A-3256-5F82-97D8C68D743D}"/>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3215148" y="3308034"/>
              <a:ext cx="307999" cy="307999"/>
            </a:xfrm>
            <a:prstGeom prst="rect">
              <a:avLst/>
            </a:prstGeom>
          </p:spPr>
        </p:pic>
      </p:grpSp>
      <p:pic>
        <p:nvPicPr>
          <p:cNvPr id="44" name="Picture 43">
            <a:extLst>
              <a:ext uri="{FF2B5EF4-FFF2-40B4-BE49-F238E27FC236}">
                <a16:creationId xmlns:a16="http://schemas.microsoft.com/office/drawing/2014/main" id="{CF37976D-1710-926D-E43A-335F41BCD5ED}"/>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5436486" y="3314793"/>
            <a:ext cx="329578" cy="329578"/>
          </a:xfrm>
          <a:prstGeom prst="rect">
            <a:avLst/>
          </a:prstGeom>
        </p:spPr>
      </p:pic>
      <p:pic>
        <p:nvPicPr>
          <p:cNvPr id="46" name="Graphic 45" descr="Arrow circle with solid fill">
            <a:extLst>
              <a:ext uri="{FF2B5EF4-FFF2-40B4-BE49-F238E27FC236}">
                <a16:creationId xmlns:a16="http://schemas.microsoft.com/office/drawing/2014/main" id="{68D317C3-613C-4EF6-6B8C-D1946145C56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687858" y="3221866"/>
            <a:ext cx="515433" cy="515433"/>
          </a:xfrm>
          <a:prstGeom prst="rect">
            <a:avLst/>
          </a:prstGeom>
        </p:spPr>
      </p:pic>
      <p:pic>
        <p:nvPicPr>
          <p:cNvPr id="48" name="Graphic 47" descr="Database with solid fill">
            <a:extLst>
              <a:ext uri="{FF2B5EF4-FFF2-40B4-BE49-F238E27FC236}">
                <a16:creationId xmlns:a16="http://schemas.microsoft.com/office/drawing/2014/main" id="{27F10D34-A8AF-B71F-4412-F1D9B519322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928152" y="3267363"/>
            <a:ext cx="424439" cy="424439"/>
          </a:xfrm>
          <a:prstGeom prst="rect">
            <a:avLst/>
          </a:prstGeom>
        </p:spPr>
      </p:pic>
    </p:spTree>
    <p:extLst>
      <p:ext uri="{BB962C8B-B14F-4D97-AF65-F5344CB8AC3E}">
        <p14:creationId xmlns:p14="http://schemas.microsoft.com/office/powerpoint/2010/main" val="2905220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1623E-478D-264C-58C2-9C8227D8DF6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1A351B6-ABE4-4409-14B3-BADE310968F8}"/>
              </a:ext>
            </a:extLst>
          </p:cNvPr>
          <p:cNvSpPr/>
          <p:nvPr/>
        </p:nvSpPr>
        <p:spPr>
          <a:xfrm>
            <a:off x="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 </a:t>
            </a: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Top Corners Rounded 4">
            <a:extLst>
              <a:ext uri="{FF2B5EF4-FFF2-40B4-BE49-F238E27FC236}">
                <a16:creationId xmlns:a16="http://schemas.microsoft.com/office/drawing/2014/main" id="{2A985CD4-B44A-3FCF-2A01-D9F7072192E3}"/>
              </a:ext>
            </a:extLst>
          </p:cNvPr>
          <p:cNvSpPr/>
          <p:nvPr/>
        </p:nvSpPr>
        <p:spPr>
          <a:xfrm rot="10800000">
            <a:off x="172908" y="689"/>
            <a:ext cx="5810082"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AD743B8B-2890-E5A2-61EB-29C0AD221EC1}"/>
              </a:ext>
            </a:extLst>
          </p:cNvPr>
          <p:cNvSpPr txBox="1"/>
          <p:nvPr/>
        </p:nvSpPr>
        <p:spPr>
          <a:xfrm>
            <a:off x="330160" y="25291"/>
            <a:ext cx="5539145" cy="338554"/>
          </a:xfrm>
          <a:prstGeom prst="rect">
            <a:avLst/>
          </a:prstGeom>
          <a:noFill/>
        </p:spPr>
        <p:txBody>
          <a:bodyPr wrap="none" rtlCol="0">
            <a:spAutoFit/>
          </a:bodyPr>
          <a:lstStyle/>
          <a:p>
            <a:r>
              <a:rPr lang="en-US" sz="1600" dirty="0">
                <a:solidFill>
                  <a:schemeClr val="bg1"/>
                </a:solidFill>
              </a:rPr>
              <a:t>Tubes Manufacturing Company Quality Test- Lab Automation</a:t>
            </a:r>
            <a:endParaRPr lang="en-IN" sz="1600" dirty="0">
              <a:solidFill>
                <a:schemeClr val="bg1"/>
              </a:solidFill>
            </a:endParaRPr>
          </a:p>
        </p:txBody>
      </p:sp>
      <p:sp>
        <p:nvSpPr>
          <p:cNvPr id="8" name="Rectangle 1">
            <a:extLst>
              <a:ext uri="{FF2B5EF4-FFF2-40B4-BE49-F238E27FC236}">
                <a16:creationId xmlns:a16="http://schemas.microsoft.com/office/drawing/2014/main" id="{1588EF7E-CBCF-12B3-E336-991836AA0445}"/>
              </a:ext>
            </a:extLst>
          </p:cNvPr>
          <p:cNvSpPr>
            <a:spLocks noChangeArrowheads="1"/>
          </p:cNvSpPr>
          <p:nvPr/>
        </p:nvSpPr>
        <p:spPr bwMode="auto">
          <a:xfrm>
            <a:off x="33558" y="415801"/>
            <a:ext cx="22781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Challenge</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9" name="Rectangle 1">
            <a:extLst>
              <a:ext uri="{FF2B5EF4-FFF2-40B4-BE49-F238E27FC236}">
                <a16:creationId xmlns:a16="http://schemas.microsoft.com/office/drawing/2014/main" id="{2273470A-BB3D-8ED8-B40F-431F140E35A0}"/>
              </a:ext>
            </a:extLst>
          </p:cNvPr>
          <p:cNvSpPr>
            <a:spLocks noChangeArrowheads="1"/>
          </p:cNvSpPr>
          <p:nvPr/>
        </p:nvSpPr>
        <p:spPr bwMode="auto">
          <a:xfrm>
            <a:off x="58761" y="1823733"/>
            <a:ext cx="22781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Solution</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0" name="Rectangle 1">
            <a:extLst>
              <a:ext uri="{FF2B5EF4-FFF2-40B4-BE49-F238E27FC236}">
                <a16:creationId xmlns:a16="http://schemas.microsoft.com/office/drawing/2014/main" id="{AA1F2E50-9D69-9C95-3685-657067B2B928}"/>
              </a:ext>
            </a:extLst>
          </p:cNvPr>
          <p:cNvSpPr>
            <a:spLocks noChangeArrowheads="1"/>
          </p:cNvSpPr>
          <p:nvPr/>
        </p:nvSpPr>
        <p:spPr bwMode="auto">
          <a:xfrm>
            <a:off x="38048" y="5515399"/>
            <a:ext cx="26275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Benefits Delivered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1" name="Rectangle 1">
            <a:extLst>
              <a:ext uri="{FF2B5EF4-FFF2-40B4-BE49-F238E27FC236}">
                <a16:creationId xmlns:a16="http://schemas.microsoft.com/office/drawing/2014/main" id="{0E3392A0-43B4-9E72-02ED-4150397666B6}"/>
              </a:ext>
            </a:extLst>
          </p:cNvPr>
          <p:cNvSpPr>
            <a:spLocks noChangeArrowheads="1"/>
          </p:cNvSpPr>
          <p:nvPr/>
        </p:nvSpPr>
        <p:spPr bwMode="auto">
          <a:xfrm>
            <a:off x="0" y="4097785"/>
            <a:ext cx="55861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Skyaicode features/components leveraged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7" name="TextBox 16">
            <a:extLst>
              <a:ext uri="{FF2B5EF4-FFF2-40B4-BE49-F238E27FC236}">
                <a16:creationId xmlns:a16="http://schemas.microsoft.com/office/drawing/2014/main" id="{556B68C4-F102-E679-C5B3-0008E55E8086}"/>
              </a:ext>
            </a:extLst>
          </p:cNvPr>
          <p:cNvSpPr txBox="1"/>
          <p:nvPr/>
        </p:nvSpPr>
        <p:spPr>
          <a:xfrm>
            <a:off x="58760" y="746515"/>
            <a:ext cx="8194901" cy="1077218"/>
          </a:xfrm>
          <a:prstGeom prst="rect">
            <a:avLst/>
          </a:prstGeom>
          <a:noFill/>
        </p:spPr>
        <p:txBody>
          <a:bodyPr wrap="square" anchor="ctr" anchorCtr="0">
            <a:spAutoFit/>
          </a:bodyPr>
          <a:lstStyle/>
          <a:p>
            <a:pPr algn="just"/>
            <a:r>
              <a:rPr lang="en-US" sz="1600" dirty="0">
                <a:solidFill>
                  <a:schemeClr val="bg1"/>
                </a:solidFill>
              </a:rPr>
              <a:t>A large Tubes manufacturing organization operating multiple labs across its divisions faced challenges in managing lab test requests, approvals, and report tracking. The manual process—often paper-based—caused delays, lack of traceability, and inefficiencies in coordination between production, engineering, and lab teams.</a:t>
            </a:r>
            <a:endParaRPr lang="en-IN" sz="1600" dirty="0">
              <a:solidFill>
                <a:schemeClr val="bg1"/>
              </a:solidFill>
            </a:endParaRPr>
          </a:p>
        </p:txBody>
      </p:sp>
      <p:grpSp>
        <p:nvGrpSpPr>
          <p:cNvPr id="31" name="Group 30">
            <a:extLst>
              <a:ext uri="{FF2B5EF4-FFF2-40B4-BE49-F238E27FC236}">
                <a16:creationId xmlns:a16="http://schemas.microsoft.com/office/drawing/2014/main" id="{A294417F-300D-17B6-C3C8-5D7F605C3AA3}"/>
              </a:ext>
            </a:extLst>
          </p:cNvPr>
          <p:cNvGrpSpPr/>
          <p:nvPr/>
        </p:nvGrpSpPr>
        <p:grpSpPr>
          <a:xfrm>
            <a:off x="367865" y="4650375"/>
            <a:ext cx="11427540" cy="772255"/>
            <a:chOff x="294630" y="4324550"/>
            <a:chExt cx="11427540" cy="1072736"/>
          </a:xfrm>
        </p:grpSpPr>
        <p:sp>
          <p:nvSpPr>
            <p:cNvPr id="32" name="Freeform: Shape 31">
              <a:extLst>
                <a:ext uri="{FF2B5EF4-FFF2-40B4-BE49-F238E27FC236}">
                  <a16:creationId xmlns:a16="http://schemas.microsoft.com/office/drawing/2014/main" id="{C8192E75-B4D0-4BAF-B2A0-48A7CE52C51F}"/>
                </a:ext>
              </a:extLst>
            </p:cNvPr>
            <p:cNvSpPr/>
            <p:nvPr/>
          </p:nvSpPr>
          <p:spPr>
            <a:xfrm>
              <a:off x="294630"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Forms &amp; Structured Data</a:t>
              </a:r>
              <a:endParaRPr lang="en-IN" sz="1600" kern="1200" dirty="0"/>
            </a:p>
          </p:txBody>
        </p:sp>
        <p:sp>
          <p:nvSpPr>
            <p:cNvPr id="33" name="Freeform: Shape 32">
              <a:extLst>
                <a:ext uri="{FF2B5EF4-FFF2-40B4-BE49-F238E27FC236}">
                  <a16:creationId xmlns:a16="http://schemas.microsoft.com/office/drawing/2014/main" id="{779465FF-671F-660B-1422-75BB0923005E}"/>
                </a:ext>
              </a:extLst>
            </p:cNvPr>
            <p:cNvSpPr/>
            <p:nvPr/>
          </p:nvSpPr>
          <p:spPr>
            <a:xfrm>
              <a:off x="2241328"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Workflow Automation</a:t>
              </a:r>
            </a:p>
          </p:txBody>
        </p:sp>
        <p:sp>
          <p:nvSpPr>
            <p:cNvPr id="34" name="Freeform: Shape 33">
              <a:extLst>
                <a:ext uri="{FF2B5EF4-FFF2-40B4-BE49-F238E27FC236}">
                  <a16:creationId xmlns:a16="http://schemas.microsoft.com/office/drawing/2014/main" id="{03DB92CF-440E-D8ED-AABF-73045D9C31EE}"/>
                </a:ext>
              </a:extLst>
            </p:cNvPr>
            <p:cNvSpPr/>
            <p:nvPr/>
          </p:nvSpPr>
          <p:spPr>
            <a:xfrm>
              <a:off x="4188025"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Decision Management</a:t>
              </a:r>
            </a:p>
          </p:txBody>
        </p:sp>
        <p:sp>
          <p:nvSpPr>
            <p:cNvPr id="35" name="Freeform: Shape 34">
              <a:extLst>
                <a:ext uri="{FF2B5EF4-FFF2-40B4-BE49-F238E27FC236}">
                  <a16:creationId xmlns:a16="http://schemas.microsoft.com/office/drawing/2014/main" id="{2EDBBC65-A6EA-EF13-D7B3-1204EDE2BA2F}"/>
                </a:ext>
              </a:extLst>
            </p:cNvPr>
            <p:cNvSpPr/>
            <p:nvPr/>
          </p:nvSpPr>
          <p:spPr>
            <a:xfrm>
              <a:off x="6079248"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Role-Based Access Control</a:t>
              </a:r>
              <a:endParaRPr lang="en-US" sz="1600" kern="1200" dirty="0">
                <a:solidFill>
                  <a:schemeClr val="bg1"/>
                </a:solidFill>
              </a:endParaRPr>
            </a:p>
          </p:txBody>
        </p:sp>
        <p:sp>
          <p:nvSpPr>
            <p:cNvPr id="36" name="Freeform: Shape 35">
              <a:extLst>
                <a:ext uri="{FF2B5EF4-FFF2-40B4-BE49-F238E27FC236}">
                  <a16:creationId xmlns:a16="http://schemas.microsoft.com/office/drawing/2014/main" id="{8B499C83-8FDD-E0D7-B6D5-8A536A19073C}"/>
                </a:ext>
              </a:extLst>
            </p:cNvPr>
            <p:cNvSpPr/>
            <p:nvPr/>
          </p:nvSpPr>
          <p:spPr>
            <a:xfrm>
              <a:off x="7970471" y="43245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Dashboard &amp; Reports</a:t>
              </a:r>
              <a:endParaRPr lang="en-IN" sz="1600" kern="1200" dirty="0">
                <a:solidFill>
                  <a:schemeClr val="bg1"/>
                </a:solidFill>
              </a:endParaRPr>
            </a:p>
          </p:txBody>
        </p:sp>
        <p:sp>
          <p:nvSpPr>
            <p:cNvPr id="37" name="Freeform: Shape 36">
              <a:extLst>
                <a:ext uri="{FF2B5EF4-FFF2-40B4-BE49-F238E27FC236}">
                  <a16:creationId xmlns:a16="http://schemas.microsoft.com/office/drawing/2014/main" id="{F8A7D967-AF54-E310-10E9-F7DD48DDB287}"/>
                </a:ext>
              </a:extLst>
            </p:cNvPr>
            <p:cNvSpPr/>
            <p:nvPr/>
          </p:nvSpPr>
          <p:spPr>
            <a:xfrm>
              <a:off x="9952445" y="4324550"/>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Notification Bots</a:t>
              </a:r>
              <a:endParaRPr lang="en-IN" sz="1600" kern="1200" dirty="0">
                <a:solidFill>
                  <a:schemeClr val="bg1"/>
                </a:solidFill>
              </a:endParaRPr>
            </a:p>
          </p:txBody>
        </p:sp>
      </p:grpSp>
      <p:sp>
        <p:nvSpPr>
          <p:cNvPr id="12" name="Oval 11">
            <a:extLst>
              <a:ext uri="{FF2B5EF4-FFF2-40B4-BE49-F238E27FC236}">
                <a16:creationId xmlns:a16="http://schemas.microsoft.com/office/drawing/2014/main" id="{A1CE1804-55E9-566E-F3E2-EFCF3F5E1072}"/>
              </a:ext>
            </a:extLst>
          </p:cNvPr>
          <p:cNvSpPr/>
          <p:nvPr/>
        </p:nvSpPr>
        <p:spPr>
          <a:xfrm>
            <a:off x="131717" y="3288448"/>
            <a:ext cx="513301" cy="525656"/>
          </a:xfrm>
          <a:prstGeom prst="ellipse">
            <a:avLst/>
          </a:prstGeom>
          <a:solidFill>
            <a:srgbClr val="B6FF42"/>
          </a:solidFill>
          <a:ln>
            <a:noFill/>
          </a:ln>
        </p:spPr>
        <p:style>
          <a:lnRef idx="0">
            <a:scrgbClr r="0" g="0" b="0"/>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dirty="0"/>
          </a:p>
        </p:txBody>
      </p:sp>
      <p:sp>
        <p:nvSpPr>
          <p:cNvPr id="14" name="Freeform: Shape 13">
            <a:extLst>
              <a:ext uri="{FF2B5EF4-FFF2-40B4-BE49-F238E27FC236}">
                <a16:creationId xmlns:a16="http://schemas.microsoft.com/office/drawing/2014/main" id="{E07EA387-7FB8-3663-C858-0E98EAA069B7}"/>
              </a:ext>
            </a:extLst>
          </p:cNvPr>
          <p:cNvSpPr/>
          <p:nvPr/>
        </p:nvSpPr>
        <p:spPr>
          <a:xfrm>
            <a:off x="665576" y="3288448"/>
            <a:ext cx="1832541"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a:noFill/>
          </a:ln>
        </p:spPr>
        <p:style>
          <a:lnRef idx="0">
            <a:scrgbClr r="0" g="0" b="0"/>
          </a:lnRef>
          <a:fillRef idx="0">
            <a:scrgbClr r="0" g="0" b="0"/>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r>
              <a:rPr lang="en-US" sz="1200" dirty="0">
                <a:solidFill>
                  <a:schemeClr val="bg1"/>
                </a:solidFill>
              </a:rPr>
              <a:t>Departments initiate lab test requests using dynamic digital forms with predefined fields.</a:t>
            </a:r>
          </a:p>
        </p:txBody>
      </p:sp>
      <p:sp>
        <p:nvSpPr>
          <p:cNvPr id="15" name="Oval 14">
            <a:extLst>
              <a:ext uri="{FF2B5EF4-FFF2-40B4-BE49-F238E27FC236}">
                <a16:creationId xmlns:a16="http://schemas.microsoft.com/office/drawing/2014/main" id="{167C2369-EAD1-D35F-0CCB-1BAFCC4C0E38}"/>
              </a:ext>
            </a:extLst>
          </p:cNvPr>
          <p:cNvSpPr/>
          <p:nvPr/>
        </p:nvSpPr>
        <p:spPr>
          <a:xfrm>
            <a:off x="2543634" y="3288448"/>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8" name="Freeform: Shape 17">
            <a:extLst>
              <a:ext uri="{FF2B5EF4-FFF2-40B4-BE49-F238E27FC236}">
                <a16:creationId xmlns:a16="http://schemas.microsoft.com/office/drawing/2014/main" id="{A96BD700-9328-C1AA-925D-9B4E020400EA}"/>
              </a:ext>
            </a:extLst>
          </p:cNvPr>
          <p:cNvSpPr/>
          <p:nvPr/>
        </p:nvSpPr>
        <p:spPr>
          <a:xfrm>
            <a:off x="3054378" y="3288448"/>
            <a:ext cx="2244746" cy="525656"/>
          </a:xfrm>
          <a:custGeom>
            <a:avLst/>
            <a:gdLst>
              <a:gd name="connsiteX0" fmla="*/ 0 w 1478269"/>
              <a:gd name="connsiteY0" fmla="*/ 0 h 525656"/>
              <a:gd name="connsiteX1" fmla="*/ 1478269 w 1478269"/>
              <a:gd name="connsiteY1" fmla="*/ 0 h 525656"/>
              <a:gd name="connsiteX2" fmla="*/ 1478269 w 1478269"/>
              <a:gd name="connsiteY2" fmla="*/ 525656 h 525656"/>
              <a:gd name="connsiteX3" fmla="*/ 0 w 1478269"/>
              <a:gd name="connsiteY3" fmla="*/ 525656 h 525656"/>
              <a:gd name="connsiteX4" fmla="*/ 0 w 1478269"/>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8269" h="525656">
                <a:moveTo>
                  <a:pt x="0" y="0"/>
                </a:moveTo>
                <a:lnTo>
                  <a:pt x="1478269" y="0"/>
                </a:lnTo>
                <a:lnTo>
                  <a:pt x="1478269"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r>
              <a:rPr lang="en-US" sz="1200" dirty="0">
                <a:solidFill>
                  <a:schemeClr val="bg1"/>
                </a:solidFill>
              </a:rPr>
              <a:t>Requests are automatically routed to the appropriate lab team based on sample type, department, and priority</a:t>
            </a:r>
          </a:p>
        </p:txBody>
      </p:sp>
      <p:sp>
        <p:nvSpPr>
          <p:cNvPr id="19" name="Oval 18">
            <a:extLst>
              <a:ext uri="{FF2B5EF4-FFF2-40B4-BE49-F238E27FC236}">
                <a16:creationId xmlns:a16="http://schemas.microsoft.com/office/drawing/2014/main" id="{1773C873-C44C-D1A6-E6FA-D6C0CF2DE9CD}"/>
              </a:ext>
            </a:extLst>
          </p:cNvPr>
          <p:cNvSpPr/>
          <p:nvPr/>
        </p:nvSpPr>
        <p:spPr>
          <a:xfrm>
            <a:off x="7663128" y="3288448"/>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1" name="Freeform: Shape 20">
            <a:extLst>
              <a:ext uri="{FF2B5EF4-FFF2-40B4-BE49-F238E27FC236}">
                <a16:creationId xmlns:a16="http://schemas.microsoft.com/office/drawing/2014/main" id="{D70133F9-DE03-A7A9-4B9F-52C0C970BBBD}"/>
              </a:ext>
            </a:extLst>
          </p:cNvPr>
          <p:cNvSpPr/>
          <p:nvPr/>
        </p:nvSpPr>
        <p:spPr>
          <a:xfrm>
            <a:off x="8215633" y="3187906"/>
            <a:ext cx="1636933" cy="726740"/>
          </a:xfrm>
          <a:custGeom>
            <a:avLst/>
            <a:gdLst>
              <a:gd name="connsiteX0" fmla="*/ 0 w 1239046"/>
              <a:gd name="connsiteY0" fmla="*/ 0 h 1127837"/>
              <a:gd name="connsiteX1" fmla="*/ 1239046 w 1239046"/>
              <a:gd name="connsiteY1" fmla="*/ 0 h 1127837"/>
              <a:gd name="connsiteX2" fmla="*/ 1239046 w 1239046"/>
              <a:gd name="connsiteY2" fmla="*/ 1127837 h 1127837"/>
              <a:gd name="connsiteX3" fmla="*/ 0 w 1239046"/>
              <a:gd name="connsiteY3" fmla="*/ 1127837 h 1127837"/>
              <a:gd name="connsiteX4" fmla="*/ 0 w 1239046"/>
              <a:gd name="connsiteY4" fmla="*/ 0 h 1127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1127837">
                <a:moveTo>
                  <a:pt x="0" y="0"/>
                </a:moveTo>
                <a:lnTo>
                  <a:pt x="1239046" y="0"/>
                </a:lnTo>
                <a:lnTo>
                  <a:pt x="1239046" y="1127837"/>
                </a:lnTo>
                <a:lnTo>
                  <a:pt x="0" y="1127837"/>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lvl="0" defTabSz="533400">
              <a:spcBef>
                <a:spcPct val="0"/>
              </a:spcBef>
              <a:spcAft>
                <a:spcPct val="35000"/>
              </a:spcAft>
            </a:pPr>
            <a:r>
              <a:rPr lang="en-US" sz="1200" dirty="0">
                <a:solidFill>
                  <a:schemeClr val="bg1"/>
                </a:solidFill>
              </a:rPr>
              <a:t>Labs acknowledge sample receipt and log test initiation and progress.</a:t>
            </a:r>
            <a:endParaRPr lang="en-US" sz="1200" kern="1200" dirty="0">
              <a:solidFill>
                <a:schemeClr val="bg1"/>
              </a:solidFill>
            </a:endParaRPr>
          </a:p>
        </p:txBody>
      </p:sp>
      <p:sp>
        <p:nvSpPr>
          <p:cNvPr id="22" name="Oval 21">
            <a:extLst>
              <a:ext uri="{FF2B5EF4-FFF2-40B4-BE49-F238E27FC236}">
                <a16:creationId xmlns:a16="http://schemas.microsoft.com/office/drawing/2014/main" id="{0066FFD7-5D71-AF9A-5F9E-A8C3C774D301}"/>
              </a:ext>
            </a:extLst>
          </p:cNvPr>
          <p:cNvSpPr/>
          <p:nvPr/>
        </p:nvSpPr>
        <p:spPr>
          <a:xfrm>
            <a:off x="9852566" y="3288448"/>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6" name="Freeform: Shape 25">
            <a:extLst>
              <a:ext uri="{FF2B5EF4-FFF2-40B4-BE49-F238E27FC236}">
                <a16:creationId xmlns:a16="http://schemas.microsoft.com/office/drawing/2014/main" id="{85AAF52C-D867-3688-C136-51B363E7CDC4}"/>
              </a:ext>
            </a:extLst>
          </p:cNvPr>
          <p:cNvSpPr/>
          <p:nvPr/>
        </p:nvSpPr>
        <p:spPr>
          <a:xfrm>
            <a:off x="10457822" y="3288448"/>
            <a:ext cx="1602461"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lvl="0" defTabSz="488950">
              <a:spcBef>
                <a:spcPct val="0"/>
              </a:spcBef>
              <a:spcAft>
                <a:spcPct val="35000"/>
              </a:spcAft>
            </a:pPr>
            <a:r>
              <a:rPr lang="en-US" sz="1200" dirty="0">
                <a:solidFill>
                  <a:schemeClr val="bg1"/>
                </a:solidFill>
              </a:rPr>
              <a:t>Lab engineers upload test reports directly to the system, notifying the requestor for review.</a:t>
            </a:r>
            <a:endParaRPr lang="en-US" sz="1200" b="1" kern="1200" dirty="0">
              <a:solidFill>
                <a:schemeClr val="bg1"/>
              </a:solidFill>
            </a:endParaRPr>
          </a:p>
        </p:txBody>
      </p:sp>
      <p:sp>
        <p:nvSpPr>
          <p:cNvPr id="27" name="Oval 26">
            <a:extLst>
              <a:ext uri="{FF2B5EF4-FFF2-40B4-BE49-F238E27FC236}">
                <a16:creationId xmlns:a16="http://schemas.microsoft.com/office/drawing/2014/main" id="{EF05C25E-300B-7328-C403-1BFB53FE8E8A}"/>
              </a:ext>
            </a:extLst>
          </p:cNvPr>
          <p:cNvSpPr/>
          <p:nvPr/>
        </p:nvSpPr>
        <p:spPr>
          <a:xfrm>
            <a:off x="5257660" y="3288448"/>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pPr algn="ctr"/>
            <a:endParaRPr lang="en-IN" dirty="0"/>
          </a:p>
        </p:txBody>
      </p:sp>
      <p:sp>
        <p:nvSpPr>
          <p:cNvPr id="29" name="Freeform: Shape 28">
            <a:extLst>
              <a:ext uri="{FF2B5EF4-FFF2-40B4-BE49-F238E27FC236}">
                <a16:creationId xmlns:a16="http://schemas.microsoft.com/office/drawing/2014/main" id="{0AE0D68E-246D-EF41-11A6-3C380C2D4A8D}"/>
              </a:ext>
            </a:extLst>
          </p:cNvPr>
          <p:cNvSpPr/>
          <p:nvPr/>
        </p:nvSpPr>
        <p:spPr>
          <a:xfrm>
            <a:off x="5718225" y="3288448"/>
            <a:ext cx="1975334"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lvl="0" defTabSz="533400">
              <a:spcBef>
                <a:spcPct val="0"/>
              </a:spcBef>
              <a:spcAft>
                <a:spcPct val="35000"/>
              </a:spcAft>
            </a:pPr>
            <a:r>
              <a:rPr lang="en-US" sz="1200" dirty="0">
                <a:solidFill>
                  <a:schemeClr val="bg1"/>
                </a:solidFill>
              </a:rPr>
              <a:t>Requests go through a multi-level approval system and are assigned to lab schedules</a:t>
            </a:r>
            <a:endParaRPr lang="en-US" sz="1200" b="0" kern="1200" dirty="0">
              <a:solidFill>
                <a:schemeClr val="bg1"/>
              </a:solidFill>
              <a:latin typeface="Aptos" panose="02110004020202020204"/>
              <a:ea typeface="+mn-ea"/>
              <a:cs typeface="+mn-cs"/>
            </a:endParaRPr>
          </a:p>
        </p:txBody>
      </p:sp>
      <p:sp>
        <p:nvSpPr>
          <p:cNvPr id="25" name="TextBox 24">
            <a:extLst>
              <a:ext uri="{FF2B5EF4-FFF2-40B4-BE49-F238E27FC236}">
                <a16:creationId xmlns:a16="http://schemas.microsoft.com/office/drawing/2014/main" id="{C8781EC9-D4A2-F82E-BDDE-43AECBDC6C40}"/>
              </a:ext>
            </a:extLst>
          </p:cNvPr>
          <p:cNvSpPr txBox="1"/>
          <p:nvPr/>
        </p:nvSpPr>
        <p:spPr>
          <a:xfrm>
            <a:off x="58761" y="2222398"/>
            <a:ext cx="8194902" cy="830997"/>
          </a:xfrm>
          <a:prstGeom prst="rect">
            <a:avLst/>
          </a:prstGeom>
          <a:noFill/>
        </p:spPr>
        <p:txBody>
          <a:bodyPr wrap="square" anchor="ctr" anchorCtr="0">
            <a:spAutoFit/>
          </a:bodyPr>
          <a:lstStyle>
            <a:defPPr>
              <a:defRPr lang="en-US"/>
            </a:defPPr>
            <a:lvl1pPr algn="just">
              <a:defRPr sz="1600">
                <a:solidFill>
                  <a:schemeClr val="bg1"/>
                </a:solidFill>
              </a:defRPr>
            </a:lvl1pPr>
          </a:lstStyle>
          <a:p>
            <a:r>
              <a:rPr lang="en-US" dirty="0" err="1"/>
              <a:t>SkyaiCode</a:t>
            </a:r>
            <a:r>
              <a:rPr lang="en-US" dirty="0"/>
              <a:t> enabled complete digitization of the lab test management process. From request initiation to report submission, every step was automated and streamlined, ensuring faster turnaround, better visibility, and improved collaboration, customized  report generation.</a:t>
            </a:r>
          </a:p>
        </p:txBody>
      </p:sp>
      <p:graphicFrame>
        <p:nvGraphicFramePr>
          <p:cNvPr id="30" name="Diagram 29">
            <a:extLst>
              <a:ext uri="{FF2B5EF4-FFF2-40B4-BE49-F238E27FC236}">
                <a16:creationId xmlns:a16="http://schemas.microsoft.com/office/drawing/2014/main" id="{868D235C-3993-431D-79B0-F99A8077F0AF}"/>
              </a:ext>
            </a:extLst>
          </p:cNvPr>
          <p:cNvGraphicFramePr/>
          <p:nvPr>
            <p:extLst>
              <p:ext uri="{D42A27DB-BD31-4B8C-83A1-F6EECF244321}">
                <p14:modId xmlns:p14="http://schemas.microsoft.com/office/powerpoint/2010/main" val="1501424352"/>
              </p:ext>
            </p:extLst>
          </p:nvPr>
        </p:nvGraphicFramePr>
        <p:xfrm>
          <a:off x="330160" y="5710431"/>
          <a:ext cx="11506022" cy="12862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9" name="Picture 38">
            <a:extLst>
              <a:ext uri="{FF2B5EF4-FFF2-40B4-BE49-F238E27FC236}">
                <a16:creationId xmlns:a16="http://schemas.microsoft.com/office/drawing/2014/main" id="{C3FA2D78-4171-6CB3-8064-D86A569EA521}"/>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8380215" y="657087"/>
            <a:ext cx="3479735" cy="2192793"/>
          </a:xfrm>
          <a:prstGeom prst="roundRect">
            <a:avLst>
              <a:gd name="adj" fmla="val 14848"/>
            </a:avLst>
          </a:prstGeom>
          <a:effectLst>
            <a:outerShdw blurRad="368300" dist="38100" dir="2520000" sx="102000" sy="102000" algn="tl" rotWithShape="0">
              <a:prstClr val="black">
                <a:alpha val="40000"/>
              </a:prstClr>
            </a:outerShdw>
          </a:effectLst>
        </p:spPr>
      </p:pic>
      <p:pic>
        <p:nvPicPr>
          <p:cNvPr id="23" name="Picture 22">
            <a:extLst>
              <a:ext uri="{FF2B5EF4-FFF2-40B4-BE49-F238E27FC236}">
                <a16:creationId xmlns:a16="http://schemas.microsoft.com/office/drawing/2014/main" id="{BEE51D8C-21ED-44C1-FE37-F76CBE09B5BC}"/>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56999" y="3387677"/>
            <a:ext cx="327198" cy="327198"/>
          </a:xfrm>
          <a:prstGeom prst="rect">
            <a:avLst/>
          </a:prstGeom>
        </p:spPr>
      </p:pic>
      <p:pic>
        <p:nvPicPr>
          <p:cNvPr id="40" name="Picture 39">
            <a:extLst>
              <a:ext uri="{FF2B5EF4-FFF2-40B4-BE49-F238E27FC236}">
                <a16:creationId xmlns:a16="http://schemas.microsoft.com/office/drawing/2014/main" id="{4A4CE3C0-8904-F44A-D508-5E2FF75EAFD8}"/>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632682" y="3374559"/>
            <a:ext cx="353435" cy="353435"/>
          </a:xfrm>
          <a:prstGeom prst="rect">
            <a:avLst/>
          </a:prstGeom>
        </p:spPr>
      </p:pic>
      <p:pic>
        <p:nvPicPr>
          <p:cNvPr id="42" name="Graphic 41" descr="Checkmark with solid fill">
            <a:extLst>
              <a:ext uri="{FF2B5EF4-FFF2-40B4-BE49-F238E27FC236}">
                <a16:creationId xmlns:a16="http://schemas.microsoft.com/office/drawing/2014/main" id="{27A278A3-B0AA-B3E3-0519-50AE88B72DE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313010" y="3349976"/>
            <a:ext cx="402600" cy="402600"/>
          </a:xfrm>
          <a:prstGeom prst="rect">
            <a:avLst/>
          </a:prstGeom>
        </p:spPr>
      </p:pic>
      <p:pic>
        <p:nvPicPr>
          <p:cNvPr id="44" name="Graphic 43" descr="Hourglass Finished with solid fill">
            <a:extLst>
              <a:ext uri="{FF2B5EF4-FFF2-40B4-BE49-F238E27FC236}">
                <a16:creationId xmlns:a16="http://schemas.microsoft.com/office/drawing/2014/main" id="{83682753-30B7-C524-38A7-FDF80C085EF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732763" y="3368352"/>
            <a:ext cx="365849" cy="365849"/>
          </a:xfrm>
          <a:prstGeom prst="rect">
            <a:avLst/>
          </a:prstGeom>
        </p:spPr>
      </p:pic>
      <p:pic>
        <p:nvPicPr>
          <p:cNvPr id="46" name="Picture 45">
            <a:extLst>
              <a:ext uri="{FF2B5EF4-FFF2-40B4-BE49-F238E27FC236}">
                <a16:creationId xmlns:a16="http://schemas.microsoft.com/office/drawing/2014/main" id="{49CEA7C7-1B6A-6735-8ED3-E73F38F122DB}"/>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948718" y="3382063"/>
            <a:ext cx="338426" cy="338426"/>
          </a:xfrm>
          <a:prstGeom prst="rect">
            <a:avLst/>
          </a:prstGeom>
        </p:spPr>
      </p:pic>
    </p:spTree>
    <p:extLst>
      <p:ext uri="{BB962C8B-B14F-4D97-AF65-F5344CB8AC3E}">
        <p14:creationId xmlns:p14="http://schemas.microsoft.com/office/powerpoint/2010/main" val="4271541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5686A-65F8-D87B-2D35-F67A3C45188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C3147AF-4C9F-04B7-5326-723FD058783A}"/>
              </a:ext>
            </a:extLst>
          </p:cNvPr>
          <p:cNvSpPr/>
          <p:nvPr/>
        </p:nvSpPr>
        <p:spPr>
          <a:xfrm>
            <a:off x="0" y="-688"/>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   </a:t>
            </a: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Top Corners Rounded 4">
            <a:extLst>
              <a:ext uri="{FF2B5EF4-FFF2-40B4-BE49-F238E27FC236}">
                <a16:creationId xmlns:a16="http://schemas.microsoft.com/office/drawing/2014/main" id="{C0EA7D6F-D2C9-ABC7-90C3-8283F813A1A0}"/>
              </a:ext>
            </a:extLst>
          </p:cNvPr>
          <p:cNvSpPr/>
          <p:nvPr/>
        </p:nvSpPr>
        <p:spPr>
          <a:xfrm rot="10800000">
            <a:off x="172906" y="689"/>
            <a:ext cx="6250753"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1ED62CFA-424C-20AE-B613-6249F4D1FC96}"/>
              </a:ext>
            </a:extLst>
          </p:cNvPr>
          <p:cNvSpPr txBox="1"/>
          <p:nvPr/>
        </p:nvSpPr>
        <p:spPr>
          <a:xfrm>
            <a:off x="330160" y="25291"/>
            <a:ext cx="5998950" cy="338554"/>
          </a:xfrm>
          <a:prstGeom prst="rect">
            <a:avLst/>
          </a:prstGeom>
          <a:noFill/>
        </p:spPr>
        <p:txBody>
          <a:bodyPr wrap="none" rtlCol="0">
            <a:spAutoFit/>
          </a:bodyPr>
          <a:lstStyle/>
          <a:p>
            <a:r>
              <a:rPr lang="en-US" sz="1600" dirty="0">
                <a:solidFill>
                  <a:schemeClr val="bg1"/>
                </a:solidFill>
              </a:rPr>
              <a:t>Sale Order Automation for Fuel Injection Manufacturing  Company</a:t>
            </a:r>
            <a:endParaRPr lang="en-IN" sz="1600" dirty="0">
              <a:solidFill>
                <a:schemeClr val="bg1"/>
              </a:solidFill>
            </a:endParaRPr>
          </a:p>
        </p:txBody>
      </p:sp>
      <p:sp>
        <p:nvSpPr>
          <p:cNvPr id="8" name="Rectangle 1">
            <a:extLst>
              <a:ext uri="{FF2B5EF4-FFF2-40B4-BE49-F238E27FC236}">
                <a16:creationId xmlns:a16="http://schemas.microsoft.com/office/drawing/2014/main" id="{A2E8C445-4988-B74A-DE8C-A89573E6CA82}"/>
              </a:ext>
            </a:extLst>
          </p:cNvPr>
          <p:cNvSpPr>
            <a:spLocks noChangeArrowheads="1"/>
          </p:cNvSpPr>
          <p:nvPr/>
        </p:nvSpPr>
        <p:spPr bwMode="auto">
          <a:xfrm>
            <a:off x="85955" y="488557"/>
            <a:ext cx="17206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Challenge</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9" name="Rectangle 1">
            <a:extLst>
              <a:ext uri="{FF2B5EF4-FFF2-40B4-BE49-F238E27FC236}">
                <a16:creationId xmlns:a16="http://schemas.microsoft.com/office/drawing/2014/main" id="{BCB381C2-492C-50CD-B6C6-6FCA4924FD0C}"/>
              </a:ext>
            </a:extLst>
          </p:cNvPr>
          <p:cNvSpPr>
            <a:spLocks noChangeArrowheads="1"/>
          </p:cNvSpPr>
          <p:nvPr/>
        </p:nvSpPr>
        <p:spPr bwMode="auto">
          <a:xfrm>
            <a:off x="75935" y="1982838"/>
            <a:ext cx="22781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Solution</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0" name="Rectangle 1">
            <a:extLst>
              <a:ext uri="{FF2B5EF4-FFF2-40B4-BE49-F238E27FC236}">
                <a16:creationId xmlns:a16="http://schemas.microsoft.com/office/drawing/2014/main" id="{98C3188B-9483-95F6-267F-E1105086E60B}"/>
              </a:ext>
            </a:extLst>
          </p:cNvPr>
          <p:cNvSpPr>
            <a:spLocks noChangeArrowheads="1"/>
          </p:cNvSpPr>
          <p:nvPr/>
        </p:nvSpPr>
        <p:spPr bwMode="auto">
          <a:xfrm>
            <a:off x="97530" y="5386992"/>
            <a:ext cx="2694369" cy="375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Benefits Delivered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1" name="Rectangle 1">
            <a:extLst>
              <a:ext uri="{FF2B5EF4-FFF2-40B4-BE49-F238E27FC236}">
                <a16:creationId xmlns:a16="http://schemas.microsoft.com/office/drawing/2014/main" id="{3CEF4346-3D98-1270-7C45-A36939446A43}"/>
              </a:ext>
            </a:extLst>
          </p:cNvPr>
          <p:cNvSpPr>
            <a:spLocks noChangeArrowheads="1"/>
          </p:cNvSpPr>
          <p:nvPr/>
        </p:nvSpPr>
        <p:spPr bwMode="auto">
          <a:xfrm>
            <a:off x="115174" y="4109276"/>
            <a:ext cx="55861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Skyaicode features/components leveraged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7" name="TextBox 16">
            <a:extLst>
              <a:ext uri="{FF2B5EF4-FFF2-40B4-BE49-F238E27FC236}">
                <a16:creationId xmlns:a16="http://schemas.microsoft.com/office/drawing/2014/main" id="{CC3C2B38-4DF3-718F-3715-813EED276B93}"/>
              </a:ext>
            </a:extLst>
          </p:cNvPr>
          <p:cNvSpPr txBox="1"/>
          <p:nvPr/>
        </p:nvSpPr>
        <p:spPr>
          <a:xfrm>
            <a:off x="97530" y="736270"/>
            <a:ext cx="7671333" cy="1323439"/>
          </a:xfrm>
          <a:prstGeom prst="rect">
            <a:avLst/>
          </a:prstGeom>
          <a:noFill/>
        </p:spPr>
        <p:txBody>
          <a:bodyPr wrap="square" anchor="ctr" anchorCtr="0">
            <a:spAutoFit/>
          </a:bodyPr>
          <a:lstStyle/>
          <a:p>
            <a:pPr algn="just"/>
            <a:r>
              <a:rPr lang="en-US" sz="1550" dirty="0">
                <a:solidFill>
                  <a:schemeClr val="bg1"/>
                </a:solidFill>
              </a:rPr>
              <a:t>A global auto parts distribution company with deep roots in manufacturing relied heavily on Excel spreadsheets to manage goods tracking, stock updates, and inventory movements. This manual method led to frequent data mismatches, version conflicts, and delays in updating the central Oracle system. As operations scaled, the inefficiency and risk of human error grew significantly.</a:t>
            </a:r>
            <a:endParaRPr lang="en-IN" sz="1550" dirty="0">
              <a:solidFill>
                <a:schemeClr val="bg1"/>
              </a:solidFill>
            </a:endParaRPr>
          </a:p>
        </p:txBody>
      </p:sp>
      <p:grpSp>
        <p:nvGrpSpPr>
          <p:cNvPr id="31" name="Group 30">
            <a:extLst>
              <a:ext uri="{FF2B5EF4-FFF2-40B4-BE49-F238E27FC236}">
                <a16:creationId xmlns:a16="http://schemas.microsoft.com/office/drawing/2014/main" id="{8716CF1D-1766-AAAD-95A8-4F1FD1CBCB1C}"/>
              </a:ext>
            </a:extLst>
          </p:cNvPr>
          <p:cNvGrpSpPr/>
          <p:nvPr/>
        </p:nvGrpSpPr>
        <p:grpSpPr>
          <a:xfrm>
            <a:off x="330160" y="4567161"/>
            <a:ext cx="11427540" cy="772255"/>
            <a:chOff x="294630" y="4324550"/>
            <a:chExt cx="11427540" cy="1072736"/>
          </a:xfrm>
        </p:grpSpPr>
        <p:sp>
          <p:nvSpPr>
            <p:cNvPr id="32" name="Freeform: Shape 31">
              <a:extLst>
                <a:ext uri="{FF2B5EF4-FFF2-40B4-BE49-F238E27FC236}">
                  <a16:creationId xmlns:a16="http://schemas.microsoft.com/office/drawing/2014/main" id="{E6EA30A3-D5E3-F94A-5B32-460B65BB232B}"/>
                </a:ext>
              </a:extLst>
            </p:cNvPr>
            <p:cNvSpPr/>
            <p:nvPr/>
          </p:nvSpPr>
          <p:spPr>
            <a:xfrm>
              <a:off x="294630"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RPA Bot Integration</a:t>
              </a:r>
              <a:endParaRPr lang="en-IN" sz="1600" kern="1200" dirty="0"/>
            </a:p>
          </p:txBody>
        </p:sp>
        <p:sp>
          <p:nvSpPr>
            <p:cNvPr id="33" name="Freeform: Shape 32">
              <a:extLst>
                <a:ext uri="{FF2B5EF4-FFF2-40B4-BE49-F238E27FC236}">
                  <a16:creationId xmlns:a16="http://schemas.microsoft.com/office/drawing/2014/main" id="{D62DDB24-692E-411C-5DED-CCDE72A69BB3}"/>
                </a:ext>
              </a:extLst>
            </p:cNvPr>
            <p:cNvSpPr/>
            <p:nvPr/>
          </p:nvSpPr>
          <p:spPr>
            <a:xfrm>
              <a:off x="2241328"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Data Mapping Automation</a:t>
              </a:r>
              <a:endParaRPr lang="en-US" sz="1600" kern="1200" dirty="0">
                <a:solidFill>
                  <a:schemeClr val="bg1"/>
                </a:solidFill>
              </a:endParaRPr>
            </a:p>
          </p:txBody>
        </p:sp>
        <p:sp>
          <p:nvSpPr>
            <p:cNvPr id="34" name="Freeform: Shape 33">
              <a:extLst>
                <a:ext uri="{FF2B5EF4-FFF2-40B4-BE49-F238E27FC236}">
                  <a16:creationId xmlns:a16="http://schemas.microsoft.com/office/drawing/2014/main" id="{26446D41-F685-1631-B602-3378C3B55632}"/>
                </a:ext>
              </a:extLst>
            </p:cNvPr>
            <p:cNvSpPr/>
            <p:nvPr/>
          </p:nvSpPr>
          <p:spPr>
            <a:xfrm>
              <a:off x="4188025"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Validation Rules Engine</a:t>
              </a:r>
              <a:endParaRPr lang="en-US" sz="1600" kern="1200" dirty="0">
                <a:solidFill>
                  <a:schemeClr val="bg1"/>
                </a:solidFill>
              </a:endParaRPr>
            </a:p>
          </p:txBody>
        </p:sp>
        <p:sp>
          <p:nvSpPr>
            <p:cNvPr id="35" name="Freeform: Shape 34">
              <a:extLst>
                <a:ext uri="{FF2B5EF4-FFF2-40B4-BE49-F238E27FC236}">
                  <a16:creationId xmlns:a16="http://schemas.microsoft.com/office/drawing/2014/main" id="{625903D5-6F12-0122-9224-688C21EBF107}"/>
                </a:ext>
              </a:extLst>
            </p:cNvPr>
            <p:cNvSpPr/>
            <p:nvPr/>
          </p:nvSpPr>
          <p:spPr>
            <a:xfrm>
              <a:off x="6079248"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Secure Access &amp; Audit Logs</a:t>
              </a:r>
              <a:endParaRPr lang="en-US" sz="1600" kern="1200" dirty="0">
                <a:solidFill>
                  <a:schemeClr val="bg1"/>
                </a:solidFill>
              </a:endParaRPr>
            </a:p>
          </p:txBody>
        </p:sp>
        <p:sp>
          <p:nvSpPr>
            <p:cNvPr id="36" name="Freeform: Shape 35">
              <a:extLst>
                <a:ext uri="{FF2B5EF4-FFF2-40B4-BE49-F238E27FC236}">
                  <a16:creationId xmlns:a16="http://schemas.microsoft.com/office/drawing/2014/main" id="{467D2EAF-4E9A-DB82-53D5-D2C370255AC9}"/>
                </a:ext>
              </a:extLst>
            </p:cNvPr>
            <p:cNvSpPr/>
            <p:nvPr/>
          </p:nvSpPr>
          <p:spPr>
            <a:xfrm>
              <a:off x="7970471" y="43245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Status Dashboard &amp; Reporting</a:t>
              </a:r>
              <a:endParaRPr lang="en-IN" sz="1600" kern="1200" dirty="0">
                <a:solidFill>
                  <a:schemeClr val="bg1"/>
                </a:solidFill>
              </a:endParaRPr>
            </a:p>
          </p:txBody>
        </p:sp>
        <p:sp>
          <p:nvSpPr>
            <p:cNvPr id="37" name="Freeform: Shape 36">
              <a:extLst>
                <a:ext uri="{FF2B5EF4-FFF2-40B4-BE49-F238E27FC236}">
                  <a16:creationId xmlns:a16="http://schemas.microsoft.com/office/drawing/2014/main" id="{8621ECF5-044A-FB56-3786-F16E381E52F5}"/>
                </a:ext>
              </a:extLst>
            </p:cNvPr>
            <p:cNvSpPr/>
            <p:nvPr/>
          </p:nvSpPr>
          <p:spPr>
            <a:xfrm>
              <a:off x="9952445" y="4324550"/>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Notification Bots</a:t>
              </a:r>
              <a:endParaRPr lang="en-IN" sz="1600" kern="1200" dirty="0">
                <a:solidFill>
                  <a:schemeClr val="bg1"/>
                </a:solidFill>
              </a:endParaRPr>
            </a:p>
          </p:txBody>
        </p:sp>
      </p:grpSp>
      <p:sp>
        <p:nvSpPr>
          <p:cNvPr id="7" name="Rectangle 6">
            <a:extLst>
              <a:ext uri="{FF2B5EF4-FFF2-40B4-BE49-F238E27FC236}">
                <a16:creationId xmlns:a16="http://schemas.microsoft.com/office/drawing/2014/main" id="{008B1CF6-3339-AA49-D9D0-AB8C2C2C56DB}"/>
              </a:ext>
            </a:extLst>
          </p:cNvPr>
          <p:cNvSpPr/>
          <p:nvPr/>
        </p:nvSpPr>
        <p:spPr>
          <a:xfrm>
            <a:off x="360640" y="3615670"/>
            <a:ext cx="5926134" cy="3048061"/>
          </a:xfrm>
          <a:prstGeom prst="rect">
            <a:avLst/>
          </a:prstGeom>
          <a:ln>
            <a:noFill/>
          </a:ln>
        </p:spPr>
        <p:txBody>
          <a:bodyPr/>
          <a:lstStyle/>
          <a:p>
            <a:endParaRPr lang="en-IN"/>
          </a:p>
        </p:txBody>
      </p:sp>
      <p:grpSp>
        <p:nvGrpSpPr>
          <p:cNvPr id="38" name="Group 37">
            <a:extLst>
              <a:ext uri="{FF2B5EF4-FFF2-40B4-BE49-F238E27FC236}">
                <a16:creationId xmlns:a16="http://schemas.microsoft.com/office/drawing/2014/main" id="{0CF5A371-9051-3A94-7355-13DBBA2B4385}"/>
              </a:ext>
            </a:extLst>
          </p:cNvPr>
          <p:cNvGrpSpPr/>
          <p:nvPr/>
        </p:nvGrpSpPr>
        <p:grpSpPr>
          <a:xfrm>
            <a:off x="4807596" y="3260003"/>
            <a:ext cx="2197662" cy="525656"/>
            <a:chOff x="4476372" y="4263083"/>
            <a:chExt cx="2087419" cy="525656"/>
          </a:xfrm>
        </p:grpSpPr>
        <p:sp>
          <p:nvSpPr>
            <p:cNvPr id="27" name="Oval 26">
              <a:extLst>
                <a:ext uri="{FF2B5EF4-FFF2-40B4-BE49-F238E27FC236}">
                  <a16:creationId xmlns:a16="http://schemas.microsoft.com/office/drawing/2014/main" id="{E9B64407-4173-6B4A-ABA3-12DA74870DFD}"/>
                </a:ext>
              </a:extLst>
            </p:cNvPr>
            <p:cNvSpPr/>
            <p:nvPr/>
          </p:nvSpPr>
          <p:spPr>
            <a:xfrm>
              <a:off x="4476372" y="4263083"/>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pPr algn="ctr"/>
              <a:endParaRPr lang="en-IN" dirty="0"/>
            </a:p>
          </p:txBody>
        </p:sp>
        <p:sp>
          <p:nvSpPr>
            <p:cNvPr id="28" name="Rectangle 27" descr="Magnifying glass">
              <a:extLst>
                <a:ext uri="{FF2B5EF4-FFF2-40B4-BE49-F238E27FC236}">
                  <a16:creationId xmlns:a16="http://schemas.microsoft.com/office/drawing/2014/main" id="{A7A908A0-7375-06B9-FB8D-53E741C79828}"/>
                </a:ext>
              </a:extLst>
            </p:cNvPr>
            <p:cNvSpPr/>
            <p:nvPr/>
          </p:nvSpPr>
          <p:spPr>
            <a:xfrm>
              <a:off x="4584164" y="4372974"/>
              <a:ext cx="297714" cy="30488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p:spPr>
          <p:style>
            <a:lnRef idx="2">
              <a:scrgbClr r="0" g="0" b="0"/>
            </a:lnRef>
            <a:fillRef idx="1">
              <a:scrgbClr r="0" g="0" b="0"/>
            </a:fillRef>
            <a:effectRef idx="0">
              <a:schemeClr val="dk2">
                <a:hueOff val="0"/>
                <a:satOff val="0"/>
                <a:lumOff val="0"/>
                <a:alphaOff val="0"/>
              </a:schemeClr>
            </a:effectRef>
            <a:fontRef idx="minor">
              <a:schemeClr val="lt1"/>
            </a:fontRef>
          </p:style>
          <p:txBody>
            <a:bodyPr/>
            <a:lstStyle/>
            <a:p>
              <a:pPr algn="ctr"/>
              <a:endParaRPr lang="en-IN" dirty="0"/>
            </a:p>
          </p:txBody>
        </p:sp>
        <p:sp>
          <p:nvSpPr>
            <p:cNvPr id="29" name="Freeform: Shape 28">
              <a:extLst>
                <a:ext uri="{FF2B5EF4-FFF2-40B4-BE49-F238E27FC236}">
                  <a16:creationId xmlns:a16="http://schemas.microsoft.com/office/drawing/2014/main" id="{A8CA2592-B40F-2566-F1AB-6FB5F623CCB1}"/>
                </a:ext>
              </a:extLst>
            </p:cNvPr>
            <p:cNvSpPr/>
            <p:nvPr/>
          </p:nvSpPr>
          <p:spPr>
            <a:xfrm>
              <a:off x="5010227" y="4263083"/>
              <a:ext cx="1553564"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lvl="0" defTabSz="533400">
                <a:spcBef>
                  <a:spcPct val="0"/>
                </a:spcBef>
                <a:spcAft>
                  <a:spcPct val="35000"/>
                </a:spcAft>
              </a:pPr>
              <a:r>
                <a:rPr lang="en-US" sz="1200" dirty="0">
                  <a:solidFill>
                    <a:schemeClr val="bg1"/>
                  </a:solidFill>
                </a:rPr>
                <a:t>The bot performs </a:t>
              </a:r>
              <a:r>
                <a:rPr lang="en-US" dirty="0">
                  <a:solidFill>
                    <a:schemeClr val="bg1"/>
                  </a:solidFill>
                </a:rPr>
                <a:t>automatic checks </a:t>
              </a:r>
              <a:r>
                <a:rPr lang="en-US" sz="1200" dirty="0">
                  <a:solidFill>
                    <a:schemeClr val="bg1"/>
                  </a:solidFill>
                </a:rPr>
                <a:t>for missing fields, mismatched codes, or duplication</a:t>
              </a:r>
              <a:endParaRPr lang="en-US" sz="1200" b="0" kern="1200" dirty="0">
                <a:solidFill>
                  <a:schemeClr val="bg1"/>
                </a:solidFill>
                <a:latin typeface="Aptos" panose="02110004020202020204"/>
                <a:ea typeface="+mn-ea"/>
                <a:cs typeface="+mn-cs"/>
              </a:endParaRPr>
            </a:p>
          </p:txBody>
        </p:sp>
      </p:grpSp>
      <p:sp>
        <p:nvSpPr>
          <p:cNvPr id="25" name="TextBox 24">
            <a:extLst>
              <a:ext uri="{FF2B5EF4-FFF2-40B4-BE49-F238E27FC236}">
                <a16:creationId xmlns:a16="http://schemas.microsoft.com/office/drawing/2014/main" id="{66A3CB29-8120-0327-260E-762325A6C85A}"/>
              </a:ext>
            </a:extLst>
          </p:cNvPr>
          <p:cNvSpPr txBox="1"/>
          <p:nvPr/>
        </p:nvSpPr>
        <p:spPr>
          <a:xfrm>
            <a:off x="85955" y="2264197"/>
            <a:ext cx="11798819" cy="584775"/>
          </a:xfrm>
          <a:prstGeom prst="rect">
            <a:avLst/>
          </a:prstGeom>
          <a:noFill/>
        </p:spPr>
        <p:txBody>
          <a:bodyPr wrap="square" anchor="ctr" anchorCtr="0">
            <a:spAutoFit/>
          </a:bodyPr>
          <a:lstStyle>
            <a:defPPr>
              <a:defRPr lang="en-US"/>
            </a:defPPr>
            <a:lvl1pPr algn="just">
              <a:defRPr sz="1600">
                <a:solidFill>
                  <a:schemeClr val="bg1"/>
                </a:solidFill>
              </a:defRPr>
            </a:lvl1pPr>
          </a:lstStyle>
          <a:p>
            <a:r>
              <a:rPr lang="en-US" dirty="0"/>
              <a:t>Using </a:t>
            </a:r>
            <a:r>
              <a:rPr lang="en-US" dirty="0" err="1"/>
              <a:t>SkyaiCode’s</a:t>
            </a:r>
            <a:r>
              <a:rPr lang="en-US" dirty="0"/>
              <a:t> Robotic Process Automation (RPA), the company digitized the goods management workflow. A bot was developed to read structured Excel data, validate it, and directly push entries into Oracle in real-time, removing the need for manual intervention.</a:t>
            </a:r>
          </a:p>
        </p:txBody>
      </p:sp>
      <p:graphicFrame>
        <p:nvGraphicFramePr>
          <p:cNvPr id="30" name="Diagram 29">
            <a:extLst>
              <a:ext uri="{FF2B5EF4-FFF2-40B4-BE49-F238E27FC236}">
                <a16:creationId xmlns:a16="http://schemas.microsoft.com/office/drawing/2014/main" id="{65A61364-007F-78D8-331B-E3721E28B68B}"/>
              </a:ext>
            </a:extLst>
          </p:cNvPr>
          <p:cNvGraphicFramePr/>
          <p:nvPr>
            <p:extLst>
              <p:ext uri="{D42A27DB-BD31-4B8C-83A1-F6EECF244321}">
                <p14:modId xmlns:p14="http://schemas.microsoft.com/office/powerpoint/2010/main" val="2079086672"/>
              </p:ext>
            </p:extLst>
          </p:nvPr>
        </p:nvGraphicFramePr>
        <p:xfrm>
          <a:off x="140547" y="5606075"/>
          <a:ext cx="11798819" cy="13071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11CAA143-AD06-4684-37B5-C45F33C96A86}"/>
              </a:ext>
            </a:extLst>
          </p:cNvPr>
          <p:cNvGrpSpPr/>
          <p:nvPr/>
        </p:nvGrpSpPr>
        <p:grpSpPr>
          <a:xfrm>
            <a:off x="147578" y="3260003"/>
            <a:ext cx="2198664" cy="525657"/>
            <a:chOff x="172908" y="3276340"/>
            <a:chExt cx="2198664" cy="525657"/>
          </a:xfrm>
        </p:grpSpPr>
        <p:grpSp>
          <p:nvGrpSpPr>
            <p:cNvPr id="41" name="Group 40">
              <a:extLst>
                <a:ext uri="{FF2B5EF4-FFF2-40B4-BE49-F238E27FC236}">
                  <a16:creationId xmlns:a16="http://schemas.microsoft.com/office/drawing/2014/main" id="{616250D7-018A-CF7E-5FED-7B0EEC82DC13}"/>
                </a:ext>
              </a:extLst>
            </p:cNvPr>
            <p:cNvGrpSpPr/>
            <p:nvPr/>
          </p:nvGrpSpPr>
          <p:grpSpPr>
            <a:xfrm>
              <a:off x="172908" y="3276340"/>
              <a:ext cx="2198664" cy="525657"/>
              <a:chOff x="381199" y="4263027"/>
              <a:chExt cx="2088370" cy="525657"/>
            </a:xfrm>
          </p:grpSpPr>
          <p:sp>
            <p:nvSpPr>
              <p:cNvPr id="12" name="Oval 11">
                <a:extLst>
                  <a:ext uri="{FF2B5EF4-FFF2-40B4-BE49-F238E27FC236}">
                    <a16:creationId xmlns:a16="http://schemas.microsoft.com/office/drawing/2014/main" id="{4E4B52E5-CB49-469C-A2D3-4A1BC3074855}"/>
                  </a:ext>
                </a:extLst>
              </p:cNvPr>
              <p:cNvSpPr/>
              <p:nvPr/>
            </p:nvSpPr>
            <p:spPr>
              <a:xfrm>
                <a:off x="381199" y="4263028"/>
                <a:ext cx="513301" cy="525656"/>
              </a:xfrm>
              <a:prstGeom prst="ellipse">
                <a:avLst/>
              </a:prstGeom>
              <a:solidFill>
                <a:srgbClr val="B6FF42"/>
              </a:solidFill>
              <a:ln>
                <a:noFill/>
              </a:ln>
            </p:spPr>
            <p:style>
              <a:lnRef idx="0">
                <a:scrgbClr r="0" g="0" b="0"/>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dirty="0"/>
              </a:p>
            </p:txBody>
          </p:sp>
          <p:sp>
            <p:nvSpPr>
              <p:cNvPr id="14" name="Freeform: Shape 13">
                <a:extLst>
                  <a:ext uri="{FF2B5EF4-FFF2-40B4-BE49-F238E27FC236}">
                    <a16:creationId xmlns:a16="http://schemas.microsoft.com/office/drawing/2014/main" id="{5C8328B7-62DF-3EAC-9113-AFB4A3D55A66}"/>
                  </a:ext>
                </a:extLst>
              </p:cNvPr>
              <p:cNvSpPr/>
              <p:nvPr/>
            </p:nvSpPr>
            <p:spPr>
              <a:xfrm>
                <a:off x="945374" y="4263027"/>
                <a:ext cx="1524195"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a:noFill/>
              </a:ln>
            </p:spPr>
            <p:style>
              <a:lnRef idx="0">
                <a:scrgbClr r="0" g="0" b="0"/>
              </a:lnRef>
              <a:fillRef idx="0">
                <a:scrgbClr r="0" g="0" b="0"/>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r>
                  <a:rPr lang="en-US" sz="1200" dirty="0">
                    <a:solidFill>
                      <a:schemeClr val="bg1"/>
                    </a:solidFill>
                  </a:rPr>
                  <a:t>Goods inward and outward details are entered  in a predefined Excel format by field teams</a:t>
                </a:r>
              </a:p>
            </p:txBody>
          </p:sp>
        </p:grpSp>
        <p:pic>
          <p:nvPicPr>
            <p:cNvPr id="43" name="Graphic 42" descr="Checklist with solid fill">
              <a:extLst>
                <a:ext uri="{FF2B5EF4-FFF2-40B4-BE49-F238E27FC236}">
                  <a16:creationId xmlns:a16="http://schemas.microsoft.com/office/drawing/2014/main" id="{ED0AE58A-0BAB-3C92-CC6A-B5ADE67ECB7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46177" y="3342555"/>
              <a:ext cx="393226" cy="393226"/>
            </a:xfrm>
            <a:prstGeom prst="rect">
              <a:avLst/>
            </a:prstGeom>
          </p:spPr>
        </p:pic>
      </p:grpSp>
      <p:grpSp>
        <p:nvGrpSpPr>
          <p:cNvPr id="13" name="Group 12">
            <a:extLst>
              <a:ext uri="{FF2B5EF4-FFF2-40B4-BE49-F238E27FC236}">
                <a16:creationId xmlns:a16="http://schemas.microsoft.com/office/drawing/2014/main" id="{FF36660A-6FB3-85CE-AE3C-16D1611505EA}"/>
              </a:ext>
            </a:extLst>
          </p:cNvPr>
          <p:cNvGrpSpPr/>
          <p:nvPr/>
        </p:nvGrpSpPr>
        <p:grpSpPr>
          <a:xfrm>
            <a:off x="2413133" y="3260003"/>
            <a:ext cx="2327572" cy="525656"/>
            <a:chOff x="2422016" y="3367041"/>
            <a:chExt cx="2327572" cy="525656"/>
          </a:xfrm>
        </p:grpSpPr>
        <p:grpSp>
          <p:nvGrpSpPr>
            <p:cNvPr id="40" name="Group 39">
              <a:extLst>
                <a:ext uri="{FF2B5EF4-FFF2-40B4-BE49-F238E27FC236}">
                  <a16:creationId xmlns:a16="http://schemas.microsoft.com/office/drawing/2014/main" id="{4D497CC9-F66E-CBF8-1E55-8A603A052047}"/>
                </a:ext>
              </a:extLst>
            </p:cNvPr>
            <p:cNvGrpSpPr/>
            <p:nvPr/>
          </p:nvGrpSpPr>
          <p:grpSpPr>
            <a:xfrm>
              <a:off x="2422016" y="3367041"/>
              <a:ext cx="2327572" cy="525656"/>
              <a:chOff x="2369750" y="4257055"/>
              <a:chExt cx="2210812" cy="525656"/>
            </a:xfrm>
          </p:grpSpPr>
          <p:sp>
            <p:nvSpPr>
              <p:cNvPr id="15" name="Oval 14">
                <a:extLst>
                  <a:ext uri="{FF2B5EF4-FFF2-40B4-BE49-F238E27FC236}">
                    <a16:creationId xmlns:a16="http://schemas.microsoft.com/office/drawing/2014/main" id="{D2E69A2F-10D3-38FC-484B-595C873C97F7}"/>
                  </a:ext>
                </a:extLst>
              </p:cNvPr>
              <p:cNvSpPr/>
              <p:nvPr/>
            </p:nvSpPr>
            <p:spPr>
              <a:xfrm>
                <a:off x="2369750" y="4257055"/>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8" name="Freeform: Shape 17">
                <a:extLst>
                  <a:ext uri="{FF2B5EF4-FFF2-40B4-BE49-F238E27FC236}">
                    <a16:creationId xmlns:a16="http://schemas.microsoft.com/office/drawing/2014/main" id="{627B1D7D-0FBF-70FD-3288-052E1E281166}"/>
                  </a:ext>
                </a:extLst>
              </p:cNvPr>
              <p:cNvSpPr/>
              <p:nvPr/>
            </p:nvSpPr>
            <p:spPr>
              <a:xfrm>
                <a:off x="2876247" y="4257055"/>
                <a:ext cx="1704315" cy="525656"/>
              </a:xfrm>
              <a:custGeom>
                <a:avLst/>
                <a:gdLst>
                  <a:gd name="connsiteX0" fmla="*/ 0 w 1478269"/>
                  <a:gd name="connsiteY0" fmla="*/ 0 h 525656"/>
                  <a:gd name="connsiteX1" fmla="*/ 1478269 w 1478269"/>
                  <a:gd name="connsiteY1" fmla="*/ 0 h 525656"/>
                  <a:gd name="connsiteX2" fmla="*/ 1478269 w 1478269"/>
                  <a:gd name="connsiteY2" fmla="*/ 525656 h 525656"/>
                  <a:gd name="connsiteX3" fmla="*/ 0 w 1478269"/>
                  <a:gd name="connsiteY3" fmla="*/ 525656 h 525656"/>
                  <a:gd name="connsiteX4" fmla="*/ 0 w 1478269"/>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8269" h="525656">
                    <a:moveTo>
                      <a:pt x="0" y="0"/>
                    </a:moveTo>
                    <a:lnTo>
                      <a:pt x="1478269" y="0"/>
                    </a:lnTo>
                    <a:lnTo>
                      <a:pt x="1478269"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r>
                  <a:rPr lang="en-US" sz="1200" dirty="0">
                    <a:solidFill>
                      <a:schemeClr val="bg1"/>
                    </a:solidFill>
                  </a:rPr>
                  <a:t>The </a:t>
                </a:r>
                <a:r>
                  <a:rPr lang="en-US" sz="2400" dirty="0">
                    <a:solidFill>
                      <a:schemeClr val="bg1"/>
                    </a:solidFill>
                  </a:rPr>
                  <a:t>RPA BOT </a:t>
                </a:r>
                <a:r>
                  <a:rPr lang="en-US" sz="1200" dirty="0">
                    <a:solidFill>
                      <a:schemeClr val="bg1"/>
                    </a:solidFill>
                  </a:rPr>
                  <a:t>is scheduled or triggered to fetch the latest Excel file from a secure folder or email.</a:t>
                </a:r>
              </a:p>
            </p:txBody>
          </p:sp>
        </p:grpSp>
        <p:pic>
          <p:nvPicPr>
            <p:cNvPr id="45" name="Picture 44">
              <a:extLst>
                <a:ext uri="{FF2B5EF4-FFF2-40B4-BE49-F238E27FC236}">
                  <a16:creationId xmlns:a16="http://schemas.microsoft.com/office/drawing/2014/main" id="{042D2FFF-B9D6-013F-86D8-BB231B53AFC3}"/>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486106" y="3429000"/>
              <a:ext cx="412878" cy="412878"/>
            </a:xfrm>
            <a:prstGeom prst="rect">
              <a:avLst/>
            </a:prstGeom>
          </p:spPr>
        </p:pic>
      </p:grpSp>
      <p:grpSp>
        <p:nvGrpSpPr>
          <p:cNvPr id="16" name="Group 15">
            <a:extLst>
              <a:ext uri="{FF2B5EF4-FFF2-40B4-BE49-F238E27FC236}">
                <a16:creationId xmlns:a16="http://schemas.microsoft.com/office/drawing/2014/main" id="{7976A4C8-DBD0-97D5-E4B1-6200B75EEA6F}"/>
              </a:ext>
            </a:extLst>
          </p:cNvPr>
          <p:cNvGrpSpPr/>
          <p:nvPr/>
        </p:nvGrpSpPr>
        <p:grpSpPr>
          <a:xfrm>
            <a:off x="7072149" y="3260003"/>
            <a:ext cx="2406150" cy="525656"/>
            <a:chOff x="7050884" y="3343858"/>
            <a:chExt cx="2406150" cy="525656"/>
          </a:xfrm>
        </p:grpSpPr>
        <p:grpSp>
          <p:nvGrpSpPr>
            <p:cNvPr id="23" name="Group 22">
              <a:extLst>
                <a:ext uri="{FF2B5EF4-FFF2-40B4-BE49-F238E27FC236}">
                  <a16:creationId xmlns:a16="http://schemas.microsoft.com/office/drawing/2014/main" id="{CEB18F74-74EF-2F88-765B-0136974FFD1E}"/>
                </a:ext>
              </a:extLst>
            </p:cNvPr>
            <p:cNvGrpSpPr/>
            <p:nvPr/>
          </p:nvGrpSpPr>
          <p:grpSpPr>
            <a:xfrm>
              <a:off x="7050884" y="3343858"/>
              <a:ext cx="2406150" cy="525656"/>
              <a:chOff x="6789908" y="4254092"/>
              <a:chExt cx="2285448" cy="525656"/>
            </a:xfrm>
          </p:grpSpPr>
          <p:sp>
            <p:nvSpPr>
              <p:cNvPr id="22" name="Oval 21">
                <a:extLst>
                  <a:ext uri="{FF2B5EF4-FFF2-40B4-BE49-F238E27FC236}">
                    <a16:creationId xmlns:a16="http://schemas.microsoft.com/office/drawing/2014/main" id="{6A003819-2ECD-F4DA-C532-F46C0D6B2E0A}"/>
                  </a:ext>
                </a:extLst>
              </p:cNvPr>
              <p:cNvSpPr/>
              <p:nvPr/>
            </p:nvSpPr>
            <p:spPr>
              <a:xfrm>
                <a:off x="6789908" y="4254092"/>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6" name="Freeform: Shape 25">
                <a:extLst>
                  <a:ext uri="{FF2B5EF4-FFF2-40B4-BE49-F238E27FC236}">
                    <a16:creationId xmlns:a16="http://schemas.microsoft.com/office/drawing/2014/main" id="{94620DFB-0B41-35AA-366C-61481A5C8539}"/>
                  </a:ext>
                </a:extLst>
              </p:cNvPr>
              <p:cNvSpPr/>
              <p:nvPr/>
            </p:nvSpPr>
            <p:spPr>
              <a:xfrm>
                <a:off x="7303209" y="4254092"/>
                <a:ext cx="1772147"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lvl="0" defTabSz="488950">
                  <a:spcBef>
                    <a:spcPct val="0"/>
                  </a:spcBef>
                  <a:spcAft>
                    <a:spcPct val="35000"/>
                  </a:spcAft>
                </a:pPr>
                <a:r>
                  <a:rPr lang="en-US" sz="1600" dirty="0">
                    <a:solidFill>
                      <a:schemeClr val="bg1"/>
                    </a:solidFill>
                  </a:rPr>
                  <a:t>Success and failure logs</a:t>
                </a:r>
                <a:r>
                  <a:rPr lang="en-US" sz="1200" dirty="0">
                    <a:solidFill>
                      <a:schemeClr val="bg1"/>
                    </a:solidFill>
                  </a:rPr>
                  <a:t> are generated, with alerts to the operations team in case of data issues.</a:t>
                </a:r>
                <a:endParaRPr lang="en-US" sz="1200" b="1" kern="1200" dirty="0">
                  <a:solidFill>
                    <a:schemeClr val="bg1"/>
                  </a:solidFill>
                </a:endParaRPr>
              </a:p>
            </p:txBody>
          </p:sp>
        </p:grpSp>
        <p:pic>
          <p:nvPicPr>
            <p:cNvPr id="47" name="Graphic 46" descr="Warning with solid fill">
              <a:extLst>
                <a:ext uri="{FF2B5EF4-FFF2-40B4-BE49-F238E27FC236}">
                  <a16:creationId xmlns:a16="http://schemas.microsoft.com/office/drawing/2014/main" id="{980AEEE1-A622-55B4-6BBC-2DE4B00A886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49332" y="3386307"/>
              <a:ext cx="355293" cy="355293"/>
            </a:xfrm>
            <a:prstGeom prst="rect">
              <a:avLst/>
            </a:prstGeom>
          </p:spPr>
        </p:pic>
      </p:grpSp>
      <p:grpSp>
        <p:nvGrpSpPr>
          <p:cNvPr id="20" name="Group 19">
            <a:extLst>
              <a:ext uri="{FF2B5EF4-FFF2-40B4-BE49-F238E27FC236}">
                <a16:creationId xmlns:a16="http://schemas.microsoft.com/office/drawing/2014/main" id="{8083683C-1F7B-EB1B-AD44-B74D26C3C6B1}"/>
              </a:ext>
            </a:extLst>
          </p:cNvPr>
          <p:cNvGrpSpPr/>
          <p:nvPr/>
        </p:nvGrpSpPr>
        <p:grpSpPr>
          <a:xfrm>
            <a:off x="9545191" y="3091739"/>
            <a:ext cx="2519636" cy="862184"/>
            <a:chOff x="9570521" y="3175594"/>
            <a:chExt cx="2519636" cy="862184"/>
          </a:xfrm>
        </p:grpSpPr>
        <p:grpSp>
          <p:nvGrpSpPr>
            <p:cNvPr id="2" name="Group 1">
              <a:extLst>
                <a:ext uri="{FF2B5EF4-FFF2-40B4-BE49-F238E27FC236}">
                  <a16:creationId xmlns:a16="http://schemas.microsoft.com/office/drawing/2014/main" id="{F690E096-940E-D7BB-BB7E-3ACCC224E542}"/>
                </a:ext>
              </a:extLst>
            </p:cNvPr>
            <p:cNvGrpSpPr/>
            <p:nvPr/>
          </p:nvGrpSpPr>
          <p:grpSpPr>
            <a:xfrm>
              <a:off x="9570521" y="3175594"/>
              <a:ext cx="2519636" cy="862184"/>
              <a:chOff x="8995232" y="4067121"/>
              <a:chExt cx="2393241" cy="862184"/>
            </a:xfrm>
          </p:grpSpPr>
          <p:sp>
            <p:nvSpPr>
              <p:cNvPr id="19" name="Oval 18">
                <a:extLst>
                  <a:ext uri="{FF2B5EF4-FFF2-40B4-BE49-F238E27FC236}">
                    <a16:creationId xmlns:a16="http://schemas.microsoft.com/office/drawing/2014/main" id="{1EA2EF0A-8D80-01E4-6761-BC1AD5049D9E}"/>
                  </a:ext>
                </a:extLst>
              </p:cNvPr>
              <p:cNvSpPr/>
              <p:nvPr/>
            </p:nvSpPr>
            <p:spPr>
              <a:xfrm>
                <a:off x="8995232" y="4251571"/>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1" name="Freeform: Shape 20">
                <a:extLst>
                  <a:ext uri="{FF2B5EF4-FFF2-40B4-BE49-F238E27FC236}">
                    <a16:creationId xmlns:a16="http://schemas.microsoft.com/office/drawing/2014/main" id="{6FFCE9B7-6629-7325-2689-DEF5F2946074}"/>
                  </a:ext>
                </a:extLst>
              </p:cNvPr>
              <p:cNvSpPr/>
              <p:nvPr/>
            </p:nvSpPr>
            <p:spPr>
              <a:xfrm>
                <a:off x="9508532" y="4067121"/>
                <a:ext cx="1879941" cy="862184"/>
              </a:xfrm>
              <a:custGeom>
                <a:avLst/>
                <a:gdLst>
                  <a:gd name="connsiteX0" fmla="*/ 0 w 1239046"/>
                  <a:gd name="connsiteY0" fmla="*/ 0 h 1127837"/>
                  <a:gd name="connsiteX1" fmla="*/ 1239046 w 1239046"/>
                  <a:gd name="connsiteY1" fmla="*/ 0 h 1127837"/>
                  <a:gd name="connsiteX2" fmla="*/ 1239046 w 1239046"/>
                  <a:gd name="connsiteY2" fmla="*/ 1127837 h 1127837"/>
                  <a:gd name="connsiteX3" fmla="*/ 0 w 1239046"/>
                  <a:gd name="connsiteY3" fmla="*/ 1127837 h 1127837"/>
                  <a:gd name="connsiteX4" fmla="*/ 0 w 1239046"/>
                  <a:gd name="connsiteY4" fmla="*/ 0 h 1127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1127837">
                    <a:moveTo>
                      <a:pt x="0" y="0"/>
                    </a:moveTo>
                    <a:lnTo>
                      <a:pt x="1239046" y="0"/>
                    </a:lnTo>
                    <a:lnTo>
                      <a:pt x="1239046" y="1127837"/>
                    </a:lnTo>
                    <a:lnTo>
                      <a:pt x="0" y="1127837"/>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lvl="0" defTabSz="533400">
                  <a:spcBef>
                    <a:spcPct val="0"/>
                  </a:spcBef>
                  <a:spcAft>
                    <a:spcPct val="35000"/>
                  </a:spcAft>
                </a:pPr>
                <a:r>
                  <a:rPr lang="en-US" sz="1200" dirty="0">
                    <a:solidFill>
                      <a:schemeClr val="bg1"/>
                    </a:solidFill>
                  </a:rPr>
                  <a:t>Validated data is mapped and entered into </a:t>
                </a:r>
                <a:r>
                  <a:rPr lang="en-US" sz="1600" dirty="0">
                    <a:solidFill>
                      <a:schemeClr val="bg1"/>
                    </a:solidFill>
                  </a:rPr>
                  <a:t>Oracle Fusion</a:t>
                </a:r>
                <a:r>
                  <a:rPr lang="en-US" sz="1200" dirty="0">
                    <a:solidFill>
                      <a:schemeClr val="bg1"/>
                    </a:solidFill>
                  </a:rPr>
                  <a:t> inventory, stock ledgers, and movement entries are updated instantly</a:t>
                </a:r>
                <a:endParaRPr lang="en-US" sz="1200" kern="1200" dirty="0">
                  <a:solidFill>
                    <a:schemeClr val="bg1"/>
                  </a:solidFill>
                </a:endParaRPr>
              </a:p>
            </p:txBody>
          </p:sp>
        </p:grpSp>
        <p:pic>
          <p:nvPicPr>
            <p:cNvPr id="49" name="Graphic 48" descr="Network with solid fill">
              <a:extLst>
                <a:ext uri="{FF2B5EF4-FFF2-40B4-BE49-F238E27FC236}">
                  <a16:creationId xmlns:a16="http://schemas.microsoft.com/office/drawing/2014/main" id="{D26576CD-6948-EF66-080F-2E8AC42255B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586626" y="3360044"/>
              <a:ext cx="508199" cy="508199"/>
            </a:xfrm>
            <a:prstGeom prst="rect">
              <a:avLst/>
            </a:prstGeom>
          </p:spPr>
        </p:pic>
      </p:grpSp>
      <p:pic>
        <p:nvPicPr>
          <p:cNvPr id="24" name="Picture 23">
            <a:extLst>
              <a:ext uri="{FF2B5EF4-FFF2-40B4-BE49-F238E27FC236}">
                <a16:creationId xmlns:a16="http://schemas.microsoft.com/office/drawing/2014/main" id="{8D92E588-1673-124C-40F4-BDA9A1E2E551}"/>
              </a:ext>
            </a:extLst>
          </p:cNvPr>
          <p:cNvPicPr>
            <a:picLocks noChangeAspect="1"/>
          </p:cNvPicPr>
          <p:nvPr/>
        </p:nvPicPr>
        <p:blipFill>
          <a:blip r:embed="rId12" cstate="screen">
            <a:extLst>
              <a:ext uri="{BEBA8EAE-BF5A-486C-A8C5-ECC9F3942E4B}">
                <a14:imgProps xmlns:a14="http://schemas.microsoft.com/office/drawing/2010/main">
                  <a14:imgLayer r:embed="rId13">
                    <a14:imgEffect>
                      <a14:brightnessContrast bright="20000"/>
                    </a14:imgEffect>
                  </a14:imgLayer>
                </a14:imgProps>
              </a:ext>
              <a:ext uri="{28A0092B-C50C-407E-A947-70E740481C1C}">
                <a14:useLocalDpi xmlns:a14="http://schemas.microsoft.com/office/drawing/2010/main"/>
              </a:ext>
            </a:extLst>
          </a:blip>
          <a:srcRect/>
          <a:stretch/>
        </p:blipFill>
        <p:spPr>
          <a:xfrm>
            <a:off x="8006001" y="254189"/>
            <a:ext cx="3570295" cy="1805520"/>
          </a:xfrm>
          <a:prstGeom prst="roundRect">
            <a:avLst>
              <a:gd name="adj" fmla="val 14848"/>
            </a:avLst>
          </a:prstGeom>
          <a:ln>
            <a:solidFill>
              <a:schemeClr val="bg2">
                <a:lumMod val="90000"/>
              </a:schemeClr>
            </a:solidFill>
          </a:ln>
          <a:effectLst>
            <a:outerShdw blurRad="368300" dist="38100" dir="2520000" sx="102000" sy="102000" algn="tl" rotWithShape="0">
              <a:prstClr val="black">
                <a:alpha val="40000"/>
              </a:prstClr>
            </a:outerShdw>
          </a:effectLst>
        </p:spPr>
      </p:pic>
    </p:spTree>
    <p:extLst>
      <p:ext uri="{BB962C8B-B14F-4D97-AF65-F5344CB8AC3E}">
        <p14:creationId xmlns:p14="http://schemas.microsoft.com/office/powerpoint/2010/main" val="207433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AC25D-F907-733B-6AD7-4D32C4BDB48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D2A5AF-CDC0-3C92-5412-278A200C6265}"/>
              </a:ext>
            </a:extLst>
          </p:cNvPr>
          <p:cNvSpPr/>
          <p:nvPr/>
        </p:nvSpPr>
        <p:spPr>
          <a:xfrm>
            <a:off x="1753" y="-3556"/>
            <a:ext cx="12190247" cy="6861556"/>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 </a:t>
            </a: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Top Corners Rounded 4">
            <a:extLst>
              <a:ext uri="{FF2B5EF4-FFF2-40B4-BE49-F238E27FC236}">
                <a16:creationId xmlns:a16="http://schemas.microsoft.com/office/drawing/2014/main" id="{BF25E582-757E-08DA-97DB-C35B921880FA}"/>
              </a:ext>
            </a:extLst>
          </p:cNvPr>
          <p:cNvSpPr/>
          <p:nvPr/>
        </p:nvSpPr>
        <p:spPr>
          <a:xfrm rot="10800000">
            <a:off x="172908" y="689"/>
            <a:ext cx="7721412"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C5347165-9DAA-DFA6-1C02-C84FECF2327F}"/>
              </a:ext>
            </a:extLst>
          </p:cNvPr>
          <p:cNvSpPr txBox="1"/>
          <p:nvPr/>
        </p:nvSpPr>
        <p:spPr>
          <a:xfrm>
            <a:off x="330160" y="25291"/>
            <a:ext cx="7606698" cy="338554"/>
          </a:xfrm>
          <a:prstGeom prst="rect">
            <a:avLst/>
          </a:prstGeom>
          <a:noFill/>
        </p:spPr>
        <p:txBody>
          <a:bodyPr wrap="none" rtlCol="0">
            <a:spAutoFit/>
          </a:bodyPr>
          <a:lstStyle/>
          <a:p>
            <a:r>
              <a:rPr lang="en-US" sz="1600" dirty="0">
                <a:solidFill>
                  <a:schemeClr val="bg1"/>
                </a:solidFill>
              </a:rPr>
              <a:t>Outstanding Payment Tracking Workflow Automating for Stem Cell Banking Company</a:t>
            </a:r>
            <a:endParaRPr lang="en-IN" sz="1600" dirty="0">
              <a:solidFill>
                <a:schemeClr val="bg1"/>
              </a:solidFill>
            </a:endParaRPr>
          </a:p>
        </p:txBody>
      </p:sp>
      <p:sp>
        <p:nvSpPr>
          <p:cNvPr id="8" name="Rectangle 1">
            <a:extLst>
              <a:ext uri="{FF2B5EF4-FFF2-40B4-BE49-F238E27FC236}">
                <a16:creationId xmlns:a16="http://schemas.microsoft.com/office/drawing/2014/main" id="{D0F2DD3F-6660-DCDC-E132-0E3A3CC38D52}"/>
              </a:ext>
            </a:extLst>
          </p:cNvPr>
          <p:cNvSpPr>
            <a:spLocks noChangeArrowheads="1"/>
          </p:cNvSpPr>
          <p:nvPr/>
        </p:nvSpPr>
        <p:spPr bwMode="auto">
          <a:xfrm>
            <a:off x="85955" y="400069"/>
            <a:ext cx="17206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Challenge</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9" name="Rectangle 1">
            <a:extLst>
              <a:ext uri="{FF2B5EF4-FFF2-40B4-BE49-F238E27FC236}">
                <a16:creationId xmlns:a16="http://schemas.microsoft.com/office/drawing/2014/main" id="{DC2C9F50-6AFE-C6E2-0385-B23C1C598ACD}"/>
              </a:ext>
            </a:extLst>
          </p:cNvPr>
          <p:cNvSpPr>
            <a:spLocks noChangeArrowheads="1"/>
          </p:cNvSpPr>
          <p:nvPr/>
        </p:nvSpPr>
        <p:spPr bwMode="auto">
          <a:xfrm>
            <a:off x="37225" y="1994172"/>
            <a:ext cx="22781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Solution</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0" name="Rectangle 1">
            <a:extLst>
              <a:ext uri="{FF2B5EF4-FFF2-40B4-BE49-F238E27FC236}">
                <a16:creationId xmlns:a16="http://schemas.microsoft.com/office/drawing/2014/main" id="{9CEFCF6C-FA1B-A6A8-D0C4-ACB09B971782}"/>
              </a:ext>
            </a:extLst>
          </p:cNvPr>
          <p:cNvSpPr>
            <a:spLocks noChangeArrowheads="1"/>
          </p:cNvSpPr>
          <p:nvPr/>
        </p:nvSpPr>
        <p:spPr bwMode="auto">
          <a:xfrm>
            <a:off x="0" y="5439715"/>
            <a:ext cx="2694369" cy="375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Benefits Delivered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A3D1025-12E5-E342-964B-FE9EA470F6AC}"/>
              </a:ext>
            </a:extLst>
          </p:cNvPr>
          <p:cNvSpPr>
            <a:spLocks noChangeArrowheads="1"/>
          </p:cNvSpPr>
          <p:nvPr/>
        </p:nvSpPr>
        <p:spPr bwMode="auto">
          <a:xfrm>
            <a:off x="0" y="4147504"/>
            <a:ext cx="55861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B6FF42"/>
                </a:solidFill>
                <a:latin typeface="Arial" panose="020B0604020202020204" pitchFamily="34" charset="0"/>
              </a:rPr>
              <a:t>Skyaicode features/components leveraged</a:t>
            </a:r>
            <a:endParaRPr kumimoji="0" lang="en-US" altLang="en-US" sz="1800" b="1" i="0" u="none" strike="noStrike" cap="none" normalizeH="0" baseline="0" dirty="0">
              <a:ln>
                <a:noFill/>
              </a:ln>
              <a:solidFill>
                <a:srgbClr val="B6FF42"/>
              </a:solidFill>
              <a:effectLst/>
              <a:latin typeface="Arial" panose="020B0604020202020204" pitchFamily="34" charset="0"/>
            </a:endParaRPr>
          </a:p>
        </p:txBody>
      </p:sp>
      <p:sp>
        <p:nvSpPr>
          <p:cNvPr id="17" name="TextBox 16">
            <a:extLst>
              <a:ext uri="{FF2B5EF4-FFF2-40B4-BE49-F238E27FC236}">
                <a16:creationId xmlns:a16="http://schemas.microsoft.com/office/drawing/2014/main" id="{D38DB659-3AE0-3E2C-157A-12A73C9A0213}"/>
              </a:ext>
            </a:extLst>
          </p:cNvPr>
          <p:cNvSpPr txBox="1"/>
          <p:nvPr/>
        </p:nvSpPr>
        <p:spPr>
          <a:xfrm>
            <a:off x="242200" y="744250"/>
            <a:ext cx="8119021" cy="1323439"/>
          </a:xfrm>
          <a:prstGeom prst="rect">
            <a:avLst/>
          </a:prstGeom>
          <a:noFill/>
        </p:spPr>
        <p:txBody>
          <a:bodyPr wrap="square" anchor="ctr" anchorCtr="0">
            <a:spAutoFit/>
          </a:bodyPr>
          <a:lstStyle/>
          <a:p>
            <a:pPr algn="just"/>
            <a:r>
              <a:rPr lang="en-US" sz="1600" dirty="0">
                <a:solidFill>
                  <a:schemeClr val="bg1"/>
                </a:solidFill>
              </a:rPr>
              <a:t>A leading healthcare and stem cell banking service provider offering subscription-based packages faced recurring issues in recovering outstanding dues from customers. Manual follow-ups and inconsistent tracking of defaulters led to delays, missed payments, and poor recovery visibility. The lack of a structured escalation—from demand notice to legal action—hindered effective resolution</a:t>
            </a:r>
            <a:endParaRPr lang="en-IN" sz="1600" dirty="0">
              <a:solidFill>
                <a:schemeClr val="bg1"/>
              </a:solidFill>
            </a:endParaRPr>
          </a:p>
        </p:txBody>
      </p:sp>
      <p:grpSp>
        <p:nvGrpSpPr>
          <p:cNvPr id="31" name="Group 30">
            <a:extLst>
              <a:ext uri="{FF2B5EF4-FFF2-40B4-BE49-F238E27FC236}">
                <a16:creationId xmlns:a16="http://schemas.microsoft.com/office/drawing/2014/main" id="{A41E7A40-F893-F085-C2EA-C3A3C6DC4BEE}"/>
              </a:ext>
            </a:extLst>
          </p:cNvPr>
          <p:cNvGrpSpPr/>
          <p:nvPr/>
        </p:nvGrpSpPr>
        <p:grpSpPr>
          <a:xfrm>
            <a:off x="330160" y="4626153"/>
            <a:ext cx="11427540" cy="772255"/>
            <a:chOff x="294630" y="4324550"/>
            <a:chExt cx="11427540" cy="1072736"/>
          </a:xfrm>
        </p:grpSpPr>
        <p:sp>
          <p:nvSpPr>
            <p:cNvPr id="32" name="Freeform: Shape 31">
              <a:extLst>
                <a:ext uri="{FF2B5EF4-FFF2-40B4-BE49-F238E27FC236}">
                  <a16:creationId xmlns:a16="http://schemas.microsoft.com/office/drawing/2014/main" id="{E3014294-96EA-0B2E-80CE-3860418F8C48}"/>
                </a:ext>
              </a:extLst>
            </p:cNvPr>
            <p:cNvSpPr/>
            <p:nvPr/>
          </p:nvSpPr>
          <p:spPr>
            <a:xfrm>
              <a:off x="294630"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Decision &amp; Condition Logic</a:t>
              </a:r>
              <a:endParaRPr lang="en-IN" sz="1600" kern="1200" dirty="0"/>
            </a:p>
          </p:txBody>
        </p:sp>
        <p:sp>
          <p:nvSpPr>
            <p:cNvPr id="33" name="Freeform: Shape 32">
              <a:extLst>
                <a:ext uri="{FF2B5EF4-FFF2-40B4-BE49-F238E27FC236}">
                  <a16:creationId xmlns:a16="http://schemas.microsoft.com/office/drawing/2014/main" id="{2A79DC76-041A-0DB4-1168-7B07624B6679}"/>
                </a:ext>
              </a:extLst>
            </p:cNvPr>
            <p:cNvSpPr/>
            <p:nvPr/>
          </p:nvSpPr>
          <p:spPr>
            <a:xfrm>
              <a:off x="2241328"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Document Generation Bots</a:t>
              </a:r>
              <a:endParaRPr lang="en-US" sz="1600" kern="1200" dirty="0">
                <a:solidFill>
                  <a:schemeClr val="bg1"/>
                </a:solidFill>
              </a:endParaRPr>
            </a:p>
          </p:txBody>
        </p:sp>
        <p:sp>
          <p:nvSpPr>
            <p:cNvPr id="34" name="Freeform: Shape 33">
              <a:extLst>
                <a:ext uri="{FF2B5EF4-FFF2-40B4-BE49-F238E27FC236}">
                  <a16:creationId xmlns:a16="http://schemas.microsoft.com/office/drawing/2014/main" id="{5C98FB35-6031-B747-A78C-1B42156712E6}"/>
                </a:ext>
              </a:extLst>
            </p:cNvPr>
            <p:cNvSpPr/>
            <p:nvPr/>
          </p:nvSpPr>
          <p:spPr>
            <a:xfrm>
              <a:off x="4188025"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Workflow Automation</a:t>
              </a:r>
              <a:endParaRPr lang="en-US" sz="1600" kern="1200" dirty="0">
                <a:solidFill>
                  <a:schemeClr val="bg1"/>
                </a:solidFill>
              </a:endParaRPr>
            </a:p>
          </p:txBody>
        </p:sp>
        <p:sp>
          <p:nvSpPr>
            <p:cNvPr id="35" name="Freeform: Shape 34">
              <a:extLst>
                <a:ext uri="{FF2B5EF4-FFF2-40B4-BE49-F238E27FC236}">
                  <a16:creationId xmlns:a16="http://schemas.microsoft.com/office/drawing/2014/main" id="{E15243A2-3E37-F62B-520B-044B0832FAAD}"/>
                </a:ext>
              </a:extLst>
            </p:cNvPr>
            <p:cNvSpPr/>
            <p:nvPr/>
          </p:nvSpPr>
          <p:spPr>
            <a:xfrm>
              <a:off x="6079248" y="43354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Dashboard &amp; Reports</a:t>
              </a:r>
              <a:endParaRPr lang="en-US" sz="1600" kern="1200" dirty="0">
                <a:solidFill>
                  <a:schemeClr val="bg1"/>
                </a:solidFill>
              </a:endParaRPr>
            </a:p>
          </p:txBody>
        </p:sp>
        <p:sp>
          <p:nvSpPr>
            <p:cNvPr id="36" name="Freeform: Shape 35">
              <a:extLst>
                <a:ext uri="{FF2B5EF4-FFF2-40B4-BE49-F238E27FC236}">
                  <a16:creationId xmlns:a16="http://schemas.microsoft.com/office/drawing/2014/main" id="{FA058F40-687C-4761-6CB3-002F2A64CDE3}"/>
                </a:ext>
              </a:extLst>
            </p:cNvPr>
            <p:cNvSpPr/>
            <p:nvPr/>
          </p:nvSpPr>
          <p:spPr>
            <a:xfrm>
              <a:off x="7970471" y="4324551"/>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Case Management &amp; Audit Trail</a:t>
              </a:r>
              <a:endParaRPr lang="en-IN" sz="1600" kern="1200" dirty="0">
                <a:solidFill>
                  <a:schemeClr val="bg1"/>
                </a:solidFill>
              </a:endParaRPr>
            </a:p>
          </p:txBody>
        </p:sp>
        <p:sp>
          <p:nvSpPr>
            <p:cNvPr id="37" name="Freeform: Shape 36">
              <a:extLst>
                <a:ext uri="{FF2B5EF4-FFF2-40B4-BE49-F238E27FC236}">
                  <a16:creationId xmlns:a16="http://schemas.microsoft.com/office/drawing/2014/main" id="{2F7C2A78-7F76-7E82-1069-E0A3144B06CD}"/>
                </a:ext>
              </a:extLst>
            </p:cNvPr>
            <p:cNvSpPr/>
            <p:nvPr/>
          </p:nvSpPr>
          <p:spPr>
            <a:xfrm>
              <a:off x="9952445" y="4324550"/>
              <a:ext cx="1769725" cy="1061835"/>
            </a:xfrm>
            <a:custGeom>
              <a:avLst/>
              <a:gdLst>
                <a:gd name="connsiteX0" fmla="*/ 0 w 1769725"/>
                <a:gd name="connsiteY0" fmla="*/ 0 h 1061835"/>
                <a:gd name="connsiteX1" fmla="*/ 1769725 w 1769725"/>
                <a:gd name="connsiteY1" fmla="*/ 0 h 1061835"/>
                <a:gd name="connsiteX2" fmla="*/ 1769725 w 1769725"/>
                <a:gd name="connsiteY2" fmla="*/ 1061835 h 1061835"/>
                <a:gd name="connsiteX3" fmla="*/ 0 w 1769725"/>
                <a:gd name="connsiteY3" fmla="*/ 1061835 h 1061835"/>
                <a:gd name="connsiteX4" fmla="*/ 0 w 1769725"/>
                <a:gd name="connsiteY4" fmla="*/ 0 h 1061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725" h="1061835">
                  <a:moveTo>
                    <a:pt x="0" y="0"/>
                  </a:moveTo>
                  <a:lnTo>
                    <a:pt x="1769725" y="0"/>
                  </a:lnTo>
                  <a:lnTo>
                    <a:pt x="1769725" y="1061835"/>
                  </a:lnTo>
                  <a:lnTo>
                    <a:pt x="0" y="106183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dirty="0"/>
                <a:t>Notification Bots</a:t>
              </a:r>
              <a:endParaRPr lang="en-IN" sz="1600" kern="1200" dirty="0">
                <a:solidFill>
                  <a:schemeClr val="bg1"/>
                </a:solidFill>
              </a:endParaRPr>
            </a:p>
          </p:txBody>
        </p:sp>
      </p:grpSp>
      <p:sp>
        <p:nvSpPr>
          <p:cNvPr id="7" name="Rectangle 6">
            <a:extLst>
              <a:ext uri="{FF2B5EF4-FFF2-40B4-BE49-F238E27FC236}">
                <a16:creationId xmlns:a16="http://schemas.microsoft.com/office/drawing/2014/main" id="{65618883-7B39-D27E-8E61-4826F9D11D3E}"/>
              </a:ext>
            </a:extLst>
          </p:cNvPr>
          <p:cNvSpPr/>
          <p:nvPr/>
        </p:nvSpPr>
        <p:spPr>
          <a:xfrm>
            <a:off x="360640" y="3615670"/>
            <a:ext cx="5926134" cy="3048061"/>
          </a:xfrm>
          <a:prstGeom prst="rect">
            <a:avLst/>
          </a:prstGeom>
          <a:ln>
            <a:noFill/>
          </a:ln>
        </p:spPr>
        <p:txBody>
          <a:bodyPr/>
          <a:lstStyle/>
          <a:p>
            <a:endParaRPr lang="en-IN"/>
          </a:p>
        </p:txBody>
      </p:sp>
      <p:grpSp>
        <p:nvGrpSpPr>
          <p:cNvPr id="42" name="Group 41">
            <a:extLst>
              <a:ext uri="{FF2B5EF4-FFF2-40B4-BE49-F238E27FC236}">
                <a16:creationId xmlns:a16="http://schemas.microsoft.com/office/drawing/2014/main" id="{EDF56720-9CF7-1645-1A99-52B4C569343A}"/>
              </a:ext>
            </a:extLst>
          </p:cNvPr>
          <p:cNvGrpSpPr/>
          <p:nvPr/>
        </p:nvGrpSpPr>
        <p:grpSpPr>
          <a:xfrm>
            <a:off x="172908" y="3195258"/>
            <a:ext cx="11835331" cy="862184"/>
            <a:chOff x="808051" y="3294543"/>
            <a:chExt cx="11241624" cy="862184"/>
          </a:xfrm>
        </p:grpSpPr>
        <p:grpSp>
          <p:nvGrpSpPr>
            <p:cNvPr id="41" name="Group 40">
              <a:extLst>
                <a:ext uri="{FF2B5EF4-FFF2-40B4-BE49-F238E27FC236}">
                  <a16:creationId xmlns:a16="http://schemas.microsoft.com/office/drawing/2014/main" id="{C2343609-5BD7-5FF2-1C72-3D9BB76E7767}"/>
                </a:ext>
              </a:extLst>
            </p:cNvPr>
            <p:cNvGrpSpPr/>
            <p:nvPr/>
          </p:nvGrpSpPr>
          <p:grpSpPr>
            <a:xfrm>
              <a:off x="808051" y="3522614"/>
              <a:ext cx="2028489" cy="525657"/>
              <a:chOff x="381199" y="4263027"/>
              <a:chExt cx="2028489" cy="525657"/>
            </a:xfrm>
          </p:grpSpPr>
          <p:sp>
            <p:nvSpPr>
              <p:cNvPr id="12" name="Oval 11">
                <a:extLst>
                  <a:ext uri="{FF2B5EF4-FFF2-40B4-BE49-F238E27FC236}">
                    <a16:creationId xmlns:a16="http://schemas.microsoft.com/office/drawing/2014/main" id="{0CF84AB4-AA23-B13C-4E44-EE5B5D8F9EE5}"/>
                  </a:ext>
                </a:extLst>
              </p:cNvPr>
              <p:cNvSpPr/>
              <p:nvPr/>
            </p:nvSpPr>
            <p:spPr>
              <a:xfrm>
                <a:off x="381199" y="4263028"/>
                <a:ext cx="513301" cy="525656"/>
              </a:xfrm>
              <a:prstGeom prst="ellipse">
                <a:avLst/>
              </a:prstGeom>
              <a:solidFill>
                <a:srgbClr val="B6FF42"/>
              </a:solidFill>
              <a:ln>
                <a:noFill/>
              </a:ln>
            </p:spPr>
            <p:style>
              <a:lnRef idx="0">
                <a:scrgbClr r="0" g="0" b="0"/>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4" name="Freeform: Shape 13">
                <a:extLst>
                  <a:ext uri="{FF2B5EF4-FFF2-40B4-BE49-F238E27FC236}">
                    <a16:creationId xmlns:a16="http://schemas.microsoft.com/office/drawing/2014/main" id="{149C98D3-A98C-9D48-09CD-1FD22EACCA76}"/>
                  </a:ext>
                </a:extLst>
              </p:cNvPr>
              <p:cNvSpPr/>
              <p:nvPr/>
            </p:nvSpPr>
            <p:spPr>
              <a:xfrm>
                <a:off x="1004494" y="4263027"/>
                <a:ext cx="1405194"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a:noFill/>
              </a:ln>
            </p:spPr>
            <p:style>
              <a:lnRef idx="0">
                <a:scrgbClr r="0" g="0" b="0"/>
              </a:lnRef>
              <a:fillRef idx="0">
                <a:scrgbClr r="0" g="0" b="0"/>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algn="ctr"/>
                <a:r>
                  <a:rPr lang="en-US" sz="1200" dirty="0">
                    <a:solidFill>
                      <a:schemeClr val="bg1"/>
                    </a:solidFill>
                  </a:rPr>
                  <a:t>System scans customer subscription records in datastore for overdue payments.</a:t>
                </a:r>
              </a:p>
            </p:txBody>
          </p:sp>
        </p:grpSp>
        <p:grpSp>
          <p:nvGrpSpPr>
            <p:cNvPr id="40" name="Group 39">
              <a:extLst>
                <a:ext uri="{FF2B5EF4-FFF2-40B4-BE49-F238E27FC236}">
                  <a16:creationId xmlns:a16="http://schemas.microsoft.com/office/drawing/2014/main" id="{1883ED4D-7DF6-8216-CC99-27E4353E56AD}"/>
                </a:ext>
              </a:extLst>
            </p:cNvPr>
            <p:cNvGrpSpPr/>
            <p:nvPr/>
          </p:nvGrpSpPr>
          <p:grpSpPr>
            <a:xfrm>
              <a:off x="2944335" y="3485990"/>
              <a:ext cx="2210812" cy="525656"/>
              <a:chOff x="2369750" y="4257055"/>
              <a:chExt cx="2210812" cy="525656"/>
            </a:xfrm>
          </p:grpSpPr>
          <p:sp>
            <p:nvSpPr>
              <p:cNvPr id="15" name="Oval 14">
                <a:extLst>
                  <a:ext uri="{FF2B5EF4-FFF2-40B4-BE49-F238E27FC236}">
                    <a16:creationId xmlns:a16="http://schemas.microsoft.com/office/drawing/2014/main" id="{F9997C98-B4B4-A087-F065-BC96B6D3841B}"/>
                  </a:ext>
                </a:extLst>
              </p:cNvPr>
              <p:cNvSpPr/>
              <p:nvPr/>
            </p:nvSpPr>
            <p:spPr>
              <a:xfrm>
                <a:off x="2369750" y="4257055"/>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8" name="Freeform: Shape 17">
                <a:extLst>
                  <a:ext uri="{FF2B5EF4-FFF2-40B4-BE49-F238E27FC236}">
                    <a16:creationId xmlns:a16="http://schemas.microsoft.com/office/drawing/2014/main" id="{A3E6FA92-1B12-88C8-02CA-670944B99EFA}"/>
                  </a:ext>
                </a:extLst>
              </p:cNvPr>
              <p:cNvSpPr/>
              <p:nvPr/>
            </p:nvSpPr>
            <p:spPr>
              <a:xfrm>
                <a:off x="2876247" y="4257055"/>
                <a:ext cx="1704315" cy="525656"/>
              </a:xfrm>
              <a:custGeom>
                <a:avLst/>
                <a:gdLst>
                  <a:gd name="connsiteX0" fmla="*/ 0 w 1478269"/>
                  <a:gd name="connsiteY0" fmla="*/ 0 h 525656"/>
                  <a:gd name="connsiteX1" fmla="*/ 1478269 w 1478269"/>
                  <a:gd name="connsiteY1" fmla="*/ 0 h 525656"/>
                  <a:gd name="connsiteX2" fmla="*/ 1478269 w 1478269"/>
                  <a:gd name="connsiteY2" fmla="*/ 525656 h 525656"/>
                  <a:gd name="connsiteX3" fmla="*/ 0 w 1478269"/>
                  <a:gd name="connsiteY3" fmla="*/ 525656 h 525656"/>
                  <a:gd name="connsiteX4" fmla="*/ 0 w 1478269"/>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8269" h="525656">
                    <a:moveTo>
                      <a:pt x="0" y="0"/>
                    </a:moveTo>
                    <a:lnTo>
                      <a:pt x="1478269" y="0"/>
                    </a:lnTo>
                    <a:lnTo>
                      <a:pt x="1478269"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algn="ctr"/>
                <a:r>
                  <a:rPr lang="en-US" sz="1100" dirty="0">
                    <a:solidFill>
                      <a:schemeClr val="bg1"/>
                    </a:solidFill>
                  </a:rPr>
                  <a:t>First-level payment reminders (demand notices) are sent via email or RPAD</a:t>
                </a:r>
              </a:p>
            </p:txBody>
          </p:sp>
        </p:grpSp>
        <p:grpSp>
          <p:nvGrpSpPr>
            <p:cNvPr id="2" name="Group 1">
              <a:extLst>
                <a:ext uri="{FF2B5EF4-FFF2-40B4-BE49-F238E27FC236}">
                  <a16:creationId xmlns:a16="http://schemas.microsoft.com/office/drawing/2014/main" id="{9D4AA621-FF88-2173-3CC3-92512A413D27}"/>
                </a:ext>
              </a:extLst>
            </p:cNvPr>
            <p:cNvGrpSpPr/>
            <p:nvPr/>
          </p:nvGrpSpPr>
          <p:grpSpPr>
            <a:xfrm>
              <a:off x="9734243" y="3294543"/>
              <a:ext cx="2315432" cy="862184"/>
              <a:chOff x="8995232" y="4067121"/>
              <a:chExt cx="2315432" cy="862184"/>
            </a:xfrm>
          </p:grpSpPr>
          <p:sp>
            <p:nvSpPr>
              <p:cNvPr id="19" name="Oval 18">
                <a:extLst>
                  <a:ext uri="{FF2B5EF4-FFF2-40B4-BE49-F238E27FC236}">
                    <a16:creationId xmlns:a16="http://schemas.microsoft.com/office/drawing/2014/main" id="{D524A3A0-6CC4-931D-D3BF-43BB7E065953}"/>
                  </a:ext>
                </a:extLst>
              </p:cNvPr>
              <p:cNvSpPr/>
              <p:nvPr/>
            </p:nvSpPr>
            <p:spPr>
              <a:xfrm>
                <a:off x="8995232" y="4251571"/>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1" name="Freeform: Shape 20">
                <a:extLst>
                  <a:ext uri="{FF2B5EF4-FFF2-40B4-BE49-F238E27FC236}">
                    <a16:creationId xmlns:a16="http://schemas.microsoft.com/office/drawing/2014/main" id="{540E9F97-2729-DE88-3A78-0EC35143755B}"/>
                  </a:ext>
                </a:extLst>
              </p:cNvPr>
              <p:cNvSpPr/>
              <p:nvPr/>
            </p:nvSpPr>
            <p:spPr>
              <a:xfrm>
                <a:off x="9574767" y="4067121"/>
                <a:ext cx="1735897" cy="862184"/>
              </a:xfrm>
              <a:custGeom>
                <a:avLst/>
                <a:gdLst>
                  <a:gd name="connsiteX0" fmla="*/ 0 w 1239046"/>
                  <a:gd name="connsiteY0" fmla="*/ 0 h 1127837"/>
                  <a:gd name="connsiteX1" fmla="*/ 1239046 w 1239046"/>
                  <a:gd name="connsiteY1" fmla="*/ 0 h 1127837"/>
                  <a:gd name="connsiteX2" fmla="*/ 1239046 w 1239046"/>
                  <a:gd name="connsiteY2" fmla="*/ 1127837 h 1127837"/>
                  <a:gd name="connsiteX3" fmla="*/ 0 w 1239046"/>
                  <a:gd name="connsiteY3" fmla="*/ 1127837 h 1127837"/>
                  <a:gd name="connsiteX4" fmla="*/ 0 w 1239046"/>
                  <a:gd name="connsiteY4" fmla="*/ 0 h 1127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1127837">
                    <a:moveTo>
                      <a:pt x="0" y="0"/>
                    </a:moveTo>
                    <a:lnTo>
                      <a:pt x="1239046" y="0"/>
                    </a:lnTo>
                    <a:lnTo>
                      <a:pt x="1239046" y="1127837"/>
                    </a:lnTo>
                    <a:lnTo>
                      <a:pt x="0" y="1127837"/>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algn="ctr"/>
                <a:r>
                  <a:rPr lang="en-US" sz="1200" dirty="0">
                    <a:solidFill>
                      <a:schemeClr val="bg1"/>
                    </a:solidFill>
                  </a:rPr>
                  <a:t>Real-time insights on pending, resolved, escalated, and closed cases.</a:t>
                </a:r>
              </a:p>
            </p:txBody>
          </p:sp>
        </p:grpSp>
        <p:grpSp>
          <p:nvGrpSpPr>
            <p:cNvPr id="23" name="Group 22">
              <a:extLst>
                <a:ext uri="{FF2B5EF4-FFF2-40B4-BE49-F238E27FC236}">
                  <a16:creationId xmlns:a16="http://schemas.microsoft.com/office/drawing/2014/main" id="{8C224D64-9514-598B-ADA7-FEC2D84E1D70}"/>
                </a:ext>
              </a:extLst>
            </p:cNvPr>
            <p:cNvGrpSpPr/>
            <p:nvPr/>
          </p:nvGrpSpPr>
          <p:grpSpPr>
            <a:xfrm>
              <a:off x="7341001" y="3462807"/>
              <a:ext cx="2285448" cy="525656"/>
              <a:chOff x="6789908" y="4254092"/>
              <a:chExt cx="2285448" cy="525656"/>
            </a:xfrm>
          </p:grpSpPr>
          <p:sp>
            <p:nvSpPr>
              <p:cNvPr id="22" name="Oval 21">
                <a:extLst>
                  <a:ext uri="{FF2B5EF4-FFF2-40B4-BE49-F238E27FC236}">
                    <a16:creationId xmlns:a16="http://schemas.microsoft.com/office/drawing/2014/main" id="{E93EC41D-12F5-22A0-6211-AF154425B26D}"/>
                  </a:ext>
                </a:extLst>
              </p:cNvPr>
              <p:cNvSpPr/>
              <p:nvPr/>
            </p:nvSpPr>
            <p:spPr>
              <a:xfrm>
                <a:off x="6789908" y="4254092"/>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6" name="Freeform: Shape 25">
                <a:extLst>
                  <a:ext uri="{FF2B5EF4-FFF2-40B4-BE49-F238E27FC236}">
                    <a16:creationId xmlns:a16="http://schemas.microsoft.com/office/drawing/2014/main" id="{52110EC5-3588-E882-5174-2335A17720C8}"/>
                  </a:ext>
                </a:extLst>
              </p:cNvPr>
              <p:cNvSpPr/>
              <p:nvPr/>
            </p:nvSpPr>
            <p:spPr>
              <a:xfrm>
                <a:off x="7323764" y="4254092"/>
                <a:ext cx="1751592"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algn="ctr"/>
                <a:r>
                  <a:rPr lang="en-US" sz="1200" dirty="0">
                    <a:solidFill>
                      <a:schemeClr val="bg1"/>
                    </a:solidFill>
                  </a:rPr>
                  <a:t>All notices, responses, and activities are tracked and logged against the customer profile.</a:t>
                </a:r>
              </a:p>
            </p:txBody>
          </p:sp>
        </p:grpSp>
        <p:grpSp>
          <p:nvGrpSpPr>
            <p:cNvPr id="38" name="Group 37">
              <a:extLst>
                <a:ext uri="{FF2B5EF4-FFF2-40B4-BE49-F238E27FC236}">
                  <a16:creationId xmlns:a16="http://schemas.microsoft.com/office/drawing/2014/main" id="{A640CE6D-BA7B-DE8F-6AD6-246A9DEE7487}"/>
                </a:ext>
              </a:extLst>
            </p:cNvPr>
            <p:cNvGrpSpPr/>
            <p:nvPr/>
          </p:nvGrpSpPr>
          <p:grpSpPr>
            <a:xfrm>
              <a:off x="5175702" y="3501060"/>
              <a:ext cx="2176943" cy="525656"/>
              <a:chOff x="4476372" y="4263083"/>
              <a:chExt cx="2176943" cy="525656"/>
            </a:xfrm>
          </p:grpSpPr>
          <p:sp>
            <p:nvSpPr>
              <p:cNvPr id="27" name="Oval 26">
                <a:extLst>
                  <a:ext uri="{FF2B5EF4-FFF2-40B4-BE49-F238E27FC236}">
                    <a16:creationId xmlns:a16="http://schemas.microsoft.com/office/drawing/2014/main" id="{018E4A68-3966-02C9-D03F-8476BA56DEA7}"/>
                  </a:ext>
                </a:extLst>
              </p:cNvPr>
              <p:cNvSpPr/>
              <p:nvPr/>
            </p:nvSpPr>
            <p:spPr>
              <a:xfrm>
                <a:off x="4476372" y="4263083"/>
                <a:ext cx="513301" cy="525656"/>
              </a:xfrm>
              <a:prstGeom prst="ellipse">
                <a:avLst/>
              </a:prstGeom>
              <a:solidFill>
                <a:srgbClr val="B6FF42"/>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pPr algn="ctr"/>
                <a:endParaRPr lang="en-IN" dirty="0"/>
              </a:p>
            </p:txBody>
          </p:sp>
          <p:sp>
            <p:nvSpPr>
              <p:cNvPr id="29" name="Freeform: Shape 28">
                <a:extLst>
                  <a:ext uri="{FF2B5EF4-FFF2-40B4-BE49-F238E27FC236}">
                    <a16:creationId xmlns:a16="http://schemas.microsoft.com/office/drawing/2014/main" id="{5C067B70-E76A-FD21-CC93-9FC3DBBE317A}"/>
                  </a:ext>
                </a:extLst>
              </p:cNvPr>
              <p:cNvSpPr/>
              <p:nvPr/>
            </p:nvSpPr>
            <p:spPr>
              <a:xfrm>
                <a:off x="5010227" y="4263083"/>
                <a:ext cx="1643088" cy="525656"/>
              </a:xfrm>
              <a:custGeom>
                <a:avLst/>
                <a:gdLst>
                  <a:gd name="connsiteX0" fmla="*/ 0 w 1239046"/>
                  <a:gd name="connsiteY0" fmla="*/ 0 h 525656"/>
                  <a:gd name="connsiteX1" fmla="*/ 1239046 w 1239046"/>
                  <a:gd name="connsiteY1" fmla="*/ 0 h 525656"/>
                  <a:gd name="connsiteX2" fmla="*/ 1239046 w 1239046"/>
                  <a:gd name="connsiteY2" fmla="*/ 525656 h 525656"/>
                  <a:gd name="connsiteX3" fmla="*/ 0 w 1239046"/>
                  <a:gd name="connsiteY3" fmla="*/ 525656 h 525656"/>
                  <a:gd name="connsiteX4" fmla="*/ 0 w 1239046"/>
                  <a:gd name="connsiteY4" fmla="*/ 0 h 52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9046" h="525656">
                    <a:moveTo>
                      <a:pt x="0" y="0"/>
                    </a:moveTo>
                    <a:lnTo>
                      <a:pt x="1239046" y="0"/>
                    </a:lnTo>
                    <a:lnTo>
                      <a:pt x="1239046" y="525656"/>
                    </a:lnTo>
                    <a:lnTo>
                      <a:pt x="0" y="525656"/>
                    </a:lnTo>
                    <a:lnTo>
                      <a:pt x="0" y="0"/>
                    </a:lnTo>
                    <a:close/>
                  </a:path>
                </a:pathLst>
              </a:custGeom>
              <a:noFill/>
              <a:ln w="19050" cap="flat" cmpd="sng" algn="ctr">
                <a:noFill/>
                <a:prstDash val="solid"/>
                <a:miter lim="800000"/>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algn="ctr"/>
                <a:r>
                  <a:rPr lang="en-US" sz="1200" dirty="0">
                    <a:solidFill>
                      <a:schemeClr val="bg1"/>
                    </a:solidFill>
                  </a:rPr>
                  <a:t>If payment is still pending, legal notices are generated and assigned to legal officers for further action.</a:t>
                </a:r>
              </a:p>
            </p:txBody>
          </p:sp>
        </p:grpSp>
      </p:grpSp>
      <p:sp>
        <p:nvSpPr>
          <p:cNvPr id="25" name="TextBox 24">
            <a:extLst>
              <a:ext uri="{FF2B5EF4-FFF2-40B4-BE49-F238E27FC236}">
                <a16:creationId xmlns:a16="http://schemas.microsoft.com/office/drawing/2014/main" id="{000F65AA-5C17-9FF1-E15C-E10A37B5D3BC}"/>
              </a:ext>
            </a:extLst>
          </p:cNvPr>
          <p:cNvSpPr txBox="1"/>
          <p:nvPr/>
        </p:nvSpPr>
        <p:spPr>
          <a:xfrm>
            <a:off x="242267" y="2311196"/>
            <a:ext cx="11798819" cy="830997"/>
          </a:xfrm>
          <a:prstGeom prst="rect">
            <a:avLst/>
          </a:prstGeom>
          <a:noFill/>
        </p:spPr>
        <p:txBody>
          <a:bodyPr wrap="square" anchor="ctr" anchorCtr="0">
            <a:spAutoFit/>
          </a:bodyPr>
          <a:lstStyle>
            <a:defPPr>
              <a:defRPr lang="en-US"/>
            </a:defPPr>
            <a:lvl1pPr algn="just">
              <a:defRPr sz="1600">
                <a:solidFill>
                  <a:schemeClr val="bg1"/>
                </a:solidFill>
              </a:defRPr>
            </a:lvl1pPr>
          </a:lstStyle>
          <a:p>
            <a:r>
              <a:rPr lang="en-US" dirty="0" err="1"/>
              <a:t>SkyaiCode</a:t>
            </a:r>
            <a:r>
              <a:rPr lang="en-US" dirty="0"/>
              <a:t> was used to build a structured payment recovery workflow. The system automatically identifies customers with pending payments, triggers demand notices, escalates unresolved cases to legal teams, and maintains a complete audit trail of communications and actions.</a:t>
            </a:r>
          </a:p>
        </p:txBody>
      </p:sp>
      <p:graphicFrame>
        <p:nvGraphicFramePr>
          <p:cNvPr id="30" name="Diagram 29">
            <a:extLst>
              <a:ext uri="{FF2B5EF4-FFF2-40B4-BE49-F238E27FC236}">
                <a16:creationId xmlns:a16="http://schemas.microsoft.com/office/drawing/2014/main" id="{A4569129-C7F4-A0DF-0374-9169D17631B7}"/>
              </a:ext>
            </a:extLst>
          </p:cNvPr>
          <p:cNvGraphicFramePr/>
          <p:nvPr>
            <p:extLst>
              <p:ext uri="{D42A27DB-BD31-4B8C-83A1-F6EECF244321}">
                <p14:modId xmlns:p14="http://schemas.microsoft.com/office/powerpoint/2010/main" val="2968128046"/>
              </p:ext>
            </p:extLst>
          </p:nvPr>
        </p:nvGraphicFramePr>
        <p:xfrm>
          <a:off x="220799" y="5591198"/>
          <a:ext cx="11798819" cy="13071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9" name="Picture 38">
            <a:extLst>
              <a:ext uri="{FF2B5EF4-FFF2-40B4-BE49-F238E27FC236}">
                <a16:creationId xmlns:a16="http://schemas.microsoft.com/office/drawing/2014/main" id="{F2F28A3F-AEFB-BF13-CA85-D15804420AD3}"/>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8499124" y="363844"/>
            <a:ext cx="3509115" cy="1774581"/>
          </a:xfrm>
          <a:prstGeom prst="roundRect">
            <a:avLst>
              <a:gd name="adj" fmla="val 14848"/>
            </a:avLst>
          </a:prstGeom>
          <a:effectLst>
            <a:outerShdw blurRad="368300" dist="38100" dir="2520000" sx="102000" sy="102000" algn="tl" rotWithShape="0">
              <a:prstClr val="black">
                <a:alpha val="40000"/>
              </a:prstClr>
            </a:outerShdw>
          </a:effectLst>
        </p:spPr>
      </p:pic>
      <p:pic>
        <p:nvPicPr>
          <p:cNvPr id="43" name="Picture 42">
            <a:extLst>
              <a:ext uri="{FF2B5EF4-FFF2-40B4-BE49-F238E27FC236}">
                <a16:creationId xmlns:a16="http://schemas.microsoft.com/office/drawing/2014/main" id="{2AA03896-A475-CCE8-174D-0603130B010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46159" y="3476072"/>
            <a:ext cx="419072" cy="419072"/>
          </a:xfrm>
          <a:prstGeom prst="rect">
            <a:avLst/>
          </a:prstGeom>
        </p:spPr>
      </p:pic>
      <p:pic>
        <p:nvPicPr>
          <p:cNvPr id="45" name="Graphic 44" descr="Envelope with solid fill">
            <a:extLst>
              <a:ext uri="{FF2B5EF4-FFF2-40B4-BE49-F238E27FC236}">
                <a16:creationId xmlns:a16="http://schemas.microsoft.com/office/drawing/2014/main" id="{52BBE6FA-7D1C-794A-0CA8-A6A41481DF4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83589" y="3438357"/>
            <a:ext cx="414434" cy="414434"/>
          </a:xfrm>
          <a:prstGeom prst="rect">
            <a:avLst/>
          </a:prstGeom>
        </p:spPr>
      </p:pic>
      <p:pic>
        <p:nvPicPr>
          <p:cNvPr id="47" name="Graphic 46" descr="Email with solid fill">
            <a:extLst>
              <a:ext uri="{FF2B5EF4-FFF2-40B4-BE49-F238E27FC236}">
                <a16:creationId xmlns:a16="http://schemas.microsoft.com/office/drawing/2014/main" id="{7C08139E-EA15-0AE8-4CCE-699459DD4D6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846674" y="3462907"/>
            <a:ext cx="389519" cy="389519"/>
          </a:xfrm>
          <a:prstGeom prst="rect">
            <a:avLst/>
          </a:prstGeom>
        </p:spPr>
      </p:pic>
      <p:pic>
        <p:nvPicPr>
          <p:cNvPr id="49" name="Picture 48">
            <a:extLst>
              <a:ext uri="{FF2B5EF4-FFF2-40B4-BE49-F238E27FC236}">
                <a16:creationId xmlns:a16="http://schemas.microsoft.com/office/drawing/2014/main" id="{15A9B39C-50D6-8536-AF02-275492D27F04}"/>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7148366" y="3478923"/>
            <a:ext cx="366107" cy="316053"/>
          </a:xfrm>
          <a:prstGeom prst="rect">
            <a:avLst/>
          </a:prstGeom>
        </p:spPr>
      </p:pic>
      <p:pic>
        <p:nvPicPr>
          <p:cNvPr id="51" name="Graphic 50" descr="Arrow circle with solid fill">
            <a:extLst>
              <a:ext uri="{FF2B5EF4-FFF2-40B4-BE49-F238E27FC236}">
                <a16:creationId xmlns:a16="http://schemas.microsoft.com/office/drawing/2014/main" id="{EA00FE85-4E83-AD4C-219C-23EC32953C0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545538" y="3350386"/>
            <a:ext cx="590376" cy="590376"/>
          </a:xfrm>
          <a:prstGeom prst="rect">
            <a:avLst/>
          </a:prstGeom>
        </p:spPr>
      </p:pic>
      <p:pic>
        <p:nvPicPr>
          <p:cNvPr id="53" name="Graphic 52" descr="Checkmark with solid fill">
            <a:extLst>
              <a:ext uri="{FF2B5EF4-FFF2-40B4-BE49-F238E27FC236}">
                <a16:creationId xmlns:a16="http://schemas.microsoft.com/office/drawing/2014/main" id="{6BA88070-674B-7021-86F7-6E9EEBB5985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766354" y="3549386"/>
            <a:ext cx="192375" cy="192375"/>
          </a:xfrm>
          <a:prstGeom prst="rect">
            <a:avLst/>
          </a:prstGeom>
        </p:spPr>
      </p:pic>
    </p:spTree>
    <p:extLst>
      <p:ext uri="{BB962C8B-B14F-4D97-AF65-F5344CB8AC3E}">
        <p14:creationId xmlns:p14="http://schemas.microsoft.com/office/powerpoint/2010/main" val="3750184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BFB77-1AC3-4A42-4745-AE04AE4ECAA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0AA7EC7-B737-AE7F-A9D1-9E2FBCF884F3}"/>
              </a:ext>
            </a:extLst>
          </p:cNvPr>
          <p:cNvSpPr/>
          <p:nvPr/>
        </p:nvSpPr>
        <p:spPr>
          <a:xfrm>
            <a:off x="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Top Corners Rounded 11">
            <a:extLst>
              <a:ext uri="{FF2B5EF4-FFF2-40B4-BE49-F238E27FC236}">
                <a16:creationId xmlns:a16="http://schemas.microsoft.com/office/drawing/2014/main" id="{B3082E12-A901-F00D-68AE-74E33AED27D9}"/>
              </a:ext>
            </a:extLst>
          </p:cNvPr>
          <p:cNvSpPr/>
          <p:nvPr/>
        </p:nvSpPr>
        <p:spPr>
          <a:xfrm rot="10800000">
            <a:off x="174820" y="0"/>
            <a:ext cx="2953050"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D1AC5E9D-E7C7-C006-F662-401944C7E398}"/>
              </a:ext>
            </a:extLst>
          </p:cNvPr>
          <p:cNvSpPr txBox="1"/>
          <p:nvPr/>
        </p:nvSpPr>
        <p:spPr>
          <a:xfrm>
            <a:off x="1172303" y="30387"/>
            <a:ext cx="958083" cy="338554"/>
          </a:xfrm>
          <a:prstGeom prst="rect">
            <a:avLst/>
          </a:prstGeom>
          <a:noFill/>
        </p:spPr>
        <p:txBody>
          <a:bodyPr wrap="none" rtlCol="0">
            <a:spAutoFit/>
          </a:bodyPr>
          <a:lstStyle/>
          <a:p>
            <a:r>
              <a:rPr lang="en-IN" sz="1600" dirty="0">
                <a:solidFill>
                  <a:schemeClr val="bg1"/>
                </a:solidFill>
              </a:rPr>
              <a:t>Features</a:t>
            </a:r>
          </a:p>
        </p:txBody>
      </p:sp>
      <p:graphicFrame>
        <p:nvGraphicFramePr>
          <p:cNvPr id="2" name="Diagram 1">
            <a:extLst>
              <a:ext uri="{FF2B5EF4-FFF2-40B4-BE49-F238E27FC236}">
                <a16:creationId xmlns:a16="http://schemas.microsoft.com/office/drawing/2014/main" id="{B000F5A7-1FCF-8607-6FC3-BFB61AD9FDC2}"/>
              </a:ext>
            </a:extLst>
          </p:cNvPr>
          <p:cNvGraphicFramePr/>
          <p:nvPr/>
        </p:nvGraphicFramePr>
        <p:xfrm>
          <a:off x="684835" y="1543782"/>
          <a:ext cx="10822329" cy="44562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Rounded Corners 3">
            <a:extLst>
              <a:ext uri="{FF2B5EF4-FFF2-40B4-BE49-F238E27FC236}">
                <a16:creationId xmlns:a16="http://schemas.microsoft.com/office/drawing/2014/main" id="{74CC0C1A-319A-19E4-1CC9-BE04DEA35A05}"/>
              </a:ext>
            </a:extLst>
          </p:cNvPr>
          <p:cNvSpPr/>
          <p:nvPr/>
        </p:nvSpPr>
        <p:spPr>
          <a:xfrm>
            <a:off x="932334" y="1762198"/>
            <a:ext cx="1952393" cy="544010"/>
          </a:xfrm>
          <a:prstGeom prst="roundRect">
            <a:avLst>
              <a:gd name="adj" fmla="val 33975"/>
            </a:avLst>
          </a:prstGeom>
          <a:solidFill>
            <a:srgbClr val="BFF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Designed for Citizen Developers</a:t>
            </a:r>
          </a:p>
        </p:txBody>
      </p:sp>
      <p:sp>
        <p:nvSpPr>
          <p:cNvPr id="7" name="Rectangle: Rounded Corners 6">
            <a:extLst>
              <a:ext uri="{FF2B5EF4-FFF2-40B4-BE49-F238E27FC236}">
                <a16:creationId xmlns:a16="http://schemas.microsoft.com/office/drawing/2014/main" id="{0E6108E3-1800-2106-BA83-BDD5D04D6504}"/>
              </a:ext>
            </a:extLst>
          </p:cNvPr>
          <p:cNvSpPr/>
          <p:nvPr/>
        </p:nvSpPr>
        <p:spPr>
          <a:xfrm>
            <a:off x="3744983" y="1762198"/>
            <a:ext cx="1952393" cy="544010"/>
          </a:xfrm>
          <a:prstGeom prst="roundRect">
            <a:avLst>
              <a:gd name="adj" fmla="val 33975"/>
            </a:avLst>
          </a:prstGeom>
          <a:solidFill>
            <a:srgbClr val="BFF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Keep it Simple</a:t>
            </a:r>
          </a:p>
          <a:p>
            <a:pPr algn="ctr"/>
            <a:r>
              <a:rPr lang="en-IN" sz="1400" dirty="0">
                <a:solidFill>
                  <a:schemeClr val="tx1"/>
                </a:solidFill>
              </a:rPr>
              <a:t>Architecture</a:t>
            </a:r>
          </a:p>
        </p:txBody>
      </p:sp>
      <p:sp>
        <p:nvSpPr>
          <p:cNvPr id="8" name="Rectangle: Rounded Corners 7">
            <a:extLst>
              <a:ext uri="{FF2B5EF4-FFF2-40B4-BE49-F238E27FC236}">
                <a16:creationId xmlns:a16="http://schemas.microsoft.com/office/drawing/2014/main" id="{65320755-A3C3-CFA2-39A5-258CB777F84F}"/>
              </a:ext>
            </a:extLst>
          </p:cNvPr>
          <p:cNvSpPr/>
          <p:nvPr/>
        </p:nvSpPr>
        <p:spPr>
          <a:xfrm>
            <a:off x="6557632" y="1762198"/>
            <a:ext cx="1952393" cy="544010"/>
          </a:xfrm>
          <a:prstGeom prst="roundRect">
            <a:avLst>
              <a:gd name="adj" fmla="val 33975"/>
            </a:avLst>
          </a:prstGeom>
          <a:solidFill>
            <a:srgbClr val="BFF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Bolt onto any System</a:t>
            </a:r>
          </a:p>
        </p:txBody>
      </p:sp>
      <p:sp>
        <p:nvSpPr>
          <p:cNvPr id="9" name="Rectangle: Rounded Corners 8">
            <a:extLst>
              <a:ext uri="{FF2B5EF4-FFF2-40B4-BE49-F238E27FC236}">
                <a16:creationId xmlns:a16="http://schemas.microsoft.com/office/drawing/2014/main" id="{89CE0E0B-3350-D441-6C93-1E32CB202F14}"/>
              </a:ext>
            </a:extLst>
          </p:cNvPr>
          <p:cNvSpPr/>
          <p:nvPr/>
        </p:nvSpPr>
        <p:spPr>
          <a:xfrm>
            <a:off x="9307273" y="1762198"/>
            <a:ext cx="1952393" cy="544010"/>
          </a:xfrm>
          <a:prstGeom prst="roundRect">
            <a:avLst>
              <a:gd name="adj" fmla="val 33975"/>
            </a:avLst>
          </a:prstGeom>
          <a:solidFill>
            <a:srgbClr val="BFF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Dashboards and Reports</a:t>
            </a:r>
          </a:p>
        </p:txBody>
      </p:sp>
      <p:sp>
        <p:nvSpPr>
          <p:cNvPr id="10" name="Rectangle: Rounded Corners 9">
            <a:extLst>
              <a:ext uri="{FF2B5EF4-FFF2-40B4-BE49-F238E27FC236}">
                <a16:creationId xmlns:a16="http://schemas.microsoft.com/office/drawing/2014/main" id="{A8FADB9F-96C9-D699-3E70-CCC004E5E961}"/>
              </a:ext>
            </a:extLst>
          </p:cNvPr>
          <p:cNvSpPr/>
          <p:nvPr/>
        </p:nvSpPr>
        <p:spPr>
          <a:xfrm>
            <a:off x="932334" y="4146583"/>
            <a:ext cx="1952393" cy="544010"/>
          </a:xfrm>
          <a:prstGeom prst="roundRect">
            <a:avLst>
              <a:gd name="adj" fmla="val 33975"/>
            </a:avLst>
          </a:prstGeom>
          <a:solidFill>
            <a:srgbClr val="BFF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AI/ML Led Platform </a:t>
            </a:r>
          </a:p>
        </p:txBody>
      </p:sp>
      <p:sp>
        <p:nvSpPr>
          <p:cNvPr id="11" name="Rectangle: Rounded Corners 10">
            <a:extLst>
              <a:ext uri="{FF2B5EF4-FFF2-40B4-BE49-F238E27FC236}">
                <a16:creationId xmlns:a16="http://schemas.microsoft.com/office/drawing/2014/main" id="{84C9D862-D3F5-4E95-005F-95DE3344484C}"/>
              </a:ext>
            </a:extLst>
          </p:cNvPr>
          <p:cNvSpPr/>
          <p:nvPr/>
        </p:nvSpPr>
        <p:spPr>
          <a:xfrm>
            <a:off x="3744983" y="4103227"/>
            <a:ext cx="1952393" cy="544010"/>
          </a:xfrm>
          <a:prstGeom prst="roundRect">
            <a:avLst>
              <a:gd name="adj" fmla="val 33975"/>
            </a:avLst>
          </a:prstGeom>
          <a:solidFill>
            <a:srgbClr val="BFF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In Built DMS</a:t>
            </a:r>
          </a:p>
        </p:txBody>
      </p:sp>
      <p:sp>
        <p:nvSpPr>
          <p:cNvPr id="14" name="Rectangle: Rounded Corners 13">
            <a:extLst>
              <a:ext uri="{FF2B5EF4-FFF2-40B4-BE49-F238E27FC236}">
                <a16:creationId xmlns:a16="http://schemas.microsoft.com/office/drawing/2014/main" id="{9C94C140-A8F5-239C-F388-9240B2490E64}"/>
              </a:ext>
            </a:extLst>
          </p:cNvPr>
          <p:cNvSpPr/>
          <p:nvPr/>
        </p:nvSpPr>
        <p:spPr>
          <a:xfrm>
            <a:off x="6557632" y="4103227"/>
            <a:ext cx="1952393" cy="544010"/>
          </a:xfrm>
          <a:prstGeom prst="roundRect">
            <a:avLst>
              <a:gd name="adj" fmla="val 33975"/>
            </a:avLst>
          </a:prstGeom>
          <a:solidFill>
            <a:srgbClr val="BFF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Deploy BOTS</a:t>
            </a:r>
          </a:p>
        </p:txBody>
      </p:sp>
      <p:sp>
        <p:nvSpPr>
          <p:cNvPr id="15" name="Rectangle: Rounded Corners 14">
            <a:extLst>
              <a:ext uri="{FF2B5EF4-FFF2-40B4-BE49-F238E27FC236}">
                <a16:creationId xmlns:a16="http://schemas.microsoft.com/office/drawing/2014/main" id="{03B11D23-5287-1845-ED0A-8167D8A43E14}"/>
              </a:ext>
            </a:extLst>
          </p:cNvPr>
          <p:cNvSpPr/>
          <p:nvPr/>
        </p:nvSpPr>
        <p:spPr>
          <a:xfrm>
            <a:off x="9307273" y="4146583"/>
            <a:ext cx="1952393" cy="544010"/>
          </a:xfrm>
          <a:prstGeom prst="roundRect">
            <a:avLst>
              <a:gd name="adj" fmla="val 33975"/>
            </a:avLst>
          </a:prstGeom>
          <a:solidFill>
            <a:srgbClr val="BFF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Supports Stateful and Stateless</a:t>
            </a:r>
          </a:p>
        </p:txBody>
      </p:sp>
      <p:pic>
        <p:nvPicPr>
          <p:cNvPr id="3" name="Picture 2">
            <a:extLst>
              <a:ext uri="{FF2B5EF4-FFF2-40B4-BE49-F238E27FC236}">
                <a16:creationId xmlns:a16="http://schemas.microsoft.com/office/drawing/2014/main" id="{1FCC26F1-C65B-3DD9-47F8-EA9430A30864}"/>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0475684" y="44075"/>
            <a:ext cx="1413047" cy="681773"/>
          </a:xfrm>
          <a:prstGeom prst="rect">
            <a:avLst/>
          </a:prstGeom>
        </p:spPr>
      </p:pic>
    </p:spTree>
    <p:custDataLst>
      <p:tags r:id="rId1"/>
    </p:custDataLst>
    <p:extLst>
      <p:ext uri="{BB962C8B-B14F-4D97-AF65-F5344CB8AC3E}">
        <p14:creationId xmlns:p14="http://schemas.microsoft.com/office/powerpoint/2010/main" val="2292636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11311EB6-B616-49A1-B91D-CEC43D556A00}"/>
                                            </p:graphicEl>
                                          </p:spTgt>
                                        </p:tgtEl>
                                        <p:attrNameLst>
                                          <p:attrName>style.visibility</p:attrName>
                                        </p:attrNameLst>
                                      </p:cBhvr>
                                      <p:to>
                                        <p:strVal val="visible"/>
                                      </p:to>
                                    </p:set>
                                    <p:animEffect transition="in" filter="fade">
                                      <p:cBhvr>
                                        <p:cTn id="7" dur="500"/>
                                        <p:tgtEl>
                                          <p:spTgt spid="2">
                                            <p:graphicEl>
                                              <a:dgm id="{11311EB6-B616-49A1-B91D-CEC43D556A00}"/>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graphicEl>
                                              <a:dgm id="{AE52F869-6A4C-4268-8ED2-5BF05D19ADC5}"/>
                                            </p:graphicEl>
                                          </p:spTgt>
                                        </p:tgtEl>
                                        <p:attrNameLst>
                                          <p:attrName>style.visibility</p:attrName>
                                        </p:attrNameLst>
                                      </p:cBhvr>
                                      <p:to>
                                        <p:strVal val="visible"/>
                                      </p:to>
                                    </p:set>
                                    <p:animEffect transition="in" filter="fade">
                                      <p:cBhvr>
                                        <p:cTn id="15" dur="500"/>
                                        <p:tgtEl>
                                          <p:spTgt spid="2">
                                            <p:graphicEl>
                                              <a:dgm id="{AE52F869-6A4C-4268-8ED2-5BF05D19ADC5}"/>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
                                            <p:graphicEl>
                                              <a:dgm id="{E653F629-43B0-4E83-982F-DC5E4A94DEC1}"/>
                                            </p:graphicEl>
                                          </p:spTgt>
                                        </p:tgtEl>
                                        <p:attrNameLst>
                                          <p:attrName>style.visibility</p:attrName>
                                        </p:attrNameLst>
                                      </p:cBhvr>
                                      <p:to>
                                        <p:strVal val="visible"/>
                                      </p:to>
                                    </p:set>
                                    <p:animEffect transition="in" filter="fade">
                                      <p:cBhvr>
                                        <p:cTn id="23" dur="500"/>
                                        <p:tgtEl>
                                          <p:spTgt spid="2">
                                            <p:graphicEl>
                                              <a:dgm id="{E653F629-43B0-4E83-982F-DC5E4A94DEC1}"/>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
                                            <p:graphicEl>
                                              <a:dgm id="{CB4A345E-D777-4DF0-81AE-7813D8BB14AE}"/>
                                            </p:graphicEl>
                                          </p:spTgt>
                                        </p:tgtEl>
                                        <p:attrNameLst>
                                          <p:attrName>style.visibility</p:attrName>
                                        </p:attrNameLst>
                                      </p:cBhvr>
                                      <p:to>
                                        <p:strVal val="visible"/>
                                      </p:to>
                                    </p:set>
                                    <p:animEffect transition="in" filter="fade">
                                      <p:cBhvr>
                                        <p:cTn id="31" dur="500"/>
                                        <p:tgtEl>
                                          <p:spTgt spid="2">
                                            <p:graphicEl>
                                              <a:dgm id="{CB4A345E-D777-4DF0-81AE-7813D8BB14AE}"/>
                                            </p:graphic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
                                            <p:graphicEl>
                                              <a:dgm id="{87F6A9B1-26FB-409C-9822-48AE931B25F9}"/>
                                            </p:graphicEl>
                                          </p:spTgt>
                                        </p:tgtEl>
                                        <p:attrNameLst>
                                          <p:attrName>style.visibility</p:attrName>
                                        </p:attrNameLst>
                                      </p:cBhvr>
                                      <p:to>
                                        <p:strVal val="visible"/>
                                      </p:to>
                                    </p:set>
                                    <p:animEffect transition="in" filter="fade">
                                      <p:cBhvr>
                                        <p:cTn id="39" dur="500"/>
                                        <p:tgtEl>
                                          <p:spTgt spid="2">
                                            <p:graphicEl>
                                              <a:dgm id="{87F6A9B1-26FB-409C-9822-48AE931B25F9}"/>
                                            </p:graphic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
                                            <p:graphicEl>
                                              <a:dgm id="{311C2801-E36E-44E7-920C-F2D636782DC8}"/>
                                            </p:graphicEl>
                                          </p:spTgt>
                                        </p:tgtEl>
                                        <p:attrNameLst>
                                          <p:attrName>style.visibility</p:attrName>
                                        </p:attrNameLst>
                                      </p:cBhvr>
                                      <p:to>
                                        <p:strVal val="visible"/>
                                      </p:to>
                                    </p:set>
                                    <p:animEffect transition="in" filter="fade">
                                      <p:cBhvr>
                                        <p:cTn id="47" dur="500"/>
                                        <p:tgtEl>
                                          <p:spTgt spid="2">
                                            <p:graphicEl>
                                              <a:dgm id="{311C2801-E36E-44E7-920C-F2D636782DC8}"/>
                                            </p:graphic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
                                            <p:graphicEl>
                                              <a:dgm id="{D4EC9769-5F9C-47FA-9D60-E514BE620EBE}"/>
                                            </p:graphicEl>
                                          </p:spTgt>
                                        </p:tgtEl>
                                        <p:attrNameLst>
                                          <p:attrName>style.visibility</p:attrName>
                                        </p:attrNameLst>
                                      </p:cBhvr>
                                      <p:to>
                                        <p:strVal val="visible"/>
                                      </p:to>
                                    </p:set>
                                    <p:animEffect transition="in" filter="fade">
                                      <p:cBhvr>
                                        <p:cTn id="55" dur="500"/>
                                        <p:tgtEl>
                                          <p:spTgt spid="2">
                                            <p:graphicEl>
                                              <a:dgm id="{D4EC9769-5F9C-47FA-9D60-E514BE620EBE}"/>
                                            </p:graphic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00"/>
                                        <p:tgtEl>
                                          <p:spTgt spid="1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
                                            <p:graphicEl>
                                              <a:dgm id="{4A7B8E97-81F1-4819-B3F1-DA41A75AA0CC}"/>
                                            </p:graphicEl>
                                          </p:spTgt>
                                        </p:tgtEl>
                                        <p:attrNameLst>
                                          <p:attrName>style.visibility</p:attrName>
                                        </p:attrNameLst>
                                      </p:cBhvr>
                                      <p:to>
                                        <p:strVal val="visible"/>
                                      </p:to>
                                    </p:set>
                                    <p:animEffect transition="in" filter="fade">
                                      <p:cBhvr>
                                        <p:cTn id="63" dur="500"/>
                                        <p:tgtEl>
                                          <p:spTgt spid="2">
                                            <p:graphicEl>
                                              <a:dgm id="{4A7B8E97-81F1-4819-B3F1-DA41A75AA0CC}"/>
                                            </p:graphicEl>
                                          </p:spTgt>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one"/>
        </p:bldSub>
      </p:bldGraphic>
      <p:bldP spid="4" grpId="0" animBg="1"/>
      <p:bldP spid="7" grpId="0" animBg="1"/>
      <p:bldP spid="8" grpId="0" animBg="1"/>
      <p:bldP spid="9" grpId="0" animBg="1"/>
      <p:bldP spid="10" grpId="0" animBg="1"/>
      <p:bldP spid="11" grpId="0" animBg="1"/>
      <p:bldP spid="1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D1C1D-A3FF-4E71-CEC2-6E28AC9C1725}"/>
              </a:ext>
            </a:extLst>
          </p:cNvPr>
          <p:cNvSpPr>
            <a:spLocks noGrp="1"/>
          </p:cNvSpPr>
          <p:nvPr>
            <p:ph type="title"/>
          </p:nvPr>
        </p:nvSpPr>
        <p:spPr/>
        <p:txBody>
          <a:bodyPr/>
          <a:lstStyle/>
          <a:p>
            <a:endParaRPr lang="en-IN"/>
          </a:p>
        </p:txBody>
      </p:sp>
      <p:sp>
        <p:nvSpPr>
          <p:cNvPr id="4" name="Rectangle 3">
            <a:extLst>
              <a:ext uri="{FF2B5EF4-FFF2-40B4-BE49-F238E27FC236}">
                <a16:creationId xmlns:a16="http://schemas.microsoft.com/office/drawing/2014/main" id="{AC00CA06-3866-4E70-6791-8F56291D3EC8}"/>
              </a:ext>
            </a:extLst>
          </p:cNvPr>
          <p:cNvSpPr/>
          <p:nvPr/>
        </p:nvSpPr>
        <p:spPr>
          <a:xfrm>
            <a:off x="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53EEF925-9660-0C9E-EE70-79EC6B078CF7}"/>
              </a:ext>
            </a:extLst>
          </p:cNvPr>
          <p:cNvSpPr txBox="1"/>
          <p:nvPr/>
        </p:nvSpPr>
        <p:spPr>
          <a:xfrm>
            <a:off x="5198480" y="730867"/>
            <a:ext cx="6585995" cy="2677656"/>
          </a:xfrm>
          <a:prstGeom prst="rect">
            <a:avLst/>
          </a:prstGeom>
          <a:noFill/>
        </p:spPr>
        <p:txBody>
          <a:bodyPr wrap="square">
            <a:spAutoFit/>
          </a:bodyPr>
          <a:lstStyle/>
          <a:p>
            <a:pPr algn="just"/>
            <a:r>
              <a:rPr lang="en-US" sz="4400" dirty="0">
                <a:solidFill>
                  <a:schemeClr val="bg1"/>
                </a:solidFill>
              </a:rPr>
              <a:t>Built-in integrations with </a:t>
            </a:r>
          </a:p>
          <a:p>
            <a:pPr algn="just"/>
            <a:r>
              <a:rPr lang="en-US" sz="8000" b="1" dirty="0">
                <a:solidFill>
                  <a:schemeClr val="accent3">
                    <a:lumMod val="60000"/>
                    <a:lumOff val="40000"/>
                  </a:schemeClr>
                </a:solidFill>
              </a:rPr>
              <a:t>50+</a:t>
            </a:r>
            <a:r>
              <a:rPr lang="en-US" sz="8000" dirty="0">
                <a:solidFill>
                  <a:schemeClr val="bg1"/>
                </a:solidFill>
              </a:rPr>
              <a:t> </a:t>
            </a:r>
            <a:r>
              <a:rPr lang="en-US" sz="4400" dirty="0">
                <a:solidFill>
                  <a:schemeClr val="bg1"/>
                </a:solidFill>
              </a:rPr>
              <a:t>industry products </a:t>
            </a:r>
          </a:p>
          <a:p>
            <a:pPr algn="just"/>
            <a:r>
              <a:rPr lang="en-US" sz="4400" dirty="0">
                <a:solidFill>
                  <a:schemeClr val="bg1"/>
                </a:solidFill>
              </a:rPr>
              <a:t>and leading tools</a:t>
            </a:r>
          </a:p>
        </p:txBody>
      </p:sp>
      <p:pic>
        <p:nvPicPr>
          <p:cNvPr id="8" name="Content Placeholder 7" descr="Puzzle with solid fill">
            <a:extLst>
              <a:ext uri="{FF2B5EF4-FFF2-40B4-BE49-F238E27FC236}">
                <a16:creationId xmlns:a16="http://schemas.microsoft.com/office/drawing/2014/main" id="{96F15638-276D-2444-E632-0D1E1784BAFD}"/>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648183" y="1443644"/>
            <a:ext cx="2340015" cy="2340015"/>
          </a:xfrm>
        </p:spPr>
      </p:pic>
      <p:pic>
        <p:nvPicPr>
          <p:cNvPr id="9" name="Content Placeholder 7" descr="Puzzle with solid fill">
            <a:extLst>
              <a:ext uri="{FF2B5EF4-FFF2-40B4-BE49-F238E27FC236}">
                <a16:creationId xmlns:a16="http://schemas.microsoft.com/office/drawing/2014/main" id="{7994E3C1-97E5-DC30-050C-C752E7F44D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6200000">
            <a:off x="1678874" y="426510"/>
            <a:ext cx="2340015" cy="2340015"/>
          </a:xfrm>
          <a:prstGeom prst="rect">
            <a:avLst/>
          </a:prstGeom>
        </p:spPr>
      </p:pic>
      <p:sp>
        <p:nvSpPr>
          <p:cNvPr id="10" name="Rectangle 9">
            <a:extLst>
              <a:ext uri="{FF2B5EF4-FFF2-40B4-BE49-F238E27FC236}">
                <a16:creationId xmlns:a16="http://schemas.microsoft.com/office/drawing/2014/main" id="{DDFF9C5E-3866-6EB0-02E8-8071DA5DC55A}"/>
              </a:ext>
            </a:extLst>
          </p:cNvPr>
          <p:cNvSpPr/>
          <p:nvPr/>
        </p:nvSpPr>
        <p:spPr>
          <a:xfrm>
            <a:off x="0" y="3845044"/>
            <a:ext cx="12192000" cy="2798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Oracle Fusion Updates Designed to Deliver Greater Customer Support">
            <a:extLst>
              <a:ext uri="{FF2B5EF4-FFF2-40B4-BE49-F238E27FC236}">
                <a16:creationId xmlns:a16="http://schemas.microsoft.com/office/drawing/2014/main" id="{263F4480-9284-CC0F-8A34-0BE4391C312F}"/>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241735" y="4076819"/>
            <a:ext cx="1932316" cy="10752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hat is NetSuite? | Everything You Need to Know About NetSuite">
            <a:extLst>
              <a:ext uri="{FF2B5EF4-FFF2-40B4-BE49-F238E27FC236}">
                <a16:creationId xmlns:a16="http://schemas.microsoft.com/office/drawing/2014/main" id="{2F52947A-ED56-1456-5D39-A3CFB9DF13C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342847" y="4118188"/>
            <a:ext cx="2340015" cy="88847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icrosoft Dynamics 365 Business Central - HA Consultancy">
            <a:extLst>
              <a:ext uri="{FF2B5EF4-FFF2-40B4-BE49-F238E27FC236}">
                <a16:creationId xmlns:a16="http://schemas.microsoft.com/office/drawing/2014/main" id="{458688E2-E0A3-E666-61E2-3AE4708D27C4}"/>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851658" y="3911870"/>
            <a:ext cx="2740485" cy="131543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16D784AF-9939-A9FE-E26B-DCBA586ED4F2}"/>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8100253" y="4118188"/>
            <a:ext cx="1434267" cy="100405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SAP – Logos Download">
            <a:extLst>
              <a:ext uri="{FF2B5EF4-FFF2-40B4-BE49-F238E27FC236}">
                <a16:creationId xmlns:a16="http://schemas.microsoft.com/office/drawing/2014/main" id="{5AE6BCB4-489F-0F84-E0C9-0C9C312ED91D}"/>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10042630" y="4139390"/>
            <a:ext cx="1546668" cy="78763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35801334-BA26-F0E3-561A-FC1903CDA67A}"/>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5198480" y="5535732"/>
            <a:ext cx="2446116" cy="303853"/>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How to get back old Gmail, Drive, Calendar icons on Android, iOS and Chrome  | Technology News - The Indian Express">
            <a:extLst>
              <a:ext uri="{FF2B5EF4-FFF2-40B4-BE49-F238E27FC236}">
                <a16:creationId xmlns:a16="http://schemas.microsoft.com/office/drawing/2014/main" id="{1379A2F0-D4F9-E3E6-3128-24F7404BFE17}"/>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264986" y="5068048"/>
            <a:ext cx="2603447" cy="1447083"/>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Microsoft Unveils a New Look - The Official Microsoft Blog">
            <a:extLst>
              <a:ext uri="{FF2B5EF4-FFF2-40B4-BE49-F238E27FC236}">
                <a16:creationId xmlns:a16="http://schemas.microsoft.com/office/drawing/2014/main" id="{40726760-DD39-C7F7-682C-F5D74BC75E2F}"/>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7885555" y="5334520"/>
            <a:ext cx="2157075" cy="792613"/>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Sage Logo PNG Transparent – Brands Logos">
            <a:extLst>
              <a:ext uri="{FF2B5EF4-FFF2-40B4-BE49-F238E27FC236}">
                <a16:creationId xmlns:a16="http://schemas.microsoft.com/office/drawing/2014/main" id="{5AEE238B-133B-870D-64AF-D5FEDC58240C}"/>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10143871" y="5488865"/>
            <a:ext cx="1465726" cy="593161"/>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A7F1A3E7-2815-6D89-EB67-B9481AE99A1B}"/>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2891684" y="5443184"/>
            <a:ext cx="1791178" cy="592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1908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80434-9A4D-1377-0628-9FA0F2DA987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1C163D6-12D7-A048-469F-86102EAEC4A8}"/>
              </a:ext>
            </a:extLst>
          </p:cNvPr>
          <p:cNvSpPr/>
          <p:nvPr/>
        </p:nvSpPr>
        <p:spPr>
          <a:xfrm>
            <a:off x="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 name="Rectangle: Top Corners Rounded 1">
            <a:extLst>
              <a:ext uri="{FF2B5EF4-FFF2-40B4-BE49-F238E27FC236}">
                <a16:creationId xmlns:a16="http://schemas.microsoft.com/office/drawing/2014/main" id="{4291F05C-127A-BF6B-44AC-19F35D8C1434}"/>
              </a:ext>
            </a:extLst>
          </p:cNvPr>
          <p:cNvSpPr/>
          <p:nvPr/>
        </p:nvSpPr>
        <p:spPr>
          <a:xfrm rot="10800000">
            <a:off x="174819" y="0"/>
            <a:ext cx="3443217"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23E18D92-F91F-3A2D-2766-C7485B9E085B}"/>
              </a:ext>
            </a:extLst>
          </p:cNvPr>
          <p:cNvSpPr txBox="1"/>
          <p:nvPr/>
        </p:nvSpPr>
        <p:spPr>
          <a:xfrm>
            <a:off x="644510" y="-2"/>
            <a:ext cx="2725746" cy="369332"/>
          </a:xfrm>
          <a:prstGeom prst="rect">
            <a:avLst/>
          </a:prstGeom>
          <a:noFill/>
        </p:spPr>
        <p:txBody>
          <a:bodyPr wrap="none" rtlCol="0">
            <a:spAutoFit/>
          </a:bodyPr>
          <a:lstStyle/>
          <a:p>
            <a:r>
              <a:rPr lang="en-IN" dirty="0">
                <a:solidFill>
                  <a:schemeClr val="bg1"/>
                </a:solidFill>
              </a:rPr>
              <a:t>Recent Clients &amp; Partners</a:t>
            </a:r>
          </a:p>
        </p:txBody>
      </p:sp>
      <p:sp>
        <p:nvSpPr>
          <p:cNvPr id="20" name="Rectangle 19">
            <a:extLst>
              <a:ext uri="{FF2B5EF4-FFF2-40B4-BE49-F238E27FC236}">
                <a16:creationId xmlns:a16="http://schemas.microsoft.com/office/drawing/2014/main" id="{760EC4F9-53B6-A88C-5A4F-BD0B4E567850}"/>
              </a:ext>
            </a:extLst>
          </p:cNvPr>
          <p:cNvSpPr/>
          <p:nvPr/>
        </p:nvSpPr>
        <p:spPr>
          <a:xfrm>
            <a:off x="-10759" y="1290048"/>
            <a:ext cx="12192000" cy="46772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 name="Group 5">
            <a:extLst>
              <a:ext uri="{FF2B5EF4-FFF2-40B4-BE49-F238E27FC236}">
                <a16:creationId xmlns:a16="http://schemas.microsoft.com/office/drawing/2014/main" id="{29CDE708-1192-C9E7-D9FC-7924083CE726}"/>
              </a:ext>
            </a:extLst>
          </p:cNvPr>
          <p:cNvGrpSpPr/>
          <p:nvPr/>
        </p:nvGrpSpPr>
        <p:grpSpPr>
          <a:xfrm>
            <a:off x="266527" y="1405795"/>
            <a:ext cx="11411385" cy="3117264"/>
            <a:chOff x="834236" y="1187761"/>
            <a:chExt cx="10213705" cy="2873732"/>
          </a:xfrm>
        </p:grpSpPr>
        <p:pic>
          <p:nvPicPr>
            <p:cNvPr id="8" name="Picture 7">
              <a:extLst>
                <a:ext uri="{FF2B5EF4-FFF2-40B4-BE49-F238E27FC236}">
                  <a16:creationId xmlns:a16="http://schemas.microsoft.com/office/drawing/2014/main" id="{6AF5D0C4-604A-BA7E-B9D8-86822418C96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34236" y="1534849"/>
              <a:ext cx="1767202" cy="695713"/>
            </a:xfrm>
            <a:prstGeom prst="rect">
              <a:avLst/>
            </a:prstGeom>
          </p:spPr>
        </p:pic>
        <p:pic>
          <p:nvPicPr>
            <p:cNvPr id="9" name="Picture 8">
              <a:extLst>
                <a:ext uri="{FF2B5EF4-FFF2-40B4-BE49-F238E27FC236}">
                  <a16:creationId xmlns:a16="http://schemas.microsoft.com/office/drawing/2014/main" id="{F22E458C-3134-F4B6-656E-3F55EC313B0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717118" y="1187761"/>
              <a:ext cx="1259764" cy="125976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FOMAS Group">
              <a:extLst>
                <a:ext uri="{FF2B5EF4-FFF2-40B4-BE49-F238E27FC236}">
                  <a16:creationId xmlns:a16="http://schemas.microsoft.com/office/drawing/2014/main" id="{FA119E4E-239D-4E83-4663-386E1E4D88FF}"/>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2721851" y="1506402"/>
              <a:ext cx="1079342" cy="75260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Kodivian - Home">
              <a:extLst>
                <a:ext uri="{FF2B5EF4-FFF2-40B4-BE49-F238E27FC236}">
                  <a16:creationId xmlns:a16="http://schemas.microsoft.com/office/drawing/2014/main" id="{188F4CCB-285A-BEE7-D4E1-D9D2E3820F4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646418" y="1457025"/>
              <a:ext cx="2011964" cy="80881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92096F05-50DA-BA2D-8394-D34480931259}"/>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992782" y="2335573"/>
              <a:ext cx="1586207" cy="822170"/>
            </a:xfrm>
            <a:prstGeom prst="rect">
              <a:avLst/>
            </a:prstGeom>
          </p:spPr>
        </p:pic>
        <p:pic>
          <p:nvPicPr>
            <p:cNvPr id="13" name="Picture 14" descr="Vehonitor logo">
              <a:extLst>
                <a:ext uri="{FF2B5EF4-FFF2-40B4-BE49-F238E27FC236}">
                  <a16:creationId xmlns:a16="http://schemas.microsoft.com/office/drawing/2014/main" id="{13A6E709-1671-5745-B400-678E891F063D}"/>
                </a:ext>
              </a:extLst>
            </p:cNvPr>
            <p:cNvPicPr>
              <a:picLocks noChangeAspect="1" noChangeArrowheads="1"/>
            </p:cNvPicPr>
            <p:nvPr/>
          </p:nvPicPr>
          <p:blipFill rotWithShape="1">
            <a:blip r:embed="rId8" cstate="screen">
              <a:extLst>
                <a:ext uri="{28A0092B-C50C-407E-A947-70E740481C1C}">
                  <a14:useLocalDpi xmlns:a14="http://schemas.microsoft.com/office/drawing/2010/main"/>
                </a:ext>
              </a:extLst>
            </a:blip>
            <a:srcRect/>
            <a:stretch/>
          </p:blipFill>
          <p:spPr bwMode="auto">
            <a:xfrm>
              <a:off x="3921606" y="1499575"/>
              <a:ext cx="1567928" cy="76626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2" descr="ReliableDRS – Life is Happy when you are Healthy!">
              <a:extLst>
                <a:ext uri="{FF2B5EF4-FFF2-40B4-BE49-F238E27FC236}">
                  <a16:creationId xmlns:a16="http://schemas.microsoft.com/office/drawing/2014/main" id="{D582EF73-99E9-2F7C-099B-53B19C275363}"/>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7084683" y="2520317"/>
              <a:ext cx="1958653" cy="37344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Mobirise Website Builder">
              <a:extLst>
                <a:ext uri="{FF2B5EF4-FFF2-40B4-BE49-F238E27FC236}">
                  <a16:creationId xmlns:a16="http://schemas.microsoft.com/office/drawing/2014/main" id="{3F4F6C91-C98F-36B5-2365-503B22381122}"/>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9457250" y="2447525"/>
              <a:ext cx="1525306" cy="55180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a:extLst>
                <a:ext uri="{FF2B5EF4-FFF2-40B4-BE49-F238E27FC236}">
                  <a16:creationId xmlns:a16="http://schemas.microsoft.com/office/drawing/2014/main" id="{3D9D85FB-7B37-3907-FF94-02BD18BBD646}"/>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2937558" y="2504123"/>
              <a:ext cx="1742450" cy="40838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Text&#10;&#10;Description automatically generated">
              <a:extLst>
                <a:ext uri="{FF2B5EF4-FFF2-40B4-BE49-F238E27FC236}">
                  <a16:creationId xmlns:a16="http://schemas.microsoft.com/office/drawing/2014/main" id="{A540C159-9A18-0852-E83F-CFC1B6572262}"/>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391863" y="1592807"/>
              <a:ext cx="1656078" cy="441991"/>
            </a:xfrm>
            <a:prstGeom prst="rect">
              <a:avLst/>
            </a:prstGeom>
          </p:spPr>
        </p:pic>
        <p:pic>
          <p:nvPicPr>
            <p:cNvPr id="19" name="Picture 18">
              <a:extLst>
                <a:ext uri="{FF2B5EF4-FFF2-40B4-BE49-F238E27FC236}">
                  <a16:creationId xmlns:a16="http://schemas.microsoft.com/office/drawing/2014/main" id="{E59A1065-FCC4-9F62-9BF1-8CF30B5E7126}"/>
                </a:ext>
              </a:extLst>
            </p:cNvPr>
            <p:cNvPicPr>
              <a:picLocks noChangeAspect="1"/>
            </p:cNvPicPr>
            <p:nvPr/>
          </p:nvPicPr>
          <p:blipFill>
            <a:blip r:embed="rId13"/>
            <a:stretch>
              <a:fillRect/>
            </a:stretch>
          </p:blipFill>
          <p:spPr>
            <a:xfrm>
              <a:off x="8355211" y="3090579"/>
              <a:ext cx="926377" cy="970914"/>
            </a:xfrm>
            <a:prstGeom prst="rect">
              <a:avLst/>
            </a:prstGeom>
          </p:spPr>
        </p:pic>
      </p:grpSp>
      <p:pic>
        <p:nvPicPr>
          <p:cNvPr id="21" name="Picture 20" descr="A blue and white logo&#10;&#10;Description automatically generated">
            <a:extLst>
              <a:ext uri="{FF2B5EF4-FFF2-40B4-BE49-F238E27FC236}">
                <a16:creationId xmlns:a16="http://schemas.microsoft.com/office/drawing/2014/main" id="{F21E9F05-A62B-E0F5-578B-A75560C9B30E}"/>
              </a:ext>
            </a:extLst>
          </p:cNvPr>
          <p:cNvPicPr>
            <a:picLocks noChangeAspect="1"/>
          </p:cNvPicPr>
          <p:nvPr/>
        </p:nvPicPr>
        <p:blipFill>
          <a:blip r:embed="rId14" cstate="screen">
            <a:extLst>
              <a:ext uri="{28A0092B-C50C-407E-A947-70E740481C1C}">
                <a14:useLocalDpi xmlns:a14="http://schemas.microsoft.com/office/drawing/2010/main"/>
              </a:ext>
            </a:extLst>
          </a:blip>
          <a:srcRect/>
          <a:stretch/>
        </p:blipFill>
        <p:spPr>
          <a:xfrm>
            <a:off x="7280617" y="3559717"/>
            <a:ext cx="1370340" cy="1059510"/>
          </a:xfrm>
          <a:prstGeom prst="rect">
            <a:avLst/>
          </a:prstGeom>
        </p:spPr>
      </p:pic>
      <p:pic>
        <p:nvPicPr>
          <p:cNvPr id="22" name="Picture 6">
            <a:extLst>
              <a:ext uri="{FF2B5EF4-FFF2-40B4-BE49-F238E27FC236}">
                <a16:creationId xmlns:a16="http://schemas.microsoft.com/office/drawing/2014/main" id="{49118909-A3FE-86E6-F3B4-8C9817D6D2F7}"/>
              </a:ext>
            </a:extLst>
          </p:cNvPr>
          <p:cNvPicPr>
            <a:picLocks noChangeAspect="1" noChangeArrowheads="1"/>
          </p:cNvPicPr>
          <p:nvPr/>
        </p:nvPicPr>
        <p:blipFill>
          <a:blip r:embed="rId15">
            <a:extLst>
              <a:ext uri="{28A0092B-C50C-407E-A947-70E740481C1C}">
                <a14:useLocalDpi xmlns:a14="http://schemas.microsoft.com/office/drawing/2010/main"/>
              </a:ext>
            </a:extLst>
          </a:blip>
          <a:srcRect/>
          <a:stretch>
            <a:fillRect/>
          </a:stretch>
        </p:blipFill>
        <p:spPr bwMode="auto">
          <a:xfrm>
            <a:off x="4839529" y="3801366"/>
            <a:ext cx="2238013" cy="54674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a:extLst>
              <a:ext uri="{FF2B5EF4-FFF2-40B4-BE49-F238E27FC236}">
                <a16:creationId xmlns:a16="http://schemas.microsoft.com/office/drawing/2014/main" id="{189452D7-726A-D6D2-93D5-4005EDB5124D}"/>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2399072" y="3753013"/>
            <a:ext cx="2192749" cy="59945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descr="IonIdea">
            <a:extLst>
              <a:ext uri="{FF2B5EF4-FFF2-40B4-BE49-F238E27FC236}">
                <a16:creationId xmlns:a16="http://schemas.microsoft.com/office/drawing/2014/main" id="{F0AF73D9-4A07-4F78-1D27-BF5498A5F7CB}"/>
              </a:ext>
            </a:extLst>
          </p:cNvPr>
          <p:cNvPicPr>
            <a:picLocks noChangeAspect="1" noChangeArrowheads="1"/>
          </p:cNvPicPr>
          <p:nvPr/>
        </p:nvPicPr>
        <p:blipFill>
          <a:blip r:embed="rId17" cstate="screen">
            <a:extLst>
              <a:ext uri="{28A0092B-C50C-407E-A947-70E740481C1C}">
                <a14:useLocalDpi xmlns:a14="http://schemas.microsoft.com/office/drawing/2010/main"/>
              </a:ext>
            </a:extLst>
          </a:blip>
          <a:srcRect/>
          <a:stretch>
            <a:fillRect/>
          </a:stretch>
        </p:blipFill>
        <p:spPr bwMode="auto">
          <a:xfrm>
            <a:off x="579177" y="3803016"/>
            <a:ext cx="1501182" cy="57291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a:extLst>
              <a:ext uri="{FF2B5EF4-FFF2-40B4-BE49-F238E27FC236}">
                <a16:creationId xmlns:a16="http://schemas.microsoft.com/office/drawing/2014/main" id="{F37412AA-094F-ECF0-2654-4398DA3633D2}"/>
              </a:ext>
            </a:extLst>
          </p:cNvPr>
          <p:cNvPicPr>
            <a:picLocks noChangeAspect="1" noChangeArrowheads="1"/>
          </p:cNvPicPr>
          <p:nvPr/>
        </p:nvPicPr>
        <p:blipFill>
          <a:blip r:embed="rId18">
            <a:extLst>
              <a:ext uri="{28A0092B-C50C-407E-A947-70E740481C1C}">
                <a14:useLocalDpi xmlns:a14="http://schemas.microsoft.com/office/drawing/2010/main"/>
              </a:ext>
            </a:extLst>
          </a:blip>
          <a:srcRect/>
          <a:stretch>
            <a:fillRect/>
          </a:stretch>
        </p:blipFill>
        <p:spPr bwMode="auto">
          <a:xfrm>
            <a:off x="5030224" y="2846303"/>
            <a:ext cx="1690230" cy="37000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ome - Dabico">
            <a:extLst>
              <a:ext uri="{FF2B5EF4-FFF2-40B4-BE49-F238E27FC236}">
                <a16:creationId xmlns:a16="http://schemas.microsoft.com/office/drawing/2014/main" id="{775015E2-D7F2-1F79-8B30-035D88EC631F}"/>
              </a:ext>
            </a:extLst>
          </p:cNvPr>
          <p:cNvPicPr>
            <a:picLocks noChangeAspect="1" noChangeArrowheads="1"/>
          </p:cNvPicPr>
          <p:nvPr/>
        </p:nvPicPr>
        <p:blipFill rotWithShape="1">
          <a:blip r:embed="rId19" cstate="screen">
            <a:extLst>
              <a:ext uri="{28A0092B-C50C-407E-A947-70E740481C1C}">
                <a14:useLocalDpi xmlns:a14="http://schemas.microsoft.com/office/drawing/2010/main"/>
              </a:ext>
            </a:extLst>
          </a:blip>
          <a:srcRect/>
          <a:stretch/>
        </p:blipFill>
        <p:spPr bwMode="auto">
          <a:xfrm>
            <a:off x="9792079" y="3687377"/>
            <a:ext cx="1921397" cy="6245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131EBC90-D805-CFEF-C50B-71648100F10C}"/>
              </a:ext>
            </a:extLst>
          </p:cNvPr>
          <p:cNvPicPr>
            <a:picLocks noChangeAspect="1" noChangeArrowheads="1"/>
          </p:cNvPicPr>
          <p:nvPr/>
        </p:nvPicPr>
        <p:blipFill>
          <a:blip r:embed="rId20" cstate="screen">
            <a:extLst>
              <a:ext uri="{28A0092B-C50C-407E-A947-70E740481C1C}">
                <a14:useLocalDpi xmlns:a14="http://schemas.microsoft.com/office/drawing/2010/main"/>
              </a:ext>
            </a:extLst>
          </a:blip>
          <a:srcRect/>
          <a:stretch/>
        </p:blipFill>
        <p:spPr bwMode="auto">
          <a:xfrm>
            <a:off x="579177" y="4782864"/>
            <a:ext cx="2071673" cy="73056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ogo">
            <a:extLst>
              <a:ext uri="{FF2B5EF4-FFF2-40B4-BE49-F238E27FC236}">
                <a16:creationId xmlns:a16="http://schemas.microsoft.com/office/drawing/2014/main" id="{23A98BC2-9D70-B6DA-71CF-ED873C1BF818}"/>
              </a:ext>
            </a:extLst>
          </p:cNvPr>
          <p:cNvPicPr>
            <a:picLocks noChangeAspect="1" noChangeArrowheads="1"/>
          </p:cNvPicPr>
          <p:nvPr/>
        </p:nvPicPr>
        <p:blipFill>
          <a:blip r:embed="rId21" cstate="screen">
            <a:extLst>
              <a:ext uri="{28A0092B-C50C-407E-A947-70E740481C1C}">
                <a14:useLocalDpi xmlns:a14="http://schemas.microsoft.com/office/drawing/2010/main"/>
              </a:ext>
            </a:extLst>
          </a:blip>
          <a:srcRect/>
          <a:stretch>
            <a:fillRect/>
          </a:stretch>
        </p:blipFill>
        <p:spPr bwMode="auto">
          <a:xfrm>
            <a:off x="2913461" y="4796944"/>
            <a:ext cx="1738827" cy="6875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ogo large">
            <a:extLst>
              <a:ext uri="{FF2B5EF4-FFF2-40B4-BE49-F238E27FC236}">
                <a16:creationId xmlns:a16="http://schemas.microsoft.com/office/drawing/2014/main" id="{63C6D87C-CBCB-7540-C545-D49C0418EC1A}"/>
              </a:ext>
            </a:extLst>
          </p:cNvPr>
          <p:cNvPicPr>
            <a:picLocks noChangeAspect="1" noChangeArrowheads="1"/>
          </p:cNvPicPr>
          <p:nvPr/>
        </p:nvPicPr>
        <p:blipFill>
          <a:blip r:embed="rId22" cstate="screen">
            <a:extLst>
              <a:ext uri="{28A0092B-C50C-407E-A947-70E740481C1C}">
                <a14:useLocalDpi xmlns:a14="http://schemas.microsoft.com/office/drawing/2010/main"/>
              </a:ext>
            </a:extLst>
          </a:blip>
          <a:srcRect/>
          <a:stretch>
            <a:fillRect/>
          </a:stretch>
        </p:blipFill>
        <p:spPr bwMode="auto">
          <a:xfrm>
            <a:off x="10377709" y="4565520"/>
            <a:ext cx="1126326" cy="10595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ogo large">
            <a:extLst>
              <a:ext uri="{FF2B5EF4-FFF2-40B4-BE49-F238E27FC236}">
                <a16:creationId xmlns:a16="http://schemas.microsoft.com/office/drawing/2014/main" id="{BB808F8B-1921-871D-44B2-5FFEDCC3F36B}"/>
              </a:ext>
            </a:extLst>
          </p:cNvPr>
          <p:cNvPicPr>
            <a:picLocks noChangeAspect="1" noChangeArrowheads="1"/>
          </p:cNvPicPr>
          <p:nvPr/>
        </p:nvPicPr>
        <p:blipFill>
          <a:blip r:embed="rId23" cstate="screen">
            <a:extLst>
              <a:ext uri="{28A0092B-C50C-407E-A947-70E740481C1C}">
                <a14:useLocalDpi xmlns:a14="http://schemas.microsoft.com/office/drawing/2010/main"/>
              </a:ext>
            </a:extLst>
          </a:blip>
          <a:srcRect/>
          <a:stretch>
            <a:fillRect/>
          </a:stretch>
        </p:blipFill>
        <p:spPr bwMode="auto">
          <a:xfrm>
            <a:off x="9030638" y="4573511"/>
            <a:ext cx="1051439" cy="105143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A screenshot of a computer&#10;&#10;AI-generated content may be incorrect.">
            <a:extLst>
              <a:ext uri="{FF2B5EF4-FFF2-40B4-BE49-F238E27FC236}">
                <a16:creationId xmlns:a16="http://schemas.microsoft.com/office/drawing/2014/main" id="{41317739-6D39-9E05-514B-A5B6B67DF4E6}"/>
              </a:ext>
            </a:extLst>
          </p:cNvPr>
          <p:cNvPicPr>
            <a:picLocks noChangeAspect="1"/>
          </p:cNvPicPr>
          <p:nvPr/>
        </p:nvPicPr>
        <p:blipFill>
          <a:blip r:embed="rId24" cstate="screen">
            <a:extLst>
              <a:ext uri="{28A0092B-C50C-407E-A947-70E740481C1C}">
                <a14:useLocalDpi xmlns:a14="http://schemas.microsoft.com/office/drawing/2010/main"/>
              </a:ext>
            </a:extLst>
          </a:blip>
          <a:srcRect/>
          <a:stretch>
            <a:fillRect/>
          </a:stretch>
        </p:blipFill>
        <p:spPr>
          <a:xfrm>
            <a:off x="4806389" y="4805135"/>
            <a:ext cx="528652" cy="705122"/>
          </a:xfrm>
          <a:prstGeom prst="rect">
            <a:avLst/>
          </a:prstGeom>
        </p:spPr>
      </p:pic>
      <p:pic>
        <p:nvPicPr>
          <p:cNvPr id="32" name="Picture 31">
            <a:extLst>
              <a:ext uri="{FF2B5EF4-FFF2-40B4-BE49-F238E27FC236}">
                <a16:creationId xmlns:a16="http://schemas.microsoft.com/office/drawing/2014/main" id="{5E8F0880-817C-1A34-189B-7760430CC4A6}"/>
              </a:ext>
            </a:extLst>
          </p:cNvPr>
          <p:cNvPicPr>
            <a:picLocks noChangeAspect="1"/>
          </p:cNvPicPr>
          <p:nvPr/>
        </p:nvPicPr>
        <p:blipFill>
          <a:blip r:embed="rId25" cstate="screen">
            <a:extLst>
              <a:ext uri="{28A0092B-C50C-407E-A947-70E740481C1C}">
                <a14:useLocalDpi xmlns:a14="http://schemas.microsoft.com/office/drawing/2010/main"/>
              </a:ext>
            </a:extLst>
          </a:blip>
          <a:srcRect/>
          <a:stretch>
            <a:fillRect/>
          </a:stretch>
        </p:blipFill>
        <p:spPr>
          <a:xfrm>
            <a:off x="5630673" y="4913466"/>
            <a:ext cx="1754664" cy="440318"/>
          </a:xfrm>
          <a:prstGeom prst="rect">
            <a:avLst/>
          </a:prstGeom>
        </p:spPr>
      </p:pic>
      <p:pic>
        <p:nvPicPr>
          <p:cNvPr id="1038" name="Picture 14" descr="logo">
            <a:extLst>
              <a:ext uri="{FF2B5EF4-FFF2-40B4-BE49-F238E27FC236}">
                <a16:creationId xmlns:a16="http://schemas.microsoft.com/office/drawing/2014/main" id="{E793E4AE-2210-7569-243C-5722336C51AA}"/>
              </a:ext>
            </a:extLst>
          </p:cNvPr>
          <p:cNvPicPr>
            <a:picLocks noChangeAspect="1" noChangeArrowheads="1"/>
          </p:cNvPicPr>
          <p:nvPr/>
        </p:nvPicPr>
        <p:blipFill>
          <a:blip r:embed="rId26" cstate="screen">
            <a:extLst>
              <a:ext uri="{28A0092B-C50C-407E-A947-70E740481C1C}">
                <a14:useLocalDpi xmlns:a14="http://schemas.microsoft.com/office/drawing/2010/main"/>
              </a:ext>
            </a:extLst>
          </a:blip>
          <a:srcRect/>
          <a:stretch>
            <a:fillRect/>
          </a:stretch>
        </p:blipFill>
        <p:spPr bwMode="auto">
          <a:xfrm>
            <a:off x="7437135" y="4861447"/>
            <a:ext cx="1552046" cy="55857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72B6B773-415E-3E96-4901-E6F781154023}"/>
              </a:ext>
            </a:extLst>
          </p:cNvPr>
          <p:cNvPicPr>
            <a:picLocks noChangeAspect="1"/>
          </p:cNvPicPr>
          <p:nvPr/>
        </p:nvPicPr>
        <p:blipFill>
          <a:blip r:embed="rId27">
            <a:extLst>
              <a:ext uri="{28A0092B-C50C-407E-A947-70E740481C1C}">
                <a14:useLocalDpi xmlns:a14="http://schemas.microsoft.com/office/drawing/2010/main" val="0"/>
              </a:ext>
            </a:extLst>
          </a:blip>
          <a:srcRect/>
          <a:stretch/>
        </p:blipFill>
        <p:spPr>
          <a:xfrm>
            <a:off x="10475684" y="44075"/>
            <a:ext cx="1413047" cy="681773"/>
          </a:xfrm>
          <a:prstGeom prst="rect">
            <a:avLst/>
          </a:prstGeom>
        </p:spPr>
      </p:pic>
    </p:spTree>
    <p:extLst>
      <p:ext uri="{BB962C8B-B14F-4D97-AF65-F5344CB8AC3E}">
        <p14:creationId xmlns:p14="http://schemas.microsoft.com/office/powerpoint/2010/main" val="2728201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11370-EBDC-AE3E-6CBB-AE8B7B1C7B7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4CE512C-BBE8-12A4-1DD9-2FCDCE2E2218}"/>
              </a:ext>
            </a:extLst>
          </p:cNvPr>
          <p:cNvSpPr/>
          <p:nvPr/>
        </p:nvSpPr>
        <p:spPr>
          <a:xfrm>
            <a:off x="0" y="-2271"/>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 name="Rectangle: Top Corners Rounded 1">
            <a:extLst>
              <a:ext uri="{FF2B5EF4-FFF2-40B4-BE49-F238E27FC236}">
                <a16:creationId xmlns:a16="http://schemas.microsoft.com/office/drawing/2014/main" id="{9981D589-D36E-59EB-9110-3515BAD4398A}"/>
              </a:ext>
            </a:extLst>
          </p:cNvPr>
          <p:cNvSpPr/>
          <p:nvPr/>
        </p:nvSpPr>
        <p:spPr>
          <a:xfrm rot="10800000">
            <a:off x="174820" y="0"/>
            <a:ext cx="2953050" cy="399328"/>
          </a:xfrm>
          <a:prstGeom prst="round2SameRect">
            <a:avLst>
              <a:gd name="adj1" fmla="val 50000"/>
              <a:gd name="adj2" fmla="val 0"/>
            </a:avLst>
          </a:prstGeom>
          <a:solidFill>
            <a:srgbClr val="379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AA0D868F-6AA9-58D0-15D7-D0B56865F1FF}"/>
              </a:ext>
            </a:extLst>
          </p:cNvPr>
          <p:cNvSpPr txBox="1"/>
          <p:nvPr/>
        </p:nvSpPr>
        <p:spPr>
          <a:xfrm>
            <a:off x="692396" y="30387"/>
            <a:ext cx="1917897" cy="338554"/>
          </a:xfrm>
          <a:prstGeom prst="rect">
            <a:avLst/>
          </a:prstGeom>
          <a:noFill/>
        </p:spPr>
        <p:txBody>
          <a:bodyPr wrap="none" rtlCol="0">
            <a:spAutoFit/>
          </a:bodyPr>
          <a:lstStyle/>
          <a:p>
            <a:r>
              <a:rPr lang="en-IN" sz="1600" dirty="0">
                <a:solidFill>
                  <a:schemeClr val="bg1"/>
                </a:solidFill>
              </a:rPr>
              <a:t>Commercial Model</a:t>
            </a:r>
          </a:p>
        </p:txBody>
      </p:sp>
      <p:sp>
        <p:nvSpPr>
          <p:cNvPr id="3" name="Rectangle 1">
            <a:extLst>
              <a:ext uri="{FF2B5EF4-FFF2-40B4-BE49-F238E27FC236}">
                <a16:creationId xmlns:a16="http://schemas.microsoft.com/office/drawing/2014/main" id="{5AEBAC2E-4E81-66BB-773A-2F53711A893E}"/>
              </a:ext>
            </a:extLst>
          </p:cNvPr>
          <p:cNvSpPr>
            <a:spLocks noChangeArrowheads="1"/>
          </p:cNvSpPr>
          <p:nvPr/>
        </p:nvSpPr>
        <p:spPr bwMode="auto">
          <a:xfrm>
            <a:off x="601822" y="651784"/>
            <a:ext cx="33153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B6FF42"/>
                </a:solidFill>
                <a:effectLst/>
                <a:latin typeface="Arial" panose="020B0604020202020204" pitchFamily="34" charset="0"/>
              </a:rPr>
              <a:t>Platform led Services</a:t>
            </a:r>
          </a:p>
        </p:txBody>
      </p:sp>
      <p:sp>
        <p:nvSpPr>
          <p:cNvPr id="11" name="Rectangle 1">
            <a:extLst>
              <a:ext uri="{FF2B5EF4-FFF2-40B4-BE49-F238E27FC236}">
                <a16:creationId xmlns:a16="http://schemas.microsoft.com/office/drawing/2014/main" id="{02FF2B85-154C-68FD-9DC0-DCD7CF66A00D}"/>
              </a:ext>
            </a:extLst>
          </p:cNvPr>
          <p:cNvSpPr>
            <a:spLocks noChangeArrowheads="1"/>
          </p:cNvSpPr>
          <p:nvPr/>
        </p:nvSpPr>
        <p:spPr bwMode="auto">
          <a:xfrm>
            <a:off x="589130" y="3038656"/>
            <a:ext cx="33842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B6FF42"/>
                </a:solidFill>
                <a:effectLst/>
                <a:latin typeface="Arial" panose="020B0604020202020204" pitchFamily="34" charset="0"/>
              </a:rPr>
              <a:t>Platform as a Service</a:t>
            </a:r>
          </a:p>
        </p:txBody>
      </p:sp>
      <p:sp>
        <p:nvSpPr>
          <p:cNvPr id="14" name="TextBox 13">
            <a:extLst>
              <a:ext uri="{FF2B5EF4-FFF2-40B4-BE49-F238E27FC236}">
                <a16:creationId xmlns:a16="http://schemas.microsoft.com/office/drawing/2014/main" id="{9C728C3A-159D-1895-3646-2E4977A35F4A}"/>
              </a:ext>
            </a:extLst>
          </p:cNvPr>
          <p:cNvSpPr txBox="1"/>
          <p:nvPr/>
        </p:nvSpPr>
        <p:spPr>
          <a:xfrm>
            <a:off x="623141" y="1663996"/>
            <a:ext cx="2782448" cy="1077218"/>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bg1"/>
                </a:solidFill>
              </a:rPr>
              <a:t>Process Orchestration</a:t>
            </a:r>
          </a:p>
          <a:p>
            <a:pPr marL="285750" indent="-285750">
              <a:buFont typeface="Arial" panose="020B0604020202020204" pitchFamily="34" charset="0"/>
              <a:buChar char="•"/>
            </a:pPr>
            <a:r>
              <a:rPr lang="en-US" sz="1600" dirty="0">
                <a:solidFill>
                  <a:schemeClr val="bg1"/>
                </a:solidFill>
              </a:rPr>
              <a:t>(Robotic) Process Automation</a:t>
            </a:r>
          </a:p>
          <a:p>
            <a:pPr marL="285750" indent="-285750">
              <a:buFont typeface="Arial" panose="020B0604020202020204" pitchFamily="34" charset="0"/>
              <a:buChar char="•"/>
            </a:pPr>
            <a:r>
              <a:rPr lang="en-US" sz="1600" dirty="0">
                <a:solidFill>
                  <a:schemeClr val="bg1"/>
                </a:solidFill>
              </a:rPr>
              <a:t>Workflow Automation</a:t>
            </a:r>
          </a:p>
        </p:txBody>
      </p:sp>
      <p:cxnSp>
        <p:nvCxnSpPr>
          <p:cNvPr id="15" name="Straight Connector 14">
            <a:extLst>
              <a:ext uri="{FF2B5EF4-FFF2-40B4-BE49-F238E27FC236}">
                <a16:creationId xmlns:a16="http://schemas.microsoft.com/office/drawing/2014/main" id="{61BBB003-7939-C0E4-59C5-C465DE020529}"/>
              </a:ext>
            </a:extLst>
          </p:cNvPr>
          <p:cNvCxnSpPr>
            <a:cxnSpLocks/>
          </p:cNvCxnSpPr>
          <p:nvPr/>
        </p:nvCxnSpPr>
        <p:spPr>
          <a:xfrm>
            <a:off x="3623987" y="1656529"/>
            <a:ext cx="0" cy="1153079"/>
          </a:xfrm>
          <a:prstGeom prst="line">
            <a:avLst/>
          </a:prstGeom>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A3FBD51D-5889-D05D-FE38-2DBB6779AA56}"/>
              </a:ext>
            </a:extLst>
          </p:cNvPr>
          <p:cNvSpPr txBox="1"/>
          <p:nvPr/>
        </p:nvSpPr>
        <p:spPr>
          <a:xfrm>
            <a:off x="8561518" y="1679073"/>
            <a:ext cx="3395347" cy="830997"/>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bg1"/>
                </a:solidFill>
              </a:rPr>
              <a:t>Fixed cost/unit delivered</a:t>
            </a:r>
          </a:p>
          <a:p>
            <a:pPr marL="285750" indent="-285750">
              <a:buFont typeface="Arial" panose="020B0604020202020204" pitchFamily="34" charset="0"/>
              <a:buChar char="•"/>
            </a:pPr>
            <a:r>
              <a:rPr lang="en-US" sz="1600" dirty="0">
                <a:solidFill>
                  <a:schemeClr val="bg1"/>
                </a:solidFill>
              </a:rPr>
              <a:t>Discounts for large volume of units delivery</a:t>
            </a:r>
          </a:p>
        </p:txBody>
      </p:sp>
      <p:sp>
        <p:nvSpPr>
          <p:cNvPr id="19" name="TextBox 18">
            <a:extLst>
              <a:ext uri="{FF2B5EF4-FFF2-40B4-BE49-F238E27FC236}">
                <a16:creationId xmlns:a16="http://schemas.microsoft.com/office/drawing/2014/main" id="{E340FE6B-E27B-A695-3B77-BE8A3AB37053}"/>
              </a:ext>
            </a:extLst>
          </p:cNvPr>
          <p:cNvSpPr txBox="1"/>
          <p:nvPr/>
        </p:nvSpPr>
        <p:spPr>
          <a:xfrm>
            <a:off x="4060785" y="1663996"/>
            <a:ext cx="4070430" cy="1077218"/>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bg1"/>
                </a:solidFill>
              </a:rPr>
              <a:t>Up to 2 weeks of assessment as an investment for solution strategy</a:t>
            </a:r>
          </a:p>
          <a:p>
            <a:pPr marL="285750" indent="-285750">
              <a:buFont typeface="Arial" panose="020B0604020202020204" pitchFamily="34" charset="0"/>
              <a:buChar char="•"/>
            </a:pPr>
            <a:r>
              <a:rPr lang="en-US" sz="1600" dirty="0">
                <a:solidFill>
                  <a:schemeClr val="bg1"/>
                </a:solidFill>
              </a:rPr>
              <a:t>Output based approach delivered in units</a:t>
            </a:r>
          </a:p>
        </p:txBody>
      </p:sp>
      <p:cxnSp>
        <p:nvCxnSpPr>
          <p:cNvPr id="24" name="Straight Connector 23">
            <a:extLst>
              <a:ext uri="{FF2B5EF4-FFF2-40B4-BE49-F238E27FC236}">
                <a16:creationId xmlns:a16="http://schemas.microsoft.com/office/drawing/2014/main" id="{0DAB5ACC-67B9-2E73-5BE1-D81A2B2B08D9}"/>
              </a:ext>
            </a:extLst>
          </p:cNvPr>
          <p:cNvCxnSpPr>
            <a:cxnSpLocks/>
          </p:cNvCxnSpPr>
          <p:nvPr/>
        </p:nvCxnSpPr>
        <p:spPr>
          <a:xfrm>
            <a:off x="8104136" y="1661790"/>
            <a:ext cx="0" cy="1153079"/>
          </a:xfrm>
          <a:prstGeom prst="line">
            <a:avLst/>
          </a:prstGeom>
        </p:spPr>
        <p:style>
          <a:lnRef idx="2">
            <a:schemeClr val="accent1"/>
          </a:lnRef>
          <a:fillRef idx="0">
            <a:schemeClr val="accent1"/>
          </a:fillRef>
          <a:effectRef idx="1">
            <a:schemeClr val="accent1"/>
          </a:effectRef>
          <a:fontRef idx="minor">
            <a:schemeClr val="tx1"/>
          </a:fontRef>
        </p:style>
      </p:cxnSp>
      <p:sp>
        <p:nvSpPr>
          <p:cNvPr id="25" name="Rectangle 1">
            <a:extLst>
              <a:ext uri="{FF2B5EF4-FFF2-40B4-BE49-F238E27FC236}">
                <a16:creationId xmlns:a16="http://schemas.microsoft.com/office/drawing/2014/main" id="{7FB877E4-2046-A646-CA3D-E8A834884055}"/>
              </a:ext>
            </a:extLst>
          </p:cNvPr>
          <p:cNvSpPr>
            <a:spLocks noChangeArrowheads="1"/>
          </p:cNvSpPr>
          <p:nvPr/>
        </p:nvSpPr>
        <p:spPr bwMode="auto">
          <a:xfrm>
            <a:off x="1465176" y="1180801"/>
            <a:ext cx="109837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rgbClr val="399AFF"/>
                </a:solidFill>
                <a:effectLst/>
                <a:latin typeface="Arial" panose="020B0604020202020204" pitchFamily="34" charset="0"/>
              </a:rPr>
              <a:t>Offerings</a:t>
            </a:r>
          </a:p>
        </p:txBody>
      </p:sp>
      <p:sp>
        <p:nvSpPr>
          <p:cNvPr id="26" name="Rectangle 1">
            <a:extLst>
              <a:ext uri="{FF2B5EF4-FFF2-40B4-BE49-F238E27FC236}">
                <a16:creationId xmlns:a16="http://schemas.microsoft.com/office/drawing/2014/main" id="{5BB94266-1EBD-D62F-B790-3D6D841FA6B2}"/>
              </a:ext>
            </a:extLst>
          </p:cNvPr>
          <p:cNvSpPr>
            <a:spLocks noChangeArrowheads="1"/>
          </p:cNvSpPr>
          <p:nvPr/>
        </p:nvSpPr>
        <p:spPr bwMode="auto">
          <a:xfrm>
            <a:off x="5003676" y="1180801"/>
            <a:ext cx="20461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rgbClr val="399AFF"/>
                </a:solidFill>
                <a:effectLst/>
                <a:latin typeface="Arial" panose="020B0604020202020204" pitchFamily="34" charset="0"/>
              </a:rPr>
              <a:t>Delivery Approach</a:t>
            </a:r>
          </a:p>
        </p:txBody>
      </p:sp>
      <p:sp>
        <p:nvSpPr>
          <p:cNvPr id="27" name="Rectangle 1">
            <a:extLst>
              <a:ext uri="{FF2B5EF4-FFF2-40B4-BE49-F238E27FC236}">
                <a16:creationId xmlns:a16="http://schemas.microsoft.com/office/drawing/2014/main" id="{54BE1A11-FB85-4FB8-BFF8-50B93357E2C1}"/>
              </a:ext>
            </a:extLst>
          </p:cNvPr>
          <p:cNvSpPr>
            <a:spLocks noChangeArrowheads="1"/>
          </p:cNvSpPr>
          <p:nvPr/>
        </p:nvSpPr>
        <p:spPr bwMode="auto">
          <a:xfrm>
            <a:off x="9707945" y="1180801"/>
            <a:ext cx="88036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rgbClr val="399AFF"/>
                </a:solidFill>
                <a:effectLst/>
                <a:latin typeface="Arial" panose="020B0604020202020204" pitchFamily="34" charset="0"/>
              </a:rPr>
              <a:t>Pricing</a:t>
            </a:r>
          </a:p>
        </p:txBody>
      </p:sp>
      <p:sp>
        <p:nvSpPr>
          <p:cNvPr id="28" name="TextBox 27">
            <a:extLst>
              <a:ext uri="{FF2B5EF4-FFF2-40B4-BE49-F238E27FC236}">
                <a16:creationId xmlns:a16="http://schemas.microsoft.com/office/drawing/2014/main" id="{804DF646-3FF5-0477-B6FA-09EC4A0E4439}"/>
              </a:ext>
            </a:extLst>
          </p:cNvPr>
          <p:cNvSpPr txBox="1"/>
          <p:nvPr/>
        </p:nvSpPr>
        <p:spPr>
          <a:xfrm>
            <a:off x="608244" y="3899117"/>
            <a:ext cx="5207661" cy="830997"/>
          </a:xfrm>
          <a:prstGeom prst="rect">
            <a:avLst/>
          </a:prstGeom>
          <a:noFill/>
        </p:spPr>
        <p:txBody>
          <a:bodyPr wrap="square">
            <a:spAutoFit/>
          </a:bodyPr>
          <a:lstStyle/>
          <a:p>
            <a:pPr algn="just"/>
            <a:r>
              <a:rPr lang="en-US" sz="1600" dirty="0">
                <a:solidFill>
                  <a:schemeClr val="bg1"/>
                </a:solidFill>
              </a:rPr>
              <a:t>Skyaicode platform will be provided as a value-add to customers with potential interest at no additional cost for a period of 6 months with the below privileges.</a:t>
            </a:r>
          </a:p>
        </p:txBody>
      </p:sp>
      <p:sp>
        <p:nvSpPr>
          <p:cNvPr id="29" name="Rectangle 1">
            <a:extLst>
              <a:ext uri="{FF2B5EF4-FFF2-40B4-BE49-F238E27FC236}">
                <a16:creationId xmlns:a16="http://schemas.microsoft.com/office/drawing/2014/main" id="{4176ECD4-B3EE-2FBC-D240-18E67E58CFA3}"/>
              </a:ext>
            </a:extLst>
          </p:cNvPr>
          <p:cNvSpPr>
            <a:spLocks noChangeArrowheads="1"/>
          </p:cNvSpPr>
          <p:nvPr/>
        </p:nvSpPr>
        <p:spPr bwMode="auto">
          <a:xfrm>
            <a:off x="608244" y="3567926"/>
            <a:ext cx="194041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rgbClr val="399AFF"/>
                </a:solidFill>
                <a:effectLst/>
                <a:latin typeface="Arial" panose="020B0604020202020204" pitchFamily="34" charset="0"/>
              </a:rPr>
              <a:t>Phase 1 Rollout</a:t>
            </a:r>
          </a:p>
        </p:txBody>
      </p:sp>
      <p:sp>
        <p:nvSpPr>
          <p:cNvPr id="30" name="TextBox 29">
            <a:extLst>
              <a:ext uri="{FF2B5EF4-FFF2-40B4-BE49-F238E27FC236}">
                <a16:creationId xmlns:a16="http://schemas.microsoft.com/office/drawing/2014/main" id="{5D8242BF-273F-1A4F-E821-22EE05B309C6}"/>
              </a:ext>
            </a:extLst>
          </p:cNvPr>
          <p:cNvSpPr txBox="1"/>
          <p:nvPr/>
        </p:nvSpPr>
        <p:spPr>
          <a:xfrm>
            <a:off x="608246" y="5172704"/>
            <a:ext cx="1917897" cy="338554"/>
          </a:xfrm>
          <a:prstGeom prst="rect">
            <a:avLst/>
          </a:prstGeom>
          <a:noFill/>
        </p:spPr>
        <p:txBody>
          <a:bodyPr wrap="square">
            <a:spAutoFit/>
          </a:bodyPr>
          <a:lstStyle/>
          <a:p>
            <a:r>
              <a:rPr lang="en-US" sz="1600" dirty="0">
                <a:solidFill>
                  <a:schemeClr val="bg1"/>
                </a:solidFill>
              </a:rPr>
              <a:t>Development Suite</a:t>
            </a:r>
          </a:p>
        </p:txBody>
      </p:sp>
      <p:sp>
        <p:nvSpPr>
          <p:cNvPr id="31" name="TextBox 30">
            <a:extLst>
              <a:ext uri="{FF2B5EF4-FFF2-40B4-BE49-F238E27FC236}">
                <a16:creationId xmlns:a16="http://schemas.microsoft.com/office/drawing/2014/main" id="{E783C4DB-3693-8717-B1EF-A31BC66BFED7}"/>
              </a:ext>
            </a:extLst>
          </p:cNvPr>
          <p:cNvSpPr txBox="1"/>
          <p:nvPr/>
        </p:nvSpPr>
        <p:spPr>
          <a:xfrm>
            <a:off x="608246" y="5607815"/>
            <a:ext cx="1917897" cy="338554"/>
          </a:xfrm>
          <a:prstGeom prst="rect">
            <a:avLst/>
          </a:prstGeom>
          <a:noFill/>
        </p:spPr>
        <p:txBody>
          <a:bodyPr wrap="square">
            <a:spAutoFit/>
          </a:bodyPr>
          <a:lstStyle/>
          <a:p>
            <a:r>
              <a:rPr lang="en-US" sz="1600" dirty="0">
                <a:solidFill>
                  <a:schemeClr val="bg1"/>
                </a:solidFill>
              </a:rPr>
              <a:t>Automation Suite</a:t>
            </a:r>
          </a:p>
        </p:txBody>
      </p:sp>
      <p:sp>
        <p:nvSpPr>
          <p:cNvPr id="32" name="TextBox 31">
            <a:extLst>
              <a:ext uri="{FF2B5EF4-FFF2-40B4-BE49-F238E27FC236}">
                <a16:creationId xmlns:a16="http://schemas.microsoft.com/office/drawing/2014/main" id="{C3D803F7-88AD-7497-C133-44CA4C0CC5BE}"/>
              </a:ext>
            </a:extLst>
          </p:cNvPr>
          <p:cNvSpPr txBox="1"/>
          <p:nvPr/>
        </p:nvSpPr>
        <p:spPr>
          <a:xfrm>
            <a:off x="608245" y="6057768"/>
            <a:ext cx="1917897" cy="338554"/>
          </a:xfrm>
          <a:prstGeom prst="rect">
            <a:avLst/>
          </a:prstGeom>
          <a:noFill/>
        </p:spPr>
        <p:txBody>
          <a:bodyPr wrap="square">
            <a:spAutoFit/>
          </a:bodyPr>
          <a:lstStyle/>
          <a:p>
            <a:r>
              <a:rPr lang="en-US" sz="1600" dirty="0">
                <a:solidFill>
                  <a:schemeClr val="bg1"/>
                </a:solidFill>
              </a:rPr>
              <a:t>Bots Suite </a:t>
            </a:r>
          </a:p>
        </p:txBody>
      </p:sp>
      <p:sp>
        <p:nvSpPr>
          <p:cNvPr id="33" name="TextBox 32">
            <a:extLst>
              <a:ext uri="{FF2B5EF4-FFF2-40B4-BE49-F238E27FC236}">
                <a16:creationId xmlns:a16="http://schemas.microsoft.com/office/drawing/2014/main" id="{22F954A3-EDC6-074D-CD02-AFE886309C38}"/>
              </a:ext>
            </a:extLst>
          </p:cNvPr>
          <p:cNvSpPr txBox="1"/>
          <p:nvPr/>
        </p:nvSpPr>
        <p:spPr>
          <a:xfrm>
            <a:off x="2818046" y="5183269"/>
            <a:ext cx="3193804" cy="338554"/>
          </a:xfrm>
          <a:prstGeom prst="rect">
            <a:avLst/>
          </a:prstGeom>
          <a:noFill/>
        </p:spPr>
        <p:txBody>
          <a:bodyPr wrap="square">
            <a:spAutoFit/>
          </a:bodyPr>
          <a:lstStyle/>
          <a:p>
            <a:r>
              <a:rPr lang="en-US" sz="1600" dirty="0">
                <a:solidFill>
                  <a:schemeClr val="bg1"/>
                </a:solidFill>
              </a:rPr>
              <a:t>Up to 5 users unlimited access </a:t>
            </a:r>
          </a:p>
        </p:txBody>
      </p:sp>
      <p:sp>
        <p:nvSpPr>
          <p:cNvPr id="34" name="TextBox 33">
            <a:extLst>
              <a:ext uri="{FF2B5EF4-FFF2-40B4-BE49-F238E27FC236}">
                <a16:creationId xmlns:a16="http://schemas.microsoft.com/office/drawing/2014/main" id="{D27E3CED-9F49-8E89-8654-5A184F41F762}"/>
              </a:ext>
            </a:extLst>
          </p:cNvPr>
          <p:cNvSpPr txBox="1"/>
          <p:nvPr/>
        </p:nvSpPr>
        <p:spPr>
          <a:xfrm>
            <a:off x="2818046" y="5626530"/>
            <a:ext cx="3193804" cy="338554"/>
          </a:xfrm>
          <a:prstGeom prst="rect">
            <a:avLst/>
          </a:prstGeom>
          <a:noFill/>
        </p:spPr>
        <p:txBody>
          <a:bodyPr wrap="square">
            <a:spAutoFit/>
          </a:bodyPr>
          <a:lstStyle/>
          <a:p>
            <a:r>
              <a:rPr lang="en-US" sz="1600" dirty="0">
                <a:solidFill>
                  <a:schemeClr val="bg1"/>
                </a:solidFill>
              </a:rPr>
              <a:t>Up to 10 users unlimited access </a:t>
            </a:r>
          </a:p>
        </p:txBody>
      </p:sp>
      <p:sp>
        <p:nvSpPr>
          <p:cNvPr id="35" name="TextBox 34">
            <a:extLst>
              <a:ext uri="{FF2B5EF4-FFF2-40B4-BE49-F238E27FC236}">
                <a16:creationId xmlns:a16="http://schemas.microsoft.com/office/drawing/2014/main" id="{ECC0D0CE-AAD5-6CCE-8DC8-40C64AA0AFC7}"/>
              </a:ext>
            </a:extLst>
          </p:cNvPr>
          <p:cNvSpPr txBox="1"/>
          <p:nvPr/>
        </p:nvSpPr>
        <p:spPr>
          <a:xfrm>
            <a:off x="2818046" y="6057768"/>
            <a:ext cx="3193804" cy="338554"/>
          </a:xfrm>
          <a:prstGeom prst="rect">
            <a:avLst/>
          </a:prstGeom>
          <a:noFill/>
        </p:spPr>
        <p:txBody>
          <a:bodyPr wrap="square">
            <a:spAutoFit/>
          </a:bodyPr>
          <a:lstStyle/>
          <a:p>
            <a:r>
              <a:rPr lang="en-US" sz="1600" dirty="0">
                <a:solidFill>
                  <a:schemeClr val="bg1"/>
                </a:solidFill>
              </a:rPr>
              <a:t>Up to 10 users unlimited access </a:t>
            </a:r>
          </a:p>
        </p:txBody>
      </p:sp>
      <p:cxnSp>
        <p:nvCxnSpPr>
          <p:cNvPr id="36" name="Straight Connector 35">
            <a:extLst>
              <a:ext uri="{FF2B5EF4-FFF2-40B4-BE49-F238E27FC236}">
                <a16:creationId xmlns:a16="http://schemas.microsoft.com/office/drawing/2014/main" id="{9D537B76-9C48-B1A7-6919-ADB745A94B1A}"/>
              </a:ext>
            </a:extLst>
          </p:cNvPr>
          <p:cNvCxnSpPr>
            <a:cxnSpLocks/>
          </p:cNvCxnSpPr>
          <p:nvPr/>
        </p:nvCxnSpPr>
        <p:spPr>
          <a:xfrm flipH="1">
            <a:off x="669609" y="5561156"/>
            <a:ext cx="5146296" cy="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694D749A-FF54-E132-68D5-C613F86A2ACB}"/>
              </a:ext>
            </a:extLst>
          </p:cNvPr>
          <p:cNvCxnSpPr>
            <a:cxnSpLocks/>
          </p:cNvCxnSpPr>
          <p:nvPr/>
        </p:nvCxnSpPr>
        <p:spPr>
          <a:xfrm flipH="1">
            <a:off x="669609" y="6024333"/>
            <a:ext cx="5146296" cy="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6B20DA9F-D818-80E9-BD67-4C581D0E6C24}"/>
              </a:ext>
            </a:extLst>
          </p:cNvPr>
          <p:cNvSpPr txBox="1"/>
          <p:nvPr/>
        </p:nvSpPr>
        <p:spPr>
          <a:xfrm>
            <a:off x="6489375" y="4762755"/>
            <a:ext cx="1917897" cy="338554"/>
          </a:xfrm>
          <a:prstGeom prst="rect">
            <a:avLst/>
          </a:prstGeom>
          <a:noFill/>
        </p:spPr>
        <p:txBody>
          <a:bodyPr wrap="square">
            <a:spAutoFit/>
          </a:bodyPr>
          <a:lstStyle/>
          <a:p>
            <a:r>
              <a:rPr lang="en-US" sz="1600" dirty="0">
                <a:solidFill>
                  <a:schemeClr val="bg1"/>
                </a:solidFill>
              </a:rPr>
              <a:t>Development Suite</a:t>
            </a:r>
          </a:p>
        </p:txBody>
      </p:sp>
      <p:sp>
        <p:nvSpPr>
          <p:cNvPr id="42" name="TextBox 41">
            <a:extLst>
              <a:ext uri="{FF2B5EF4-FFF2-40B4-BE49-F238E27FC236}">
                <a16:creationId xmlns:a16="http://schemas.microsoft.com/office/drawing/2014/main" id="{38BFE8E8-8EEA-6915-A9C8-59B445D19A7D}"/>
              </a:ext>
            </a:extLst>
          </p:cNvPr>
          <p:cNvSpPr txBox="1"/>
          <p:nvPr/>
        </p:nvSpPr>
        <p:spPr>
          <a:xfrm>
            <a:off x="6489375" y="5197866"/>
            <a:ext cx="1917897" cy="338554"/>
          </a:xfrm>
          <a:prstGeom prst="rect">
            <a:avLst/>
          </a:prstGeom>
          <a:noFill/>
        </p:spPr>
        <p:txBody>
          <a:bodyPr wrap="square">
            <a:spAutoFit/>
          </a:bodyPr>
          <a:lstStyle/>
          <a:p>
            <a:r>
              <a:rPr lang="en-US" sz="1600" dirty="0">
                <a:solidFill>
                  <a:schemeClr val="bg1"/>
                </a:solidFill>
              </a:rPr>
              <a:t>Automation Suite</a:t>
            </a:r>
          </a:p>
        </p:txBody>
      </p:sp>
      <p:sp>
        <p:nvSpPr>
          <p:cNvPr id="43" name="TextBox 42">
            <a:extLst>
              <a:ext uri="{FF2B5EF4-FFF2-40B4-BE49-F238E27FC236}">
                <a16:creationId xmlns:a16="http://schemas.microsoft.com/office/drawing/2014/main" id="{4C2D8800-4801-501D-DE64-4FED377C7D00}"/>
              </a:ext>
            </a:extLst>
          </p:cNvPr>
          <p:cNvSpPr txBox="1"/>
          <p:nvPr/>
        </p:nvSpPr>
        <p:spPr>
          <a:xfrm>
            <a:off x="6489374" y="5647819"/>
            <a:ext cx="1917897" cy="338554"/>
          </a:xfrm>
          <a:prstGeom prst="rect">
            <a:avLst/>
          </a:prstGeom>
          <a:noFill/>
        </p:spPr>
        <p:txBody>
          <a:bodyPr wrap="square">
            <a:spAutoFit/>
          </a:bodyPr>
          <a:lstStyle/>
          <a:p>
            <a:r>
              <a:rPr lang="en-US" sz="1600" dirty="0">
                <a:solidFill>
                  <a:schemeClr val="bg1"/>
                </a:solidFill>
              </a:rPr>
              <a:t>Bots Suite </a:t>
            </a:r>
          </a:p>
        </p:txBody>
      </p:sp>
      <p:sp>
        <p:nvSpPr>
          <p:cNvPr id="44" name="TextBox 43">
            <a:extLst>
              <a:ext uri="{FF2B5EF4-FFF2-40B4-BE49-F238E27FC236}">
                <a16:creationId xmlns:a16="http://schemas.microsoft.com/office/drawing/2014/main" id="{1F3C6CE7-3737-9D2E-7629-4E4B347267D0}"/>
              </a:ext>
            </a:extLst>
          </p:cNvPr>
          <p:cNvSpPr txBox="1"/>
          <p:nvPr/>
        </p:nvSpPr>
        <p:spPr>
          <a:xfrm>
            <a:off x="8699175" y="4773320"/>
            <a:ext cx="944884" cy="338554"/>
          </a:xfrm>
          <a:prstGeom prst="rect">
            <a:avLst/>
          </a:prstGeom>
          <a:noFill/>
        </p:spPr>
        <p:txBody>
          <a:bodyPr wrap="square">
            <a:spAutoFit/>
          </a:bodyPr>
          <a:lstStyle/>
          <a:p>
            <a:r>
              <a:rPr lang="en-US" sz="1600" dirty="0">
                <a:solidFill>
                  <a:schemeClr val="bg1"/>
                </a:solidFill>
              </a:rPr>
              <a:t>Per User</a:t>
            </a:r>
          </a:p>
        </p:txBody>
      </p:sp>
      <p:sp>
        <p:nvSpPr>
          <p:cNvPr id="45" name="TextBox 44">
            <a:extLst>
              <a:ext uri="{FF2B5EF4-FFF2-40B4-BE49-F238E27FC236}">
                <a16:creationId xmlns:a16="http://schemas.microsoft.com/office/drawing/2014/main" id="{2D80E8C1-8F66-49EB-221D-5DC2DA2E216E}"/>
              </a:ext>
            </a:extLst>
          </p:cNvPr>
          <p:cNvSpPr txBox="1"/>
          <p:nvPr/>
        </p:nvSpPr>
        <p:spPr>
          <a:xfrm>
            <a:off x="8699175" y="5216581"/>
            <a:ext cx="944884" cy="338554"/>
          </a:xfrm>
          <a:prstGeom prst="rect">
            <a:avLst/>
          </a:prstGeom>
          <a:noFill/>
        </p:spPr>
        <p:txBody>
          <a:bodyPr wrap="square">
            <a:spAutoFit/>
          </a:bodyPr>
          <a:lstStyle/>
          <a:p>
            <a:r>
              <a:rPr lang="en-US" sz="1600" dirty="0">
                <a:solidFill>
                  <a:schemeClr val="bg1"/>
                </a:solidFill>
              </a:rPr>
              <a:t>Per User</a:t>
            </a:r>
          </a:p>
        </p:txBody>
      </p:sp>
      <p:sp>
        <p:nvSpPr>
          <p:cNvPr id="46" name="TextBox 45">
            <a:extLst>
              <a:ext uri="{FF2B5EF4-FFF2-40B4-BE49-F238E27FC236}">
                <a16:creationId xmlns:a16="http://schemas.microsoft.com/office/drawing/2014/main" id="{7E5A3F7F-AE17-128E-8F1A-88D597B5018C}"/>
              </a:ext>
            </a:extLst>
          </p:cNvPr>
          <p:cNvSpPr txBox="1"/>
          <p:nvPr/>
        </p:nvSpPr>
        <p:spPr>
          <a:xfrm>
            <a:off x="8699175" y="5647819"/>
            <a:ext cx="944884" cy="338546"/>
          </a:xfrm>
          <a:prstGeom prst="rect">
            <a:avLst/>
          </a:prstGeom>
          <a:noFill/>
        </p:spPr>
        <p:txBody>
          <a:bodyPr wrap="square">
            <a:spAutoFit/>
          </a:bodyPr>
          <a:lstStyle/>
          <a:p>
            <a:r>
              <a:rPr lang="en-US" sz="1600" dirty="0">
                <a:solidFill>
                  <a:schemeClr val="bg1"/>
                </a:solidFill>
              </a:rPr>
              <a:t>Per User</a:t>
            </a:r>
          </a:p>
        </p:txBody>
      </p:sp>
      <p:cxnSp>
        <p:nvCxnSpPr>
          <p:cNvPr id="47" name="Straight Connector 46">
            <a:extLst>
              <a:ext uri="{FF2B5EF4-FFF2-40B4-BE49-F238E27FC236}">
                <a16:creationId xmlns:a16="http://schemas.microsoft.com/office/drawing/2014/main" id="{DB8776FB-A650-B0D6-718F-ABBFD6FD7ACC}"/>
              </a:ext>
            </a:extLst>
          </p:cNvPr>
          <p:cNvCxnSpPr>
            <a:cxnSpLocks/>
          </p:cNvCxnSpPr>
          <p:nvPr/>
        </p:nvCxnSpPr>
        <p:spPr>
          <a:xfrm flipH="1">
            <a:off x="6550738" y="5151207"/>
            <a:ext cx="5146296" cy="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7668657-888C-2109-BCC7-D8662248F1B4}"/>
              </a:ext>
            </a:extLst>
          </p:cNvPr>
          <p:cNvCxnSpPr>
            <a:cxnSpLocks/>
          </p:cNvCxnSpPr>
          <p:nvPr/>
        </p:nvCxnSpPr>
        <p:spPr>
          <a:xfrm flipH="1">
            <a:off x="6550738" y="5614384"/>
            <a:ext cx="5146296" cy="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5C408425-24BF-658F-E6D6-F33B46B9D567}"/>
              </a:ext>
            </a:extLst>
          </p:cNvPr>
          <p:cNvSpPr txBox="1"/>
          <p:nvPr/>
        </p:nvSpPr>
        <p:spPr>
          <a:xfrm>
            <a:off x="10120667" y="4773320"/>
            <a:ext cx="1532948" cy="338554"/>
          </a:xfrm>
          <a:prstGeom prst="rect">
            <a:avLst/>
          </a:prstGeom>
          <a:noFill/>
        </p:spPr>
        <p:txBody>
          <a:bodyPr wrap="square">
            <a:spAutoFit/>
          </a:bodyPr>
          <a:lstStyle/>
          <a:p>
            <a:r>
              <a:rPr lang="en-US" sz="1600" dirty="0">
                <a:solidFill>
                  <a:schemeClr val="bg1"/>
                </a:solidFill>
              </a:rPr>
              <a:t>Monthly/Yearly</a:t>
            </a:r>
          </a:p>
        </p:txBody>
      </p:sp>
      <p:sp>
        <p:nvSpPr>
          <p:cNvPr id="50" name="TextBox 49">
            <a:extLst>
              <a:ext uri="{FF2B5EF4-FFF2-40B4-BE49-F238E27FC236}">
                <a16:creationId xmlns:a16="http://schemas.microsoft.com/office/drawing/2014/main" id="{13030E2C-4E65-9D22-C194-6867142BBB1C}"/>
              </a:ext>
            </a:extLst>
          </p:cNvPr>
          <p:cNvSpPr txBox="1"/>
          <p:nvPr/>
        </p:nvSpPr>
        <p:spPr>
          <a:xfrm>
            <a:off x="10120667" y="5240575"/>
            <a:ext cx="1532948" cy="338554"/>
          </a:xfrm>
          <a:prstGeom prst="rect">
            <a:avLst/>
          </a:prstGeom>
          <a:noFill/>
        </p:spPr>
        <p:txBody>
          <a:bodyPr wrap="square">
            <a:spAutoFit/>
          </a:bodyPr>
          <a:lstStyle/>
          <a:p>
            <a:r>
              <a:rPr lang="en-US" sz="1600" dirty="0">
                <a:solidFill>
                  <a:schemeClr val="bg1"/>
                </a:solidFill>
              </a:rPr>
              <a:t>Monthly/Yearly</a:t>
            </a:r>
          </a:p>
        </p:txBody>
      </p:sp>
      <p:sp>
        <p:nvSpPr>
          <p:cNvPr id="51" name="TextBox 50">
            <a:extLst>
              <a:ext uri="{FF2B5EF4-FFF2-40B4-BE49-F238E27FC236}">
                <a16:creationId xmlns:a16="http://schemas.microsoft.com/office/drawing/2014/main" id="{36A966F5-2929-88CF-8BD0-71D95713C57B}"/>
              </a:ext>
            </a:extLst>
          </p:cNvPr>
          <p:cNvSpPr txBox="1"/>
          <p:nvPr/>
        </p:nvSpPr>
        <p:spPr>
          <a:xfrm>
            <a:off x="10120667" y="5672247"/>
            <a:ext cx="1532948" cy="338554"/>
          </a:xfrm>
          <a:prstGeom prst="rect">
            <a:avLst/>
          </a:prstGeom>
          <a:noFill/>
        </p:spPr>
        <p:txBody>
          <a:bodyPr wrap="square">
            <a:spAutoFit/>
          </a:bodyPr>
          <a:lstStyle/>
          <a:p>
            <a:r>
              <a:rPr lang="en-US" sz="1600" dirty="0">
                <a:solidFill>
                  <a:schemeClr val="bg1"/>
                </a:solidFill>
              </a:rPr>
              <a:t>Monthly/Yearly</a:t>
            </a:r>
          </a:p>
        </p:txBody>
      </p:sp>
      <p:sp>
        <p:nvSpPr>
          <p:cNvPr id="52" name="TextBox 51">
            <a:extLst>
              <a:ext uri="{FF2B5EF4-FFF2-40B4-BE49-F238E27FC236}">
                <a16:creationId xmlns:a16="http://schemas.microsoft.com/office/drawing/2014/main" id="{D386C012-43A0-A2C5-8548-96016B2BDF71}"/>
              </a:ext>
            </a:extLst>
          </p:cNvPr>
          <p:cNvSpPr txBox="1"/>
          <p:nvPr/>
        </p:nvSpPr>
        <p:spPr>
          <a:xfrm>
            <a:off x="6489374" y="6080991"/>
            <a:ext cx="1917897" cy="338554"/>
          </a:xfrm>
          <a:prstGeom prst="rect">
            <a:avLst/>
          </a:prstGeom>
          <a:noFill/>
        </p:spPr>
        <p:txBody>
          <a:bodyPr wrap="square">
            <a:spAutoFit/>
          </a:bodyPr>
          <a:lstStyle/>
          <a:p>
            <a:r>
              <a:rPr lang="en-US" sz="1600" dirty="0">
                <a:solidFill>
                  <a:schemeClr val="bg1"/>
                </a:solidFill>
              </a:rPr>
              <a:t>All Inclusive bundle </a:t>
            </a:r>
          </a:p>
        </p:txBody>
      </p:sp>
      <p:sp>
        <p:nvSpPr>
          <p:cNvPr id="53" name="TextBox 52">
            <a:extLst>
              <a:ext uri="{FF2B5EF4-FFF2-40B4-BE49-F238E27FC236}">
                <a16:creationId xmlns:a16="http://schemas.microsoft.com/office/drawing/2014/main" id="{532E7407-DF90-EBD0-FE7E-13430A8DFC15}"/>
              </a:ext>
            </a:extLst>
          </p:cNvPr>
          <p:cNvSpPr txBox="1"/>
          <p:nvPr/>
        </p:nvSpPr>
        <p:spPr>
          <a:xfrm>
            <a:off x="8699175" y="6080991"/>
            <a:ext cx="944884" cy="338546"/>
          </a:xfrm>
          <a:prstGeom prst="rect">
            <a:avLst/>
          </a:prstGeom>
          <a:noFill/>
        </p:spPr>
        <p:txBody>
          <a:bodyPr wrap="square">
            <a:spAutoFit/>
          </a:bodyPr>
          <a:lstStyle/>
          <a:p>
            <a:r>
              <a:rPr lang="en-US" sz="1600" dirty="0">
                <a:solidFill>
                  <a:schemeClr val="bg1"/>
                </a:solidFill>
              </a:rPr>
              <a:t>Per User</a:t>
            </a:r>
          </a:p>
        </p:txBody>
      </p:sp>
      <p:cxnSp>
        <p:nvCxnSpPr>
          <p:cNvPr id="54" name="Straight Connector 53">
            <a:extLst>
              <a:ext uri="{FF2B5EF4-FFF2-40B4-BE49-F238E27FC236}">
                <a16:creationId xmlns:a16="http://schemas.microsoft.com/office/drawing/2014/main" id="{14560D02-F901-CBD1-4F78-94116C287DC7}"/>
              </a:ext>
            </a:extLst>
          </p:cNvPr>
          <p:cNvCxnSpPr>
            <a:cxnSpLocks/>
          </p:cNvCxnSpPr>
          <p:nvPr/>
        </p:nvCxnSpPr>
        <p:spPr>
          <a:xfrm flipH="1">
            <a:off x="6550738" y="6047556"/>
            <a:ext cx="5146296" cy="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FB1EDC34-D025-51D7-D785-8A07F896EA36}"/>
              </a:ext>
            </a:extLst>
          </p:cNvPr>
          <p:cNvSpPr txBox="1"/>
          <p:nvPr/>
        </p:nvSpPr>
        <p:spPr>
          <a:xfrm>
            <a:off x="10120667" y="6105419"/>
            <a:ext cx="1532948" cy="338554"/>
          </a:xfrm>
          <a:prstGeom prst="rect">
            <a:avLst/>
          </a:prstGeom>
          <a:noFill/>
        </p:spPr>
        <p:txBody>
          <a:bodyPr wrap="square">
            <a:spAutoFit/>
          </a:bodyPr>
          <a:lstStyle/>
          <a:p>
            <a:r>
              <a:rPr lang="en-US" sz="1600" dirty="0">
                <a:solidFill>
                  <a:schemeClr val="bg1"/>
                </a:solidFill>
              </a:rPr>
              <a:t>Monthly/Yearly</a:t>
            </a:r>
          </a:p>
        </p:txBody>
      </p:sp>
      <p:sp>
        <p:nvSpPr>
          <p:cNvPr id="56" name="Rectangle 1">
            <a:extLst>
              <a:ext uri="{FF2B5EF4-FFF2-40B4-BE49-F238E27FC236}">
                <a16:creationId xmlns:a16="http://schemas.microsoft.com/office/drawing/2014/main" id="{88776037-22C9-7BEF-33ED-DC0648E32C4D}"/>
              </a:ext>
            </a:extLst>
          </p:cNvPr>
          <p:cNvSpPr>
            <a:spLocks noChangeArrowheads="1"/>
          </p:cNvSpPr>
          <p:nvPr/>
        </p:nvSpPr>
        <p:spPr bwMode="auto">
          <a:xfrm>
            <a:off x="6503604" y="3575627"/>
            <a:ext cx="194041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rgbClr val="399AFF"/>
                </a:solidFill>
                <a:effectLst/>
                <a:latin typeface="Arial" panose="020B0604020202020204" pitchFamily="34" charset="0"/>
              </a:rPr>
              <a:t>Phase 2 Rollout</a:t>
            </a:r>
          </a:p>
        </p:txBody>
      </p:sp>
      <p:sp>
        <p:nvSpPr>
          <p:cNvPr id="57" name="TextBox 56">
            <a:extLst>
              <a:ext uri="{FF2B5EF4-FFF2-40B4-BE49-F238E27FC236}">
                <a16:creationId xmlns:a16="http://schemas.microsoft.com/office/drawing/2014/main" id="{EAC30090-75EF-CCBA-1309-64B60FE64CF1}"/>
              </a:ext>
            </a:extLst>
          </p:cNvPr>
          <p:cNvSpPr txBox="1"/>
          <p:nvPr/>
        </p:nvSpPr>
        <p:spPr>
          <a:xfrm>
            <a:off x="6503604" y="3887381"/>
            <a:ext cx="5207661" cy="584775"/>
          </a:xfrm>
          <a:prstGeom prst="rect">
            <a:avLst/>
          </a:prstGeom>
          <a:noFill/>
        </p:spPr>
        <p:txBody>
          <a:bodyPr wrap="square">
            <a:spAutoFit/>
          </a:bodyPr>
          <a:lstStyle/>
          <a:p>
            <a:pPr algn="just"/>
            <a:r>
              <a:rPr lang="en-US" sz="1600" dirty="0">
                <a:solidFill>
                  <a:schemeClr val="bg1"/>
                </a:solidFill>
              </a:rPr>
              <a:t>Skyaicode platform will be released officially with the below projected licensing model</a:t>
            </a:r>
          </a:p>
        </p:txBody>
      </p:sp>
      <p:sp>
        <p:nvSpPr>
          <p:cNvPr id="4" name="TextBox 3">
            <a:extLst>
              <a:ext uri="{FF2B5EF4-FFF2-40B4-BE49-F238E27FC236}">
                <a16:creationId xmlns:a16="http://schemas.microsoft.com/office/drawing/2014/main" id="{4ED69891-8428-A223-08C0-BD78CD0398D9}"/>
              </a:ext>
            </a:extLst>
          </p:cNvPr>
          <p:cNvSpPr txBox="1"/>
          <p:nvPr/>
        </p:nvSpPr>
        <p:spPr>
          <a:xfrm>
            <a:off x="1010167" y="4844715"/>
            <a:ext cx="1004198" cy="338554"/>
          </a:xfrm>
          <a:prstGeom prst="rect">
            <a:avLst/>
          </a:prstGeom>
          <a:noFill/>
        </p:spPr>
        <p:txBody>
          <a:bodyPr wrap="square">
            <a:spAutoFit/>
          </a:bodyPr>
          <a:lstStyle/>
          <a:p>
            <a:r>
              <a:rPr lang="en-US" sz="1600" dirty="0">
                <a:solidFill>
                  <a:srgbClr val="B6FF42"/>
                </a:solidFill>
              </a:rPr>
              <a:t>Module</a:t>
            </a:r>
          </a:p>
        </p:txBody>
      </p:sp>
      <p:sp>
        <p:nvSpPr>
          <p:cNvPr id="7" name="TextBox 6">
            <a:extLst>
              <a:ext uri="{FF2B5EF4-FFF2-40B4-BE49-F238E27FC236}">
                <a16:creationId xmlns:a16="http://schemas.microsoft.com/office/drawing/2014/main" id="{3F78FE0D-F408-2AC3-D7F4-C5E4CF52FD28}"/>
              </a:ext>
            </a:extLst>
          </p:cNvPr>
          <p:cNvSpPr txBox="1"/>
          <p:nvPr/>
        </p:nvSpPr>
        <p:spPr>
          <a:xfrm>
            <a:off x="3719090" y="4844715"/>
            <a:ext cx="1004198" cy="338554"/>
          </a:xfrm>
          <a:prstGeom prst="rect">
            <a:avLst/>
          </a:prstGeom>
          <a:noFill/>
        </p:spPr>
        <p:txBody>
          <a:bodyPr wrap="square">
            <a:spAutoFit/>
          </a:bodyPr>
          <a:lstStyle/>
          <a:p>
            <a:r>
              <a:rPr lang="en-US" sz="1600" dirty="0">
                <a:solidFill>
                  <a:srgbClr val="B6FF42"/>
                </a:solidFill>
              </a:rPr>
              <a:t>Access</a:t>
            </a:r>
          </a:p>
        </p:txBody>
      </p:sp>
      <p:sp>
        <p:nvSpPr>
          <p:cNvPr id="8" name="TextBox 7">
            <a:extLst>
              <a:ext uri="{FF2B5EF4-FFF2-40B4-BE49-F238E27FC236}">
                <a16:creationId xmlns:a16="http://schemas.microsoft.com/office/drawing/2014/main" id="{A89E29DD-2AB9-664B-5ADD-F5E365130BFC}"/>
              </a:ext>
            </a:extLst>
          </p:cNvPr>
          <p:cNvSpPr txBox="1"/>
          <p:nvPr/>
        </p:nvSpPr>
        <p:spPr>
          <a:xfrm>
            <a:off x="6946223" y="4471193"/>
            <a:ext cx="1004198" cy="338554"/>
          </a:xfrm>
          <a:prstGeom prst="rect">
            <a:avLst/>
          </a:prstGeom>
          <a:noFill/>
        </p:spPr>
        <p:txBody>
          <a:bodyPr wrap="square">
            <a:spAutoFit/>
          </a:bodyPr>
          <a:lstStyle/>
          <a:p>
            <a:r>
              <a:rPr lang="en-US" sz="1600" dirty="0">
                <a:solidFill>
                  <a:srgbClr val="B6FF42"/>
                </a:solidFill>
              </a:rPr>
              <a:t>Module</a:t>
            </a:r>
          </a:p>
        </p:txBody>
      </p:sp>
      <p:sp>
        <p:nvSpPr>
          <p:cNvPr id="10" name="TextBox 9">
            <a:extLst>
              <a:ext uri="{FF2B5EF4-FFF2-40B4-BE49-F238E27FC236}">
                <a16:creationId xmlns:a16="http://schemas.microsoft.com/office/drawing/2014/main" id="{73AFE90C-E68E-5EDC-03EE-C31ED3CEA229}"/>
              </a:ext>
            </a:extLst>
          </p:cNvPr>
          <p:cNvSpPr txBox="1"/>
          <p:nvPr/>
        </p:nvSpPr>
        <p:spPr>
          <a:xfrm>
            <a:off x="8703023" y="4483042"/>
            <a:ext cx="1004198" cy="338554"/>
          </a:xfrm>
          <a:prstGeom prst="rect">
            <a:avLst/>
          </a:prstGeom>
          <a:noFill/>
        </p:spPr>
        <p:txBody>
          <a:bodyPr wrap="square">
            <a:spAutoFit/>
          </a:bodyPr>
          <a:lstStyle/>
          <a:p>
            <a:r>
              <a:rPr lang="en-US" sz="1600" dirty="0">
                <a:solidFill>
                  <a:srgbClr val="B6FF42"/>
                </a:solidFill>
              </a:rPr>
              <a:t>Quantity</a:t>
            </a:r>
          </a:p>
        </p:txBody>
      </p:sp>
      <p:sp>
        <p:nvSpPr>
          <p:cNvPr id="12" name="TextBox 11">
            <a:extLst>
              <a:ext uri="{FF2B5EF4-FFF2-40B4-BE49-F238E27FC236}">
                <a16:creationId xmlns:a16="http://schemas.microsoft.com/office/drawing/2014/main" id="{38A8289B-263B-E3FE-9498-587EDEDB929B}"/>
              </a:ext>
            </a:extLst>
          </p:cNvPr>
          <p:cNvSpPr txBox="1"/>
          <p:nvPr/>
        </p:nvSpPr>
        <p:spPr>
          <a:xfrm>
            <a:off x="10102011" y="4482079"/>
            <a:ext cx="1532948" cy="338554"/>
          </a:xfrm>
          <a:prstGeom prst="rect">
            <a:avLst/>
          </a:prstGeom>
          <a:noFill/>
        </p:spPr>
        <p:txBody>
          <a:bodyPr wrap="square">
            <a:spAutoFit/>
          </a:bodyPr>
          <a:lstStyle/>
          <a:p>
            <a:r>
              <a:rPr lang="en-US" sz="1600" dirty="0">
                <a:solidFill>
                  <a:srgbClr val="B6FF42"/>
                </a:solidFill>
              </a:rPr>
              <a:t>Pricing Options</a:t>
            </a:r>
          </a:p>
        </p:txBody>
      </p:sp>
      <p:pic>
        <p:nvPicPr>
          <p:cNvPr id="16" name="Graphic 15" descr="Continuous Improvement outline">
            <a:extLst>
              <a:ext uri="{FF2B5EF4-FFF2-40B4-BE49-F238E27FC236}">
                <a16:creationId xmlns:a16="http://schemas.microsoft.com/office/drawing/2014/main" id="{F7CDBC1E-1413-837B-14AD-3F403FE160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541" y="578264"/>
            <a:ext cx="678855" cy="678855"/>
          </a:xfrm>
          <a:prstGeom prst="rect">
            <a:avLst/>
          </a:prstGeom>
        </p:spPr>
      </p:pic>
      <p:pic>
        <p:nvPicPr>
          <p:cNvPr id="21" name="Graphic 20" descr="Cloud Computing outline">
            <a:extLst>
              <a:ext uri="{FF2B5EF4-FFF2-40B4-BE49-F238E27FC236}">
                <a16:creationId xmlns:a16="http://schemas.microsoft.com/office/drawing/2014/main" id="{3105A018-3E8F-3D58-7C62-3F5B9C50C5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940" y="2969695"/>
            <a:ext cx="603827" cy="603827"/>
          </a:xfrm>
          <a:prstGeom prst="rect">
            <a:avLst/>
          </a:prstGeom>
        </p:spPr>
      </p:pic>
      <p:sp>
        <p:nvSpPr>
          <p:cNvPr id="22" name="Rectangle: Rounded Corners 21">
            <a:extLst>
              <a:ext uri="{FF2B5EF4-FFF2-40B4-BE49-F238E27FC236}">
                <a16:creationId xmlns:a16="http://schemas.microsoft.com/office/drawing/2014/main" id="{84C12285-97FA-9C3E-0F2B-0468F97F15C7}"/>
              </a:ext>
            </a:extLst>
          </p:cNvPr>
          <p:cNvSpPr/>
          <p:nvPr/>
        </p:nvSpPr>
        <p:spPr>
          <a:xfrm>
            <a:off x="457200" y="1519355"/>
            <a:ext cx="11254065" cy="1373343"/>
          </a:xfrm>
          <a:prstGeom prst="roundRect">
            <a:avLst/>
          </a:prstGeom>
          <a:noFill/>
          <a:ln w="6350">
            <a:solidFill>
              <a:srgbClr val="399A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731B71F6-FCCD-1104-89B5-E4B3566F682D}"/>
              </a:ext>
            </a:extLst>
          </p:cNvPr>
          <p:cNvSpPr/>
          <p:nvPr/>
        </p:nvSpPr>
        <p:spPr>
          <a:xfrm>
            <a:off x="448077" y="3535576"/>
            <a:ext cx="5550687" cy="2984956"/>
          </a:xfrm>
          <a:prstGeom prst="rect">
            <a:avLst/>
          </a:prstGeom>
          <a:noFill/>
          <a:ln w="6350">
            <a:solidFill>
              <a:schemeClr val="tx2">
                <a:lumMod val="75000"/>
                <a:lumOff val="2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D3CE2BD-0A9A-19ED-B6F6-C1A308D9AA2B}"/>
              </a:ext>
            </a:extLst>
          </p:cNvPr>
          <p:cNvSpPr/>
          <p:nvPr/>
        </p:nvSpPr>
        <p:spPr>
          <a:xfrm>
            <a:off x="6334913" y="3535576"/>
            <a:ext cx="5550687" cy="2984956"/>
          </a:xfrm>
          <a:prstGeom prst="rect">
            <a:avLst/>
          </a:prstGeom>
          <a:noFill/>
          <a:ln w="6350">
            <a:solidFill>
              <a:schemeClr val="tx2">
                <a:lumMod val="75000"/>
                <a:lumOff val="2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702A1C4-0732-2594-9978-23B32C5C556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475684" y="44075"/>
            <a:ext cx="1413047" cy="681773"/>
          </a:xfrm>
          <a:prstGeom prst="rect">
            <a:avLst/>
          </a:prstGeom>
        </p:spPr>
      </p:pic>
    </p:spTree>
    <p:extLst>
      <p:ext uri="{BB962C8B-B14F-4D97-AF65-F5344CB8AC3E}">
        <p14:creationId xmlns:p14="http://schemas.microsoft.com/office/powerpoint/2010/main" val="16856660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08043-EA6C-3165-6705-3CEFE3D49D2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EE77E01-C6D0-39C1-10A9-D82F674989D9}"/>
              </a:ext>
            </a:extLst>
          </p:cNvPr>
          <p:cNvSpPr/>
          <p:nvPr/>
        </p:nvSpPr>
        <p:spPr>
          <a:xfrm>
            <a:off x="0" y="0"/>
            <a:ext cx="12192000" cy="6858000"/>
          </a:xfrm>
          <a:prstGeom prst="rect">
            <a:avLst/>
          </a:prstGeom>
          <a:gradFill rotWithShape="1">
            <a:gsLst>
              <a:gs pos="100000">
                <a:srgbClr val="4472C4">
                  <a:lumMod val="50000"/>
                </a:srgbClr>
              </a:gs>
              <a:gs pos="0">
                <a:srgbClr val="0D1729"/>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09111D2-FF97-FAD1-8FDB-AF6D6297AA63}"/>
              </a:ext>
            </a:extLst>
          </p:cNvPr>
          <p:cNvSpPr txBox="1"/>
          <p:nvPr/>
        </p:nvSpPr>
        <p:spPr>
          <a:xfrm>
            <a:off x="5043885" y="2782669"/>
            <a:ext cx="210423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0" i="0" u="none" strike="noStrike" kern="1200" cap="none" spc="0" normalizeH="0" baseline="0" noProof="0" dirty="0">
                <a:ln>
                  <a:noFill/>
                </a:ln>
                <a:solidFill>
                  <a:srgbClr val="BFFF45"/>
                </a:solidFill>
                <a:effectLst/>
                <a:uLnTx/>
                <a:uFillTx/>
                <a:latin typeface="Calibri" panose="020F0502020204030204"/>
                <a:ea typeface="+mn-ea"/>
                <a:cs typeface="+mn-cs"/>
              </a:rPr>
              <a:t>Thank You</a:t>
            </a:r>
            <a:endParaRPr kumimoji="0" lang="en-IN"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4762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0.4|2.9|2.7"/>
</p:tagLst>
</file>

<file path=ppt/tags/tag2.xml><?xml version="1.0" encoding="utf-8"?>
<p:tagLst xmlns:a="http://schemas.openxmlformats.org/drawingml/2006/main" xmlns:r="http://schemas.openxmlformats.org/officeDocument/2006/relationships" xmlns:p="http://schemas.openxmlformats.org/presentationml/2006/main">
  <p:tag name="TIMING" val="|1.4|1.1|1.1|1.1|1.3|1.3"/>
</p:tagLst>
</file>

<file path=ppt/tags/tag3.xml><?xml version="1.0" encoding="utf-8"?>
<p:tagLst xmlns:a="http://schemas.openxmlformats.org/drawingml/2006/main" xmlns:r="http://schemas.openxmlformats.org/officeDocument/2006/relationships" xmlns:p="http://schemas.openxmlformats.org/presentationml/2006/main">
  <p:tag name="TIMING" val="|1.5"/>
</p:tagLst>
</file>

<file path=ppt/tags/tag4.xml><?xml version="1.0" encoding="utf-8"?>
<p:tagLst xmlns:a="http://schemas.openxmlformats.org/drawingml/2006/main" xmlns:r="http://schemas.openxmlformats.org/officeDocument/2006/relationships" xmlns:p="http://schemas.openxmlformats.org/presentationml/2006/main">
  <p:tag name="TIMING" val="|0.7|1.7|1.9|1.6|1.1|1.1|1.3|1.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7895</TotalTime>
  <Words>3604</Words>
  <Application>Microsoft Office PowerPoint</Application>
  <PresentationFormat>Widescreen</PresentationFormat>
  <Paragraphs>535</Paragraphs>
  <Slides>25</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Biome Light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Leslie Antony Raj</dc:creator>
  <cp:lastModifiedBy>Leslie Antony Raj</cp:lastModifiedBy>
  <cp:revision>44</cp:revision>
  <dcterms:created xsi:type="dcterms:W3CDTF">2025-01-22T08:08:10Z</dcterms:created>
  <dcterms:modified xsi:type="dcterms:W3CDTF">2026-06-08T13:17:41Z</dcterms:modified>
</cp:coreProperties>
</file>